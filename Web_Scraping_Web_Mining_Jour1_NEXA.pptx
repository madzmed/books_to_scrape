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demander aux étudiants où ils rencontrent déjà du scraping sans forcément l’appeler ainsi : comparateurs de prix, agrégateurs, veille, moteurs de recherche.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l’exercice, circuler et demander “qu’est-ce qui rend ce sélecteur stable ?”. Débrief rapide : classes générées automatiquement, IDs volatils, sélecteurs trop profonds.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timeout et raise_for_status : deux réflexes de base qui évitent beaucoup de scripts bloqués ou silencieusement faux.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la fin de la matinée, chaque groupe doit être capable d’expliquer comment il a choisi ses sélecteurs et quelles hypothèses de structure il fait sur le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Évaluer surtout la démarche : inspection → extraction → validation → stockage. Ne pas pénaliser excessivement les détails de syntaxe si le raisonnement est bon.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à l’oral, via un outil de vote, ou en binômes. L’objectif est le rappel actif, pas la sanction.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Mastère 1 — Data &amp; Intelligence artificielle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37960" y="6519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Scraping &amp; Web Mining · Jour 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">
            <a:off x="9281160" y="182880"/>
            <a:ext cx="2514600" cy="2514600"/>
          </a:xfrm>
          <a:prstGeom prst="arc">
            <a:avLst/>
          </a:prstGeom>
          <a:solidFill>
            <a:srgbClr val="7030A0">
              <a:alpha val="82000"/>
            </a:srgbClr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7132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SCRAPING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&amp; WEB MINING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03580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CCF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 — Comprendre, extraire, structurer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3A244B"/>
          </a:solidFill>
          <a:ln w="12700">
            <a:solidFill>
              <a:srgbClr val="3A24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904488"/>
            <a:ext cx="2276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E5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Mastère 1 · Data &amp; 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B9D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heures · HTML / HTTP · BeautifulSoup · JSON · SQLite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58200" y="1097280"/>
            <a:ext cx="2834640" cy="4114800"/>
          </a:xfrm>
          <a:prstGeom prst="roundRect">
            <a:avLst/>
          </a:prstGeom>
          <a:solidFill>
            <a:srgbClr val="F5F2F8"/>
          </a:solidFill>
          <a:ln w="15240">
            <a:solidFill>
              <a:srgbClr val="5F45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1097280"/>
            <a:ext cx="2834640" cy="411480"/>
          </a:xfrm>
          <a:prstGeom prst="rect">
            <a:avLst/>
          </a:prstGeom>
          <a:solidFill>
            <a:srgbClr val="EAE3F0"/>
          </a:solidFill>
          <a:ln w="12700">
            <a:solidFill>
              <a:srgbClr val="EA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41080" y="1243584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42248" y="12435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43416" y="12435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1874520"/>
            <a:ext cx="2286000" cy="1737360"/>
          </a:xfrm>
          <a:prstGeom prst="roundRect">
            <a:avLst>
              <a:gd name="adj" fmla="val 2632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1874520"/>
            <a:ext cx="22860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8824" y="19933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984" y="19933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3144" y="19933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9293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97112" y="2313432"/>
            <a:ext cx="19751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 du produit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29.90 €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469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887968" y="42245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{ name, price 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COMPÉTENCES VISÉES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Objectifs pédagogiques du Jour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9903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le Web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Relier requête HTTP, HTML, CSS, JavaScript et DOM pour savoir où se trouve réellement la donnée.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00200"/>
            <a:ext cx="73152" cy="1417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0235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Analyser une page et récupérer texte, liens, images et attributs avec Requests + BeautifulSoup.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00200"/>
            <a:ext cx="73152" cy="141732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0567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2240280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Nettoyer, normaliser puis stocker les données dans SQLite pour les rendre exploitables.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51460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3429000"/>
            <a:ext cx="73152" cy="14173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73552" y="35935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Pages dynamiques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88920" y="4069080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Repérer les données chargées par JavaScript via Network / XHR / JSON.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429000"/>
            <a:ext cx="73152" cy="141732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76872" y="35935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Raisonner comme un data engineer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2240" y="4069080"/>
            <a:ext cx="3017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Passer d’une page web à une petite chaîne ETL reproductible.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 conducteur : source web → extraction → nettoyage → stockage.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Déroulé de la 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923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B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084832"/>
            <a:ext cx="231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09:00–10:45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77824" y="2450592"/>
            <a:ext cx="2318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le Web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999232"/>
            <a:ext cx="23180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HTTP, HTML, CSS, DOM et outils développeur.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3572" y="1920240"/>
            <a:ext cx="2592324" cy="1920240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DFDB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9876" y="2084832"/>
            <a:ext cx="231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11:00–12:30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79876" y="2450592"/>
            <a:ext cx="2318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Scraping statique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9876" y="2999232"/>
            <a:ext cx="23180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Requests, BeautifulSoup, sélecteurs, extraction.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35624" y="1920240"/>
            <a:ext cx="25923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DB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084832"/>
            <a:ext cx="231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13:30–15:30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81928" y="2450592"/>
            <a:ext cx="2318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Pages dynamiques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1928" y="2999232"/>
            <a:ext cx="23180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JavaScript, Network, XHR / Fetch, JSON.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37676" y="1920240"/>
            <a:ext cx="2592324" cy="1920240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DFDB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3980" y="2084832"/>
            <a:ext cx="231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15:45–17:00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83980" y="2450592"/>
            <a:ext cx="23180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Nettoyage &amp; SQLite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83980" y="2999232"/>
            <a:ext cx="23180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Normalisation, schéma, insertion, mini-pipeline.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4389120"/>
            <a:ext cx="9966960" cy="0"/>
          </a:xfrm>
          <a:prstGeom prst="line">
            <a:avLst/>
          </a:prstGeom>
          <a:noFill/>
          <a:ln w="16510">
            <a:solidFill>
              <a:srgbClr val="D9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17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457200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459028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10:45–11:00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457200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459028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12:30–13:30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457200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459028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15:30–15:45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Méthode : explication courte → démonstration → manipulation → débrief.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 CONTINU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fil rouge : construire une petite pipeline de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600200" cy="1097280"/>
          </a:xfrm>
          <a:prstGeom prst="roundRect">
            <a:avLst/>
          </a:prstGeom>
          <a:solidFill>
            <a:srgbClr val="EDE4F5"/>
          </a:solidFill>
          <a:ln w="1651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95728" y="2468880"/>
            <a:ext cx="420624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920240"/>
            <a:ext cx="160020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D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36008" y="2468880"/>
            <a:ext cx="420624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1920240"/>
            <a:ext cx="160020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D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76288" y="2468880"/>
            <a:ext cx="420624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1920240"/>
            <a:ext cx="160020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16568" y="2468880"/>
            <a:ext cx="420624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1920240"/>
            <a:ext cx="160020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657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Même cas d’usage toute la journée : récupérer un catalogue, le transformer puis le stocker.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828800" y="4343400"/>
            <a:ext cx="85039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matin : comprendre la structure et extraire proprement.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L’après-midi : repérer les données dynamiques et bâtir une chaîne de stockage.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 chaque étape, on améliore la robustesse plutôt que de repartir de zéro.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9326880" y="137160"/>
            <a:ext cx="2468880" cy="2468880"/>
          </a:xfrm>
          <a:prstGeom prst="arc">
            <a:avLst/>
          </a:prstGeom>
          <a:solidFill>
            <a:srgbClr val="7030A0">
              <a:alpha val="88000"/>
            </a:srgbClr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le Web avant de le scraper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CD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HTTP, HTML, CSS, JavaScript, DOM et DevTools : savoir où regarder avant d’écrire du code.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52120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A244B"/>
          </a:solidFill>
          <a:ln w="12700">
            <a:solidFill>
              <a:srgbClr val="3A24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2303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E5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DEUX NIVEAUX COMPLÉMENTAIRES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Scraping ≠ Web Mining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30175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Scraping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7091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Automatiser la collecte de données disponibles sur le Web : texte, prix, liens, images, métadonnées…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8221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Exemple : récupérer le nom et le prix de 500 produits.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45920"/>
            <a:ext cx="73152" cy="301752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22592" y="181051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Mining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47091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Analyser les données collectées pour découvrir des tendances, relations, signaux ou connaissances.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822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Exemple : suivre l’évolution des prix et détecter des ruptures.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5740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FE7F7"/>
          </a:solidFill>
          <a:ln w="12700">
            <a:solidFill>
              <a:srgbClr val="EF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0552" y="509320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5257800"/>
            <a:ext cx="1280160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509320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5257800"/>
            <a:ext cx="1280160" cy="0"/>
          </a:xfrm>
          <a:prstGeom prst="line">
            <a:avLst/>
          </a:prstGeom>
          <a:noFill/>
          <a:ln w="25400">
            <a:solidFill>
              <a:srgbClr val="2D819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509320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DÉCIDER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 D’USAGE MÉTIERS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Pourquoi scraper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73152" cy="15544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5331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Veille concurrentielle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Prix, promotions, assortiment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73152" cy="155448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9379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science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24028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Créer / enrichir un dataset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600200"/>
            <a:ext cx="73152" cy="155448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135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34272" y="17647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Recrutement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224028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Agrégation d’offres ou compétences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66160"/>
            <a:ext cx="73152" cy="155448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373075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Données publiques, annonces, indicateurs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3566160"/>
            <a:ext cx="73152" cy="155448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93792" y="373075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Immobilier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9160" y="420624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Prix, localisation, caractéristiques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75320" y="35661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566160"/>
            <a:ext cx="73152" cy="1554480"/>
          </a:xfrm>
          <a:prstGeom prst="rect">
            <a:avLst/>
          </a:prstGeom>
          <a:solidFill>
            <a:srgbClr val="C45353"/>
          </a:solidFill>
          <a:ln w="12700">
            <a:solidFill>
              <a:srgbClr val="C453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34272" y="373075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Recherche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49640" y="420624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Corpus, tendances, publications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Avant de scraper : vérifier qu’une API ou un export officiel n’existe pas déjà.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VISION ETL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chaîne complète : du Web à la donnée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737360" cy="1417320"/>
          </a:xfrm>
          <a:prstGeom prst="roundRect">
            <a:avLst/>
          </a:prstGeom>
          <a:solidFill>
            <a:srgbClr val="F0E8F7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22677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78892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/ JSON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04872" y="2724912"/>
            <a:ext cx="338328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62072" y="2011680"/>
            <a:ext cx="1737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2677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78892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72584" y="2724912"/>
            <a:ext cx="338328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9784" y="2011680"/>
            <a:ext cx="1737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2677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278892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Sélecteurs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0296" y="2724912"/>
            <a:ext cx="338328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97496" y="2011680"/>
            <a:ext cx="1737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22677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07224" y="278892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/ formats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08008" y="2724912"/>
            <a:ext cx="338328" cy="0"/>
          </a:xfrm>
          <a:prstGeom prst="line">
            <a:avLst/>
          </a:prstGeom>
          <a:noFill/>
          <a:ln w="2540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65208" y="2011680"/>
            <a:ext cx="1737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4936" y="226771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74936" y="278892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51560" y="4069080"/>
            <a:ext cx="10058400" cy="960120"/>
          </a:xfrm>
          <a:prstGeom prst="roundRect">
            <a:avLst/>
          </a:prstGeom>
          <a:solidFill>
            <a:srgbClr val="F1EFF4"/>
          </a:solidFill>
          <a:ln w="12700">
            <a:solidFill>
              <a:srgbClr val="E1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2976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Objectif professionnel : obtenir une donnée structurée, reproductible, traçable et exploitable — pas seulement “faire marcher un script”.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FONDAMENTAUX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 : la conversation entre votre script et le serveur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834640" cy="192024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CBD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Navigateur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 script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66760" y="1828800"/>
            <a:ext cx="2834640" cy="1920240"/>
          </a:xfrm>
          <a:prstGeom prst="roundRect">
            <a:avLst/>
          </a:prstGeom>
          <a:solidFill>
            <a:srgbClr val="F1EAF6"/>
          </a:solidFill>
          <a:ln w="12700">
            <a:solidFill>
              <a:srgbClr val="DCC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SERVEUR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Site web / 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 répond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267712"/>
            <a:ext cx="4206240" cy="0"/>
          </a:xfrm>
          <a:prstGeom prst="line">
            <a:avLst/>
          </a:prstGeom>
          <a:noFill/>
          <a:ln w="33020">
            <a:solidFill>
              <a:srgbClr val="7030A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983480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/products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337560"/>
            <a:ext cx="-4206240" cy="0"/>
          </a:xfrm>
          <a:prstGeom prst="line">
            <a:avLst/>
          </a:prstGeom>
          <a:noFill/>
          <a:ln w="33020">
            <a:solidFill>
              <a:srgbClr val="4F9D7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0916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 OK + HTML /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Scraper = automatiser ces échanges, puis interpréter la réponse.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QU’IL FAUT SAVOIR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Lire une requête et une réponse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2423160"/>
          </a:xfrm>
          <a:prstGeom prst="roundRect">
            <a:avLst>
              <a:gd name="adj" fmla="val 1887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34924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5038344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/products?page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HTTP/1.1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example.com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Mozilla/5.0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709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2048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1000" y="1600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4152" y="1709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301/302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74152" y="2048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Redirection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2640" y="1600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5792" y="1709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65792" y="2048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Interdit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852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3191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Introuvable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01000" y="2743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2852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74152" y="3191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Trop de requêtes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92640" y="27432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D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28529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65792" y="31912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Erreur serveur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977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97764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68312" y="4142232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Réflexe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583680" y="461772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Toujours vérifier status_code, type de contenu et taille de réponse avant de parser.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ANATOMIE D’UNE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HTML, CSS, JavaScript : trois rôles différents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3429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90472" y="181051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— 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83464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Décrit les éléments et leur contenu : titres, cartes produits, liens, formulaires…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324612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246120"/>
            <a:ext cx="27432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3649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024" y="33649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72184" y="33649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300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16152" y="3685032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 A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164592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645920"/>
            <a:ext cx="73152" cy="342900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93792" y="181051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 — Présentation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09160" y="2286000"/>
            <a:ext cx="283464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Sélectionne et met en forme les éléments. Les mêmes sélecteurs sont utiles pour scraper.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246120"/>
            <a:ext cx="27432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01184" y="33649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38344" y="33649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75504" y="33649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300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9472" y="3685032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 .price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bold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164592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38160" y="1645920"/>
            <a:ext cx="73152" cy="3429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97112" y="1810512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 — Comportement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2286000"/>
            <a:ext cx="283464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Charge ou transforme des données après le chargement initial de la page.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458200" y="324612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3246120"/>
            <a:ext cx="27432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04504" y="33649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41664" y="33649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78824" y="33649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55480" y="3300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22792" y="3685032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"/api/products"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DOM : l’arbre que vous allez parcourir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0" y="15087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85232" y="163677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2423160"/>
            <a:ext cx="1554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D5C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5232" y="255117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3337560"/>
            <a:ext cx="21945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1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346557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div.product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461772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7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474573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h2.title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461772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9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474573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span.price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4617720"/>
            <a:ext cx="2057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4745736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a[href]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103120"/>
            <a:ext cx="0" cy="274320"/>
          </a:xfrm>
          <a:prstGeom prst="line">
            <a:avLst/>
          </a:prstGeom>
          <a:noFill/>
          <a:ln w="2032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3017520"/>
            <a:ext cx="0" cy="274320"/>
          </a:xfrm>
          <a:prstGeom prst="line">
            <a:avLst/>
          </a:prstGeom>
          <a:noFill/>
          <a:ln w="2032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3931920"/>
            <a:ext cx="-2834640" cy="640080"/>
          </a:xfrm>
          <a:prstGeom prst="line">
            <a:avLst/>
          </a:prstGeom>
          <a:noFill/>
          <a:ln w="1905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52160" y="3931920"/>
            <a:ext cx="228600" cy="640080"/>
          </a:xfrm>
          <a:prstGeom prst="line">
            <a:avLst/>
          </a:prstGeom>
          <a:noFill/>
          <a:ln w="1905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3931920"/>
            <a:ext cx="2971800" cy="640080"/>
          </a:xfrm>
          <a:prstGeom prst="line">
            <a:avLst/>
          </a:prstGeom>
          <a:noFill/>
          <a:ln w="1905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18745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189280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find()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24688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9F1F7"/>
          </a:solidFill>
          <a:ln w="12700">
            <a:solidFill>
              <a:srgbClr val="E9F1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248716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select()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0632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08152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3840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scraper ne “voit” pas la page comme un humain : il parcourt cet arbre.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INSPECTER UNE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DevTools : votre loupe avant d’écrire du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16002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99032" y="1810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DOM, attributs, classes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45920"/>
            <a:ext cx="73152" cy="16002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33672" y="1810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Requêtes HTTP / 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45920"/>
            <a:ext cx="73152" cy="16002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68312" y="1810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Tester du JS, erreurs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645920"/>
            <a:ext cx="73152" cy="160020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02952" y="181051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2286000"/>
            <a:ext cx="2011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Scripts et fichiers chargés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10332720" cy="1005840"/>
          </a:xfrm>
          <a:prstGeom prst="roundRect">
            <a:avLst/>
          </a:prstGeom>
          <a:solidFill>
            <a:srgbClr val="F0EDF3"/>
          </a:solidFill>
          <a:ln w="12700">
            <a:solidFill>
              <a:srgbClr val="E0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1330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Méthode : sélectionner un élément → identifier une classe stable → tester le sélecteur → vérifier plusieurs occurrences.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5257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Éviter de copier aveuglément un sélecteur très long généré automatiquement.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MISE EN PRATIQUE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Exercice 1 — Inspecter une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21240" y="6583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67665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53312" y="17647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Passer d’une page visuelle à une structure exploitable.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72694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Consignes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267712"/>
            <a:ext cx="658368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Ouvrez une page de catalogue ou d’actualité choisie pour l’exercice.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Repérez : titre, prix / date, URL, image, catégorie ou auteur.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 chaque champ, notez la balise, une classe / attribut utile et un sélecteur CSS.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Testez le sélecteur dans DevTools et vérifiez qu’il cible les bons éléments.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71800"/>
            <a:ext cx="73152" cy="123444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53312" y="31363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tableau de 5 champs avec leurs sélecteurs CSS.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43484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434840"/>
            <a:ext cx="73152" cy="107899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459943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Bonus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 au moins un sélecteur fragile et proposer une version plus robuste.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9326880" y="137160"/>
            <a:ext cx="2468880" cy="2468880"/>
          </a:xfrm>
          <a:prstGeom prst="arc">
            <a:avLst/>
          </a:prstGeom>
          <a:solidFill>
            <a:srgbClr val="7030A0">
              <a:alpha val="88000"/>
            </a:srgbClr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Scraper une page statique avec Python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CD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 récupère le document ; BeautifulSoup le transforme en structure navigable.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52120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A244B"/>
          </a:solidFill>
          <a:ln w="12700">
            <a:solidFill>
              <a:srgbClr val="3A24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2303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E5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 + BEAUTIFULSOUP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stack minimale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73152" cy="201168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44752" y="185623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Télécharger la réponse HTTP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91640"/>
            <a:ext cx="73152" cy="2011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79392" y="185623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BeautifulSoup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94760" y="233172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Parser le HTML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691640"/>
            <a:ext cx="73152" cy="201168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14032" y="185623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Sélecteurs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Cibler les éléments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691640"/>
            <a:ext cx="73152" cy="201168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948672" y="185623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64040" y="233172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Nettoyer / structurer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011680" y="4251960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4251960"/>
            <a:ext cx="813816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57984" y="43708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95144" y="43708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304" y="43708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306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76272" y="4690872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 beautifulsoup4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55778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dépendance pour télécharger, une pour comprendre le HTML.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MINIMUM VIABLE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Votre premier scraper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537960" cy="4389120"/>
          </a:xfrm>
          <a:prstGeom prst="roundRect">
            <a:avLst>
              <a:gd name="adj" fmla="val 1042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53796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5361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5361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1472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622706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bs4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BeautifulSoup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"https://example.com/catalogue"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BeautifulSoup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"html.parser"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3800" y="160020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43800" y="1600200"/>
            <a:ext cx="73152" cy="114300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02752" y="176479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Télécharger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240280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requests.get() envoie la requête HTTP.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43800" y="288036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43800" y="2880360"/>
            <a:ext cx="73152" cy="1143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2752" y="304495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Valider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18120" y="3520440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raise_for_status() détecte les erreurs HTTP.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543800" y="416052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43800" y="416052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02752" y="432511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Parser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120" y="4800600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BeautifulSoup construit une représentation navigable.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BEAUTIFULSOUP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Chercher dans le DOM : find() et find_all()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577840" cy="3520440"/>
          </a:xfrm>
          <a:prstGeom prst="roundRect">
            <a:avLst>
              <a:gd name="adj" fmla="val 1299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57784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526694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"h1"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find_all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"article"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class_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"h2"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6916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691640"/>
            <a:ext cx="73152" cy="12344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42632" y="1856232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2331720"/>
            <a:ext cx="4297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Retourne le premier élément correspondant — ou None.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0" y="310896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108960"/>
            <a:ext cx="73152" cy="123444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∞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42632" y="3273552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find_all()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749040"/>
            <a:ext cx="4297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Retourne une liste de tous les éléments correspondants.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66560" y="4754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Astuce : commencer par cibler une “carte” produit, puis chercher les champs à l’intérieur.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SELECT() ET SELECT_ONE()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 sélecteurs CSS : souvent plus lisibles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715000" cy="3703320"/>
          </a:xfrm>
          <a:prstGeom prst="roundRect">
            <a:avLst>
              <a:gd name="adj" fmla="val 1235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7150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540410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"article.product"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"h2.title"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"span.price"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all_prices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"article.product span.price"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1600200"/>
            <a:ext cx="4572000" cy="594360"/>
          </a:xfrm>
          <a:prstGeom prst="roundRect">
            <a:avLst/>
          </a:prstGeom>
          <a:solidFill>
            <a:srgbClr val="EFEAF4"/>
          </a:solidFill>
          <a:ln w="12700">
            <a:solidFill>
              <a:srgbClr val="E4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1719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classe product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2377440"/>
            <a:ext cx="4572000" cy="5943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4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4963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 main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3154680"/>
            <a:ext cx="4572000" cy="594360"/>
          </a:xfrm>
          <a:prstGeom prst="roundRect">
            <a:avLst/>
          </a:prstGeom>
          <a:solidFill>
            <a:srgbClr val="EFEAF4"/>
          </a:solidFill>
          <a:ln w="12700">
            <a:solidFill>
              <a:srgbClr val="E4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article.product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2735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balise + classe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4572000" cy="594360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4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050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a[href]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050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lien avec href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4709160"/>
            <a:ext cx="4572000" cy="594360"/>
          </a:xfrm>
          <a:prstGeom prst="roundRect">
            <a:avLst/>
          </a:prstGeom>
          <a:solidFill>
            <a:srgbClr val="EFEAF4"/>
          </a:solidFill>
          <a:ln w="12700">
            <a:solidFill>
              <a:srgbClr val="E4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828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.card .price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élément descendant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QUE L’ON EXTRAIT VRAIMENT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Texte, liens, images et attributs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806440" cy="3474720"/>
          </a:xfrm>
          <a:prstGeom prst="roundRect">
            <a:avLst>
              <a:gd name="adj" fmla="val 1316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80644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54955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"h2"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"href"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"img"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"src"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"data-sku"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155448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1554480"/>
            <a:ext cx="73152" cy="8686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719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2194560"/>
            <a:ext cx="3931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get_text(strip=True)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12280" y="2578608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2578608"/>
            <a:ext cx="73152" cy="86868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743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3218688"/>
            <a:ext cx="3931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element.get("href")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12280" y="3602736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3602736"/>
            <a:ext cx="73152" cy="86868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3767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4242816"/>
            <a:ext cx="3931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element.get("src")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12280" y="4626864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4626864"/>
            <a:ext cx="73152" cy="86868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4791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Attribut custom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86600" y="5266944"/>
            <a:ext cx="3931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element.get("data-…")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40880" y="5623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Toujours distinguer valeur affichée et valeur réellement stockée dans l’attribut.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 PAS SUPPOSER QUE TOUT EST PARFAIT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scraper robuste gère les données manquantes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897880" cy="4251960"/>
          </a:xfrm>
          <a:prstGeom prst="roundRect">
            <a:avLst>
              <a:gd name="adj" fmla="val 1075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89788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5361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5361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72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55869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text_or_none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name_node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"h2.title"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price_node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"span.price"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text_or_none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name_node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text_or_none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price_node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03720" y="1691640"/>
            <a:ext cx="44348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champ absent ne doit pas forcément faire tomber tout le crawl.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Journaliser les anomalies : élément manquant, format inattendu, page vide.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Séparer extraction et nettoyage pour faciliter le débogage.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Conserver l’URL source afin de pouvoir vérifier la donnée.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086600" y="51663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518464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ROBUSTESSE &gt; “ça marche chez moi”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MISE EN PRATIQUE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Exercice 2 — Scraper un catalogue statique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21240" y="6583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67665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53312" y="17647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Produire une liste structurée à partir de plusieurs cartes HTML.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72694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Consignes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267712"/>
            <a:ext cx="658368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Téléchargez une page avec requests et vérifiez le status_code.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Identifiez toutes les cartes avec select() ou find_all().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Extrayez au minimum : nom, prix / date, lien et image.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Stockez chaque résultat dans un dictionnaire puis dans une liste.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Affichez les 3 premiers éléments pour vérifier le résultat.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71800"/>
            <a:ext cx="73152" cy="123444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53312" y="31363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variable products = [{...}, {...}] avec au moins 4 champs.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43484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434840"/>
            <a:ext cx="73152" cy="107899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459943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Bonus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Ajouter un champ optionnel et le gérer proprement lorsqu’il est absent.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CHANGER D’ÉCHELLE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Passer d’une page à plusieurs : la pagination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00200" cy="822960"/>
          </a:xfrm>
          <a:prstGeom prst="roundRect">
            <a:avLst/>
          </a:prstGeom>
          <a:solidFill>
            <a:srgbClr val="EFE8F7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66544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240280"/>
            <a:ext cx="457200" cy="0"/>
          </a:xfrm>
          <a:prstGeom prst="line">
            <a:avLst/>
          </a:prstGeom>
          <a:noFill/>
          <a:ln w="2286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182880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2066544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2240280"/>
            <a:ext cx="457200" cy="0"/>
          </a:xfrm>
          <a:prstGeom prst="line">
            <a:avLst/>
          </a:prstGeom>
          <a:noFill/>
          <a:ln w="2286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182880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2066544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240280"/>
            <a:ext cx="457200" cy="0"/>
          </a:xfrm>
          <a:prstGeom prst="line">
            <a:avLst/>
          </a:prstGeom>
          <a:noFill/>
          <a:ln w="2286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182880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066544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8280" y="2240280"/>
            <a:ext cx="457200" cy="0"/>
          </a:xfrm>
          <a:prstGeom prst="line">
            <a:avLst/>
          </a:prstGeom>
          <a:noFill/>
          <a:ln w="22860">
            <a:solidFill>
              <a:srgbClr val="8D5CC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828800"/>
            <a:ext cx="1600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2066544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 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3246120"/>
            <a:ext cx="9875520" cy="1874520"/>
          </a:xfrm>
          <a:prstGeom prst="roundRect">
            <a:avLst>
              <a:gd name="adj" fmla="val 2439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246120"/>
            <a:ext cx="987552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9304" y="33649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26464" y="33649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63624" y="33649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3300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07592" y="3685032"/>
            <a:ext cx="956462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page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f"https://example.com/products?page=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parse + extract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5486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 clé : comment savoir qu’il n’y a plus de page suivante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ASSEMBLER LES BRIQUES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Mini-projet du matin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789920" cy="1005840"/>
          </a:xfrm>
          <a:prstGeom prst="roundRect">
            <a:avLst/>
          </a:prstGeom>
          <a:solidFill>
            <a:srgbClr val="F0EAF6"/>
          </a:solidFill>
          <a:ln w="12700">
            <a:solidFill>
              <a:srgbClr val="E0D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470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 : transformer 2 à 3 pages d’un catalogue en une liste Python propre et cohérente.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97180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Inspecter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sélecteurs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971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97180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Télécharger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3880" y="29718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97180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1363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Parser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361188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BeautifulSoup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38912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537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Extraire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dict / list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89120" y="4389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438912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5537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Paginer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63440" y="502920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plusieurs pages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83880" y="43891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3880" y="438912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45537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Contrôler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58200" y="5029200"/>
            <a:ext cx="2971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qualité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ÊTES-VOUS CAPABLES DE… 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 de mi-journée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81328" y="17007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Expliquer ce qui se passe lors d’un requests.get() 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67728" y="170078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Lire une structure HTML et repérer les bons éléments 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2935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Écrire un sélecteur CSS simple et stable 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67728" y="2935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Extraire texte, href, src et attributs 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81328" y="41696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Gérer une donnée absente sans faire planter tout le script 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67728" y="41696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Parcourir plusieurs pages 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 une réponse est “pas encore”, c’est normal : l’après-midi va réutiliser exactement les mêmes réflexes.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9326880" y="137160"/>
            <a:ext cx="2468880" cy="2468880"/>
          </a:xfrm>
          <a:prstGeom prst="arc">
            <a:avLst/>
          </a:prstGeom>
          <a:solidFill>
            <a:srgbClr val="7030A0">
              <a:alpha val="88000"/>
            </a:srgbClr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les pages dynamiques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CD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 le HTML téléchargé ne contient pas les données visibles à l’écran : chercher du côté de JavaScript et du JSON.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52120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A244B"/>
          </a:solidFill>
          <a:ln w="12700">
            <a:solidFill>
              <a:srgbClr val="3A24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2303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E5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INITIAL ≠ DOM FINAL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Pourquoi requests peut “rater” des données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92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que requests reçoit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160520" cy="1417320"/>
          </a:xfrm>
          <a:prstGeom prst="roundRect">
            <a:avLst>
              <a:gd name="adj" fmla="val 3226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514600"/>
            <a:ext cx="416052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5024" y="263347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2184" y="263347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263347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569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53312" y="2953512"/>
            <a:ext cx="3849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presque aucune donnée métier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600200"/>
            <a:ext cx="4892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que le navigateur affiche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12280" y="2514600"/>
            <a:ext cx="4160520" cy="1417320"/>
          </a:xfrm>
          <a:prstGeom prst="roundRect">
            <a:avLst>
              <a:gd name="adj" fmla="val 3226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2514600"/>
            <a:ext cx="416052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58584" y="263347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5744" y="263347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2904" y="263347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569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 FINAL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76872" y="2953512"/>
            <a:ext cx="38496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 A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 B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12280" y="42519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JavaScript a injecté les éléments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QUE FAIT LE NAVIGATEUR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cycle de rendu d’une page dynamique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731520" cy="7315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initial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240280"/>
            <a:ext cx="82296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874520"/>
            <a:ext cx="731520" cy="73152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240280"/>
            <a:ext cx="82296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0" y="1874520"/>
            <a:ext cx="731520" cy="731520"/>
          </a:xfrm>
          <a:prstGeom prst="ellipse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 /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240280"/>
            <a:ext cx="82296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874520"/>
            <a:ext cx="731520" cy="731520"/>
          </a:xfrm>
          <a:prstGeom prst="ellipse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78240" y="2240280"/>
            <a:ext cx="82296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0" y="1874520"/>
            <a:ext cx="731520" cy="731520"/>
          </a:xfrm>
          <a:prstGeom prst="ellipse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298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 final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3886200"/>
            <a:ext cx="9921240" cy="1143000"/>
          </a:xfrm>
          <a:prstGeom prst="roundRect">
            <a:avLst/>
          </a:prstGeom>
          <a:solidFill>
            <a:srgbClr val="F0EAF6"/>
          </a:solidFill>
          <a:ln w="12700">
            <a:solidFill>
              <a:srgbClr val="DFD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187952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Stratégie : avant d’automatiser un navigateur, chercher si la donnée existe déjà sous forme JSON.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MÉTHODE DE DIAGNOSTIC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→ Fetch/XHR : trouver la source réelle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Ouvrir DevTools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26080" y="16002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600200"/>
            <a:ext cx="73152" cy="1508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64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Filtrer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00400" y="2240280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 / XHR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600200"/>
            <a:ext cx="73152" cy="1508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764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Recharger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240280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page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600200"/>
            <a:ext cx="73152" cy="150876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764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Cliquer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0" y="2240280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requête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784080" y="160020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1600200"/>
            <a:ext cx="73152" cy="150876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1764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Inspecter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0" y="2240280"/>
            <a:ext cx="1554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/ Preview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965960" y="3840480"/>
            <a:ext cx="8229600" cy="1691640"/>
          </a:xfrm>
          <a:prstGeom prst="roundRect">
            <a:avLst>
              <a:gd name="adj" fmla="val 2703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3840480"/>
            <a:ext cx="82296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12264" y="395935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9424" y="395935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86584" y="395935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3895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30552" y="4279392"/>
            <a:ext cx="79187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/api/products?page=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application/json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29.9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bon endpoint JSON peut rendre le scraping beaucoup plus simple et stable.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 L’ENDPOINT EST IDENTIFIABLE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Consommer directement une réponse JSON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629400" cy="4389120"/>
          </a:xfrm>
          <a:prstGeom prst="roundRect">
            <a:avLst>
              <a:gd name="adj" fmla="val 1042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6294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5361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5361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472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6318504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"https://example.com/api/products"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6459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35240" y="1645920"/>
            <a:ext cx="73152" cy="114300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94192" y="18105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Avantage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09560" y="228600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 besoin de parser le HTML rendu.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30175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3017520"/>
            <a:ext cx="73152" cy="1143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94192" y="31821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Attention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09560" y="365760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L’endpoint peut exiger paramètres, cookies ou headers.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35240" y="43891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438912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4590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◎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94192" y="45537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Réflexe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909560" y="5029200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Observer la requête avant de la reproduire.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AUTRE CAS FRÉQUENT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Parsing hybride : HTML + JSON embarqué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440680" cy="2926080"/>
          </a:xfrm>
          <a:prstGeom prst="roundRect">
            <a:avLst>
              <a:gd name="adj" fmla="val 1563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44068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512978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__DATA__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"product": {"name": "A", "price": 29.9}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880360"/>
            <a:ext cx="731520" cy="0"/>
          </a:xfrm>
          <a:prstGeom prst="line">
            <a:avLst/>
          </a:prstGeom>
          <a:noFill/>
          <a:ln w="31750">
            <a:solidFill>
              <a:srgbClr val="7030A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1508760"/>
            <a:ext cx="4343400" cy="2926080"/>
          </a:xfrm>
          <a:prstGeom prst="roundRect">
            <a:avLst>
              <a:gd name="adj" fmla="val 1563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508760"/>
            <a:ext cx="43434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22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4438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88352" y="1947672"/>
            <a:ext cx="40325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select_one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"#__DATA__"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donnée existe déjà dans la page, mais pas forcément sous la forme visible dans le DOM.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MISE EN PRATIQUE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Exercice 3 — Retrouver la donnée dynamique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21240" y="6583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67665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53312" y="17647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d’où viennent les informations visibles après chargement.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72694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Consignes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267712"/>
            <a:ext cx="658368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Ouvrez une page contenant des données chargées dynamiquement.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Dans Network, filtrez Fetch/XHR puis rechargez la page.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Identifiez une requête renvoyant du JSON métier.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Repérez les paramètres utiles : page, recherche, identifiant, pagination…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Reproduisez une requête simple avec requests lorsque cela est raisonnable dans l’environnement du cours.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71800"/>
            <a:ext cx="73152" cy="123444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53312" y="313639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3611880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nom de la requête, son URL / pattern, et un extrait de structure JSON.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43484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434840"/>
            <a:ext cx="73152" cy="107899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459943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Bonus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Comparer la stabilité du JSON avec celle du HTML rendu.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9326880" y="137160"/>
            <a:ext cx="2468880" cy="2468880"/>
          </a:xfrm>
          <a:prstGeom prst="arc">
            <a:avLst/>
          </a:prstGeom>
          <a:solidFill>
            <a:srgbClr val="7030A0">
              <a:alpha val="88000"/>
            </a:srgbClr>
          </a:solidFill>
          <a:ln w="12700">
            <a:solidFill>
              <a:srgbClr val="7030A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Nettoyer et stocker les données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CD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Passer d’un texte extrait du Web à une donnée fiable et exploitable dans une base SQLite.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52120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A244B"/>
          </a:solidFill>
          <a:ln w="12700">
            <a:solidFill>
              <a:srgbClr val="3A24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523036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E5F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PIPELINE DE NETTOYAGE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Extraction ≠ donnée exploitable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2402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53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12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3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 1 299,99 € 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2743200"/>
            <a:ext cx="41148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965960"/>
            <a:ext cx="22402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12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"1 299,99 €"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06440" y="2743200"/>
            <a:ext cx="41148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22402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77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12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"1299.99"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5360" y="2743200"/>
            <a:ext cx="411480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280" y="1965960"/>
            <a:ext cx="22402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9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212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2743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1299.99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251960"/>
            <a:ext cx="93268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Uniformiser espaces, séparateurs décimaux et unités.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Convertir prix, dates, quantités vers de vrais types Python.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Dédupliquer et valider les champs obligatoires.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Garder la valeur source si une transformation est potentiellement ambiguë.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Quelques transformations fréquentes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629400" cy="4434840"/>
          </a:xfrm>
          <a:prstGeom prst="roundRect">
            <a:avLst>
              <a:gd name="adj" fmla="val 1031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62940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53619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53619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472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631850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clean_price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"€"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r"\s+"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strptime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"%d/%m/%Y"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6459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35240" y="1645920"/>
            <a:ext cx="73152" cy="10515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94192" y="18105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09560" y="228600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espaces, HTML, casse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28346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2834640"/>
            <a:ext cx="73152" cy="105156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94192" y="299923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Nombre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09560" y="347472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€ / %, virgule, unité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35240" y="40233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4023360"/>
            <a:ext cx="73152" cy="105156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94192" y="418795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909560" y="466344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 → date Python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80960" y="5440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 : chaque colonne doit avoir un sens et un type prévisible.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SCHÉMA MINIMAL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 : une base relationnelle légère pour notre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45720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2423160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INTEGER · PK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80160" y="2862072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633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80160" y="3300984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30723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0160" y="3739896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url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0" y="35112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80160" y="4178808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image_url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0" y="3950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0160" y="4617720"/>
            <a:ext cx="3840480" cy="0"/>
          </a:xfrm>
          <a:prstGeom prst="line">
            <a:avLst/>
          </a:prstGeom>
          <a:noFill/>
          <a:ln w="12700">
            <a:solidFill>
              <a:srgbClr val="EE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scraped_at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4389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DATETIME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16916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691640"/>
            <a:ext cx="73152" cy="114300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39712" y="18562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Pourquoi SQLite 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55080" y="2331720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seul fichier, zéro serveur, SQL standard : parfait pour apprendre et prototyper.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63240"/>
            <a:ext cx="73152" cy="1143000"/>
          </a:xfrm>
          <a:prstGeom prst="rect">
            <a:avLst/>
          </a:prstGeom>
          <a:solidFill>
            <a:srgbClr val="4776B4"/>
          </a:solidFill>
          <a:ln w="12700">
            <a:solidFill>
              <a:srgbClr val="477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◎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39712" y="32278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Pourquoi un schéma ?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355080" y="3703320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Forcer des types cohérents et préparer l’analyse / reporting.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080760" y="44348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443484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↺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39712" y="4599432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Traçabilité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355080" y="5074920"/>
            <a:ext cx="4251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Conserver URL source et date de collecte.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LA LISTE PYTHON À LA BASE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Insérer avec sqlite3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6949440" cy="4754880"/>
          </a:xfrm>
          <a:prstGeom prst="roundRect">
            <a:avLst>
              <a:gd name="adj" fmla="val 962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94944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4475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44475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44475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380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764792"/>
            <a:ext cx="663854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sqlite3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"scraping.db"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products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INTEGER PRIMARY KEY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REAL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 TEXT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products (name, price, url) VALUES (?, ?, ?)"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342900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Utiliser des paramètres ? plutôt que concaténer la requête SQL.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 pour persister les modifications.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Fermer la connexion ou utiliser with sqlite3.connect(...).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523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Prévoir une stratégie de déduplication.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 CONNAÎTRE, SANS ALOURDIR LE JOUR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 : SQLAlchemy pour séparer code et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46520" cy="3749040"/>
          </a:xfrm>
          <a:prstGeom prst="roundRect">
            <a:avLst>
              <a:gd name="adj" fmla="val 1220"/>
            </a:avLst>
          </a:prstGeom>
          <a:solidFill>
            <a:srgbClr val="18151F"/>
          </a:solidFill>
          <a:ln w="12700">
            <a:solidFill>
              <a:srgbClr val="332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6446520" cy="347472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27632"/>
            <a:ext cx="91440" cy="91440"/>
          </a:xfrm>
          <a:prstGeom prst="ellipse">
            <a:avLst/>
          </a:prstGeom>
          <a:solidFill>
            <a:srgbClr val="E46B67"/>
          </a:solidFill>
          <a:ln w="12700">
            <a:solidFill>
              <a:srgbClr val="E46B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627632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627632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5636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A8A0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613562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sqlalchemy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create_engine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create_engine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"sqlite:///scraping.db"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engine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products(name, price) VALUES (:n, :p)"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"p"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164592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06640" y="1645920"/>
            <a:ext cx="73152" cy="118872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672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65592" y="18105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80960" y="22860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Simple, intégré à Python, idéal pour comprendre les bases.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3063240"/>
            <a:ext cx="73152" cy="1188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65592" y="3227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SQLAlchemy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80960" y="370332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Plus abstrait, facilite l’évolution vers PostgreSQL / MySQL.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 ce module : maîtriser sqlite3 suffit. SQLAlchemy = ouverture.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NOTRE PIPELINE COMPLÈTE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de fin de Jour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8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/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450592"/>
            <a:ext cx="393192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2880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77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76B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450592"/>
            <a:ext cx="393192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182880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BS4 /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2450592"/>
            <a:ext cx="393192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82880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81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2450592"/>
            <a:ext cx="393192" cy="0"/>
          </a:xfrm>
          <a:prstGeom prst="line">
            <a:avLst/>
          </a:prstGeom>
          <a:noFill/>
          <a:ln w="25400">
            <a:solidFill>
              <a:srgbClr val="D9D6E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9800" y="1828800"/>
            <a:ext cx="18288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F9D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2124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3749040"/>
            <a:ext cx="10241280" cy="1097280"/>
          </a:xfrm>
          <a:prstGeom prst="roundRect">
            <a:avLst/>
          </a:prstGeom>
          <a:solidFill>
            <a:srgbClr val="F1EFF4"/>
          </a:solidFill>
          <a:ln w="12700">
            <a:solidFill>
              <a:srgbClr val="DFDB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041648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 chaque étape : valider l’entrée, produire une sortie claire, et savoir où chercher si quelque chose casse.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45 MINUTES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Challenge final — Web → SQLite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21240" y="6583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0EAF6"/>
          </a:solidFill>
          <a:ln w="12700">
            <a:solidFill>
              <a:srgbClr val="F0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676656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45 MIN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0972800" cy="960120"/>
          </a:xfrm>
          <a:prstGeom prst="roundRect">
            <a:avLst/>
          </a:prstGeom>
          <a:solidFill>
            <a:srgbClr val="F0EAF6"/>
          </a:solidFill>
          <a:ln w="12700">
            <a:solidFill>
              <a:srgbClr val="DFD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Construisez un script qui extrait, nettoie et stocke un petit catalogue dans SQLite.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43200"/>
            <a:ext cx="73152" cy="19202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36192" y="2907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788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 moins 2 pages ou une source JSON. 4 champs minimum.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34840" y="2743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743200"/>
            <a:ext cx="73152" cy="192024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81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93792" y="2907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3383280"/>
            <a:ext cx="2788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 moins 2 transformations de nettoyage et gestion d’un champ absent.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92440" y="2743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2743200"/>
            <a:ext cx="73152" cy="1920240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D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51392" y="29077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Stockage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3383280"/>
            <a:ext cx="2788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 SQLite cohérente + requête SELECT de contrôle.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53492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Restitution : 2 minutes pour expliquer le choix des sélecteurs, une difficulté et votre solution.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MÉTHODE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 “ça ne marche pas” : checklist de débogage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1115568"/>
          </a:xfrm>
          <a:prstGeom prst="rect">
            <a:avLst/>
          </a:prstGeom>
          <a:solidFill>
            <a:srgbClr val="C45353"/>
          </a:solidFill>
          <a:ln w="12700">
            <a:solidFill>
              <a:srgbClr val="C45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733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La requête répond-elle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status_code, URL, redirection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508760"/>
            <a:ext cx="73152" cy="1115568"/>
          </a:xfrm>
          <a:prstGeom prst="rect">
            <a:avLst/>
          </a:prstGeom>
          <a:solidFill>
            <a:srgbClr val="C45353"/>
          </a:solidFill>
          <a:ln w="12700">
            <a:solidFill>
              <a:srgbClr val="C45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733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La donnée est-elle dans response.text 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recherche simple / taille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880360"/>
            <a:ext cx="73152" cy="111556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44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Le sélecteur est-il correct 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35204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tester dans DevTools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8803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880360"/>
            <a:ext cx="73152" cy="1115568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044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La page est-elle dynamique 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35204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→ XHR / Fetch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51960"/>
            <a:ext cx="73152" cy="1115568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165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Le format a-t-il changé 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4892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/ JSON inattendu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25196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251960"/>
            <a:ext cx="73152" cy="1115568"/>
          </a:xfrm>
          <a:prstGeom prst="rect">
            <a:avLst/>
          </a:prstGeom>
          <a:solidFill>
            <a:srgbClr val="4F9D7A"/>
          </a:solidFill>
          <a:ln w="12700">
            <a:solidFill>
              <a:srgbClr val="4F9D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4165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La donnée est-elle nettoyée ?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9400" y="4892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types, None, unités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97280" y="571500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Déboguer du scraping = localiser l’étape qui ne produit plus la sortie attendue.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SYNTHÈSE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 qu’il faut retenir du Jour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Inspecter avant de coder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Comprendre DOM et Network.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50876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73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Séparer les responsabilités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Télécharger, parser, nettoyer, stocker.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906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Choisir la bonne source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si statique, JSON si disponible.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29260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92608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0906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Rendre le code robuste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356616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Timeout, erreurs, valeurs absentes.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43400"/>
            <a:ext cx="73152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Structurer la donnée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498348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cohérents + traçabilité.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E3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9C5D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343400"/>
            <a:ext cx="73152" cy="1143000"/>
          </a:xfrm>
          <a:prstGeom prst="rect">
            <a:avLst/>
          </a:prstGeom>
          <a:solidFill>
            <a:srgbClr val="2D8195"/>
          </a:solidFill>
          <a:ln w="12700">
            <a:solidFill>
              <a:srgbClr val="2D81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Penser pipeline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9400" y="4983480"/>
            <a:ext cx="4754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66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scraping n’est qu’une étape de l’acquisition.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QUESTIONS — SANS REGARDER LE 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Quiz de fin de journée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À quoi sert HTTP dans un scraper ?</a:t>
            </a:r>
            <a:endParaRPr lang="en-US" sz="1420" dirty="0"/>
          </a:p>
        </p:txBody>
      </p:sp>
      <p:sp>
        <p:nvSpPr>
          <p:cNvPr id="5" name="Text 3"/>
          <p:cNvSpPr/>
          <p:nvPr/>
        </p:nvSpPr>
        <p:spPr>
          <a:xfrm>
            <a:off x="822960" y="22951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Quelle différence entre HTML initial et DOM final ?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22960" y="31729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Que renvoie find_all() ?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22960" y="4050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Quel sélecteur cible une classe “price” ?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Comment récupérer un href avec BeautifulSoup ?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537960" y="1417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 Pourquoi utiliser un timeout ?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537960" y="22951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7. Où chercher une API appelée par JavaScript ?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537960" y="31729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8. Quel format est souvent renvoyé par Fetch/XHR ?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537960" y="4050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9. Pourquoi convertir “29,90 €” en float ?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537960" y="49286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10. Pourquoi conserver l’URL source en base ?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RÉPONSES ESSENTIELLES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Correction du quiz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713232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5179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Transporter la requête et la réponse entre client et serveur.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5303520" cy="713232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87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4323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DOM final peut contenir des éléments ajoutés par JavaScript.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5303520" cy="713232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401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467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liste de tous les éléments correspondant au critère.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5303520" cy="713232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159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.price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5303520" cy="713232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2303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51755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element.get("href")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5303520" cy="713232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15179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Éviter un appel bloqué indéfiniment.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400800" y="2331720"/>
            <a:ext cx="5303520" cy="713232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487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4323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DevTools → Network → Fetch/XHR.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400800" y="3246120"/>
            <a:ext cx="5303520" cy="713232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401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33467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Souvent du JSON.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6400800" y="4160520"/>
            <a:ext cx="5303520" cy="713232"/>
          </a:xfrm>
          <a:prstGeom prst="roundRect">
            <a:avLst/>
          </a:prstGeom>
          <a:solidFill>
            <a:srgbClr val="F1ECF6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43159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42611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 calculer, comparer, trier et stocker correctement.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400800" y="5074920"/>
            <a:ext cx="5303520" cy="713232"/>
          </a:xfrm>
          <a:prstGeom prst="roundRect">
            <a:avLst/>
          </a:prstGeom>
          <a:solidFill>
            <a:srgbClr val="F8F7FA"/>
          </a:solidFill>
          <a:ln w="12700">
            <a:solidFill>
              <a:srgbClr val="E5E1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52303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51755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2412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Pour la traçabilité et la vérification de la donnée.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560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DA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23A"/>
          </a:solidFill>
          <a:ln w="12700">
            <a:solidFill>
              <a:srgbClr val="241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05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5C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Jour 1 terminé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Demain : industrialiser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avec Scrapy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60120" y="3520440"/>
            <a:ext cx="60350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1D7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Spider, Item, Pipeline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1D7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Scrapy shell + CSS / XPath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1D7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Pagination et exports à plus grande échelle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1D7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Enjeux juridiques, éthiques et limites techniques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0" y="1508760"/>
            <a:ext cx="3337560" cy="3429000"/>
          </a:xfrm>
          <a:prstGeom prst="roundRect">
            <a:avLst/>
          </a:prstGeom>
          <a:solidFill>
            <a:srgbClr val="342044"/>
          </a:solidFill>
          <a:ln w="12700">
            <a:solidFill>
              <a:srgbClr val="593C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828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 retenir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0" y="26060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CD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Inspecter → Extraire → Nettoyer → Stocker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458200" y="41605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472B5E"/>
          </a:solidFill>
          <a:ln w="12700">
            <a:solidFill>
              <a:srgbClr val="47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1352" y="417880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DF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DE DONNÉES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60807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99CB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construit à partir du syllabus Web Scraping &amp; Web Mining — Mastère 1.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NEXA Digital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&amp; Web Mining — Jour 1</dc:title>
  <dc:subject>Web Scraping &amp; Web Mining — Jour 1</dc:subject>
  <dc:creator>OpenAI</dc:creator>
  <cp:lastModifiedBy>OpenAI</cp:lastModifiedBy>
  <cp:revision>1</cp:revision>
  <dcterms:created xsi:type="dcterms:W3CDTF">2026-09-20T23:09:18Z</dcterms:created>
  <dcterms:modified xsi:type="dcterms:W3CDTF">2026-09-20T23:09:18Z</dcterms:modified>
</cp:coreProperties>
</file>