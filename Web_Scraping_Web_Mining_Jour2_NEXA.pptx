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Lst>
  <p:notesMasterIdLst>
    <p:notesMasterId r:id="rId5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notesMaster" Target="notesMasters/notesMaster1.xml"/><Relationship Id="rId52" Type="http://schemas.openxmlformats.org/officeDocument/2006/relationships/presProps" Target="presProps.xml"/><Relationship Id="rId53" Type="http://schemas.openxmlformats.org/officeDocument/2006/relationships/viewProps" Target="viewProps.xml"/><Relationship Id="rId54" Type="http://schemas.openxmlformats.org/officeDocument/2006/relationships/theme" Target="theme/theme1.xml"/><Relationship Id="rId5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Ouverture. Rappeler que le Jour 1 a construit une petite pipeline avec Requests/BeautifulSoup/JSON/SQLite. Aujourd’hui : industrialisation avec Scrapy puis prise de décision responsable avant de collecter.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Faire expliciter par les étudiants les différences attendues avec le Jour 1. L’objectif n’est pas de contourner les protections anti-bot, mais de comprendre un crawl robuste et responsable.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Prévoir deux pauses : 10h45 et 15h15. Garder 10 à 15 min de marge dans chaque demi-journée pour les problèmes d’environnement Python.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Faire reformuler les limites de leur script du Jour 1 : boucle artisanale, logs, retries, structuration, pagination, réutilisabilité.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Scrapy est présenté comme un framework d’extraction/crawl, pas comme un “outil magique”. La difficulté principale reste la compréhension de la source.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 pas détailler tous les middlewares à ce stade. Montrer seulement où ils se placent dans l’architecture.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Insister sur la séparation des responsabilités. Un spider ne devrait pas devenir un énorme bloc avec nettoyage, SQL et navigation mélangés.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Éviter de perdre du temps sur les installations : préparer une solution de secours (venv déjà prêt, environnement de classe, ou notebook/VM).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Faire lancer ce spider avant d’ajouter la complexité. Les étudiants doivent voir un crawl complet très tôt.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Faire le lien avec le Jour 1 : requests.get() renvoyait déjà une réponse ; Scrapy systématise cette logique et la relie à une file de requêtes.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Faire 5 minutes de manipulation libre. Demander à chaque binôme d’extraire titre et prix d’un produit.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Comparer à soup.select() du Jour 1. L’intuition CSS est transférable.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Éviter d’enseigner XPath comme une fin en soi. Montrer les cas où il simplifie réellement le ciblage.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Circuler sans donner les sélecteurs. Poser : “Quel est votre bloc répétitif ? Quel champ vient d’un attribut ? Le sélecteur dépend-il de la position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 dictionnaires restent valides dans Scrapy. Les Items deviennent utiles dès qu’on veut structurer et documenter le schéma.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C’est une slide conceptuelle importante. Beaucoup d’étudiants comprennent Scrapy quand ils comprennent que le callback peut “émettre” des items et/ou des requêtes.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Expliquer que response.follow() résout les URLs relatives. Comparer avec urljoin manuel du Jour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Faire verbaliser le graphe de navigation du site. Un spider complexe est souvent plus simple à comprendre comme un graphe de callbacks que comme un grand fichier Python.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Activité courte : demander aux étudiants de dessiner le graphe du site qu’ils veulent scraper avant de continuer.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Relier aux étapes RAW → CLEAN du Jour 1. Montrer qu’on peut chaîner plusieurs pipelines au lieu d’un seul gros process_item.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Faire proposer une clé de déduplication pour un catalogue e-commerce. Discuter : URL vs SKU vs titre.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documentation Scrapy actuelle recommande les Feed exports pour les formats de fichiers courants.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Exemple pédagogique minimal. En production, discuter transactions par lots et gestion d’erreurs plutôt que commit à chaque item.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 valeurs sont pédagogiques, pas des recommandations universelles. Le débit acceptable dépend du site, des autorisations et du cas d’usage.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Scrapy inclut un RetryMiddleware pour certaines erreurs temporaires. Ne pas enseigner “retry jusqu’à passer” : un 403 ou un CAPTCHA peut être un signal de refus d’automatisation.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Préparer la transition vers la partie droit : les signaux techniques et les permissions juridiques ne se confondent pas.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 pas imposer tout de suite la solution. Aider par couches : shell → spider 1 page → pagination → détail → pipeline → export.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Faire un rapide tour de salle. Les étudiants doivent pouvoir expliquer leur architecture sans regarder le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Éviter les règles simplistes du type “si c’est public, c’est légal”. La CNIL rappelle que le caractère publiquement accessible n’autorise pas par principe tout moissonnage/réutilisation.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S’appuyer sur la définition CNIL. Attention : une adresse professionnelle nominative peut être une donnée personnelle ; le simple contexte “B2B” ne sort pas du RGPD.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 pas faire de consultation juridique individualisée. Présenter les principes de l’article 5 et l’exigence d’une base légale de l’article 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CNIL indique que la collecte de données personnelles accessibles en ligne par scraping repose généralement sur l’intérêt légitime, mais exige une analyse et des garanties. Ne pas présenter cela comme la seule base légale possible.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 pas donner de conclusion juridique sur un site réel sans analyse. Mentionner que le droit des bases de données est distinct du RGPD.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CNIL rappelle que la présence de données personnelles dans l’open data n’exonère pas le réutilisateur du RGPD.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Cette grille est un excellent support de soutenance : demander aux groupes de l’appliquer au mini-projet final.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syllabus mentionne CAPTCHA, IP blocking, honeypots et user-agent rotation. Les présenter comme limites/signes de contrôle d’accès. Ne pas faire un atelier de contournement.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syllabus cite user-agent rotation. On peut expliquer le mécanisme sans fournir de stratégie d’évasion.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 pas chercher une réponse binaire immédiate. Demander quelles informations manquent pour décider correctement.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Débat cadré : l’objectif est de produire les questions pertinentes, pas de gagner.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challenge doit rester faisable en ~45 min si l’exercice 2 a été terminé. On peut réutiliser le spider du matin et ajouter la documentation responsable.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Cette grille peut être adaptée selon les modalités d’évaluation locales. Le syllabus mentionne étude de cas, QCM, projet, exercices et présentation orale.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Peut se faire individuellement puis correction collective.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Pour les questions juridiques, accepter les réponses qui identifient correctement les couches d’analyse plutôt qu’une formule unique.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Conclusion générale : le web scraping est une compétence d’ingénierie de données, pas seulement une technique de parsing HTML.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partie juridique est un support pédagogique général et ne remplace pas une analyse juridique adaptée à un cas réel.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Clôture. Demander aux étudiants de citer une décision technique et une décision responsable qu’ils prendraient différemment après le module.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IGHT">
    <p:bg>
      <p:bgPr>
        <a:solidFill>
          <a:srgbClr val="F7F7FA"/>
        </a:solidFill>
      </p:bgPr>
    </p:bg>
    <p:spTree>
      <p:nvGrpSpPr>
        <p:cNvPr id="1" name=""/>
        <p:cNvGrpSpPr/>
        <p:nvPr/>
      </p:nvGrpSpPr>
      <p:grpSpPr>
        <a:xfrm>
          <a:off x="0" y="0"/>
          <a:ext cx="0" cy="0"/>
          <a:chOff x="0" y="0"/>
          <a:chExt cx="0" cy="0"/>
        </a:xfrm>
      </p:grpSpPr>
      <p:sp>
        <p:nvSpPr>
          <p:cNvPr id="2" name="Shape 0"/>
          <p:cNvSpPr/>
          <p:nvPr/>
        </p:nvSpPr>
        <p:spPr>
          <a:xfrm>
            <a:off x="0" y="0"/>
            <a:ext cx="12191695" cy="155448"/>
          </a:xfrm>
          <a:prstGeom prst="rect">
            <a:avLst/>
          </a:prstGeom>
          <a:solidFill>
            <a:srgbClr val="7432A8"/>
          </a:solidFill>
          <a:ln w="12700">
            <a:solidFill>
              <a:srgbClr val="7432A8"/>
            </a:solidFill>
            <a:prstDash val="solid"/>
          </a:ln>
        </p:spPr>
      </p:sp>
      <p:sp>
        <p:nvSpPr>
          <p:cNvPr id="3" name="Text 1"/>
          <p:cNvSpPr/>
          <p:nvPr/>
        </p:nvSpPr>
        <p:spPr>
          <a:xfrm>
            <a:off x="502920" y="6510528"/>
            <a:ext cx="5120640" cy="164592"/>
          </a:xfrm>
          <a:prstGeom prst="rect">
            <a:avLst/>
          </a:prstGeom>
          <a:noFill/>
          <a:ln/>
        </p:spPr>
        <p:txBody>
          <a:bodyPr wrap="square" lIns="0" tIns="0" rIns="0" bIns="0" rtlCol="0" anchor="ctr"/>
          <a:lstStyle/>
          <a:p>
            <a:pPr indent="0" marL="0">
              <a:buNone/>
            </a:pPr>
            <a:r>
              <a:rPr lang="en-US" sz="850" dirty="0">
                <a:solidFill>
                  <a:srgbClr val="757687"/>
                </a:solidFill>
                <a:latin typeface="Aptos" pitchFamily="34" charset="0"/>
                <a:ea typeface="Aptos" pitchFamily="34" charset="-122"/>
                <a:cs typeface="Aptos" pitchFamily="34" charset="-120"/>
              </a:rPr>
              <a:t>Mastère 1 — Data &amp; Intelligence artificielle</a:t>
            </a:r>
            <a:endParaRPr lang="en-US" sz="850" dirty="0"/>
          </a:p>
        </p:txBody>
      </p:sp>
      <p:sp>
        <p:nvSpPr>
          <p:cNvPr id="4" name="Text 2"/>
          <p:cNvSpPr/>
          <p:nvPr/>
        </p:nvSpPr>
        <p:spPr>
          <a:xfrm>
            <a:off x="8366760" y="6510528"/>
            <a:ext cx="3291840" cy="164592"/>
          </a:xfrm>
          <a:prstGeom prst="rect">
            <a:avLst/>
          </a:prstGeom>
          <a:noFill/>
          <a:ln/>
        </p:spPr>
        <p:txBody>
          <a:bodyPr wrap="square" lIns="0" tIns="0" rIns="0" bIns="0" rtlCol="0" anchor="ctr"/>
          <a:lstStyle/>
          <a:p>
            <a:pPr algn="r" indent="0" marL="0">
              <a:buNone/>
            </a:pPr>
            <a:r>
              <a:rPr lang="en-US" sz="850" dirty="0">
                <a:solidFill>
                  <a:srgbClr val="757687"/>
                </a:solidFill>
                <a:latin typeface="Aptos" pitchFamily="34" charset="0"/>
                <a:ea typeface="Aptos" pitchFamily="34" charset="-122"/>
                <a:cs typeface="Aptos" pitchFamily="34" charset="-120"/>
              </a:rPr>
              <a:t>Web Scraping &amp; Web Mining · Jour 2</a:t>
            </a:r>
            <a:endParaRPr lang="en-US" sz="850" dirty="0"/>
          </a:p>
        </p:txBody>
      </p:sp>
      <p:sp>
        <p:nvSpPr>
          <p:cNvPr id="25" name="Slide Number Placeholder 0"/>
          <p:cNvSpPr>
            <a:spLocks noGrp="1"/>
          </p:cNvSpPr>
          <p:nvPr>
            <p:ph type="sldNum" sz="quarter" idx="4294967295"/>
          </p:nvPr>
        </p:nvSpPr>
        <p:spPr>
          <a:xfrm>
            <a:off x="11750040" y="274320"/>
            <a:ext cx="228600" cy="164592"/>
          </a:xfrm>
          <a:prstGeom prst="rect">
            <a:avLst/>
          </a:prstGeom>
          <a:extLst>
            <a:ext uri="{C572A759-6A51-4108-AA02-DFA0A04FC94B}">
              <ma14:wrappingTextBoxFlag xmlns:ma14="http://schemas.microsoft.com/office/mac/drawingml/2011/main" val="0"/>
            </a:ext>
          </a:extLst>
        </p:spPr>
        <p:txBody>
          <a:bodyPr/>
          <a:lstStyle>
            <a:lvl1pPr>
              <a:defRPr sz="800">
                <a:solidFill>
                  <a:srgbClr val="858697"/>
                </a:solidFill>
                <a:latin typeface="Aptos"/>
                <a:ea typeface="Aptos"/>
                <a:cs typeface="Aptos"/>
              </a:defRPr>
            </a:lvl1pPr>
          </a:lstStyle>
          <a:p>
            <a:pPr algn="r"/>
            <a:fld id="{F7021451-1387-4CA6-816F-3879F97B5CBC}" type="slidenum">
              <a:rPr b="0" lang="en-US"/>
              <a:t>1002</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750040" y="274320"/>
            <a:ext cx="228600" cy="164592"/>
          </a:xfrm>
          <a:prstGeom prst="rect">
            <a:avLst/>
          </a:prstGeom>
          <a:extLst>
            <a:ext uri="{C572A759-6A51-4108-AA02-DFA0A04FC94B}">
              <ma14:wrappingTextBoxFlag xmlns:ma14="http://schemas.microsoft.com/office/mac/drawingml/2011/main" val="0"/>
            </a:ext>
          </a:extLst>
        </p:spPr>
        <p:txBody>
          <a:bodyPr/>
          <a:lstStyle>
            <a:lvl1pPr>
              <a:defRPr sz="800">
                <a:solidFill>
                  <a:srgbClr val="858697"/>
                </a:solidFill>
                <a:latin typeface="Aptos"/>
                <a:ea typeface="Aptos"/>
                <a:cs typeface="Aptos"/>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41337"/>
        </a:solidFill>
      </p:bgPr>
    </p:bg>
    <p:spTree>
      <p:nvGrpSpPr>
        <p:cNvPr id="1" name=""/>
        <p:cNvGrpSpPr/>
        <p:nvPr/>
      </p:nvGrpSpPr>
      <p:grpSpPr>
        <a:xfrm>
          <a:off x="0" y="0"/>
          <a:ext cx="0" cy="0"/>
          <a:chOff x="0" y="0"/>
          <a:chExt cx="0" cy="0"/>
        </a:xfrm>
      </p:grpSpPr>
      <p:sp>
        <p:nvSpPr>
          <p:cNvPr id="2" name="Shape 0"/>
          <p:cNvSpPr/>
          <p:nvPr/>
        </p:nvSpPr>
        <p:spPr>
          <a:xfrm>
            <a:off x="0" y="0"/>
            <a:ext cx="201168" cy="6858000"/>
          </a:xfrm>
          <a:prstGeom prst="rect">
            <a:avLst/>
          </a:prstGeom>
          <a:solidFill>
            <a:srgbClr val="7432A8"/>
          </a:solidFill>
          <a:ln w="12700">
            <a:solidFill>
              <a:srgbClr val="7432A8"/>
            </a:solidFill>
            <a:prstDash val="solid"/>
          </a:ln>
        </p:spPr>
      </p:sp>
      <p:sp>
        <p:nvSpPr>
          <p:cNvPr id="3" name="Shape 1"/>
          <p:cNvSpPr/>
          <p:nvPr/>
        </p:nvSpPr>
        <p:spPr>
          <a:xfrm rot="1200000">
            <a:off x="10881360" y="164592"/>
            <a:ext cx="1097280" cy="1325880"/>
          </a:xfrm>
          <a:prstGeom prst="arc">
            <a:avLst/>
          </a:prstGeom>
          <a:solidFill>
            <a:srgbClr val="7432A8"/>
          </a:solidFill>
          <a:ln w="12700">
            <a:solidFill>
              <a:srgbClr val="7432A8"/>
            </a:solidFill>
            <a:prstDash val="solid"/>
          </a:ln>
        </p:spPr>
      </p:sp>
      <p:sp>
        <p:nvSpPr>
          <p:cNvPr id="4" name="Text 2"/>
          <p:cNvSpPr/>
          <p:nvPr/>
        </p:nvSpPr>
        <p:spPr>
          <a:xfrm>
            <a:off x="822960" y="1143000"/>
            <a:ext cx="5486400" cy="1234440"/>
          </a:xfrm>
          <a:prstGeom prst="rect">
            <a:avLst/>
          </a:prstGeom>
          <a:noFill/>
          <a:ln/>
        </p:spPr>
        <p:txBody>
          <a:bodyPr wrap="square" lIns="0" tIns="0" rIns="0" bIns="0" rtlCol="0" anchor="t">
            <a:normAutofit/>
          </a:bodyPr>
          <a:lstStyle/>
          <a:p>
            <a:pPr algn="l" indent="0" marL="0">
              <a:buNone/>
            </a:pPr>
            <a:r>
              <a:rPr lang="en-US" sz="3100" b="1" dirty="0">
                <a:solidFill>
                  <a:srgbClr val="FFFFFF"/>
                </a:solidFill>
                <a:latin typeface="Aptos" pitchFamily="34" charset="0"/>
                <a:ea typeface="Aptos" pitchFamily="34" charset="-122"/>
                <a:cs typeface="Aptos" pitchFamily="34" charset="-120"/>
              </a:rPr>
              <a:t>WEB SCRAPING</a:t>
            </a:r>
            <a:endParaRPr lang="en-US" sz="3100" dirty="0"/>
          </a:p>
          <a:p>
            <a:pPr algn="l" indent="0" marL="0">
              <a:buNone/>
            </a:pPr>
            <a:r>
              <a:rPr lang="en-US" sz="3100" b="1" dirty="0">
                <a:solidFill>
                  <a:srgbClr val="FFFFFF"/>
                </a:solidFill>
                <a:latin typeface="Aptos" pitchFamily="34" charset="0"/>
                <a:ea typeface="Aptos" pitchFamily="34" charset="-122"/>
                <a:cs typeface="Aptos" pitchFamily="34" charset="-120"/>
              </a:rPr>
              <a:t>&amp; WEB MINING</a:t>
            </a:r>
            <a:endParaRPr lang="en-US" sz="3100" dirty="0"/>
          </a:p>
        </p:txBody>
      </p:sp>
      <p:sp>
        <p:nvSpPr>
          <p:cNvPr id="5" name="Text 3"/>
          <p:cNvSpPr/>
          <p:nvPr/>
        </p:nvSpPr>
        <p:spPr>
          <a:xfrm>
            <a:off x="841248" y="2990088"/>
            <a:ext cx="6492240" cy="384048"/>
          </a:xfrm>
          <a:prstGeom prst="rect">
            <a:avLst/>
          </a:prstGeom>
          <a:noFill/>
          <a:ln/>
        </p:spPr>
        <p:txBody>
          <a:bodyPr wrap="square" lIns="0" tIns="0" rIns="0" bIns="0" rtlCol="0" anchor="ctr">
            <a:normAutofit/>
          </a:bodyPr>
          <a:lstStyle/>
          <a:p>
            <a:pPr algn="l" indent="0" marL="0">
              <a:buNone/>
            </a:pPr>
            <a:r>
              <a:rPr lang="en-US" sz="2000" dirty="0">
                <a:solidFill>
                  <a:srgbClr val="DCCFE5"/>
                </a:solidFill>
                <a:latin typeface="Aptos" pitchFamily="34" charset="0"/>
                <a:ea typeface="Aptos" pitchFamily="34" charset="-122"/>
                <a:cs typeface="Aptos" pitchFamily="34" charset="-120"/>
              </a:rPr>
              <a:t>Jour 2 — Industrialiser, responsabiliser, livrer</a:t>
            </a:r>
            <a:endParaRPr lang="en-US" sz="2000" dirty="0"/>
          </a:p>
        </p:txBody>
      </p:sp>
      <p:sp>
        <p:nvSpPr>
          <p:cNvPr id="6" name="Shape 4"/>
          <p:cNvSpPr/>
          <p:nvPr/>
        </p:nvSpPr>
        <p:spPr>
          <a:xfrm>
            <a:off x="841248" y="3794760"/>
            <a:ext cx="2468880" cy="429768"/>
          </a:xfrm>
          <a:prstGeom prst="roundRect">
            <a:avLst>
              <a:gd name="adj" fmla="val 14894"/>
            </a:avLst>
          </a:prstGeom>
          <a:solidFill>
            <a:srgbClr val="3B2451"/>
          </a:solidFill>
          <a:ln w="12700">
            <a:solidFill>
              <a:srgbClr val="3B2451"/>
            </a:solidFill>
            <a:prstDash val="solid"/>
          </a:ln>
        </p:spPr>
      </p:sp>
      <p:sp>
        <p:nvSpPr>
          <p:cNvPr id="7" name="Text 5"/>
          <p:cNvSpPr/>
          <p:nvPr/>
        </p:nvSpPr>
        <p:spPr>
          <a:xfrm>
            <a:off x="1051560" y="3886200"/>
            <a:ext cx="2057400" cy="201168"/>
          </a:xfrm>
          <a:prstGeom prst="rect">
            <a:avLst/>
          </a:prstGeom>
          <a:noFill/>
          <a:ln/>
        </p:spPr>
        <p:txBody>
          <a:bodyPr wrap="square" lIns="0" tIns="0" rIns="0" bIns="0" rtlCol="0" anchor="ctr">
            <a:normAutofit/>
          </a:bodyPr>
          <a:lstStyle/>
          <a:p>
            <a:pPr algn="ctr" indent="0" marL="0">
              <a:buNone/>
            </a:pPr>
            <a:r>
              <a:rPr lang="en-US" sz="1150" b="1" dirty="0">
                <a:solidFill>
                  <a:srgbClr val="E9E1EF"/>
                </a:solidFill>
                <a:latin typeface="Aptos" pitchFamily="34" charset="0"/>
                <a:ea typeface="Aptos" pitchFamily="34" charset="-122"/>
                <a:cs typeface="Aptos" pitchFamily="34" charset="-120"/>
              </a:rPr>
              <a:t>Mastère 1 · Data &amp; IA</a:t>
            </a:r>
            <a:endParaRPr lang="en-US" sz="1150" dirty="0"/>
          </a:p>
        </p:txBody>
      </p:sp>
      <p:sp>
        <p:nvSpPr>
          <p:cNvPr id="8" name="Text 6"/>
          <p:cNvSpPr/>
          <p:nvPr/>
        </p:nvSpPr>
        <p:spPr>
          <a:xfrm>
            <a:off x="841248" y="4700016"/>
            <a:ext cx="7132320" cy="292608"/>
          </a:xfrm>
          <a:prstGeom prst="rect">
            <a:avLst/>
          </a:prstGeom>
          <a:noFill/>
          <a:ln/>
        </p:spPr>
        <p:txBody>
          <a:bodyPr wrap="square" lIns="0" tIns="0" rIns="0" bIns="0" rtlCol="0" anchor="ctr">
            <a:normAutofit/>
          </a:bodyPr>
          <a:lstStyle/>
          <a:p>
            <a:pPr algn="l" indent="0" marL="0">
              <a:buNone/>
            </a:pPr>
            <a:r>
              <a:rPr lang="en-US" sz="1350" dirty="0">
                <a:solidFill>
                  <a:srgbClr val="C6B9CF"/>
                </a:solidFill>
                <a:latin typeface="Aptos" pitchFamily="34" charset="0"/>
                <a:ea typeface="Aptos" pitchFamily="34" charset="-122"/>
                <a:cs typeface="Aptos" pitchFamily="34" charset="-120"/>
              </a:rPr>
              <a:t>7 heures · Scrapy · Pipelines · RGPD · Éthique · Projet</a:t>
            </a:r>
            <a:endParaRPr lang="en-US" sz="1350" dirty="0"/>
          </a:p>
        </p:txBody>
      </p:sp>
      <p:sp>
        <p:nvSpPr>
          <p:cNvPr id="9" name="Shape 7"/>
          <p:cNvSpPr/>
          <p:nvPr/>
        </p:nvSpPr>
        <p:spPr>
          <a:xfrm>
            <a:off x="8412480" y="1051560"/>
            <a:ext cx="2743200" cy="4069080"/>
          </a:xfrm>
          <a:prstGeom prst="roundRect">
            <a:avLst>
              <a:gd name="adj" fmla="val 2667"/>
            </a:avLst>
          </a:prstGeom>
          <a:solidFill>
            <a:srgbClr val="F5F1F8"/>
          </a:solidFill>
          <a:ln w="15240">
            <a:solidFill>
              <a:srgbClr val="B99BCC"/>
            </a:solidFill>
            <a:prstDash val="solid"/>
          </a:ln>
        </p:spPr>
      </p:sp>
      <p:sp>
        <p:nvSpPr>
          <p:cNvPr id="10" name="Text 8"/>
          <p:cNvSpPr/>
          <p:nvPr/>
        </p:nvSpPr>
        <p:spPr>
          <a:xfrm>
            <a:off x="8842248" y="1481328"/>
            <a:ext cx="1874520" cy="237744"/>
          </a:xfrm>
          <a:prstGeom prst="rect">
            <a:avLst/>
          </a:prstGeom>
          <a:noFill/>
          <a:ln/>
        </p:spPr>
        <p:txBody>
          <a:bodyPr wrap="square" lIns="0" tIns="0" rIns="0" bIns="0" rtlCol="0" anchor="ctr">
            <a:normAutofit/>
          </a:bodyPr>
          <a:lstStyle/>
          <a:p>
            <a:pPr algn="ctr" indent="0" marL="0">
              <a:buNone/>
            </a:pPr>
            <a:r>
              <a:rPr lang="en-US" sz="1000" b="1" dirty="0">
                <a:solidFill>
                  <a:srgbClr val="7432A8"/>
                </a:solidFill>
                <a:latin typeface="Aptos" pitchFamily="34" charset="0"/>
                <a:ea typeface="Aptos" pitchFamily="34" charset="-122"/>
                <a:cs typeface="Aptos" pitchFamily="34" charset="-120"/>
              </a:rPr>
              <a:t>SPIDER</a:t>
            </a:r>
            <a:endParaRPr lang="en-US" sz="1000" dirty="0"/>
          </a:p>
        </p:txBody>
      </p:sp>
      <p:sp>
        <p:nvSpPr>
          <p:cNvPr id="11" name="Shape 9"/>
          <p:cNvSpPr/>
          <p:nvPr/>
        </p:nvSpPr>
        <p:spPr>
          <a:xfrm>
            <a:off x="8732520" y="1828800"/>
            <a:ext cx="2121408" cy="2423160"/>
          </a:xfrm>
          <a:prstGeom prst="roundRect">
            <a:avLst>
              <a:gd name="adj" fmla="val 1724"/>
            </a:avLst>
          </a:prstGeom>
          <a:solidFill>
            <a:srgbClr val="17141E"/>
          </a:solidFill>
          <a:ln w="12700">
            <a:solidFill>
              <a:srgbClr val="17141E"/>
            </a:solidFill>
            <a:prstDash val="solid"/>
          </a:ln>
        </p:spPr>
      </p:sp>
      <p:sp>
        <p:nvSpPr>
          <p:cNvPr id="12" name="Shape 10"/>
          <p:cNvSpPr/>
          <p:nvPr/>
        </p:nvSpPr>
        <p:spPr>
          <a:xfrm>
            <a:off x="8732520" y="1828800"/>
            <a:ext cx="2121408" cy="347472"/>
          </a:xfrm>
          <a:prstGeom prst="rect">
            <a:avLst/>
          </a:prstGeom>
          <a:solidFill>
            <a:srgbClr val="2B2633"/>
          </a:solidFill>
          <a:ln w="12700">
            <a:solidFill>
              <a:srgbClr val="2B2633"/>
            </a:solidFill>
            <a:prstDash val="solid"/>
          </a:ln>
        </p:spPr>
      </p:sp>
      <p:sp>
        <p:nvSpPr>
          <p:cNvPr id="13" name="Shape 11"/>
          <p:cNvSpPr/>
          <p:nvPr/>
        </p:nvSpPr>
        <p:spPr>
          <a:xfrm>
            <a:off x="8915400" y="1947672"/>
            <a:ext cx="73152" cy="73152"/>
          </a:xfrm>
          <a:prstGeom prst="ellipse">
            <a:avLst/>
          </a:prstGeom>
          <a:solidFill>
            <a:srgbClr val="D55E5A"/>
          </a:solidFill>
          <a:ln w="12700">
            <a:solidFill>
              <a:srgbClr val="D55E5A"/>
            </a:solidFill>
            <a:prstDash val="solid"/>
          </a:ln>
        </p:spPr>
      </p:sp>
      <p:sp>
        <p:nvSpPr>
          <p:cNvPr id="14" name="Shape 12"/>
          <p:cNvSpPr/>
          <p:nvPr/>
        </p:nvSpPr>
        <p:spPr>
          <a:xfrm>
            <a:off x="9061704" y="1947672"/>
            <a:ext cx="73152" cy="73152"/>
          </a:xfrm>
          <a:prstGeom prst="ellipse">
            <a:avLst/>
          </a:prstGeom>
          <a:solidFill>
            <a:srgbClr val="E0B24A"/>
          </a:solidFill>
          <a:ln w="12700">
            <a:solidFill>
              <a:srgbClr val="E0B24A"/>
            </a:solidFill>
            <a:prstDash val="solid"/>
          </a:ln>
        </p:spPr>
      </p:sp>
      <p:sp>
        <p:nvSpPr>
          <p:cNvPr id="15" name="Shape 13"/>
          <p:cNvSpPr/>
          <p:nvPr/>
        </p:nvSpPr>
        <p:spPr>
          <a:xfrm>
            <a:off x="9208008" y="1947672"/>
            <a:ext cx="73152" cy="73152"/>
          </a:xfrm>
          <a:prstGeom prst="ellipse">
            <a:avLst/>
          </a:prstGeom>
          <a:solidFill>
            <a:srgbClr val="7EB465"/>
          </a:solidFill>
          <a:ln w="12700">
            <a:solidFill>
              <a:srgbClr val="7EB465"/>
            </a:solidFill>
            <a:prstDash val="solid"/>
          </a:ln>
        </p:spPr>
      </p:sp>
      <p:sp>
        <p:nvSpPr>
          <p:cNvPr id="16" name="Text 14"/>
          <p:cNvSpPr/>
          <p:nvPr/>
        </p:nvSpPr>
        <p:spPr>
          <a:xfrm>
            <a:off x="9756648" y="1901952"/>
            <a:ext cx="914400" cy="137160"/>
          </a:xfrm>
          <a:prstGeom prst="rect">
            <a:avLst/>
          </a:prstGeom>
          <a:noFill/>
          <a:ln/>
        </p:spPr>
        <p:txBody>
          <a:bodyPr wrap="square" lIns="0" tIns="0" rIns="0" bIns="0" rtlCol="0" anchor="ctr">
            <a:normAutofit/>
          </a:bodyPr>
          <a:lstStyle/>
          <a:p>
            <a:pPr algn="r" indent="0" marL="0">
              <a:buNone/>
            </a:pPr>
            <a:r>
              <a:rPr lang="en-US" sz="900" dirty="0">
                <a:solidFill>
                  <a:srgbClr val="B8B3C2"/>
                </a:solidFill>
                <a:latin typeface="Aptos" pitchFamily="34" charset="0"/>
                <a:ea typeface="Aptos" pitchFamily="34" charset="-122"/>
                <a:cs typeface="Aptos" pitchFamily="34" charset="-120"/>
              </a:rPr>
              <a:t>SCRAPY</a:t>
            </a:r>
            <a:endParaRPr lang="en-US" sz="900" dirty="0"/>
          </a:p>
        </p:txBody>
      </p:sp>
      <p:sp>
        <p:nvSpPr>
          <p:cNvPr id="17" name="Text 15"/>
          <p:cNvSpPr/>
          <p:nvPr/>
        </p:nvSpPr>
        <p:spPr>
          <a:xfrm>
            <a:off x="8961120" y="2304288"/>
            <a:ext cx="1664208" cy="1801368"/>
          </a:xfrm>
          <a:prstGeom prst="rect">
            <a:avLst/>
          </a:prstGeom>
          <a:noFill/>
          <a:ln/>
        </p:spPr>
        <p:txBody>
          <a:bodyPr wrap="square" lIns="0" tIns="0" rIns="0" bIns="0" rtlCol="0" anchor="t">
            <a:normAutofit/>
          </a:bodyPr>
          <a:lstStyle/>
          <a:p>
            <a:pPr algn="l" indent="0" marL="0">
              <a:buNone/>
            </a:pPr>
            <a:r>
              <a:rPr lang="en-US" sz="1100" dirty="0">
                <a:solidFill>
                  <a:srgbClr val="F3EFF7"/>
                </a:solidFill>
                <a:latin typeface="Courier New" pitchFamily="34" charset="0"/>
                <a:ea typeface="Courier New" pitchFamily="34" charset="-122"/>
                <a:cs typeface="Courier New" pitchFamily="34" charset="-120"/>
              </a:rPr>
              <a:t>yield {</a:t>
            </a:r>
            <a:endParaRPr lang="en-US" sz="1100" dirty="0"/>
          </a:p>
          <a:p>
            <a:pPr algn="l" indent="0" marL="0">
              <a:buNone/>
            </a:pPr>
            <a:r>
              <a:rPr lang="en-US" sz="1100" dirty="0">
                <a:solidFill>
                  <a:srgbClr val="F3EFF7"/>
                </a:solidFill>
                <a:latin typeface="Courier New" pitchFamily="34" charset="0"/>
                <a:ea typeface="Courier New" pitchFamily="34" charset="-122"/>
                <a:cs typeface="Courier New" pitchFamily="34" charset="-120"/>
              </a:rPr>
              <a:t>  "title": title,</a:t>
            </a:r>
            <a:endParaRPr lang="en-US" sz="1100" dirty="0"/>
          </a:p>
          <a:p>
            <a:pPr algn="l" indent="0" marL="0">
              <a:buNone/>
            </a:pPr>
            <a:r>
              <a:rPr lang="en-US" sz="1100" dirty="0">
                <a:solidFill>
                  <a:srgbClr val="F3EFF7"/>
                </a:solidFill>
                <a:latin typeface="Courier New" pitchFamily="34" charset="0"/>
                <a:ea typeface="Courier New" pitchFamily="34" charset="-122"/>
                <a:cs typeface="Courier New" pitchFamily="34" charset="-120"/>
              </a:rPr>
              <a:t>  "price": price</a:t>
            </a:r>
            <a:endParaRPr lang="en-US" sz="1100" dirty="0"/>
          </a:p>
          <a:p>
            <a:pPr algn="l" indent="0" marL="0">
              <a:buNone/>
            </a:pPr>
            <a:r>
              <a:rPr lang="en-US" sz="1100" dirty="0">
                <a:solidFill>
                  <a:srgbClr val="F3EFF7"/>
                </a:solidFill>
                <a:latin typeface="Courier New" pitchFamily="34" charset="0"/>
                <a:ea typeface="Courier New" pitchFamily="34" charset="-122"/>
                <a:cs typeface="Courier New" pitchFamily="34" charset="-120"/>
              </a:rPr>
              <a:t>}</a:t>
            </a:r>
            <a:endParaRPr lang="en-US" sz="1100" dirty="0"/>
          </a:p>
          <a:p>
            <a:pPr algn="l" indent="0" marL="0">
              <a:buNone/>
            </a:pPr>
            <a:endParaRPr lang="en-US" sz="1100" dirty="0"/>
          </a:p>
          <a:p>
            <a:pPr algn="l" indent="0" marL="0">
              <a:buNone/>
            </a:pPr>
            <a:r>
              <a:rPr lang="en-US" sz="1100" dirty="0">
                <a:solidFill>
                  <a:srgbClr val="F3EFF7"/>
                </a:solidFill>
                <a:latin typeface="Courier New" pitchFamily="34" charset="0"/>
                <a:ea typeface="Courier New" pitchFamily="34" charset="-122"/>
                <a:cs typeface="Courier New" pitchFamily="34" charset="-120"/>
              </a:rPr>
              <a:t>yield response.follow(</a:t>
            </a:r>
            <a:endParaRPr lang="en-US" sz="1100" dirty="0"/>
          </a:p>
          <a:p>
            <a:pPr algn="l" indent="0" marL="0">
              <a:buNone/>
            </a:pPr>
            <a:r>
              <a:rPr lang="en-US" sz="1100" dirty="0">
                <a:solidFill>
                  <a:srgbClr val="F3EFF7"/>
                </a:solidFill>
                <a:latin typeface="Courier New" pitchFamily="34" charset="0"/>
                <a:ea typeface="Courier New" pitchFamily="34" charset="-122"/>
                <a:cs typeface="Courier New" pitchFamily="34" charset="-120"/>
              </a:rPr>
              <a:t>  next_page,</a:t>
            </a:r>
            <a:endParaRPr lang="en-US" sz="1100" dirty="0"/>
          </a:p>
          <a:p>
            <a:pPr algn="l" indent="0" marL="0">
              <a:buNone/>
            </a:pPr>
            <a:r>
              <a:rPr lang="en-US" sz="1100" dirty="0">
                <a:solidFill>
                  <a:srgbClr val="F3EFF7"/>
                </a:solidFill>
                <a:latin typeface="Courier New" pitchFamily="34" charset="0"/>
                <a:ea typeface="Courier New" pitchFamily="34" charset="-122"/>
                <a:cs typeface="Courier New" pitchFamily="34" charset="-120"/>
              </a:rPr>
              <a:t>  callback=self.parse</a:t>
            </a:r>
            <a:endParaRPr lang="en-US" sz="1100" dirty="0"/>
          </a:p>
          <a:p>
            <a:pPr algn="l" indent="0" marL="0">
              <a:buNone/>
            </a:pPr>
            <a:r>
              <a:rPr lang="en-US" sz="1100" dirty="0">
                <a:solidFill>
                  <a:srgbClr val="F3EFF7"/>
                </a:solidFill>
                <a:latin typeface="Courier New" pitchFamily="34" charset="0"/>
                <a:ea typeface="Courier New" pitchFamily="34" charset="-122"/>
                <a:cs typeface="Courier New" pitchFamily="34" charset="-120"/>
              </a:rPr>
              <a:t>)</a:t>
            </a:r>
            <a:endParaRPr lang="en-US" sz="1100" dirty="0"/>
          </a:p>
        </p:txBody>
      </p:sp>
      <p:sp>
        <p:nvSpPr>
          <p:cNvPr id="18" name="Text 16"/>
          <p:cNvSpPr/>
          <p:nvPr/>
        </p:nvSpPr>
        <p:spPr>
          <a:xfrm>
            <a:off x="9646920" y="4370832"/>
            <a:ext cx="320040" cy="292608"/>
          </a:xfrm>
          <a:prstGeom prst="rect">
            <a:avLst/>
          </a:prstGeom>
          <a:noFill/>
          <a:ln/>
        </p:spPr>
        <p:txBody>
          <a:bodyPr wrap="square" lIns="0" tIns="0" rIns="0" bIns="0" rtlCol="0" anchor="ctr">
            <a:normAutofit/>
          </a:bodyPr>
          <a:lstStyle/>
          <a:p>
            <a:pPr algn="ctr" indent="0" marL="0">
              <a:buNone/>
            </a:pPr>
            <a:r>
              <a:rPr lang="en-US" sz="2200" b="1" dirty="0">
                <a:solidFill>
                  <a:srgbClr val="7432A8"/>
                </a:solidFill>
                <a:latin typeface="Aptos" pitchFamily="34" charset="0"/>
                <a:ea typeface="Aptos" pitchFamily="34" charset="-122"/>
                <a:cs typeface="Aptos" pitchFamily="34" charset="-120"/>
              </a:rPr>
              <a:t>↓</a:t>
            </a:r>
            <a:endParaRPr lang="en-US" sz="2200" dirty="0"/>
          </a:p>
        </p:txBody>
      </p:sp>
      <p:sp>
        <p:nvSpPr>
          <p:cNvPr id="19" name="Text 17"/>
          <p:cNvSpPr/>
          <p:nvPr/>
        </p:nvSpPr>
        <p:spPr>
          <a:xfrm>
            <a:off x="8732520" y="4709160"/>
            <a:ext cx="2121408" cy="228600"/>
          </a:xfrm>
          <a:prstGeom prst="rect">
            <a:avLst/>
          </a:prstGeom>
          <a:noFill/>
          <a:ln/>
        </p:spPr>
        <p:txBody>
          <a:bodyPr wrap="square" lIns="0" tIns="0" rIns="0" bIns="0" rtlCol="0" anchor="ctr">
            <a:normAutofit/>
          </a:bodyPr>
          <a:lstStyle/>
          <a:p>
            <a:pPr algn="ctr" indent="0" marL="0">
              <a:buNone/>
            </a:pPr>
            <a:r>
              <a:rPr lang="en-US" sz="1200" b="1" dirty="0">
                <a:solidFill>
                  <a:srgbClr val="4EA27B"/>
                </a:solidFill>
                <a:latin typeface="Aptos" pitchFamily="34" charset="0"/>
                <a:ea typeface="Aptos" pitchFamily="34" charset="-122"/>
                <a:cs typeface="Aptos" pitchFamily="34" charset="-120"/>
              </a:rPr>
              <a:t>JSON · CSV · SQLite</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66928" y="438912"/>
            <a:ext cx="5029200" cy="228600"/>
          </a:xfrm>
          <a:prstGeom prst="rect">
            <a:avLst/>
          </a:prstGeom>
          <a:noFill/>
          <a:ln/>
        </p:spPr>
        <p:txBody>
          <a:bodyPr wrap="square" lIns="0" tIns="0" rIns="0" bIns="0" rtlCol="0" anchor="ctr">
            <a:normAutofit/>
          </a:bodyPr>
          <a:lstStyle/>
          <a:p>
            <a:pPr algn="l" indent="0" marL="0">
              <a:buNone/>
            </a:pPr>
            <a:r>
              <a:rPr lang="en-US" sz="1050" b="1" spc="150" kern="0" dirty="0">
                <a:solidFill>
                  <a:srgbClr val="7432A8"/>
                </a:solidFill>
                <a:latin typeface="Aptos" pitchFamily="34" charset="0"/>
                <a:ea typeface="Aptos" pitchFamily="34" charset="-122"/>
                <a:cs typeface="Aptos" pitchFamily="34" charset="-120"/>
              </a:rPr>
              <a:t>COMPÉTENCES VISÉES</a:t>
            </a:r>
            <a:endParaRPr lang="en-US" sz="1050" dirty="0"/>
          </a:p>
        </p:txBody>
      </p:sp>
      <p:sp>
        <p:nvSpPr>
          <p:cNvPr id="3" name="Text 1"/>
          <p:cNvSpPr/>
          <p:nvPr/>
        </p:nvSpPr>
        <p:spPr>
          <a:xfrm>
            <a:off x="566928" y="768096"/>
            <a:ext cx="10972800" cy="566928"/>
          </a:xfrm>
          <a:prstGeom prst="rect">
            <a:avLst/>
          </a:prstGeom>
          <a:noFill/>
          <a:ln/>
        </p:spPr>
        <p:txBody>
          <a:bodyPr wrap="square" lIns="0" tIns="0" rIns="0" bIns="0" rtlCol="0" anchor="t">
            <a:normAutofit/>
          </a:bodyPr>
          <a:lstStyle/>
          <a:p>
            <a:pPr algn="l" indent="0" marL="0">
              <a:buNone/>
            </a:pPr>
            <a:r>
              <a:rPr lang="en-US" sz="2800" b="1" dirty="0">
                <a:solidFill>
                  <a:srgbClr val="241337"/>
                </a:solidFill>
                <a:latin typeface="Aptos" pitchFamily="34" charset="0"/>
                <a:ea typeface="Aptos" pitchFamily="34" charset="-122"/>
                <a:cs typeface="Aptos" pitchFamily="34" charset="-120"/>
              </a:rPr>
              <a:t>Objectifs pédagogiques du Jour 2</a:t>
            </a:r>
            <a:endParaRPr lang="en-US" sz="2800" dirty="0"/>
          </a:p>
        </p:txBody>
      </p:sp>
      <p:sp>
        <p:nvSpPr>
          <p:cNvPr id="4" name="Shape 2"/>
          <p:cNvSpPr/>
          <p:nvPr/>
        </p:nvSpPr>
        <p:spPr>
          <a:xfrm>
            <a:off x="640080" y="1627632"/>
            <a:ext cx="3520440" cy="1417320"/>
          </a:xfrm>
          <a:prstGeom prst="roundRect">
            <a:avLst>
              <a:gd name="adj" fmla="val 3871"/>
            </a:avLst>
          </a:prstGeom>
          <a:solidFill>
            <a:srgbClr val="FFFFFF"/>
          </a:solidFill>
          <a:ln w="12700">
            <a:solidFill>
              <a:srgbClr val="DDDCE6"/>
            </a:solidFill>
            <a:prstDash val="solid"/>
          </a:ln>
          <a:effectLst>
            <a:outerShdw sx="100000" sy="100000" kx="0" ky="0" algn="bl" rotWithShape="0" blurRad="19050" dist="50800" dir="2700000">
              <a:srgbClr val="D6D3DF">
                <a:alpha val="18000"/>
              </a:srgbClr>
            </a:outerShdw>
          </a:effectLst>
        </p:spPr>
      </p:sp>
      <p:sp>
        <p:nvSpPr>
          <p:cNvPr id="5" name="Shape 3"/>
          <p:cNvSpPr/>
          <p:nvPr/>
        </p:nvSpPr>
        <p:spPr>
          <a:xfrm>
            <a:off x="640080" y="1627632"/>
            <a:ext cx="73152" cy="1417320"/>
          </a:xfrm>
          <a:prstGeom prst="rect">
            <a:avLst/>
          </a:prstGeom>
          <a:solidFill>
            <a:srgbClr val="4F7FC4"/>
          </a:solidFill>
          <a:ln w="12700">
            <a:solidFill>
              <a:srgbClr val="4F7FC4"/>
            </a:solidFill>
            <a:prstDash val="solid"/>
          </a:ln>
        </p:spPr>
      </p:sp>
      <p:sp>
        <p:nvSpPr>
          <p:cNvPr id="6" name="Text 4"/>
          <p:cNvSpPr/>
          <p:nvPr/>
        </p:nvSpPr>
        <p:spPr>
          <a:xfrm>
            <a:off x="987552" y="1883664"/>
            <a:ext cx="320040" cy="256032"/>
          </a:xfrm>
          <a:prstGeom prst="rect">
            <a:avLst/>
          </a:prstGeom>
          <a:noFill/>
          <a:ln/>
        </p:spPr>
        <p:txBody>
          <a:bodyPr wrap="square" lIns="0" tIns="0" rIns="0" bIns="0" rtlCol="0" anchor="ctr">
            <a:normAutofit/>
          </a:bodyPr>
          <a:lstStyle/>
          <a:p>
            <a:pPr algn="l" indent="0" marL="0">
              <a:buNone/>
            </a:pPr>
            <a:r>
              <a:rPr lang="en-US" sz="1900" b="1" dirty="0">
                <a:solidFill>
                  <a:srgbClr val="4F7FC4"/>
                </a:solidFill>
                <a:latin typeface="Aptos" pitchFamily="34" charset="0"/>
                <a:ea typeface="Aptos" pitchFamily="34" charset="-122"/>
                <a:cs typeface="Aptos" pitchFamily="34" charset="-120"/>
              </a:rPr>
              <a:t>1</a:t>
            </a:r>
            <a:endParaRPr lang="en-US" sz="1900" dirty="0"/>
          </a:p>
        </p:txBody>
      </p:sp>
      <p:sp>
        <p:nvSpPr>
          <p:cNvPr id="7" name="Text 5"/>
          <p:cNvSpPr/>
          <p:nvPr/>
        </p:nvSpPr>
        <p:spPr>
          <a:xfrm>
            <a:off x="1353312" y="1847088"/>
            <a:ext cx="2606040" cy="347472"/>
          </a:xfrm>
          <a:prstGeom prst="rect">
            <a:avLst/>
          </a:prstGeom>
          <a:noFill/>
          <a:ln/>
        </p:spPr>
        <p:txBody>
          <a:bodyPr wrap="square" lIns="0" tIns="0" rIns="0" bIns="0" rtlCol="0" anchor="t">
            <a:normAutofit/>
          </a:bodyPr>
          <a:lstStyle/>
          <a:p>
            <a:pPr algn="l" indent="0" marL="0">
              <a:buNone/>
            </a:pPr>
            <a:r>
              <a:rPr lang="en-US" sz="1630" b="1" dirty="0">
                <a:solidFill>
                  <a:srgbClr val="241337"/>
                </a:solidFill>
                <a:latin typeface="Aptos" pitchFamily="34" charset="0"/>
                <a:ea typeface="Aptos" pitchFamily="34" charset="-122"/>
                <a:cs typeface="Aptos" pitchFamily="34" charset="-120"/>
              </a:rPr>
              <a:t>Industrialiser</a:t>
            </a:r>
            <a:endParaRPr lang="en-US" sz="1630" dirty="0"/>
          </a:p>
        </p:txBody>
      </p:sp>
      <p:sp>
        <p:nvSpPr>
          <p:cNvPr id="8" name="Text 6"/>
          <p:cNvSpPr/>
          <p:nvPr/>
        </p:nvSpPr>
        <p:spPr>
          <a:xfrm>
            <a:off x="932688" y="2322576"/>
            <a:ext cx="3017520" cy="548640"/>
          </a:xfrm>
          <a:prstGeom prst="rect">
            <a:avLst/>
          </a:prstGeom>
          <a:noFill/>
          <a:ln/>
        </p:spPr>
        <p:txBody>
          <a:bodyPr wrap="square" lIns="0" tIns="0" rIns="0" bIns="0" rtlCol="0" anchor="t">
            <a:normAutofit/>
          </a:bodyPr>
          <a:lstStyle/>
          <a:p>
            <a:pPr algn="l" indent="0" marL="0">
              <a:buNone/>
            </a:pPr>
            <a:r>
              <a:rPr lang="en-US" sz="1230" dirty="0">
                <a:solidFill>
                  <a:srgbClr val="6F7082"/>
                </a:solidFill>
                <a:latin typeface="Aptos" pitchFamily="34" charset="0"/>
                <a:ea typeface="Aptos" pitchFamily="34" charset="-122"/>
                <a:cs typeface="Aptos" pitchFamily="34" charset="-120"/>
              </a:rPr>
              <a:t>Transformer un script en spider structuré : requêtes, callbacks, pagination et pages détail.</a:t>
            </a:r>
            <a:endParaRPr lang="en-US" sz="1230" dirty="0"/>
          </a:p>
        </p:txBody>
      </p:sp>
      <p:sp>
        <p:nvSpPr>
          <p:cNvPr id="9" name="Shape 7"/>
          <p:cNvSpPr/>
          <p:nvPr/>
        </p:nvSpPr>
        <p:spPr>
          <a:xfrm>
            <a:off x="4343400" y="1627632"/>
            <a:ext cx="3520440" cy="1417320"/>
          </a:xfrm>
          <a:prstGeom prst="roundRect">
            <a:avLst>
              <a:gd name="adj" fmla="val 3871"/>
            </a:avLst>
          </a:prstGeom>
          <a:solidFill>
            <a:srgbClr val="FFFFFF"/>
          </a:solidFill>
          <a:ln w="12700">
            <a:solidFill>
              <a:srgbClr val="DDDCE6"/>
            </a:solidFill>
            <a:prstDash val="solid"/>
          </a:ln>
          <a:effectLst>
            <a:outerShdw sx="100000" sy="100000" kx="0" ky="0" algn="bl" rotWithShape="0" blurRad="19050" dist="50800" dir="2700000">
              <a:srgbClr val="D6D3DF">
                <a:alpha val="18000"/>
              </a:srgbClr>
            </a:outerShdw>
          </a:effectLst>
        </p:spPr>
      </p:sp>
      <p:sp>
        <p:nvSpPr>
          <p:cNvPr id="10" name="Shape 8"/>
          <p:cNvSpPr/>
          <p:nvPr/>
        </p:nvSpPr>
        <p:spPr>
          <a:xfrm>
            <a:off x="4343400" y="1627632"/>
            <a:ext cx="73152" cy="1417320"/>
          </a:xfrm>
          <a:prstGeom prst="rect">
            <a:avLst/>
          </a:prstGeom>
          <a:solidFill>
            <a:srgbClr val="7432A8"/>
          </a:solidFill>
          <a:ln w="12700">
            <a:solidFill>
              <a:srgbClr val="7432A8"/>
            </a:solidFill>
            <a:prstDash val="solid"/>
          </a:ln>
        </p:spPr>
      </p:sp>
      <p:sp>
        <p:nvSpPr>
          <p:cNvPr id="11" name="Text 9"/>
          <p:cNvSpPr/>
          <p:nvPr/>
        </p:nvSpPr>
        <p:spPr>
          <a:xfrm>
            <a:off x="4690872" y="1883664"/>
            <a:ext cx="320040" cy="256032"/>
          </a:xfrm>
          <a:prstGeom prst="rect">
            <a:avLst/>
          </a:prstGeom>
          <a:noFill/>
          <a:ln/>
        </p:spPr>
        <p:txBody>
          <a:bodyPr wrap="square" lIns="0" tIns="0" rIns="0" bIns="0" rtlCol="0" anchor="ctr">
            <a:normAutofit/>
          </a:bodyPr>
          <a:lstStyle/>
          <a:p>
            <a:pPr algn="l" indent="0" marL="0">
              <a:buNone/>
            </a:pPr>
            <a:r>
              <a:rPr lang="en-US" sz="1900" b="1" dirty="0">
                <a:solidFill>
                  <a:srgbClr val="7432A8"/>
                </a:solidFill>
                <a:latin typeface="Aptos" pitchFamily="34" charset="0"/>
                <a:ea typeface="Aptos" pitchFamily="34" charset="-122"/>
                <a:cs typeface="Aptos" pitchFamily="34" charset="-120"/>
              </a:rPr>
              <a:t>2</a:t>
            </a:r>
            <a:endParaRPr lang="en-US" sz="1900" dirty="0"/>
          </a:p>
        </p:txBody>
      </p:sp>
      <p:sp>
        <p:nvSpPr>
          <p:cNvPr id="12" name="Text 10"/>
          <p:cNvSpPr/>
          <p:nvPr/>
        </p:nvSpPr>
        <p:spPr>
          <a:xfrm>
            <a:off x="5056632" y="1847088"/>
            <a:ext cx="2606040" cy="347472"/>
          </a:xfrm>
          <a:prstGeom prst="rect">
            <a:avLst/>
          </a:prstGeom>
          <a:noFill/>
          <a:ln/>
        </p:spPr>
        <p:txBody>
          <a:bodyPr wrap="square" lIns="0" tIns="0" rIns="0" bIns="0" rtlCol="0" anchor="t">
            <a:normAutofit/>
          </a:bodyPr>
          <a:lstStyle/>
          <a:p>
            <a:pPr algn="l" indent="0" marL="0">
              <a:buNone/>
            </a:pPr>
            <a:r>
              <a:rPr lang="en-US" sz="1630" b="1" dirty="0">
                <a:solidFill>
                  <a:srgbClr val="241337"/>
                </a:solidFill>
                <a:latin typeface="Aptos" pitchFamily="34" charset="0"/>
                <a:ea typeface="Aptos" pitchFamily="34" charset="-122"/>
                <a:cs typeface="Aptos" pitchFamily="34" charset="-120"/>
              </a:rPr>
              <a:t>Fiabiliser</a:t>
            </a:r>
            <a:endParaRPr lang="en-US" sz="1630" dirty="0"/>
          </a:p>
        </p:txBody>
      </p:sp>
      <p:sp>
        <p:nvSpPr>
          <p:cNvPr id="13" name="Text 11"/>
          <p:cNvSpPr/>
          <p:nvPr/>
        </p:nvSpPr>
        <p:spPr>
          <a:xfrm>
            <a:off x="4636008" y="2322576"/>
            <a:ext cx="3017520" cy="548640"/>
          </a:xfrm>
          <a:prstGeom prst="rect">
            <a:avLst/>
          </a:prstGeom>
          <a:noFill/>
          <a:ln/>
        </p:spPr>
        <p:txBody>
          <a:bodyPr wrap="square" lIns="0" tIns="0" rIns="0" bIns="0" rtlCol="0" anchor="t">
            <a:normAutofit/>
          </a:bodyPr>
          <a:lstStyle/>
          <a:p>
            <a:pPr algn="l" indent="0" marL="0">
              <a:buNone/>
            </a:pPr>
            <a:r>
              <a:rPr lang="en-US" sz="1230" dirty="0">
                <a:solidFill>
                  <a:srgbClr val="6F7082"/>
                </a:solidFill>
                <a:latin typeface="Aptos" pitchFamily="34" charset="0"/>
                <a:ea typeface="Aptos" pitchFamily="34" charset="-122"/>
                <a:cs typeface="Aptos" pitchFamily="34" charset="-120"/>
              </a:rPr>
              <a:t>Valider, nettoyer, dédupliquer et exporter les données via Items et Pipelines.</a:t>
            </a:r>
            <a:endParaRPr lang="en-US" sz="1230" dirty="0"/>
          </a:p>
        </p:txBody>
      </p:sp>
      <p:sp>
        <p:nvSpPr>
          <p:cNvPr id="14" name="Shape 12"/>
          <p:cNvSpPr/>
          <p:nvPr/>
        </p:nvSpPr>
        <p:spPr>
          <a:xfrm>
            <a:off x="8046720" y="1627632"/>
            <a:ext cx="3520440" cy="1417320"/>
          </a:xfrm>
          <a:prstGeom prst="roundRect">
            <a:avLst>
              <a:gd name="adj" fmla="val 3871"/>
            </a:avLst>
          </a:prstGeom>
          <a:solidFill>
            <a:srgbClr val="FFFFFF"/>
          </a:solidFill>
          <a:ln w="12700">
            <a:solidFill>
              <a:srgbClr val="DDDCE6"/>
            </a:solidFill>
            <a:prstDash val="solid"/>
          </a:ln>
          <a:effectLst>
            <a:outerShdw sx="100000" sy="100000" kx="0" ky="0" algn="bl" rotWithShape="0" blurRad="19050" dist="50800" dir="2700000">
              <a:srgbClr val="D6D3DF">
                <a:alpha val="18000"/>
              </a:srgbClr>
            </a:outerShdw>
          </a:effectLst>
        </p:spPr>
      </p:sp>
      <p:sp>
        <p:nvSpPr>
          <p:cNvPr id="15" name="Shape 13"/>
          <p:cNvSpPr/>
          <p:nvPr/>
        </p:nvSpPr>
        <p:spPr>
          <a:xfrm>
            <a:off x="8046720" y="1627632"/>
            <a:ext cx="73152" cy="1417320"/>
          </a:xfrm>
          <a:prstGeom prst="rect">
            <a:avLst/>
          </a:prstGeom>
          <a:solidFill>
            <a:srgbClr val="4EA27B"/>
          </a:solidFill>
          <a:ln w="12700">
            <a:solidFill>
              <a:srgbClr val="4EA27B"/>
            </a:solidFill>
            <a:prstDash val="solid"/>
          </a:ln>
        </p:spPr>
      </p:sp>
      <p:sp>
        <p:nvSpPr>
          <p:cNvPr id="16" name="Text 14"/>
          <p:cNvSpPr/>
          <p:nvPr/>
        </p:nvSpPr>
        <p:spPr>
          <a:xfrm>
            <a:off x="8394192" y="1883664"/>
            <a:ext cx="320040" cy="256032"/>
          </a:xfrm>
          <a:prstGeom prst="rect">
            <a:avLst/>
          </a:prstGeom>
          <a:noFill/>
          <a:ln/>
        </p:spPr>
        <p:txBody>
          <a:bodyPr wrap="square" lIns="0" tIns="0" rIns="0" bIns="0" rtlCol="0" anchor="ctr">
            <a:normAutofit/>
          </a:bodyPr>
          <a:lstStyle/>
          <a:p>
            <a:pPr algn="l" indent="0" marL="0">
              <a:buNone/>
            </a:pPr>
            <a:r>
              <a:rPr lang="en-US" sz="1900" b="1" dirty="0">
                <a:solidFill>
                  <a:srgbClr val="4EA27B"/>
                </a:solidFill>
                <a:latin typeface="Aptos" pitchFamily="34" charset="0"/>
                <a:ea typeface="Aptos" pitchFamily="34" charset="-122"/>
                <a:cs typeface="Aptos" pitchFamily="34" charset="-120"/>
              </a:rPr>
              <a:t>3</a:t>
            </a:r>
            <a:endParaRPr lang="en-US" sz="1900" dirty="0"/>
          </a:p>
        </p:txBody>
      </p:sp>
      <p:sp>
        <p:nvSpPr>
          <p:cNvPr id="17" name="Text 15"/>
          <p:cNvSpPr/>
          <p:nvPr/>
        </p:nvSpPr>
        <p:spPr>
          <a:xfrm>
            <a:off x="8759952" y="1847088"/>
            <a:ext cx="2606040" cy="347472"/>
          </a:xfrm>
          <a:prstGeom prst="rect">
            <a:avLst/>
          </a:prstGeom>
          <a:noFill/>
          <a:ln/>
        </p:spPr>
        <p:txBody>
          <a:bodyPr wrap="square" lIns="0" tIns="0" rIns="0" bIns="0" rtlCol="0" anchor="t">
            <a:normAutofit/>
          </a:bodyPr>
          <a:lstStyle/>
          <a:p>
            <a:pPr algn="l" indent="0" marL="0">
              <a:buNone/>
            </a:pPr>
            <a:r>
              <a:rPr lang="en-US" sz="1630" b="1" dirty="0">
                <a:solidFill>
                  <a:srgbClr val="241337"/>
                </a:solidFill>
                <a:latin typeface="Aptos" pitchFamily="34" charset="0"/>
                <a:ea typeface="Aptos" pitchFamily="34" charset="-122"/>
                <a:cs typeface="Aptos" pitchFamily="34" charset="-120"/>
              </a:rPr>
              <a:t>Stocker / livrer</a:t>
            </a:r>
            <a:endParaRPr lang="en-US" sz="1630" dirty="0"/>
          </a:p>
        </p:txBody>
      </p:sp>
      <p:sp>
        <p:nvSpPr>
          <p:cNvPr id="18" name="Text 16"/>
          <p:cNvSpPr/>
          <p:nvPr/>
        </p:nvSpPr>
        <p:spPr>
          <a:xfrm>
            <a:off x="8339328" y="2322576"/>
            <a:ext cx="3017520" cy="548640"/>
          </a:xfrm>
          <a:prstGeom prst="rect">
            <a:avLst/>
          </a:prstGeom>
          <a:noFill/>
          <a:ln/>
        </p:spPr>
        <p:txBody>
          <a:bodyPr wrap="square" lIns="0" tIns="0" rIns="0" bIns="0" rtlCol="0" anchor="t">
            <a:normAutofit/>
          </a:bodyPr>
          <a:lstStyle/>
          <a:p>
            <a:pPr algn="l" indent="0" marL="0">
              <a:buNone/>
            </a:pPr>
            <a:r>
              <a:rPr lang="en-US" sz="1230" dirty="0">
                <a:solidFill>
                  <a:srgbClr val="6F7082"/>
                </a:solidFill>
                <a:latin typeface="Aptos" pitchFamily="34" charset="0"/>
                <a:ea typeface="Aptos" pitchFamily="34" charset="-122"/>
                <a:cs typeface="Aptos" pitchFamily="34" charset="-120"/>
              </a:rPr>
              <a:t>Produire des sorties CSV, JSON ou SQLite prêtes pour une analyse ou un système aval.</a:t>
            </a:r>
            <a:endParaRPr lang="en-US" sz="1230" dirty="0"/>
          </a:p>
        </p:txBody>
      </p:sp>
      <p:sp>
        <p:nvSpPr>
          <p:cNvPr id="19" name="Shape 17"/>
          <p:cNvSpPr/>
          <p:nvPr/>
        </p:nvSpPr>
        <p:spPr>
          <a:xfrm>
            <a:off x="2514600" y="3456432"/>
            <a:ext cx="3520440" cy="1417320"/>
          </a:xfrm>
          <a:prstGeom prst="roundRect">
            <a:avLst>
              <a:gd name="adj" fmla="val 3871"/>
            </a:avLst>
          </a:prstGeom>
          <a:solidFill>
            <a:srgbClr val="FFFFFF"/>
          </a:solidFill>
          <a:ln w="12700">
            <a:solidFill>
              <a:srgbClr val="DDDCE6"/>
            </a:solidFill>
            <a:prstDash val="solid"/>
          </a:ln>
          <a:effectLst>
            <a:outerShdw sx="100000" sy="100000" kx="0" ky="0" algn="bl" rotWithShape="0" blurRad="19050" dist="50800" dir="2700000">
              <a:srgbClr val="D6D3DF">
                <a:alpha val="18000"/>
              </a:srgbClr>
            </a:outerShdw>
          </a:effectLst>
        </p:spPr>
      </p:sp>
      <p:sp>
        <p:nvSpPr>
          <p:cNvPr id="20" name="Shape 18"/>
          <p:cNvSpPr/>
          <p:nvPr/>
        </p:nvSpPr>
        <p:spPr>
          <a:xfrm>
            <a:off x="2514600" y="3456432"/>
            <a:ext cx="73152" cy="1417320"/>
          </a:xfrm>
          <a:prstGeom prst="rect">
            <a:avLst/>
          </a:prstGeom>
          <a:solidFill>
            <a:srgbClr val="DB8129"/>
          </a:solidFill>
          <a:ln w="12700">
            <a:solidFill>
              <a:srgbClr val="DB8129"/>
            </a:solidFill>
            <a:prstDash val="solid"/>
          </a:ln>
        </p:spPr>
      </p:sp>
      <p:sp>
        <p:nvSpPr>
          <p:cNvPr id="21" name="Text 19"/>
          <p:cNvSpPr/>
          <p:nvPr/>
        </p:nvSpPr>
        <p:spPr>
          <a:xfrm>
            <a:off x="2862072" y="3712464"/>
            <a:ext cx="320040" cy="256032"/>
          </a:xfrm>
          <a:prstGeom prst="rect">
            <a:avLst/>
          </a:prstGeom>
          <a:noFill/>
          <a:ln/>
        </p:spPr>
        <p:txBody>
          <a:bodyPr wrap="square" lIns="0" tIns="0" rIns="0" bIns="0" rtlCol="0" anchor="ctr">
            <a:normAutofit/>
          </a:bodyPr>
          <a:lstStyle/>
          <a:p>
            <a:pPr algn="l" indent="0" marL="0">
              <a:buNone/>
            </a:pPr>
            <a:r>
              <a:rPr lang="en-US" sz="1900" b="1" dirty="0">
                <a:solidFill>
                  <a:srgbClr val="DB8129"/>
                </a:solidFill>
                <a:latin typeface="Aptos" pitchFamily="34" charset="0"/>
                <a:ea typeface="Aptos" pitchFamily="34" charset="-122"/>
                <a:cs typeface="Aptos" pitchFamily="34" charset="-120"/>
              </a:rPr>
              <a:t>4</a:t>
            </a:r>
            <a:endParaRPr lang="en-US" sz="1900" dirty="0"/>
          </a:p>
        </p:txBody>
      </p:sp>
      <p:sp>
        <p:nvSpPr>
          <p:cNvPr id="22" name="Text 20"/>
          <p:cNvSpPr/>
          <p:nvPr/>
        </p:nvSpPr>
        <p:spPr>
          <a:xfrm>
            <a:off x="3227832" y="3675888"/>
            <a:ext cx="2606040" cy="347472"/>
          </a:xfrm>
          <a:prstGeom prst="rect">
            <a:avLst/>
          </a:prstGeom>
          <a:noFill/>
          <a:ln/>
        </p:spPr>
        <p:txBody>
          <a:bodyPr wrap="square" lIns="0" tIns="0" rIns="0" bIns="0" rtlCol="0" anchor="t">
            <a:normAutofit/>
          </a:bodyPr>
          <a:lstStyle/>
          <a:p>
            <a:pPr algn="l" indent="0" marL="0">
              <a:buNone/>
            </a:pPr>
            <a:r>
              <a:rPr lang="en-US" sz="1630" b="1" dirty="0">
                <a:solidFill>
                  <a:srgbClr val="241337"/>
                </a:solidFill>
                <a:latin typeface="Aptos" pitchFamily="34" charset="0"/>
                <a:ea typeface="Aptos" pitchFamily="34" charset="-122"/>
                <a:cs typeface="Aptos" pitchFamily="34" charset="-120"/>
              </a:rPr>
              <a:t>Scraper responsablement</a:t>
            </a:r>
            <a:endParaRPr lang="en-US" sz="1630" dirty="0"/>
          </a:p>
        </p:txBody>
      </p:sp>
      <p:sp>
        <p:nvSpPr>
          <p:cNvPr id="23" name="Text 21"/>
          <p:cNvSpPr/>
          <p:nvPr/>
        </p:nvSpPr>
        <p:spPr>
          <a:xfrm>
            <a:off x="2807208" y="4151376"/>
            <a:ext cx="3017520" cy="548640"/>
          </a:xfrm>
          <a:prstGeom prst="rect">
            <a:avLst/>
          </a:prstGeom>
          <a:noFill/>
          <a:ln/>
        </p:spPr>
        <p:txBody>
          <a:bodyPr wrap="square" lIns="0" tIns="0" rIns="0" bIns="0" rtlCol="0" anchor="t">
            <a:normAutofit/>
          </a:bodyPr>
          <a:lstStyle/>
          <a:p>
            <a:pPr algn="l" indent="0" marL="0">
              <a:buNone/>
            </a:pPr>
            <a:r>
              <a:rPr lang="en-US" sz="1230" dirty="0">
                <a:solidFill>
                  <a:srgbClr val="6F7082"/>
                </a:solidFill>
                <a:latin typeface="Aptos" pitchFamily="34" charset="0"/>
                <a:ea typeface="Aptos" pitchFamily="34" charset="-122"/>
                <a:cs typeface="Aptos" pitchFamily="34" charset="-120"/>
              </a:rPr>
              <a:t>Identifier données personnelles, CGU, licences, droits de base et contraintes techniques.</a:t>
            </a:r>
            <a:endParaRPr lang="en-US" sz="1230" dirty="0"/>
          </a:p>
        </p:txBody>
      </p:sp>
      <p:sp>
        <p:nvSpPr>
          <p:cNvPr id="24" name="Shape 22"/>
          <p:cNvSpPr/>
          <p:nvPr/>
        </p:nvSpPr>
        <p:spPr>
          <a:xfrm>
            <a:off x="6309360" y="3456432"/>
            <a:ext cx="3520440" cy="1417320"/>
          </a:xfrm>
          <a:prstGeom prst="roundRect">
            <a:avLst>
              <a:gd name="adj" fmla="val 3871"/>
            </a:avLst>
          </a:prstGeom>
          <a:solidFill>
            <a:srgbClr val="FFFFFF"/>
          </a:solidFill>
          <a:ln w="12700">
            <a:solidFill>
              <a:srgbClr val="DDDCE6"/>
            </a:solidFill>
            <a:prstDash val="solid"/>
          </a:ln>
          <a:effectLst>
            <a:outerShdw sx="100000" sy="100000" kx="0" ky="0" algn="bl" rotWithShape="0" blurRad="19050" dist="50800" dir="2700000">
              <a:srgbClr val="D6D3DF">
                <a:alpha val="18000"/>
              </a:srgbClr>
            </a:outerShdw>
          </a:effectLst>
        </p:spPr>
      </p:sp>
      <p:sp>
        <p:nvSpPr>
          <p:cNvPr id="25" name="Shape 23"/>
          <p:cNvSpPr/>
          <p:nvPr/>
        </p:nvSpPr>
        <p:spPr>
          <a:xfrm>
            <a:off x="6309360" y="3456432"/>
            <a:ext cx="73152" cy="1417320"/>
          </a:xfrm>
          <a:prstGeom prst="rect">
            <a:avLst/>
          </a:prstGeom>
          <a:solidFill>
            <a:srgbClr val="2E899E"/>
          </a:solidFill>
          <a:ln w="12700">
            <a:solidFill>
              <a:srgbClr val="2E899E"/>
            </a:solidFill>
            <a:prstDash val="solid"/>
          </a:ln>
        </p:spPr>
      </p:sp>
      <p:sp>
        <p:nvSpPr>
          <p:cNvPr id="26" name="Text 24"/>
          <p:cNvSpPr/>
          <p:nvPr/>
        </p:nvSpPr>
        <p:spPr>
          <a:xfrm>
            <a:off x="6656832" y="3712464"/>
            <a:ext cx="320040" cy="256032"/>
          </a:xfrm>
          <a:prstGeom prst="rect">
            <a:avLst/>
          </a:prstGeom>
          <a:noFill/>
          <a:ln/>
        </p:spPr>
        <p:txBody>
          <a:bodyPr wrap="square" lIns="0" tIns="0" rIns="0" bIns="0" rtlCol="0" anchor="ctr">
            <a:normAutofit/>
          </a:bodyPr>
          <a:lstStyle/>
          <a:p>
            <a:pPr algn="l" indent="0" marL="0">
              <a:buNone/>
            </a:pPr>
            <a:r>
              <a:rPr lang="en-US" sz="1900" b="1" dirty="0">
                <a:solidFill>
                  <a:srgbClr val="2E899E"/>
                </a:solidFill>
                <a:latin typeface="Aptos" pitchFamily="34" charset="0"/>
                <a:ea typeface="Aptos" pitchFamily="34" charset="-122"/>
                <a:cs typeface="Aptos" pitchFamily="34" charset="-120"/>
              </a:rPr>
              <a:t>5</a:t>
            </a:r>
            <a:endParaRPr lang="en-US" sz="1900" dirty="0"/>
          </a:p>
        </p:txBody>
      </p:sp>
      <p:sp>
        <p:nvSpPr>
          <p:cNvPr id="27" name="Text 25"/>
          <p:cNvSpPr/>
          <p:nvPr/>
        </p:nvSpPr>
        <p:spPr>
          <a:xfrm>
            <a:off x="7022592" y="3675888"/>
            <a:ext cx="2606040" cy="347472"/>
          </a:xfrm>
          <a:prstGeom prst="rect">
            <a:avLst/>
          </a:prstGeom>
          <a:noFill/>
          <a:ln/>
        </p:spPr>
        <p:txBody>
          <a:bodyPr wrap="square" lIns="0" tIns="0" rIns="0" bIns="0" rtlCol="0" anchor="t">
            <a:normAutofit/>
          </a:bodyPr>
          <a:lstStyle/>
          <a:p>
            <a:pPr algn="l" indent="0" marL="0">
              <a:buNone/>
            </a:pPr>
            <a:r>
              <a:rPr lang="en-US" sz="1630" b="1" dirty="0">
                <a:solidFill>
                  <a:srgbClr val="241337"/>
                </a:solidFill>
                <a:latin typeface="Aptos" pitchFamily="34" charset="0"/>
                <a:ea typeface="Aptos" pitchFamily="34" charset="-122"/>
                <a:cs typeface="Aptos" pitchFamily="34" charset="-120"/>
              </a:rPr>
              <a:t>Décider</a:t>
            </a:r>
            <a:endParaRPr lang="en-US" sz="1630" dirty="0"/>
          </a:p>
        </p:txBody>
      </p:sp>
      <p:sp>
        <p:nvSpPr>
          <p:cNvPr id="28" name="Text 26"/>
          <p:cNvSpPr/>
          <p:nvPr/>
        </p:nvSpPr>
        <p:spPr>
          <a:xfrm>
            <a:off x="6601968" y="4151376"/>
            <a:ext cx="3017520" cy="548640"/>
          </a:xfrm>
          <a:prstGeom prst="rect">
            <a:avLst/>
          </a:prstGeom>
          <a:noFill/>
          <a:ln/>
        </p:spPr>
        <p:txBody>
          <a:bodyPr wrap="square" lIns="0" tIns="0" rIns="0" bIns="0" rtlCol="0" anchor="t">
            <a:normAutofit/>
          </a:bodyPr>
          <a:lstStyle/>
          <a:p>
            <a:pPr algn="l" indent="0" marL="0">
              <a:buNone/>
            </a:pPr>
            <a:r>
              <a:rPr lang="en-US" sz="1230" dirty="0">
                <a:solidFill>
                  <a:srgbClr val="6F7082"/>
                </a:solidFill>
                <a:latin typeface="Aptos" pitchFamily="34" charset="0"/>
                <a:ea typeface="Aptos" pitchFamily="34" charset="-122"/>
                <a:cs typeface="Aptos" pitchFamily="34" charset="-120"/>
              </a:rPr>
              <a:t>Savoir dire oui, non, ou « à encadrer » avant de lancer une collecte réelle.</a:t>
            </a:r>
            <a:endParaRPr lang="en-US" sz="1230" dirty="0"/>
          </a:p>
        </p:txBody>
      </p:sp>
      <p:sp>
        <p:nvSpPr>
          <p:cNvPr id="29" name="Text 27"/>
          <p:cNvSpPr/>
          <p:nvPr/>
        </p:nvSpPr>
        <p:spPr>
          <a:xfrm>
            <a:off x="1874520" y="5504688"/>
            <a:ext cx="8412480" cy="320040"/>
          </a:xfrm>
          <a:prstGeom prst="rect">
            <a:avLst/>
          </a:prstGeom>
          <a:noFill/>
          <a:ln/>
        </p:spPr>
        <p:txBody>
          <a:bodyPr wrap="square" lIns="0" tIns="0" rIns="0" bIns="0" rtlCol="0" anchor="ctr">
            <a:normAutofit/>
          </a:bodyPr>
          <a:lstStyle/>
          <a:p>
            <a:pPr algn="ctr" indent="0" marL="0">
              <a:buNone/>
            </a:pPr>
            <a:r>
              <a:rPr lang="en-US" sz="1750" b="1" dirty="0">
                <a:solidFill>
                  <a:srgbClr val="241337"/>
                </a:solidFill>
                <a:latin typeface="Aptos" pitchFamily="34" charset="0"/>
                <a:ea typeface="Aptos" pitchFamily="34" charset="-122"/>
                <a:cs typeface="Aptos" pitchFamily="34" charset="-120"/>
              </a:rPr>
              <a:t>Fil conducteur : crawl → extraction → pipeline → stockage → vérification juridique &amp; éthique.</a:t>
            </a:r>
            <a:endParaRPr lang="en-US" sz="1750" dirty="0"/>
          </a:p>
        </p:txBody>
      </p:sp>
      <p:sp>
        <p:nvSpPr>
          <p:cNvPr id="25" name="Slide Number Placeholder 0"/>
          <p:cNvSpPr>
            <a:spLocks noGrp="1"/>
          </p:cNvSpPr>
          <p:nvPr>
            <p:ph type="sldNum" sz="quarter" idx="4294967295"/>
          </p:nvPr>
        </p:nvSpPr>
        <p:spPr>
          <a:xfrm>
            <a:off x="11750040" y="274320"/>
            <a:ext cx="228600" cy="164592"/>
          </a:xfrm>
          <a:prstGeom prst="rect">
            <a:avLst/>
          </a:prstGeom>
          <a:extLst>
            <a:ext uri="{C572A759-6A51-4108-AA02-DFA0A04FC94B}">
              <ma14:wrappingTextBoxFlag xmlns:ma14="http://schemas.microsoft.com/office/mac/drawingml/2011/main" val="0"/>
            </a:ext>
          </a:extLst>
        </p:spPr>
        <p:txBody>
          <a:bodyPr/>
          <a:lstStyle>
            <a:lvl1pPr>
              <a:defRPr sz="800">
                <a:solidFill>
                  <a:srgbClr val="858697"/>
                </a:solidFill>
                <a:latin typeface="Aptos"/>
                <a:ea typeface="Aptos"/>
                <a:cs typeface="Aptos"/>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66928" y="438912"/>
            <a:ext cx="5029200" cy="228600"/>
          </a:xfrm>
          <a:prstGeom prst="rect">
            <a:avLst/>
          </a:prstGeom>
          <a:noFill/>
          <a:ln/>
        </p:spPr>
        <p:txBody>
          <a:bodyPr wrap="square" lIns="0" tIns="0" rIns="0" bIns="0" rtlCol="0" anchor="ctr">
            <a:normAutofit/>
          </a:bodyPr>
          <a:lstStyle/>
          <a:p>
            <a:pPr algn="l" indent="0" marL="0">
              <a:buNone/>
            </a:pPr>
            <a:r>
              <a:rPr lang="en-US" sz="1050" b="1" spc="150" kern="0" dirty="0">
                <a:solidFill>
                  <a:srgbClr val="7432A8"/>
                </a:solidFill>
                <a:latin typeface="Aptos" pitchFamily="34" charset="0"/>
                <a:ea typeface="Aptos" pitchFamily="34" charset="-122"/>
                <a:cs typeface="Aptos" pitchFamily="34" charset="-120"/>
              </a:rPr>
              <a:t>DÉROULÉ</a:t>
            </a:r>
            <a:endParaRPr lang="en-US" sz="1050" dirty="0"/>
          </a:p>
        </p:txBody>
      </p:sp>
      <p:sp>
        <p:nvSpPr>
          <p:cNvPr id="3" name="Text 1"/>
          <p:cNvSpPr/>
          <p:nvPr/>
        </p:nvSpPr>
        <p:spPr>
          <a:xfrm>
            <a:off x="566928" y="768096"/>
            <a:ext cx="10972800" cy="566928"/>
          </a:xfrm>
          <a:prstGeom prst="rect">
            <a:avLst/>
          </a:prstGeom>
          <a:noFill/>
          <a:ln/>
        </p:spPr>
        <p:txBody>
          <a:bodyPr wrap="square" lIns="0" tIns="0" rIns="0" bIns="0" rtlCol="0" anchor="t">
            <a:normAutofit/>
          </a:bodyPr>
          <a:lstStyle/>
          <a:p>
            <a:pPr algn="l" indent="0" marL="0">
              <a:buNone/>
            </a:pPr>
            <a:r>
              <a:rPr lang="en-US" sz="2800" b="1" dirty="0">
                <a:solidFill>
                  <a:srgbClr val="241337"/>
                </a:solidFill>
                <a:latin typeface="Aptos" pitchFamily="34" charset="0"/>
                <a:ea typeface="Aptos" pitchFamily="34" charset="-122"/>
                <a:cs typeface="Aptos" pitchFamily="34" charset="-120"/>
              </a:rPr>
              <a:t>Les 7 heures en quatre temps</a:t>
            </a:r>
            <a:endParaRPr lang="en-US" sz="2800" dirty="0"/>
          </a:p>
        </p:txBody>
      </p:sp>
      <p:sp>
        <p:nvSpPr>
          <p:cNvPr id="4" name="Shape 2"/>
          <p:cNvSpPr/>
          <p:nvPr/>
        </p:nvSpPr>
        <p:spPr>
          <a:xfrm>
            <a:off x="640080" y="1874520"/>
            <a:ext cx="2331720" cy="2057400"/>
          </a:xfrm>
          <a:prstGeom prst="roundRect">
            <a:avLst>
              <a:gd name="adj" fmla="val 3111"/>
            </a:avLst>
          </a:prstGeom>
          <a:solidFill>
            <a:srgbClr val="FFFFFF"/>
          </a:solidFill>
          <a:ln w="12700">
            <a:solidFill>
              <a:srgbClr val="DDDCE6"/>
            </a:solidFill>
            <a:prstDash val="solid"/>
          </a:ln>
        </p:spPr>
      </p:sp>
      <p:sp>
        <p:nvSpPr>
          <p:cNvPr id="5" name="Shape 3"/>
          <p:cNvSpPr/>
          <p:nvPr/>
        </p:nvSpPr>
        <p:spPr>
          <a:xfrm>
            <a:off x="640080" y="1874520"/>
            <a:ext cx="2331720" cy="73152"/>
          </a:xfrm>
          <a:prstGeom prst="rect">
            <a:avLst/>
          </a:prstGeom>
          <a:solidFill>
            <a:srgbClr val="4F7FC4"/>
          </a:solidFill>
          <a:ln w="12700">
            <a:solidFill>
              <a:srgbClr val="4F7FC4"/>
            </a:solidFill>
            <a:prstDash val="solid"/>
          </a:ln>
        </p:spPr>
      </p:sp>
      <p:sp>
        <p:nvSpPr>
          <p:cNvPr id="6" name="Text 4"/>
          <p:cNvSpPr/>
          <p:nvPr/>
        </p:nvSpPr>
        <p:spPr>
          <a:xfrm>
            <a:off x="822960" y="2212848"/>
            <a:ext cx="1965960" cy="640080"/>
          </a:xfrm>
          <a:prstGeom prst="rect">
            <a:avLst/>
          </a:prstGeom>
          <a:noFill/>
          <a:ln/>
        </p:spPr>
        <p:txBody>
          <a:bodyPr wrap="square" lIns="0" tIns="0" rIns="0" bIns="0" rtlCol="0" anchor="ctr">
            <a:normAutofit/>
          </a:bodyPr>
          <a:lstStyle/>
          <a:p>
            <a:pPr algn="ctr" indent="0" marL="0">
              <a:buNone/>
            </a:pPr>
            <a:r>
              <a:rPr lang="en-US" sz="1500" b="1" dirty="0">
                <a:solidFill>
                  <a:srgbClr val="241337"/>
                </a:solidFill>
                <a:latin typeface="Aptos" pitchFamily="34" charset="0"/>
                <a:ea typeface="Aptos" pitchFamily="34" charset="-122"/>
                <a:cs typeface="Aptos" pitchFamily="34" charset="-120"/>
              </a:rPr>
              <a:t>09:00–10:45</a:t>
            </a:r>
            <a:endParaRPr lang="en-US" sz="1500" dirty="0"/>
          </a:p>
          <a:p>
            <a:pPr algn="ctr" indent="0" marL="0">
              <a:buNone/>
            </a:pPr>
            <a:r>
              <a:rPr lang="en-US" sz="1500" b="1" dirty="0">
                <a:solidFill>
                  <a:srgbClr val="241337"/>
                </a:solidFill>
                <a:latin typeface="Aptos" pitchFamily="34" charset="0"/>
                <a:ea typeface="Aptos" pitchFamily="34" charset="-122"/>
                <a:cs typeface="Aptos" pitchFamily="34" charset="-120"/>
              </a:rPr>
              <a:t>Fondations Scrapy</a:t>
            </a:r>
            <a:endParaRPr lang="en-US" sz="1500" dirty="0"/>
          </a:p>
        </p:txBody>
      </p:sp>
      <p:sp>
        <p:nvSpPr>
          <p:cNvPr id="7" name="Text 5"/>
          <p:cNvSpPr/>
          <p:nvPr/>
        </p:nvSpPr>
        <p:spPr>
          <a:xfrm>
            <a:off x="822960" y="3035808"/>
            <a:ext cx="1965960" cy="621792"/>
          </a:xfrm>
          <a:prstGeom prst="rect">
            <a:avLst/>
          </a:prstGeom>
          <a:noFill/>
          <a:ln/>
        </p:spPr>
        <p:txBody>
          <a:bodyPr wrap="square" lIns="0" tIns="0" rIns="0" bIns="0" rtlCol="0" anchor="ctr">
            <a:normAutofit/>
          </a:bodyPr>
          <a:lstStyle/>
          <a:p>
            <a:pPr algn="ctr" indent="0" marL="0">
              <a:buNone/>
            </a:pPr>
            <a:r>
              <a:rPr lang="en-US" sz="1180" dirty="0">
                <a:solidFill>
                  <a:srgbClr val="6F7082"/>
                </a:solidFill>
                <a:latin typeface="Aptos" pitchFamily="34" charset="0"/>
                <a:ea typeface="Aptos" pitchFamily="34" charset="-122"/>
                <a:cs typeface="Aptos" pitchFamily="34" charset="-120"/>
              </a:rPr>
              <a:t>Architecture, projet, shell, CSS/XPath</a:t>
            </a:r>
            <a:endParaRPr lang="en-US" sz="1180" dirty="0"/>
          </a:p>
        </p:txBody>
      </p:sp>
      <p:sp>
        <p:nvSpPr>
          <p:cNvPr id="8" name="Shape 6"/>
          <p:cNvSpPr/>
          <p:nvPr/>
        </p:nvSpPr>
        <p:spPr>
          <a:xfrm>
            <a:off x="3520440" y="1874520"/>
            <a:ext cx="2331720" cy="2057400"/>
          </a:xfrm>
          <a:prstGeom prst="roundRect">
            <a:avLst>
              <a:gd name="adj" fmla="val 3111"/>
            </a:avLst>
          </a:prstGeom>
          <a:solidFill>
            <a:srgbClr val="FFFFFF"/>
          </a:solidFill>
          <a:ln w="12700">
            <a:solidFill>
              <a:srgbClr val="DDDCE6"/>
            </a:solidFill>
            <a:prstDash val="solid"/>
          </a:ln>
        </p:spPr>
      </p:sp>
      <p:sp>
        <p:nvSpPr>
          <p:cNvPr id="9" name="Shape 7"/>
          <p:cNvSpPr/>
          <p:nvPr/>
        </p:nvSpPr>
        <p:spPr>
          <a:xfrm>
            <a:off x="3520440" y="1874520"/>
            <a:ext cx="2331720" cy="73152"/>
          </a:xfrm>
          <a:prstGeom prst="rect">
            <a:avLst/>
          </a:prstGeom>
          <a:solidFill>
            <a:srgbClr val="7432A8"/>
          </a:solidFill>
          <a:ln w="12700">
            <a:solidFill>
              <a:srgbClr val="7432A8"/>
            </a:solidFill>
            <a:prstDash val="solid"/>
          </a:ln>
        </p:spPr>
      </p:sp>
      <p:sp>
        <p:nvSpPr>
          <p:cNvPr id="10" name="Text 8"/>
          <p:cNvSpPr/>
          <p:nvPr/>
        </p:nvSpPr>
        <p:spPr>
          <a:xfrm>
            <a:off x="3703320" y="2212848"/>
            <a:ext cx="1965960" cy="640080"/>
          </a:xfrm>
          <a:prstGeom prst="rect">
            <a:avLst/>
          </a:prstGeom>
          <a:noFill/>
          <a:ln/>
        </p:spPr>
        <p:txBody>
          <a:bodyPr wrap="square" lIns="0" tIns="0" rIns="0" bIns="0" rtlCol="0" anchor="ctr">
            <a:normAutofit/>
          </a:bodyPr>
          <a:lstStyle/>
          <a:p>
            <a:pPr algn="ctr" indent="0" marL="0">
              <a:buNone/>
            </a:pPr>
            <a:r>
              <a:rPr lang="en-US" sz="1500" b="1" dirty="0">
                <a:solidFill>
                  <a:srgbClr val="241337"/>
                </a:solidFill>
                <a:latin typeface="Aptos" pitchFamily="34" charset="0"/>
                <a:ea typeface="Aptos" pitchFamily="34" charset="-122"/>
                <a:cs typeface="Aptos" pitchFamily="34" charset="-120"/>
              </a:rPr>
              <a:t>11:00–12:30</a:t>
            </a:r>
            <a:endParaRPr lang="en-US" sz="1500" dirty="0"/>
          </a:p>
          <a:p>
            <a:pPr algn="ctr" indent="0" marL="0">
              <a:buNone/>
            </a:pPr>
            <a:r>
              <a:rPr lang="en-US" sz="1500" b="1" dirty="0">
                <a:solidFill>
                  <a:srgbClr val="241337"/>
                </a:solidFill>
                <a:latin typeface="Aptos" pitchFamily="34" charset="0"/>
                <a:ea typeface="Aptos" pitchFamily="34" charset="-122"/>
                <a:cs typeface="Aptos" pitchFamily="34" charset="-120"/>
              </a:rPr>
              <a:t>Spider multipages</a:t>
            </a:r>
            <a:endParaRPr lang="en-US" sz="1500" dirty="0"/>
          </a:p>
        </p:txBody>
      </p:sp>
      <p:sp>
        <p:nvSpPr>
          <p:cNvPr id="11" name="Text 9"/>
          <p:cNvSpPr/>
          <p:nvPr/>
        </p:nvSpPr>
        <p:spPr>
          <a:xfrm>
            <a:off x="3703320" y="3035808"/>
            <a:ext cx="1965960" cy="621792"/>
          </a:xfrm>
          <a:prstGeom prst="rect">
            <a:avLst/>
          </a:prstGeom>
          <a:noFill/>
          <a:ln/>
        </p:spPr>
        <p:txBody>
          <a:bodyPr wrap="square" lIns="0" tIns="0" rIns="0" bIns="0" rtlCol="0" anchor="ctr">
            <a:normAutofit/>
          </a:bodyPr>
          <a:lstStyle/>
          <a:p>
            <a:pPr algn="ctr" indent="0" marL="0">
              <a:buNone/>
            </a:pPr>
            <a:r>
              <a:rPr lang="en-US" sz="1180" dirty="0">
                <a:solidFill>
                  <a:srgbClr val="6F7082"/>
                </a:solidFill>
                <a:latin typeface="Aptos" pitchFamily="34" charset="0"/>
                <a:ea typeface="Aptos" pitchFamily="34" charset="-122"/>
                <a:cs typeface="Aptos" pitchFamily="34" charset="-120"/>
              </a:rPr>
              <a:t>Pagination, pages détail, Items, Pipelines</a:t>
            </a:r>
            <a:endParaRPr lang="en-US" sz="1180" dirty="0"/>
          </a:p>
        </p:txBody>
      </p:sp>
      <p:sp>
        <p:nvSpPr>
          <p:cNvPr id="12" name="Shape 10"/>
          <p:cNvSpPr/>
          <p:nvPr/>
        </p:nvSpPr>
        <p:spPr>
          <a:xfrm>
            <a:off x="6400800" y="1874520"/>
            <a:ext cx="2331720" cy="2057400"/>
          </a:xfrm>
          <a:prstGeom prst="roundRect">
            <a:avLst>
              <a:gd name="adj" fmla="val 3111"/>
            </a:avLst>
          </a:prstGeom>
          <a:solidFill>
            <a:srgbClr val="FFFFFF"/>
          </a:solidFill>
          <a:ln w="12700">
            <a:solidFill>
              <a:srgbClr val="DDDCE6"/>
            </a:solidFill>
            <a:prstDash val="solid"/>
          </a:ln>
        </p:spPr>
      </p:sp>
      <p:sp>
        <p:nvSpPr>
          <p:cNvPr id="13" name="Shape 11"/>
          <p:cNvSpPr/>
          <p:nvPr/>
        </p:nvSpPr>
        <p:spPr>
          <a:xfrm>
            <a:off x="6400800" y="1874520"/>
            <a:ext cx="2331720" cy="73152"/>
          </a:xfrm>
          <a:prstGeom prst="rect">
            <a:avLst/>
          </a:prstGeom>
          <a:solidFill>
            <a:srgbClr val="DB8129"/>
          </a:solidFill>
          <a:ln w="12700">
            <a:solidFill>
              <a:srgbClr val="DB8129"/>
            </a:solidFill>
            <a:prstDash val="solid"/>
          </a:ln>
        </p:spPr>
      </p:sp>
      <p:sp>
        <p:nvSpPr>
          <p:cNvPr id="14" name="Text 12"/>
          <p:cNvSpPr/>
          <p:nvPr/>
        </p:nvSpPr>
        <p:spPr>
          <a:xfrm>
            <a:off x="6583680" y="2212848"/>
            <a:ext cx="1965960" cy="640080"/>
          </a:xfrm>
          <a:prstGeom prst="rect">
            <a:avLst/>
          </a:prstGeom>
          <a:noFill/>
          <a:ln/>
        </p:spPr>
        <p:txBody>
          <a:bodyPr wrap="square" lIns="0" tIns="0" rIns="0" bIns="0" rtlCol="0" anchor="ctr">
            <a:normAutofit/>
          </a:bodyPr>
          <a:lstStyle/>
          <a:p>
            <a:pPr algn="ctr" indent="0" marL="0">
              <a:buNone/>
            </a:pPr>
            <a:r>
              <a:rPr lang="en-US" sz="1500" b="1" dirty="0">
                <a:solidFill>
                  <a:srgbClr val="241337"/>
                </a:solidFill>
                <a:latin typeface="Aptos" pitchFamily="34" charset="0"/>
                <a:ea typeface="Aptos" pitchFamily="34" charset="-122"/>
                <a:cs typeface="Aptos" pitchFamily="34" charset="-120"/>
              </a:rPr>
              <a:t>13:30–15:15</a:t>
            </a:r>
            <a:endParaRPr lang="en-US" sz="1500" dirty="0"/>
          </a:p>
          <a:p>
            <a:pPr algn="ctr" indent="0" marL="0">
              <a:buNone/>
            </a:pPr>
            <a:r>
              <a:rPr lang="en-US" sz="1500" b="1" dirty="0">
                <a:solidFill>
                  <a:srgbClr val="241337"/>
                </a:solidFill>
                <a:latin typeface="Aptos" pitchFamily="34" charset="0"/>
                <a:ea typeface="Aptos" pitchFamily="34" charset="-122"/>
                <a:cs typeface="Aptos" pitchFamily="34" charset="-120"/>
              </a:rPr>
              <a:t>Droit &amp; éthique</a:t>
            </a:r>
            <a:endParaRPr lang="en-US" sz="1500" dirty="0"/>
          </a:p>
        </p:txBody>
      </p:sp>
      <p:sp>
        <p:nvSpPr>
          <p:cNvPr id="15" name="Text 13"/>
          <p:cNvSpPr/>
          <p:nvPr/>
        </p:nvSpPr>
        <p:spPr>
          <a:xfrm>
            <a:off x="6583680" y="3035808"/>
            <a:ext cx="1965960" cy="621792"/>
          </a:xfrm>
          <a:prstGeom prst="rect">
            <a:avLst/>
          </a:prstGeom>
          <a:noFill/>
          <a:ln/>
        </p:spPr>
        <p:txBody>
          <a:bodyPr wrap="square" lIns="0" tIns="0" rIns="0" bIns="0" rtlCol="0" anchor="ctr">
            <a:normAutofit/>
          </a:bodyPr>
          <a:lstStyle/>
          <a:p>
            <a:pPr algn="ctr" indent="0" marL="0">
              <a:buNone/>
            </a:pPr>
            <a:r>
              <a:rPr lang="en-US" sz="1180" dirty="0">
                <a:solidFill>
                  <a:srgbClr val="6F7082"/>
                </a:solidFill>
                <a:latin typeface="Aptos" pitchFamily="34" charset="0"/>
                <a:ea typeface="Aptos" pitchFamily="34" charset="-122"/>
                <a:cs typeface="Aptos" pitchFamily="34" charset="-120"/>
              </a:rPr>
              <a:t>RGPD, CGU, licences, données publiques</a:t>
            </a:r>
            <a:endParaRPr lang="en-US" sz="1180" dirty="0"/>
          </a:p>
        </p:txBody>
      </p:sp>
      <p:sp>
        <p:nvSpPr>
          <p:cNvPr id="16" name="Shape 14"/>
          <p:cNvSpPr/>
          <p:nvPr/>
        </p:nvSpPr>
        <p:spPr>
          <a:xfrm>
            <a:off x="9281160" y="1874520"/>
            <a:ext cx="2331720" cy="2057400"/>
          </a:xfrm>
          <a:prstGeom prst="roundRect">
            <a:avLst>
              <a:gd name="adj" fmla="val 3111"/>
            </a:avLst>
          </a:prstGeom>
          <a:solidFill>
            <a:srgbClr val="FFFFFF"/>
          </a:solidFill>
          <a:ln w="12700">
            <a:solidFill>
              <a:srgbClr val="DDDCE6"/>
            </a:solidFill>
            <a:prstDash val="solid"/>
          </a:ln>
        </p:spPr>
      </p:sp>
      <p:sp>
        <p:nvSpPr>
          <p:cNvPr id="17" name="Shape 15"/>
          <p:cNvSpPr/>
          <p:nvPr/>
        </p:nvSpPr>
        <p:spPr>
          <a:xfrm>
            <a:off x="9281160" y="1874520"/>
            <a:ext cx="2331720" cy="73152"/>
          </a:xfrm>
          <a:prstGeom prst="rect">
            <a:avLst/>
          </a:prstGeom>
          <a:solidFill>
            <a:srgbClr val="4EA27B"/>
          </a:solidFill>
          <a:ln w="12700">
            <a:solidFill>
              <a:srgbClr val="4EA27B"/>
            </a:solidFill>
            <a:prstDash val="solid"/>
          </a:ln>
        </p:spPr>
      </p:sp>
      <p:sp>
        <p:nvSpPr>
          <p:cNvPr id="18" name="Text 16"/>
          <p:cNvSpPr/>
          <p:nvPr/>
        </p:nvSpPr>
        <p:spPr>
          <a:xfrm>
            <a:off x="9464040" y="2212848"/>
            <a:ext cx="1965960" cy="640080"/>
          </a:xfrm>
          <a:prstGeom prst="rect">
            <a:avLst/>
          </a:prstGeom>
          <a:noFill/>
          <a:ln/>
        </p:spPr>
        <p:txBody>
          <a:bodyPr wrap="square" lIns="0" tIns="0" rIns="0" bIns="0" rtlCol="0" anchor="ctr">
            <a:normAutofit/>
          </a:bodyPr>
          <a:lstStyle/>
          <a:p>
            <a:pPr algn="ctr" indent="0" marL="0">
              <a:buNone/>
            </a:pPr>
            <a:r>
              <a:rPr lang="en-US" sz="1500" b="1" dirty="0">
                <a:solidFill>
                  <a:srgbClr val="241337"/>
                </a:solidFill>
                <a:latin typeface="Aptos" pitchFamily="34" charset="0"/>
                <a:ea typeface="Aptos" pitchFamily="34" charset="-122"/>
                <a:cs typeface="Aptos" pitchFamily="34" charset="-120"/>
              </a:rPr>
              <a:t>15:30–17:00</a:t>
            </a:r>
            <a:endParaRPr lang="en-US" sz="1500" dirty="0"/>
          </a:p>
          <a:p>
            <a:pPr algn="ctr" indent="0" marL="0">
              <a:buNone/>
            </a:pPr>
            <a:r>
              <a:rPr lang="en-US" sz="1500" b="1" dirty="0">
                <a:solidFill>
                  <a:srgbClr val="241337"/>
                </a:solidFill>
                <a:latin typeface="Aptos" pitchFamily="34" charset="0"/>
                <a:ea typeface="Aptos" pitchFamily="34" charset="-122"/>
                <a:cs typeface="Aptos" pitchFamily="34" charset="-120"/>
              </a:rPr>
              <a:t>Cas pratique + QCM</a:t>
            </a:r>
            <a:endParaRPr lang="en-US" sz="1500" dirty="0"/>
          </a:p>
        </p:txBody>
      </p:sp>
      <p:sp>
        <p:nvSpPr>
          <p:cNvPr id="19" name="Text 17"/>
          <p:cNvSpPr/>
          <p:nvPr/>
        </p:nvSpPr>
        <p:spPr>
          <a:xfrm>
            <a:off x="9464040" y="3035808"/>
            <a:ext cx="1965960" cy="621792"/>
          </a:xfrm>
          <a:prstGeom prst="rect">
            <a:avLst/>
          </a:prstGeom>
          <a:noFill/>
          <a:ln/>
        </p:spPr>
        <p:txBody>
          <a:bodyPr wrap="square" lIns="0" tIns="0" rIns="0" bIns="0" rtlCol="0" anchor="ctr">
            <a:normAutofit/>
          </a:bodyPr>
          <a:lstStyle/>
          <a:p>
            <a:pPr algn="ctr" indent="0" marL="0">
              <a:buNone/>
            </a:pPr>
            <a:r>
              <a:rPr lang="en-US" sz="1180" dirty="0">
                <a:solidFill>
                  <a:srgbClr val="6F7082"/>
                </a:solidFill>
                <a:latin typeface="Aptos" pitchFamily="34" charset="0"/>
                <a:ea typeface="Aptos" pitchFamily="34" charset="-122"/>
                <a:cs typeface="Aptos" pitchFamily="34" charset="-120"/>
              </a:rPr>
              <a:t>Projet de veille, restitution, évaluation</a:t>
            </a:r>
            <a:endParaRPr lang="en-US" sz="1180" dirty="0"/>
          </a:p>
        </p:txBody>
      </p:sp>
      <p:sp>
        <p:nvSpPr>
          <p:cNvPr id="20" name="Text 18"/>
          <p:cNvSpPr/>
          <p:nvPr/>
        </p:nvSpPr>
        <p:spPr>
          <a:xfrm>
            <a:off x="1417320" y="4892040"/>
            <a:ext cx="9326880" cy="329184"/>
          </a:xfrm>
          <a:prstGeom prst="rect">
            <a:avLst/>
          </a:prstGeom>
          <a:noFill/>
          <a:ln/>
        </p:spPr>
        <p:txBody>
          <a:bodyPr wrap="square" lIns="0" tIns="0" rIns="0" bIns="0" rtlCol="0" anchor="ctr">
            <a:normAutofit/>
          </a:bodyPr>
          <a:lstStyle/>
          <a:p>
            <a:pPr algn="ctr" indent="0" marL="0">
              <a:buNone/>
            </a:pPr>
            <a:r>
              <a:rPr lang="en-US" sz="1600" b="1" dirty="0">
                <a:solidFill>
                  <a:srgbClr val="241337"/>
                </a:solidFill>
                <a:latin typeface="Aptos" pitchFamily="34" charset="0"/>
                <a:ea typeface="Aptos" pitchFamily="34" charset="-122"/>
                <a:cs typeface="Aptos" pitchFamily="34" charset="-120"/>
              </a:rPr>
              <a:t>Méthode : démonstration → manipulation → débrief → réutilisation dans le projet final.</a:t>
            </a:r>
            <a:endParaRPr lang="en-US" sz="1600" dirty="0"/>
          </a:p>
        </p:txBody>
      </p:sp>
      <p:sp>
        <p:nvSpPr>
          <p:cNvPr id="25" name="Slide Number Placeholder 0"/>
          <p:cNvSpPr>
            <a:spLocks noGrp="1"/>
          </p:cNvSpPr>
          <p:nvPr>
            <p:ph type="sldNum" sz="quarter" idx="4294967295"/>
          </p:nvPr>
        </p:nvSpPr>
        <p:spPr>
          <a:xfrm>
            <a:off x="11750040" y="274320"/>
            <a:ext cx="228600" cy="164592"/>
          </a:xfrm>
          <a:prstGeom prst="rect">
            <a:avLst/>
          </a:prstGeom>
          <a:extLst>
            <a:ext uri="{C572A759-6A51-4108-AA02-DFA0A04FC94B}">
              <ma14:wrappingTextBoxFlag xmlns:ma14="http://schemas.microsoft.com/office/mac/drawingml/2011/main" val="0"/>
            </a:ext>
          </a:extLst>
        </p:spPr>
        <p:txBody>
          <a:bodyPr/>
          <a:lstStyle>
            <a:lvl1pPr>
              <a:defRPr sz="800">
                <a:solidFill>
                  <a:srgbClr val="858697"/>
                </a:solidFill>
                <a:latin typeface="Aptos"/>
                <a:ea typeface="Aptos"/>
                <a:cs typeface="Aptos"/>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66928" y="438912"/>
            <a:ext cx="5029200" cy="228600"/>
          </a:xfrm>
          <a:prstGeom prst="rect">
            <a:avLst/>
          </a:prstGeom>
          <a:noFill/>
          <a:ln/>
        </p:spPr>
        <p:txBody>
          <a:bodyPr wrap="square" lIns="0" tIns="0" rIns="0" bIns="0" rtlCol="0" anchor="ctr">
            <a:normAutofit/>
          </a:bodyPr>
          <a:lstStyle/>
          <a:p>
            <a:pPr algn="l" indent="0" marL="0">
              <a:buNone/>
            </a:pPr>
            <a:r>
              <a:rPr lang="en-US" sz="1050" b="1" spc="150" kern="0" dirty="0">
                <a:solidFill>
                  <a:srgbClr val="7432A8"/>
                </a:solidFill>
                <a:latin typeface="Aptos" pitchFamily="34" charset="0"/>
                <a:ea typeface="Aptos" pitchFamily="34" charset="-122"/>
                <a:cs typeface="Aptos" pitchFamily="34" charset="-120"/>
              </a:rPr>
              <a:t>RAPPEL</a:t>
            </a:r>
            <a:endParaRPr lang="en-US" sz="1050" dirty="0"/>
          </a:p>
        </p:txBody>
      </p:sp>
      <p:sp>
        <p:nvSpPr>
          <p:cNvPr id="3" name="Text 1"/>
          <p:cNvSpPr/>
          <p:nvPr/>
        </p:nvSpPr>
        <p:spPr>
          <a:xfrm>
            <a:off x="566928" y="768096"/>
            <a:ext cx="10972800" cy="566928"/>
          </a:xfrm>
          <a:prstGeom prst="rect">
            <a:avLst/>
          </a:prstGeom>
          <a:noFill/>
          <a:ln/>
        </p:spPr>
        <p:txBody>
          <a:bodyPr wrap="square" lIns="0" tIns="0" rIns="0" bIns="0" rtlCol="0" anchor="t">
            <a:normAutofit/>
          </a:bodyPr>
          <a:lstStyle/>
          <a:p>
            <a:pPr algn="l" indent="0" marL="0">
              <a:buNone/>
            </a:pPr>
            <a:r>
              <a:rPr lang="en-US" sz="2800" b="1" dirty="0">
                <a:solidFill>
                  <a:srgbClr val="241337"/>
                </a:solidFill>
                <a:latin typeface="Aptos" pitchFamily="34" charset="0"/>
                <a:ea typeface="Aptos" pitchFamily="34" charset="-122"/>
                <a:cs typeface="Aptos" pitchFamily="34" charset="-120"/>
              </a:rPr>
              <a:t>Où nous avons terminé le Jour 1</a:t>
            </a:r>
            <a:endParaRPr lang="en-US" sz="2800" dirty="0"/>
          </a:p>
        </p:txBody>
      </p:sp>
      <p:sp>
        <p:nvSpPr>
          <p:cNvPr id="4" name="Shape 2"/>
          <p:cNvSpPr/>
          <p:nvPr/>
        </p:nvSpPr>
        <p:spPr>
          <a:xfrm>
            <a:off x="640080" y="2103120"/>
            <a:ext cx="1737360" cy="1051560"/>
          </a:xfrm>
          <a:prstGeom prst="roundRect">
            <a:avLst>
              <a:gd name="adj" fmla="val 5217"/>
            </a:avLst>
          </a:prstGeom>
          <a:solidFill>
            <a:srgbClr val="FFFFFF"/>
          </a:solidFill>
          <a:ln w="16510">
            <a:solidFill>
              <a:srgbClr val="DB8129"/>
            </a:solidFill>
            <a:prstDash val="solid"/>
          </a:ln>
        </p:spPr>
      </p:sp>
      <p:sp>
        <p:nvSpPr>
          <p:cNvPr id="5" name="Text 3"/>
          <p:cNvSpPr/>
          <p:nvPr/>
        </p:nvSpPr>
        <p:spPr>
          <a:xfrm>
            <a:off x="777240" y="2313432"/>
            <a:ext cx="1463040" cy="228600"/>
          </a:xfrm>
          <a:prstGeom prst="rect">
            <a:avLst/>
          </a:prstGeom>
          <a:noFill/>
          <a:ln/>
        </p:spPr>
        <p:txBody>
          <a:bodyPr wrap="square" lIns="0" tIns="0" rIns="0" bIns="0" rtlCol="0" anchor="ctr">
            <a:normAutofit/>
          </a:bodyPr>
          <a:lstStyle/>
          <a:p>
            <a:pPr algn="ctr" indent="0" marL="0">
              <a:buNone/>
            </a:pPr>
            <a:r>
              <a:rPr lang="en-US" sz="1300" b="1" dirty="0">
                <a:solidFill>
                  <a:srgbClr val="DB8129"/>
                </a:solidFill>
                <a:latin typeface="Aptos" pitchFamily="34" charset="0"/>
                <a:ea typeface="Aptos" pitchFamily="34" charset="-122"/>
                <a:cs typeface="Aptos" pitchFamily="34" charset="-120"/>
              </a:rPr>
              <a:t>WEB</a:t>
            </a:r>
            <a:endParaRPr lang="en-US" sz="1300" dirty="0"/>
          </a:p>
        </p:txBody>
      </p:sp>
      <p:sp>
        <p:nvSpPr>
          <p:cNvPr id="6" name="Text 4"/>
          <p:cNvSpPr/>
          <p:nvPr/>
        </p:nvSpPr>
        <p:spPr>
          <a:xfrm>
            <a:off x="777240" y="2651760"/>
            <a:ext cx="1463040" cy="201168"/>
          </a:xfrm>
          <a:prstGeom prst="rect">
            <a:avLst/>
          </a:prstGeom>
          <a:noFill/>
          <a:ln/>
        </p:spPr>
        <p:txBody>
          <a:bodyPr wrap="square" lIns="0" tIns="0" rIns="0" bIns="0" rtlCol="0" anchor="ctr">
            <a:normAutofit/>
          </a:bodyPr>
          <a:lstStyle/>
          <a:p>
            <a:pPr algn="ctr" indent="0" marL="0">
              <a:buNone/>
            </a:pPr>
            <a:r>
              <a:rPr lang="en-US" sz="1050" dirty="0">
                <a:solidFill>
                  <a:srgbClr val="6F7082"/>
                </a:solidFill>
                <a:latin typeface="Aptos" pitchFamily="34" charset="0"/>
                <a:ea typeface="Aptos" pitchFamily="34" charset="-122"/>
                <a:cs typeface="Aptos" pitchFamily="34" charset="-120"/>
              </a:rPr>
              <a:t>HTML / JSON</a:t>
            </a:r>
            <a:endParaRPr lang="en-US" sz="1050" dirty="0"/>
          </a:p>
        </p:txBody>
      </p:sp>
      <p:sp>
        <p:nvSpPr>
          <p:cNvPr id="7" name="Text 5"/>
          <p:cNvSpPr/>
          <p:nvPr/>
        </p:nvSpPr>
        <p:spPr>
          <a:xfrm>
            <a:off x="2468880" y="2459736"/>
            <a:ext cx="320040" cy="228600"/>
          </a:xfrm>
          <a:prstGeom prst="rect">
            <a:avLst/>
          </a:prstGeom>
          <a:noFill/>
          <a:ln/>
        </p:spPr>
        <p:txBody>
          <a:bodyPr wrap="square" lIns="0" tIns="0" rIns="0" bIns="0" rtlCol="0" anchor="ctr">
            <a:normAutofit/>
          </a:bodyPr>
          <a:lstStyle/>
          <a:p>
            <a:pPr algn="ctr" indent="0" marL="0">
              <a:buNone/>
            </a:pPr>
            <a:r>
              <a:rPr lang="en-US" sz="2000" b="1" dirty="0">
                <a:solidFill>
                  <a:srgbClr val="AAA5B4"/>
                </a:solidFill>
                <a:latin typeface="Aptos" pitchFamily="34" charset="0"/>
                <a:ea typeface="Aptos" pitchFamily="34" charset="-122"/>
                <a:cs typeface="Aptos" pitchFamily="34" charset="-120"/>
              </a:rPr>
              <a:t>→</a:t>
            </a:r>
            <a:endParaRPr lang="en-US" sz="2000" dirty="0"/>
          </a:p>
        </p:txBody>
      </p:sp>
      <p:sp>
        <p:nvSpPr>
          <p:cNvPr id="8" name="Shape 6"/>
          <p:cNvSpPr/>
          <p:nvPr/>
        </p:nvSpPr>
        <p:spPr>
          <a:xfrm>
            <a:off x="2907792" y="2103120"/>
            <a:ext cx="1737360" cy="1051560"/>
          </a:xfrm>
          <a:prstGeom prst="roundRect">
            <a:avLst>
              <a:gd name="adj" fmla="val 5217"/>
            </a:avLst>
          </a:prstGeom>
          <a:solidFill>
            <a:srgbClr val="FFFFFF"/>
          </a:solidFill>
          <a:ln w="16510">
            <a:solidFill>
              <a:srgbClr val="4F7FC4"/>
            </a:solidFill>
            <a:prstDash val="solid"/>
          </a:ln>
        </p:spPr>
      </p:sp>
      <p:sp>
        <p:nvSpPr>
          <p:cNvPr id="9" name="Text 7"/>
          <p:cNvSpPr/>
          <p:nvPr/>
        </p:nvSpPr>
        <p:spPr>
          <a:xfrm>
            <a:off x="3044952" y="2313432"/>
            <a:ext cx="1463040" cy="228600"/>
          </a:xfrm>
          <a:prstGeom prst="rect">
            <a:avLst/>
          </a:prstGeom>
          <a:noFill/>
          <a:ln/>
        </p:spPr>
        <p:txBody>
          <a:bodyPr wrap="square" lIns="0" tIns="0" rIns="0" bIns="0" rtlCol="0" anchor="ctr">
            <a:normAutofit/>
          </a:bodyPr>
          <a:lstStyle/>
          <a:p>
            <a:pPr algn="ctr" indent="0" marL="0">
              <a:buNone/>
            </a:pPr>
            <a:r>
              <a:rPr lang="en-US" sz="1300" b="1" dirty="0">
                <a:solidFill>
                  <a:srgbClr val="4F7FC4"/>
                </a:solidFill>
                <a:latin typeface="Aptos" pitchFamily="34" charset="0"/>
                <a:ea typeface="Aptos" pitchFamily="34" charset="-122"/>
                <a:cs typeface="Aptos" pitchFamily="34" charset="-120"/>
              </a:rPr>
              <a:t>EXTRACT</a:t>
            </a:r>
            <a:endParaRPr lang="en-US" sz="1300" dirty="0"/>
          </a:p>
        </p:txBody>
      </p:sp>
      <p:sp>
        <p:nvSpPr>
          <p:cNvPr id="10" name="Text 8"/>
          <p:cNvSpPr/>
          <p:nvPr/>
        </p:nvSpPr>
        <p:spPr>
          <a:xfrm>
            <a:off x="3044952" y="2651760"/>
            <a:ext cx="1463040" cy="201168"/>
          </a:xfrm>
          <a:prstGeom prst="rect">
            <a:avLst/>
          </a:prstGeom>
          <a:noFill/>
          <a:ln/>
        </p:spPr>
        <p:txBody>
          <a:bodyPr wrap="square" lIns="0" tIns="0" rIns="0" bIns="0" rtlCol="0" anchor="ctr">
            <a:normAutofit/>
          </a:bodyPr>
          <a:lstStyle/>
          <a:p>
            <a:pPr algn="ctr" indent="0" marL="0">
              <a:buNone/>
            </a:pPr>
            <a:r>
              <a:rPr lang="en-US" sz="1050" dirty="0">
                <a:solidFill>
                  <a:srgbClr val="6F7082"/>
                </a:solidFill>
                <a:latin typeface="Aptos" pitchFamily="34" charset="0"/>
                <a:ea typeface="Aptos" pitchFamily="34" charset="-122"/>
                <a:cs typeface="Aptos" pitchFamily="34" charset="-120"/>
              </a:rPr>
              <a:t>Requests / BS4</a:t>
            </a:r>
            <a:endParaRPr lang="en-US" sz="1050" dirty="0"/>
          </a:p>
        </p:txBody>
      </p:sp>
      <p:sp>
        <p:nvSpPr>
          <p:cNvPr id="11" name="Text 9"/>
          <p:cNvSpPr/>
          <p:nvPr/>
        </p:nvSpPr>
        <p:spPr>
          <a:xfrm>
            <a:off x="4736592" y="2459736"/>
            <a:ext cx="320040" cy="228600"/>
          </a:xfrm>
          <a:prstGeom prst="rect">
            <a:avLst/>
          </a:prstGeom>
          <a:noFill/>
          <a:ln/>
        </p:spPr>
        <p:txBody>
          <a:bodyPr wrap="square" lIns="0" tIns="0" rIns="0" bIns="0" rtlCol="0" anchor="ctr">
            <a:normAutofit/>
          </a:bodyPr>
          <a:lstStyle/>
          <a:p>
            <a:pPr algn="ctr" indent="0" marL="0">
              <a:buNone/>
            </a:pPr>
            <a:r>
              <a:rPr lang="en-US" sz="2000" b="1" dirty="0">
                <a:solidFill>
                  <a:srgbClr val="AAA5B4"/>
                </a:solidFill>
                <a:latin typeface="Aptos" pitchFamily="34" charset="0"/>
                <a:ea typeface="Aptos" pitchFamily="34" charset="-122"/>
                <a:cs typeface="Aptos" pitchFamily="34" charset="-120"/>
              </a:rPr>
              <a:t>→</a:t>
            </a:r>
            <a:endParaRPr lang="en-US" sz="2000" dirty="0"/>
          </a:p>
        </p:txBody>
      </p:sp>
      <p:sp>
        <p:nvSpPr>
          <p:cNvPr id="12" name="Shape 10"/>
          <p:cNvSpPr/>
          <p:nvPr/>
        </p:nvSpPr>
        <p:spPr>
          <a:xfrm>
            <a:off x="5175504" y="2103120"/>
            <a:ext cx="1737360" cy="1051560"/>
          </a:xfrm>
          <a:prstGeom prst="roundRect">
            <a:avLst>
              <a:gd name="adj" fmla="val 5217"/>
            </a:avLst>
          </a:prstGeom>
          <a:solidFill>
            <a:srgbClr val="FFFFFF"/>
          </a:solidFill>
          <a:ln w="16510">
            <a:solidFill>
              <a:srgbClr val="7432A8"/>
            </a:solidFill>
            <a:prstDash val="solid"/>
          </a:ln>
        </p:spPr>
      </p:sp>
      <p:sp>
        <p:nvSpPr>
          <p:cNvPr id="13" name="Text 11"/>
          <p:cNvSpPr/>
          <p:nvPr/>
        </p:nvSpPr>
        <p:spPr>
          <a:xfrm>
            <a:off x="5312664" y="2313432"/>
            <a:ext cx="1463040" cy="228600"/>
          </a:xfrm>
          <a:prstGeom prst="rect">
            <a:avLst/>
          </a:prstGeom>
          <a:noFill/>
          <a:ln/>
        </p:spPr>
        <p:txBody>
          <a:bodyPr wrap="square" lIns="0" tIns="0" rIns="0" bIns="0" rtlCol="0" anchor="ctr">
            <a:normAutofit/>
          </a:bodyPr>
          <a:lstStyle/>
          <a:p>
            <a:pPr algn="ctr" indent="0" marL="0">
              <a:buNone/>
            </a:pPr>
            <a:r>
              <a:rPr lang="en-US" sz="1300" b="1" dirty="0">
                <a:solidFill>
                  <a:srgbClr val="7432A8"/>
                </a:solidFill>
                <a:latin typeface="Aptos" pitchFamily="34" charset="0"/>
                <a:ea typeface="Aptos" pitchFamily="34" charset="-122"/>
                <a:cs typeface="Aptos" pitchFamily="34" charset="-120"/>
              </a:rPr>
              <a:t>PARSE</a:t>
            </a:r>
            <a:endParaRPr lang="en-US" sz="1300" dirty="0"/>
          </a:p>
        </p:txBody>
      </p:sp>
      <p:sp>
        <p:nvSpPr>
          <p:cNvPr id="14" name="Text 12"/>
          <p:cNvSpPr/>
          <p:nvPr/>
        </p:nvSpPr>
        <p:spPr>
          <a:xfrm>
            <a:off x="5312664" y="2651760"/>
            <a:ext cx="1463040" cy="201168"/>
          </a:xfrm>
          <a:prstGeom prst="rect">
            <a:avLst/>
          </a:prstGeom>
          <a:noFill/>
          <a:ln/>
        </p:spPr>
        <p:txBody>
          <a:bodyPr wrap="square" lIns="0" tIns="0" rIns="0" bIns="0" rtlCol="0" anchor="ctr">
            <a:normAutofit/>
          </a:bodyPr>
          <a:lstStyle/>
          <a:p>
            <a:pPr algn="ctr" indent="0" marL="0">
              <a:buNone/>
            </a:pPr>
            <a:r>
              <a:rPr lang="en-US" sz="1050" dirty="0">
                <a:solidFill>
                  <a:srgbClr val="6F7082"/>
                </a:solidFill>
                <a:latin typeface="Aptos" pitchFamily="34" charset="0"/>
                <a:ea typeface="Aptos" pitchFamily="34" charset="-122"/>
                <a:cs typeface="Aptos" pitchFamily="34" charset="-120"/>
              </a:rPr>
              <a:t>sélecteurs</a:t>
            </a:r>
            <a:endParaRPr lang="en-US" sz="1050" dirty="0"/>
          </a:p>
        </p:txBody>
      </p:sp>
      <p:sp>
        <p:nvSpPr>
          <p:cNvPr id="15" name="Text 13"/>
          <p:cNvSpPr/>
          <p:nvPr/>
        </p:nvSpPr>
        <p:spPr>
          <a:xfrm>
            <a:off x="7004304" y="2459736"/>
            <a:ext cx="320040" cy="228600"/>
          </a:xfrm>
          <a:prstGeom prst="rect">
            <a:avLst/>
          </a:prstGeom>
          <a:noFill/>
          <a:ln/>
        </p:spPr>
        <p:txBody>
          <a:bodyPr wrap="square" lIns="0" tIns="0" rIns="0" bIns="0" rtlCol="0" anchor="ctr">
            <a:normAutofit/>
          </a:bodyPr>
          <a:lstStyle/>
          <a:p>
            <a:pPr algn="ctr" indent="0" marL="0">
              <a:buNone/>
            </a:pPr>
            <a:r>
              <a:rPr lang="en-US" sz="2000" b="1" dirty="0">
                <a:solidFill>
                  <a:srgbClr val="AAA5B4"/>
                </a:solidFill>
                <a:latin typeface="Aptos" pitchFamily="34" charset="0"/>
                <a:ea typeface="Aptos" pitchFamily="34" charset="-122"/>
                <a:cs typeface="Aptos" pitchFamily="34" charset="-120"/>
              </a:rPr>
              <a:t>→</a:t>
            </a:r>
            <a:endParaRPr lang="en-US" sz="2000" dirty="0"/>
          </a:p>
        </p:txBody>
      </p:sp>
      <p:sp>
        <p:nvSpPr>
          <p:cNvPr id="16" name="Shape 14"/>
          <p:cNvSpPr/>
          <p:nvPr/>
        </p:nvSpPr>
        <p:spPr>
          <a:xfrm>
            <a:off x="7443216" y="2103120"/>
            <a:ext cx="1737360" cy="1051560"/>
          </a:xfrm>
          <a:prstGeom prst="roundRect">
            <a:avLst>
              <a:gd name="adj" fmla="val 5217"/>
            </a:avLst>
          </a:prstGeom>
          <a:solidFill>
            <a:srgbClr val="FFFFFF"/>
          </a:solidFill>
          <a:ln w="16510">
            <a:solidFill>
              <a:srgbClr val="2E899E"/>
            </a:solidFill>
            <a:prstDash val="solid"/>
          </a:ln>
        </p:spPr>
      </p:sp>
      <p:sp>
        <p:nvSpPr>
          <p:cNvPr id="17" name="Text 15"/>
          <p:cNvSpPr/>
          <p:nvPr/>
        </p:nvSpPr>
        <p:spPr>
          <a:xfrm>
            <a:off x="7580376" y="2313432"/>
            <a:ext cx="1463040" cy="228600"/>
          </a:xfrm>
          <a:prstGeom prst="rect">
            <a:avLst/>
          </a:prstGeom>
          <a:noFill/>
          <a:ln/>
        </p:spPr>
        <p:txBody>
          <a:bodyPr wrap="square" lIns="0" tIns="0" rIns="0" bIns="0" rtlCol="0" anchor="ctr">
            <a:normAutofit/>
          </a:bodyPr>
          <a:lstStyle/>
          <a:p>
            <a:pPr algn="ctr" indent="0" marL="0">
              <a:buNone/>
            </a:pPr>
            <a:r>
              <a:rPr lang="en-US" sz="1300" b="1" dirty="0">
                <a:solidFill>
                  <a:srgbClr val="2E899E"/>
                </a:solidFill>
                <a:latin typeface="Aptos" pitchFamily="34" charset="0"/>
                <a:ea typeface="Aptos" pitchFamily="34" charset="-122"/>
                <a:cs typeface="Aptos" pitchFamily="34" charset="-120"/>
              </a:rPr>
              <a:t>CLEAN</a:t>
            </a:r>
            <a:endParaRPr lang="en-US" sz="1300" dirty="0"/>
          </a:p>
        </p:txBody>
      </p:sp>
      <p:sp>
        <p:nvSpPr>
          <p:cNvPr id="18" name="Text 16"/>
          <p:cNvSpPr/>
          <p:nvPr/>
        </p:nvSpPr>
        <p:spPr>
          <a:xfrm>
            <a:off x="7580376" y="2651760"/>
            <a:ext cx="1463040" cy="201168"/>
          </a:xfrm>
          <a:prstGeom prst="rect">
            <a:avLst/>
          </a:prstGeom>
          <a:noFill/>
          <a:ln/>
        </p:spPr>
        <p:txBody>
          <a:bodyPr wrap="square" lIns="0" tIns="0" rIns="0" bIns="0" rtlCol="0" anchor="ctr">
            <a:normAutofit/>
          </a:bodyPr>
          <a:lstStyle/>
          <a:p>
            <a:pPr algn="ctr" indent="0" marL="0">
              <a:buNone/>
            </a:pPr>
            <a:r>
              <a:rPr lang="en-US" sz="1050" dirty="0">
                <a:solidFill>
                  <a:srgbClr val="6F7082"/>
                </a:solidFill>
                <a:latin typeface="Aptos" pitchFamily="34" charset="0"/>
                <a:ea typeface="Aptos" pitchFamily="34" charset="-122"/>
                <a:cs typeface="Aptos" pitchFamily="34" charset="-120"/>
              </a:rPr>
              <a:t>types / format</a:t>
            </a:r>
            <a:endParaRPr lang="en-US" sz="1050" dirty="0"/>
          </a:p>
        </p:txBody>
      </p:sp>
      <p:sp>
        <p:nvSpPr>
          <p:cNvPr id="19" name="Text 17"/>
          <p:cNvSpPr/>
          <p:nvPr/>
        </p:nvSpPr>
        <p:spPr>
          <a:xfrm>
            <a:off x="9272016" y="2459736"/>
            <a:ext cx="320040" cy="228600"/>
          </a:xfrm>
          <a:prstGeom prst="rect">
            <a:avLst/>
          </a:prstGeom>
          <a:noFill/>
          <a:ln/>
        </p:spPr>
        <p:txBody>
          <a:bodyPr wrap="square" lIns="0" tIns="0" rIns="0" bIns="0" rtlCol="0" anchor="ctr">
            <a:normAutofit/>
          </a:bodyPr>
          <a:lstStyle/>
          <a:p>
            <a:pPr algn="ctr" indent="0" marL="0">
              <a:buNone/>
            </a:pPr>
            <a:r>
              <a:rPr lang="en-US" sz="2000" b="1" dirty="0">
                <a:solidFill>
                  <a:srgbClr val="AAA5B4"/>
                </a:solidFill>
                <a:latin typeface="Aptos" pitchFamily="34" charset="0"/>
                <a:ea typeface="Aptos" pitchFamily="34" charset="-122"/>
                <a:cs typeface="Aptos" pitchFamily="34" charset="-120"/>
              </a:rPr>
              <a:t>→</a:t>
            </a:r>
            <a:endParaRPr lang="en-US" sz="2000" dirty="0"/>
          </a:p>
        </p:txBody>
      </p:sp>
      <p:sp>
        <p:nvSpPr>
          <p:cNvPr id="20" name="Shape 18"/>
          <p:cNvSpPr/>
          <p:nvPr/>
        </p:nvSpPr>
        <p:spPr>
          <a:xfrm>
            <a:off x="9710928" y="2103120"/>
            <a:ext cx="1737360" cy="1051560"/>
          </a:xfrm>
          <a:prstGeom prst="roundRect">
            <a:avLst>
              <a:gd name="adj" fmla="val 5217"/>
            </a:avLst>
          </a:prstGeom>
          <a:solidFill>
            <a:srgbClr val="FFFFFF"/>
          </a:solidFill>
          <a:ln w="16510">
            <a:solidFill>
              <a:srgbClr val="4EA27B"/>
            </a:solidFill>
            <a:prstDash val="solid"/>
          </a:ln>
        </p:spPr>
      </p:sp>
      <p:sp>
        <p:nvSpPr>
          <p:cNvPr id="21" name="Text 19"/>
          <p:cNvSpPr/>
          <p:nvPr/>
        </p:nvSpPr>
        <p:spPr>
          <a:xfrm>
            <a:off x="9848088" y="2313432"/>
            <a:ext cx="1463040" cy="228600"/>
          </a:xfrm>
          <a:prstGeom prst="rect">
            <a:avLst/>
          </a:prstGeom>
          <a:noFill/>
          <a:ln/>
        </p:spPr>
        <p:txBody>
          <a:bodyPr wrap="square" lIns="0" tIns="0" rIns="0" bIns="0" rtlCol="0" anchor="ctr">
            <a:normAutofit/>
          </a:bodyPr>
          <a:lstStyle/>
          <a:p>
            <a:pPr algn="ctr" indent="0" marL="0">
              <a:buNone/>
            </a:pPr>
            <a:r>
              <a:rPr lang="en-US" sz="1300" b="1" dirty="0">
                <a:solidFill>
                  <a:srgbClr val="4EA27B"/>
                </a:solidFill>
                <a:latin typeface="Aptos" pitchFamily="34" charset="0"/>
                <a:ea typeface="Aptos" pitchFamily="34" charset="-122"/>
                <a:cs typeface="Aptos" pitchFamily="34" charset="-120"/>
              </a:rPr>
              <a:t>STORE</a:t>
            </a:r>
            <a:endParaRPr lang="en-US" sz="1300" dirty="0"/>
          </a:p>
        </p:txBody>
      </p:sp>
      <p:sp>
        <p:nvSpPr>
          <p:cNvPr id="22" name="Text 20"/>
          <p:cNvSpPr/>
          <p:nvPr/>
        </p:nvSpPr>
        <p:spPr>
          <a:xfrm>
            <a:off x="9848088" y="2651760"/>
            <a:ext cx="1463040" cy="201168"/>
          </a:xfrm>
          <a:prstGeom prst="rect">
            <a:avLst/>
          </a:prstGeom>
          <a:noFill/>
          <a:ln/>
        </p:spPr>
        <p:txBody>
          <a:bodyPr wrap="square" lIns="0" tIns="0" rIns="0" bIns="0" rtlCol="0" anchor="ctr">
            <a:normAutofit/>
          </a:bodyPr>
          <a:lstStyle/>
          <a:p>
            <a:pPr algn="ctr" indent="0" marL="0">
              <a:buNone/>
            </a:pPr>
            <a:r>
              <a:rPr lang="en-US" sz="1050" dirty="0">
                <a:solidFill>
                  <a:srgbClr val="6F7082"/>
                </a:solidFill>
                <a:latin typeface="Aptos" pitchFamily="34" charset="0"/>
                <a:ea typeface="Aptos" pitchFamily="34" charset="-122"/>
                <a:cs typeface="Aptos" pitchFamily="34" charset="-120"/>
              </a:rPr>
              <a:t>SQLite</a:t>
            </a:r>
            <a:endParaRPr lang="en-US" sz="1050" dirty="0"/>
          </a:p>
        </p:txBody>
      </p:sp>
      <p:sp>
        <p:nvSpPr>
          <p:cNvPr id="23" name="Shape 21"/>
          <p:cNvSpPr/>
          <p:nvPr/>
        </p:nvSpPr>
        <p:spPr>
          <a:xfrm>
            <a:off x="1261872" y="3968496"/>
            <a:ext cx="9646920" cy="1078992"/>
          </a:xfrm>
          <a:prstGeom prst="roundRect">
            <a:avLst>
              <a:gd name="adj" fmla="val 5085"/>
            </a:avLst>
          </a:prstGeom>
          <a:solidFill>
            <a:srgbClr val="F0ECF4"/>
          </a:solidFill>
          <a:ln w="12700">
            <a:solidFill>
              <a:srgbClr val="E1D7E8"/>
            </a:solidFill>
            <a:prstDash val="solid"/>
          </a:ln>
        </p:spPr>
      </p:sp>
      <p:sp>
        <p:nvSpPr>
          <p:cNvPr id="24" name="Text 22"/>
          <p:cNvSpPr/>
          <p:nvPr/>
        </p:nvSpPr>
        <p:spPr>
          <a:xfrm>
            <a:off x="1664208" y="4251960"/>
            <a:ext cx="8823960" cy="457200"/>
          </a:xfrm>
          <a:prstGeom prst="rect">
            <a:avLst/>
          </a:prstGeom>
          <a:noFill/>
          <a:ln/>
        </p:spPr>
        <p:txBody>
          <a:bodyPr wrap="square" lIns="0" tIns="0" rIns="0" bIns="0" rtlCol="0" anchor="ctr">
            <a:normAutofit/>
          </a:bodyPr>
          <a:lstStyle/>
          <a:p>
            <a:pPr algn="ctr" indent="0" marL="0">
              <a:buNone/>
            </a:pPr>
            <a:r>
              <a:rPr lang="en-US" sz="1650" b="1" dirty="0">
                <a:solidFill>
                  <a:srgbClr val="241337"/>
                </a:solidFill>
                <a:latin typeface="Aptos" pitchFamily="34" charset="0"/>
                <a:ea typeface="Aptos" pitchFamily="34" charset="-122"/>
                <a:cs typeface="Aptos" pitchFamily="34" charset="-120"/>
              </a:rPr>
              <a:t>Question du jour : comment garder cette logique quand il y a 50 000 URLs, des erreurs réseau, des pages détail et plusieurs formats de sortie ?</a:t>
            </a:r>
            <a:endParaRPr lang="en-US" sz="1650" dirty="0"/>
          </a:p>
        </p:txBody>
      </p:sp>
      <p:sp>
        <p:nvSpPr>
          <p:cNvPr id="25" name="Slide Number Placeholder 0"/>
          <p:cNvSpPr>
            <a:spLocks noGrp="1"/>
          </p:cNvSpPr>
          <p:nvPr>
            <p:ph type="sldNum" sz="quarter" idx="4294967295"/>
          </p:nvPr>
        </p:nvSpPr>
        <p:spPr>
          <a:xfrm>
            <a:off x="11750040" y="274320"/>
            <a:ext cx="228600" cy="164592"/>
          </a:xfrm>
          <a:prstGeom prst="rect">
            <a:avLst/>
          </a:prstGeom>
          <a:extLst>
            <a:ext uri="{C572A759-6A51-4108-AA02-DFA0A04FC94B}">
              <ma14:wrappingTextBoxFlag xmlns:ma14="http://schemas.microsoft.com/office/mac/drawingml/2011/main" val="0"/>
            </a:ext>
          </a:extLst>
        </p:spPr>
        <p:txBody>
          <a:bodyPr/>
          <a:lstStyle>
            <a:lvl1pPr>
              <a:defRPr sz="800">
                <a:solidFill>
                  <a:srgbClr val="858697"/>
                </a:solidFill>
                <a:latin typeface="Aptos"/>
                <a:ea typeface="Aptos"/>
                <a:cs typeface="Aptos"/>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241337"/>
        </a:solidFill>
      </p:bgPr>
    </p:bg>
    <p:spTree>
      <p:nvGrpSpPr>
        <p:cNvPr id="1" name=""/>
        <p:cNvGrpSpPr/>
        <p:nvPr/>
      </p:nvGrpSpPr>
      <p:grpSpPr>
        <a:xfrm>
          <a:off x="0" y="0"/>
          <a:ext cx="0" cy="0"/>
          <a:chOff x="0" y="0"/>
          <a:chExt cx="0" cy="0"/>
        </a:xfrm>
      </p:grpSpPr>
      <p:sp>
        <p:nvSpPr>
          <p:cNvPr id="2" name="Shape 0"/>
          <p:cNvSpPr/>
          <p:nvPr/>
        </p:nvSpPr>
        <p:spPr>
          <a:xfrm>
            <a:off x="0" y="0"/>
            <a:ext cx="201168" cy="6858000"/>
          </a:xfrm>
          <a:prstGeom prst="rect">
            <a:avLst/>
          </a:prstGeom>
          <a:solidFill>
            <a:srgbClr val="7432A8"/>
          </a:solidFill>
          <a:ln w="12700">
            <a:solidFill>
              <a:srgbClr val="7432A8"/>
            </a:solidFill>
            <a:prstDash val="solid"/>
          </a:ln>
        </p:spPr>
      </p:sp>
      <p:sp>
        <p:nvSpPr>
          <p:cNvPr id="3" name="Shape 1"/>
          <p:cNvSpPr/>
          <p:nvPr/>
        </p:nvSpPr>
        <p:spPr>
          <a:xfrm rot="1500000">
            <a:off x="10716768" y="-109728"/>
            <a:ext cx="1097280" cy="1188720"/>
          </a:xfrm>
          <a:prstGeom prst="arc">
            <a:avLst/>
          </a:prstGeom>
          <a:solidFill>
            <a:srgbClr val="7432A8"/>
          </a:solidFill>
          <a:ln w="12700">
            <a:solidFill>
              <a:srgbClr val="7432A8"/>
            </a:solidFill>
            <a:prstDash val="solid"/>
          </a:ln>
        </p:spPr>
      </p:sp>
      <p:sp>
        <p:nvSpPr>
          <p:cNvPr id="4" name="Text 2"/>
          <p:cNvSpPr/>
          <p:nvPr/>
        </p:nvSpPr>
        <p:spPr>
          <a:xfrm>
            <a:off x="658368" y="594360"/>
            <a:ext cx="914400" cy="320040"/>
          </a:xfrm>
          <a:prstGeom prst="rect">
            <a:avLst/>
          </a:prstGeom>
          <a:noFill/>
          <a:ln/>
        </p:spPr>
        <p:txBody>
          <a:bodyPr wrap="square" lIns="0" tIns="0" rIns="0" bIns="0" rtlCol="0" anchor="ctr">
            <a:normAutofit/>
          </a:bodyPr>
          <a:lstStyle/>
          <a:p>
            <a:pPr algn="l" indent="0" marL="0">
              <a:buNone/>
            </a:pPr>
            <a:r>
              <a:rPr lang="en-US" sz="1900" b="1" dirty="0">
                <a:solidFill>
                  <a:srgbClr val="8B49BA"/>
                </a:solidFill>
                <a:latin typeface="Aptos" pitchFamily="34" charset="0"/>
                <a:ea typeface="Aptos" pitchFamily="34" charset="-122"/>
                <a:cs typeface="Aptos" pitchFamily="34" charset="-120"/>
              </a:rPr>
              <a:t>01</a:t>
            </a:r>
            <a:endParaRPr lang="en-US" sz="1900" dirty="0"/>
          </a:p>
        </p:txBody>
      </p:sp>
      <p:sp>
        <p:nvSpPr>
          <p:cNvPr id="5" name="Text 3"/>
          <p:cNvSpPr/>
          <p:nvPr/>
        </p:nvSpPr>
        <p:spPr>
          <a:xfrm>
            <a:off x="658368" y="1234440"/>
            <a:ext cx="8046720" cy="658368"/>
          </a:xfrm>
          <a:prstGeom prst="rect">
            <a:avLst/>
          </a:prstGeom>
          <a:noFill/>
          <a:ln/>
        </p:spPr>
        <p:txBody>
          <a:bodyPr wrap="square" lIns="0" tIns="0" rIns="0" bIns="0" rtlCol="0" anchor="t">
            <a:normAutofit/>
          </a:bodyPr>
          <a:lstStyle/>
          <a:p>
            <a:pPr algn="l" indent="0" marL="0">
              <a:buNone/>
            </a:pPr>
            <a:r>
              <a:rPr lang="en-US" sz="2800" b="1" dirty="0">
                <a:solidFill>
                  <a:srgbClr val="FFFFFF"/>
                </a:solidFill>
                <a:latin typeface="Aptos" pitchFamily="34" charset="0"/>
                <a:ea typeface="Aptos" pitchFamily="34" charset="-122"/>
                <a:cs typeface="Aptos" pitchFamily="34" charset="-120"/>
              </a:rPr>
              <a:t>Industrialiser avec Scrapy</a:t>
            </a:r>
            <a:endParaRPr lang="en-US" sz="2800" dirty="0"/>
          </a:p>
        </p:txBody>
      </p:sp>
      <p:sp>
        <p:nvSpPr>
          <p:cNvPr id="6" name="Text 4"/>
          <p:cNvSpPr/>
          <p:nvPr/>
        </p:nvSpPr>
        <p:spPr>
          <a:xfrm>
            <a:off x="658368" y="2084832"/>
            <a:ext cx="8595360" cy="777240"/>
          </a:xfrm>
          <a:prstGeom prst="rect">
            <a:avLst/>
          </a:prstGeom>
          <a:noFill/>
          <a:ln/>
        </p:spPr>
        <p:txBody>
          <a:bodyPr wrap="square" lIns="0" tIns="0" rIns="0" bIns="0" rtlCol="0" anchor="t">
            <a:normAutofit/>
          </a:bodyPr>
          <a:lstStyle/>
          <a:p>
            <a:pPr algn="l" indent="0" marL="0">
              <a:buNone/>
            </a:pPr>
            <a:r>
              <a:rPr lang="en-US" sz="1520" dirty="0">
                <a:solidFill>
                  <a:srgbClr val="D8CFDF"/>
                </a:solidFill>
                <a:latin typeface="Aptos" pitchFamily="34" charset="0"/>
                <a:ea typeface="Aptos" pitchFamily="34" charset="-122"/>
                <a:cs typeface="Aptos" pitchFamily="34" charset="-120"/>
              </a:rPr>
              <a:t>Passer d’un script ponctuel à un crawler structuré, observable et réutilisable.</a:t>
            </a:r>
            <a:endParaRPr lang="en-US" sz="1520" dirty="0"/>
          </a:p>
        </p:txBody>
      </p:sp>
      <p:sp>
        <p:nvSpPr>
          <p:cNvPr id="7" name="Shape 5"/>
          <p:cNvSpPr/>
          <p:nvPr/>
        </p:nvSpPr>
        <p:spPr>
          <a:xfrm>
            <a:off x="9464040" y="4434840"/>
            <a:ext cx="1965960" cy="1143000"/>
          </a:xfrm>
          <a:prstGeom prst="roundRect">
            <a:avLst>
              <a:gd name="adj" fmla="val 4800"/>
            </a:avLst>
          </a:prstGeom>
          <a:solidFill>
            <a:srgbClr val="2E1B43"/>
          </a:solidFill>
          <a:ln w="12700">
            <a:solidFill>
              <a:srgbClr val="4A2F63"/>
            </a:solidFill>
            <a:prstDash val="solid"/>
          </a:ln>
        </p:spPr>
      </p:sp>
      <p:sp>
        <p:nvSpPr>
          <p:cNvPr id="8" name="Text 6"/>
          <p:cNvSpPr/>
          <p:nvPr/>
        </p:nvSpPr>
        <p:spPr>
          <a:xfrm>
            <a:off x="9802368" y="4626864"/>
            <a:ext cx="1280160" cy="228600"/>
          </a:xfrm>
          <a:prstGeom prst="rect">
            <a:avLst/>
          </a:prstGeom>
          <a:noFill/>
          <a:ln/>
        </p:spPr>
        <p:txBody>
          <a:bodyPr wrap="square" lIns="0" tIns="0" rIns="0" bIns="0" rtlCol="0" anchor="ctr">
            <a:normAutofit/>
          </a:bodyPr>
          <a:lstStyle/>
          <a:p>
            <a:pPr algn="ctr" indent="0" marL="0">
              <a:buNone/>
            </a:pPr>
            <a:r>
              <a:rPr lang="en-US" sz="1050" b="1" dirty="0">
                <a:solidFill>
                  <a:srgbClr val="C7A7DD"/>
                </a:solidFill>
                <a:latin typeface="Aptos" pitchFamily="34" charset="0"/>
                <a:ea typeface="Aptos" pitchFamily="34" charset="-122"/>
                <a:cs typeface="Aptos" pitchFamily="34" charset="-120"/>
              </a:rPr>
              <a:t>À retenir</a:t>
            </a:r>
            <a:endParaRPr lang="en-US" sz="1050" dirty="0"/>
          </a:p>
        </p:txBody>
      </p:sp>
      <p:sp>
        <p:nvSpPr>
          <p:cNvPr id="9" name="Text 7"/>
          <p:cNvSpPr/>
          <p:nvPr/>
        </p:nvSpPr>
        <p:spPr>
          <a:xfrm>
            <a:off x="9646920" y="4956048"/>
            <a:ext cx="1600200" cy="411480"/>
          </a:xfrm>
          <a:prstGeom prst="rect">
            <a:avLst/>
          </a:prstGeom>
          <a:noFill/>
          <a:ln/>
        </p:spPr>
        <p:txBody>
          <a:bodyPr wrap="square" lIns="0" tIns="0" rIns="0" bIns="0" rtlCol="0" anchor="ctr">
            <a:normAutofit/>
          </a:bodyPr>
          <a:lstStyle/>
          <a:p>
            <a:pPr algn="ctr" indent="0" marL="0">
              <a:buNone/>
            </a:pPr>
            <a:r>
              <a:rPr lang="en-US" sz="1200" dirty="0">
                <a:solidFill>
                  <a:srgbClr val="FFFFFF"/>
                </a:solidFill>
                <a:latin typeface="Aptos" pitchFamily="34" charset="0"/>
                <a:ea typeface="Aptos" pitchFamily="34" charset="-122"/>
                <a:cs typeface="Aptos" pitchFamily="34" charset="-120"/>
              </a:rPr>
              <a:t>Spider → Items → Pipeline</a:t>
            </a:r>
            <a:endParaRPr lang="en-US" sz="1200" dirty="0"/>
          </a:p>
        </p:txBody>
      </p:sp>
      <p:sp>
        <p:nvSpPr>
          <p:cNvPr id="10" name="Text 8"/>
          <p:cNvSpPr/>
          <p:nvPr/>
        </p:nvSpPr>
        <p:spPr>
          <a:xfrm>
            <a:off x="658368" y="6190488"/>
            <a:ext cx="914400" cy="201168"/>
          </a:xfrm>
          <a:prstGeom prst="rect">
            <a:avLst/>
          </a:prstGeom>
          <a:noFill/>
          <a:ln/>
        </p:spPr>
        <p:txBody>
          <a:bodyPr wrap="square" lIns="0" tIns="0" rIns="0" bIns="0" rtlCol="0" anchor="ctr">
            <a:normAutofit/>
          </a:bodyPr>
          <a:lstStyle/>
          <a:p>
            <a:pPr algn="l" indent="0" marL="0">
              <a:buNone/>
            </a:pPr>
            <a:r>
              <a:rPr lang="en-US" sz="900" b="1" dirty="0">
                <a:solidFill>
                  <a:srgbClr val="9A87AA"/>
                </a:solidFill>
                <a:latin typeface="Aptos" pitchFamily="34" charset="0"/>
                <a:ea typeface="Aptos" pitchFamily="34" charset="-122"/>
                <a:cs typeface="Aptos" pitchFamily="34" charset="-120"/>
              </a:rPr>
              <a:t>JOUR 2</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66928" y="438912"/>
            <a:ext cx="5029200" cy="228600"/>
          </a:xfrm>
          <a:prstGeom prst="rect">
            <a:avLst/>
          </a:prstGeom>
          <a:noFill/>
          <a:ln/>
        </p:spPr>
        <p:txBody>
          <a:bodyPr wrap="square" lIns="0" tIns="0" rIns="0" bIns="0" rtlCol="0" anchor="ctr">
            <a:normAutofit/>
          </a:bodyPr>
          <a:lstStyle/>
          <a:p>
            <a:pPr algn="l" indent="0" marL="0">
              <a:buNone/>
            </a:pPr>
            <a:r>
              <a:rPr lang="en-US" sz="1050" b="1" spc="150" kern="0" dirty="0">
                <a:solidFill>
                  <a:srgbClr val="7432A8"/>
                </a:solidFill>
                <a:latin typeface="Aptos" pitchFamily="34" charset="0"/>
                <a:ea typeface="Aptos" pitchFamily="34" charset="-122"/>
                <a:cs typeface="Aptos" pitchFamily="34" charset="-120"/>
              </a:rPr>
              <a:t>POURQUOI UN FRAMEWORK ?</a:t>
            </a:r>
            <a:endParaRPr lang="en-US" sz="1050" dirty="0"/>
          </a:p>
        </p:txBody>
      </p:sp>
      <p:sp>
        <p:nvSpPr>
          <p:cNvPr id="3" name="Text 1"/>
          <p:cNvSpPr/>
          <p:nvPr/>
        </p:nvSpPr>
        <p:spPr>
          <a:xfrm>
            <a:off x="566928" y="768096"/>
            <a:ext cx="10972800" cy="566928"/>
          </a:xfrm>
          <a:prstGeom prst="rect">
            <a:avLst/>
          </a:prstGeom>
          <a:noFill/>
          <a:ln/>
        </p:spPr>
        <p:txBody>
          <a:bodyPr wrap="square" lIns="0" tIns="0" rIns="0" bIns="0" rtlCol="0" anchor="t">
            <a:normAutofit/>
          </a:bodyPr>
          <a:lstStyle/>
          <a:p>
            <a:pPr algn="l" indent="0" marL="0">
              <a:buNone/>
            </a:pPr>
            <a:r>
              <a:rPr lang="en-US" sz="2800" b="1" dirty="0">
                <a:solidFill>
                  <a:srgbClr val="241337"/>
                </a:solidFill>
                <a:latin typeface="Aptos" pitchFamily="34" charset="0"/>
                <a:ea typeface="Aptos" pitchFamily="34" charset="-122"/>
                <a:cs typeface="Aptos" pitchFamily="34" charset="-120"/>
              </a:rPr>
              <a:t>BeautifulSoup extrait. Scrapy orchestre.</a:t>
            </a:r>
            <a:endParaRPr lang="en-US" sz="2800" dirty="0"/>
          </a:p>
        </p:txBody>
      </p:sp>
      <p:sp>
        <p:nvSpPr>
          <p:cNvPr id="4" name="Shape 2"/>
          <p:cNvSpPr/>
          <p:nvPr/>
        </p:nvSpPr>
        <p:spPr>
          <a:xfrm>
            <a:off x="640080" y="1691640"/>
            <a:ext cx="5394960" cy="3429000"/>
          </a:xfrm>
          <a:prstGeom prst="roundRect">
            <a:avLst>
              <a:gd name="adj" fmla="val 1600"/>
            </a:avLst>
          </a:prstGeom>
          <a:solidFill>
            <a:srgbClr val="FFFFFF"/>
          </a:solidFill>
          <a:ln w="12700">
            <a:solidFill>
              <a:srgbClr val="DDDCE6"/>
            </a:solidFill>
            <a:prstDash val="solid"/>
          </a:ln>
          <a:effectLst>
            <a:outerShdw sx="100000" sy="100000" kx="0" ky="0" algn="bl" rotWithShape="0" blurRad="19050" dist="50800" dir="2700000">
              <a:srgbClr val="D6D3DF">
                <a:alpha val="18000"/>
              </a:srgbClr>
            </a:outerShdw>
          </a:effectLst>
        </p:spPr>
      </p:sp>
      <p:sp>
        <p:nvSpPr>
          <p:cNvPr id="5" name="Shape 3"/>
          <p:cNvSpPr/>
          <p:nvPr/>
        </p:nvSpPr>
        <p:spPr>
          <a:xfrm>
            <a:off x="640080" y="1691640"/>
            <a:ext cx="73152" cy="3429000"/>
          </a:xfrm>
          <a:prstGeom prst="rect">
            <a:avLst/>
          </a:prstGeom>
          <a:solidFill>
            <a:srgbClr val="4F7FC4"/>
          </a:solidFill>
          <a:ln w="12700">
            <a:solidFill>
              <a:srgbClr val="4F7FC4"/>
            </a:solidFill>
            <a:prstDash val="solid"/>
          </a:ln>
        </p:spPr>
      </p:sp>
      <p:sp>
        <p:nvSpPr>
          <p:cNvPr id="6" name="Text 4"/>
          <p:cNvSpPr/>
          <p:nvPr/>
        </p:nvSpPr>
        <p:spPr>
          <a:xfrm>
            <a:off x="960120" y="1911096"/>
            <a:ext cx="4892040" cy="347472"/>
          </a:xfrm>
          <a:prstGeom prst="rect">
            <a:avLst/>
          </a:prstGeom>
          <a:noFill/>
          <a:ln/>
        </p:spPr>
        <p:txBody>
          <a:bodyPr wrap="square" lIns="0" tIns="0" rIns="0" bIns="0" rtlCol="0" anchor="t">
            <a:normAutofit/>
          </a:bodyPr>
          <a:lstStyle/>
          <a:p>
            <a:pPr algn="l" indent="0" marL="0">
              <a:buNone/>
            </a:pPr>
            <a:r>
              <a:rPr lang="en-US" sz="1630" b="1" dirty="0">
                <a:solidFill>
                  <a:srgbClr val="241337"/>
                </a:solidFill>
                <a:latin typeface="Aptos" pitchFamily="34" charset="0"/>
                <a:ea typeface="Aptos" pitchFamily="34" charset="-122"/>
                <a:cs typeface="Aptos" pitchFamily="34" charset="-120"/>
              </a:rPr>
              <a:t>Script Requests + BeautifulSoup</a:t>
            </a:r>
            <a:endParaRPr lang="en-US" sz="1630" dirty="0"/>
          </a:p>
        </p:txBody>
      </p:sp>
      <p:sp>
        <p:nvSpPr>
          <p:cNvPr id="7" name="Text 5"/>
          <p:cNvSpPr/>
          <p:nvPr/>
        </p:nvSpPr>
        <p:spPr>
          <a:xfrm>
            <a:off x="932688" y="2386584"/>
            <a:ext cx="4892040" cy="2560320"/>
          </a:xfrm>
          <a:prstGeom prst="rect">
            <a:avLst/>
          </a:prstGeom>
          <a:noFill/>
          <a:ln/>
        </p:spPr>
        <p:txBody>
          <a:bodyPr wrap="square" lIns="0" tIns="0" rIns="0" bIns="0" rtlCol="0" anchor="t">
            <a:normAutofit/>
          </a:bodyPr>
          <a:lstStyle/>
          <a:p>
            <a:pPr algn="l" indent="0" marL="0">
              <a:buNone/>
            </a:pPr>
            <a:r>
              <a:rPr lang="en-US" sz="1230" dirty="0">
                <a:solidFill>
                  <a:srgbClr val="6F7082"/>
                </a:solidFill>
                <a:latin typeface="Aptos" pitchFamily="34" charset="0"/>
                <a:ea typeface="Aptos" pitchFamily="34" charset="-122"/>
                <a:cs typeface="Aptos" pitchFamily="34" charset="-120"/>
              </a:rPr>
              <a:t>Très lisible pour quelques pages.</a:t>
            </a:r>
            <a:endParaRPr lang="en-US" sz="1230" dirty="0"/>
          </a:p>
          <a:p>
            <a:pPr algn="l" indent="0" marL="0">
              <a:buNone/>
            </a:pPr>
            <a:endParaRPr lang="en-US" sz="1230" dirty="0"/>
          </a:p>
          <a:p>
            <a:pPr algn="l" indent="0" marL="0">
              <a:buNone/>
            </a:pPr>
            <a:r>
              <a:rPr lang="en-US" sz="1230" dirty="0">
                <a:solidFill>
                  <a:srgbClr val="6F7082"/>
                </a:solidFill>
                <a:latin typeface="Aptos" pitchFamily="34" charset="0"/>
                <a:ea typeface="Aptos" pitchFamily="34" charset="-122"/>
                <a:cs typeface="Aptos" pitchFamily="34" charset="-120"/>
              </a:rPr>
              <a:t>À gérer soi-même :</a:t>
            </a:r>
            <a:endParaRPr lang="en-US" sz="1230" dirty="0"/>
          </a:p>
          <a:p>
            <a:pPr algn="l" indent="0" marL="0">
              <a:buNone/>
            </a:pPr>
            <a:r>
              <a:rPr lang="en-US" sz="1230" dirty="0">
                <a:solidFill>
                  <a:srgbClr val="6F7082"/>
                </a:solidFill>
                <a:latin typeface="Aptos" pitchFamily="34" charset="0"/>
                <a:ea typeface="Aptos" pitchFamily="34" charset="-122"/>
                <a:cs typeface="Aptos" pitchFamily="34" charset="-120"/>
              </a:rPr>
              <a:t>• files d’URLs</a:t>
            </a:r>
            <a:endParaRPr lang="en-US" sz="1230" dirty="0"/>
          </a:p>
          <a:p>
            <a:pPr algn="l" indent="0" marL="0">
              <a:buNone/>
            </a:pPr>
            <a:r>
              <a:rPr lang="en-US" sz="1230" dirty="0">
                <a:solidFill>
                  <a:srgbClr val="6F7082"/>
                </a:solidFill>
                <a:latin typeface="Aptos" pitchFamily="34" charset="0"/>
                <a:ea typeface="Aptos" pitchFamily="34" charset="-122"/>
                <a:cs typeface="Aptos" pitchFamily="34" charset="-120"/>
              </a:rPr>
              <a:t>• retries et timeouts</a:t>
            </a:r>
            <a:endParaRPr lang="en-US" sz="1230" dirty="0"/>
          </a:p>
          <a:p>
            <a:pPr algn="l" indent="0" marL="0">
              <a:buNone/>
            </a:pPr>
            <a:r>
              <a:rPr lang="en-US" sz="1230" dirty="0">
                <a:solidFill>
                  <a:srgbClr val="6F7082"/>
                </a:solidFill>
                <a:latin typeface="Aptos" pitchFamily="34" charset="0"/>
                <a:ea typeface="Aptos" pitchFamily="34" charset="-122"/>
                <a:cs typeface="Aptos" pitchFamily="34" charset="-120"/>
              </a:rPr>
              <a:t>• logs / stats</a:t>
            </a:r>
            <a:endParaRPr lang="en-US" sz="1230" dirty="0"/>
          </a:p>
          <a:p>
            <a:pPr algn="l" indent="0" marL="0">
              <a:buNone/>
            </a:pPr>
            <a:r>
              <a:rPr lang="en-US" sz="1230" dirty="0">
                <a:solidFill>
                  <a:srgbClr val="6F7082"/>
                </a:solidFill>
                <a:latin typeface="Aptos" pitchFamily="34" charset="0"/>
                <a:ea typeface="Aptos" pitchFamily="34" charset="-122"/>
                <a:cs typeface="Aptos" pitchFamily="34" charset="-120"/>
              </a:rPr>
              <a:t>• déduplication des requêtes</a:t>
            </a:r>
            <a:endParaRPr lang="en-US" sz="1230" dirty="0"/>
          </a:p>
          <a:p>
            <a:pPr algn="l" indent="0" marL="0">
              <a:buNone/>
            </a:pPr>
            <a:r>
              <a:rPr lang="en-US" sz="1230" dirty="0">
                <a:solidFill>
                  <a:srgbClr val="6F7082"/>
                </a:solidFill>
                <a:latin typeface="Aptos" pitchFamily="34" charset="0"/>
                <a:ea typeface="Aptos" pitchFamily="34" charset="-122"/>
                <a:cs typeface="Aptos" pitchFamily="34" charset="-120"/>
              </a:rPr>
              <a:t>• concurrence</a:t>
            </a:r>
            <a:endParaRPr lang="en-US" sz="1230" dirty="0"/>
          </a:p>
          <a:p>
            <a:pPr algn="l" indent="0" marL="0">
              <a:buNone/>
            </a:pPr>
            <a:r>
              <a:rPr lang="en-US" sz="1230" dirty="0">
                <a:solidFill>
                  <a:srgbClr val="6F7082"/>
                </a:solidFill>
                <a:latin typeface="Aptos" pitchFamily="34" charset="0"/>
                <a:ea typeface="Aptos" pitchFamily="34" charset="-122"/>
                <a:cs typeface="Aptos" pitchFamily="34" charset="-120"/>
              </a:rPr>
              <a:t>• export / pipeline</a:t>
            </a:r>
            <a:endParaRPr lang="en-US" sz="1230" dirty="0"/>
          </a:p>
        </p:txBody>
      </p:sp>
      <p:sp>
        <p:nvSpPr>
          <p:cNvPr id="8" name="Shape 6"/>
          <p:cNvSpPr/>
          <p:nvPr/>
        </p:nvSpPr>
        <p:spPr>
          <a:xfrm>
            <a:off x="6172200" y="1691640"/>
            <a:ext cx="5394960" cy="3429000"/>
          </a:xfrm>
          <a:prstGeom prst="roundRect">
            <a:avLst>
              <a:gd name="adj" fmla="val 1600"/>
            </a:avLst>
          </a:prstGeom>
          <a:solidFill>
            <a:srgbClr val="FFFFFF"/>
          </a:solidFill>
          <a:ln w="12700">
            <a:solidFill>
              <a:srgbClr val="DDDCE6"/>
            </a:solidFill>
            <a:prstDash val="solid"/>
          </a:ln>
          <a:effectLst>
            <a:outerShdw sx="100000" sy="100000" kx="0" ky="0" algn="bl" rotWithShape="0" blurRad="19050" dist="50800" dir="2700000">
              <a:srgbClr val="D6D3DF">
                <a:alpha val="18000"/>
              </a:srgbClr>
            </a:outerShdw>
          </a:effectLst>
        </p:spPr>
      </p:sp>
      <p:sp>
        <p:nvSpPr>
          <p:cNvPr id="9" name="Shape 7"/>
          <p:cNvSpPr/>
          <p:nvPr/>
        </p:nvSpPr>
        <p:spPr>
          <a:xfrm>
            <a:off x="6172200" y="1691640"/>
            <a:ext cx="73152" cy="3429000"/>
          </a:xfrm>
          <a:prstGeom prst="rect">
            <a:avLst/>
          </a:prstGeom>
          <a:solidFill>
            <a:srgbClr val="7432A8"/>
          </a:solidFill>
          <a:ln w="12700">
            <a:solidFill>
              <a:srgbClr val="7432A8"/>
            </a:solidFill>
            <a:prstDash val="solid"/>
          </a:ln>
        </p:spPr>
      </p:sp>
      <p:sp>
        <p:nvSpPr>
          <p:cNvPr id="10" name="Text 8"/>
          <p:cNvSpPr/>
          <p:nvPr/>
        </p:nvSpPr>
        <p:spPr>
          <a:xfrm>
            <a:off x="6492240" y="1911096"/>
            <a:ext cx="4892040" cy="347472"/>
          </a:xfrm>
          <a:prstGeom prst="rect">
            <a:avLst/>
          </a:prstGeom>
          <a:noFill/>
          <a:ln/>
        </p:spPr>
        <p:txBody>
          <a:bodyPr wrap="square" lIns="0" tIns="0" rIns="0" bIns="0" rtlCol="0" anchor="t">
            <a:normAutofit/>
          </a:bodyPr>
          <a:lstStyle/>
          <a:p>
            <a:pPr algn="l" indent="0" marL="0">
              <a:buNone/>
            </a:pPr>
            <a:r>
              <a:rPr lang="en-US" sz="1630" b="1" dirty="0">
                <a:solidFill>
                  <a:srgbClr val="241337"/>
                </a:solidFill>
                <a:latin typeface="Aptos" pitchFamily="34" charset="0"/>
                <a:ea typeface="Aptos" pitchFamily="34" charset="-122"/>
                <a:cs typeface="Aptos" pitchFamily="34" charset="-120"/>
              </a:rPr>
              <a:t>Projet Scrapy</a:t>
            </a:r>
            <a:endParaRPr lang="en-US" sz="1630" dirty="0"/>
          </a:p>
        </p:txBody>
      </p:sp>
      <p:sp>
        <p:nvSpPr>
          <p:cNvPr id="11" name="Text 9"/>
          <p:cNvSpPr/>
          <p:nvPr/>
        </p:nvSpPr>
        <p:spPr>
          <a:xfrm>
            <a:off x="6464808" y="2386584"/>
            <a:ext cx="4892040" cy="2560320"/>
          </a:xfrm>
          <a:prstGeom prst="rect">
            <a:avLst/>
          </a:prstGeom>
          <a:noFill/>
          <a:ln/>
        </p:spPr>
        <p:txBody>
          <a:bodyPr wrap="square" lIns="0" tIns="0" rIns="0" bIns="0" rtlCol="0" anchor="t">
            <a:normAutofit/>
          </a:bodyPr>
          <a:lstStyle/>
          <a:p>
            <a:pPr algn="l" indent="0" marL="0">
              <a:buNone/>
            </a:pPr>
            <a:r>
              <a:rPr lang="en-US" sz="1230" dirty="0">
                <a:solidFill>
                  <a:srgbClr val="6F7082"/>
                </a:solidFill>
                <a:latin typeface="Aptos" pitchFamily="34" charset="0"/>
                <a:ea typeface="Aptos" pitchFamily="34" charset="-122"/>
                <a:cs typeface="Aptos" pitchFamily="34" charset="-120"/>
              </a:rPr>
              <a:t>Le framework organise le crawl.</a:t>
            </a:r>
            <a:endParaRPr lang="en-US" sz="1230" dirty="0"/>
          </a:p>
          <a:p>
            <a:pPr algn="l" indent="0" marL="0">
              <a:buNone/>
            </a:pPr>
            <a:endParaRPr lang="en-US" sz="1230" dirty="0"/>
          </a:p>
          <a:p>
            <a:pPr algn="l" indent="0" marL="0">
              <a:buNone/>
            </a:pPr>
            <a:r>
              <a:rPr lang="en-US" sz="1230" dirty="0">
                <a:solidFill>
                  <a:srgbClr val="6F7082"/>
                </a:solidFill>
                <a:latin typeface="Aptos" pitchFamily="34" charset="0"/>
                <a:ea typeface="Aptos" pitchFamily="34" charset="-122"/>
                <a:cs typeface="Aptos" pitchFamily="34" charset="-120"/>
              </a:rPr>
              <a:t>Il fournit notamment :</a:t>
            </a:r>
            <a:endParaRPr lang="en-US" sz="1230" dirty="0"/>
          </a:p>
          <a:p>
            <a:pPr algn="l" indent="0" marL="0">
              <a:buNone/>
            </a:pPr>
            <a:r>
              <a:rPr lang="en-US" sz="1230" dirty="0">
                <a:solidFill>
                  <a:srgbClr val="6F7082"/>
                </a:solidFill>
                <a:latin typeface="Aptos" pitchFamily="34" charset="0"/>
                <a:ea typeface="Aptos" pitchFamily="34" charset="-122"/>
                <a:cs typeface="Aptos" pitchFamily="34" charset="-120"/>
              </a:rPr>
              <a:t>• Spider + Request / Response</a:t>
            </a:r>
            <a:endParaRPr lang="en-US" sz="1230" dirty="0"/>
          </a:p>
          <a:p>
            <a:pPr algn="l" indent="0" marL="0">
              <a:buNone/>
            </a:pPr>
            <a:r>
              <a:rPr lang="en-US" sz="1230" dirty="0">
                <a:solidFill>
                  <a:srgbClr val="6F7082"/>
                </a:solidFill>
                <a:latin typeface="Aptos" pitchFamily="34" charset="0"/>
                <a:ea typeface="Aptos" pitchFamily="34" charset="-122"/>
                <a:cs typeface="Aptos" pitchFamily="34" charset="-120"/>
              </a:rPr>
              <a:t>• moteur de planification</a:t>
            </a:r>
            <a:endParaRPr lang="en-US" sz="1230" dirty="0"/>
          </a:p>
          <a:p>
            <a:pPr algn="l" indent="0" marL="0">
              <a:buNone/>
            </a:pPr>
            <a:r>
              <a:rPr lang="en-US" sz="1230" dirty="0">
                <a:solidFill>
                  <a:srgbClr val="6F7082"/>
                </a:solidFill>
                <a:latin typeface="Aptos" pitchFamily="34" charset="0"/>
                <a:ea typeface="Aptos" pitchFamily="34" charset="-122"/>
                <a:cs typeface="Aptos" pitchFamily="34" charset="-120"/>
              </a:rPr>
              <a:t>• sélecteurs CSS / XPath</a:t>
            </a:r>
            <a:endParaRPr lang="en-US" sz="1230" dirty="0"/>
          </a:p>
          <a:p>
            <a:pPr algn="l" indent="0" marL="0">
              <a:buNone/>
            </a:pPr>
            <a:r>
              <a:rPr lang="en-US" sz="1230" dirty="0">
                <a:solidFill>
                  <a:srgbClr val="6F7082"/>
                </a:solidFill>
                <a:latin typeface="Aptos" pitchFamily="34" charset="0"/>
                <a:ea typeface="Aptos" pitchFamily="34" charset="-122"/>
                <a:cs typeface="Aptos" pitchFamily="34" charset="-120"/>
              </a:rPr>
              <a:t>• pipelines d’items</a:t>
            </a:r>
            <a:endParaRPr lang="en-US" sz="1230" dirty="0"/>
          </a:p>
          <a:p>
            <a:pPr algn="l" indent="0" marL="0">
              <a:buNone/>
            </a:pPr>
            <a:r>
              <a:rPr lang="en-US" sz="1230" dirty="0">
                <a:solidFill>
                  <a:srgbClr val="6F7082"/>
                </a:solidFill>
                <a:latin typeface="Aptos" pitchFamily="34" charset="0"/>
                <a:ea typeface="Aptos" pitchFamily="34" charset="-122"/>
                <a:cs typeface="Aptos" pitchFamily="34" charset="-120"/>
              </a:rPr>
              <a:t>• feed exports</a:t>
            </a:r>
            <a:endParaRPr lang="en-US" sz="1230" dirty="0"/>
          </a:p>
          <a:p>
            <a:pPr algn="l" indent="0" marL="0">
              <a:buNone/>
            </a:pPr>
            <a:r>
              <a:rPr lang="en-US" sz="1230" dirty="0">
                <a:solidFill>
                  <a:srgbClr val="6F7082"/>
                </a:solidFill>
                <a:latin typeface="Aptos" pitchFamily="34" charset="0"/>
                <a:ea typeface="Aptos" pitchFamily="34" charset="-122"/>
                <a:cs typeface="Aptos" pitchFamily="34" charset="-120"/>
              </a:rPr>
              <a:t>• settings, logs et middlewares</a:t>
            </a:r>
            <a:endParaRPr lang="en-US" sz="1230" dirty="0"/>
          </a:p>
        </p:txBody>
      </p:sp>
      <p:sp>
        <p:nvSpPr>
          <p:cNvPr id="12" name="Text 10"/>
          <p:cNvSpPr/>
          <p:nvPr/>
        </p:nvSpPr>
        <p:spPr>
          <a:xfrm>
            <a:off x="1280160" y="5513832"/>
            <a:ext cx="9601200" cy="274320"/>
          </a:xfrm>
          <a:prstGeom prst="rect">
            <a:avLst/>
          </a:prstGeom>
          <a:noFill/>
          <a:ln/>
        </p:spPr>
        <p:txBody>
          <a:bodyPr wrap="square" lIns="0" tIns="0" rIns="0" bIns="0" rtlCol="0" anchor="ctr">
            <a:normAutofit/>
          </a:bodyPr>
          <a:lstStyle/>
          <a:p>
            <a:pPr algn="ctr" indent="0" marL="0">
              <a:buNone/>
            </a:pPr>
            <a:r>
              <a:rPr lang="en-US" sz="1600" b="1" dirty="0">
                <a:solidFill>
                  <a:srgbClr val="241337"/>
                </a:solidFill>
                <a:latin typeface="Aptos" pitchFamily="34" charset="0"/>
                <a:ea typeface="Aptos" pitchFamily="34" charset="-122"/>
                <a:cs typeface="Aptos" pitchFamily="34" charset="-120"/>
              </a:rPr>
              <a:t>La logique métier reste la même : trouver la bonne donnée, la transformer, la livrer.</a:t>
            </a:r>
            <a:endParaRPr lang="en-US" sz="1600" dirty="0"/>
          </a:p>
        </p:txBody>
      </p:sp>
      <p:sp>
        <p:nvSpPr>
          <p:cNvPr id="25" name="Slide Number Placeholder 0"/>
          <p:cNvSpPr>
            <a:spLocks noGrp="1"/>
          </p:cNvSpPr>
          <p:nvPr>
            <p:ph type="sldNum" sz="quarter" idx="4294967295"/>
          </p:nvPr>
        </p:nvSpPr>
        <p:spPr>
          <a:xfrm>
            <a:off x="11750040" y="274320"/>
            <a:ext cx="228600" cy="164592"/>
          </a:xfrm>
          <a:prstGeom prst="rect">
            <a:avLst/>
          </a:prstGeom>
          <a:extLst>
            <a:ext uri="{C572A759-6A51-4108-AA02-DFA0A04FC94B}">
              <ma14:wrappingTextBoxFlag xmlns:ma14="http://schemas.microsoft.com/office/mac/drawingml/2011/main" val="0"/>
            </a:ext>
          </a:extLst>
        </p:spPr>
        <p:txBody>
          <a:bodyPr/>
          <a:lstStyle>
            <a:lvl1pPr>
              <a:defRPr sz="800">
                <a:solidFill>
                  <a:srgbClr val="858697"/>
                </a:solidFill>
                <a:latin typeface="Aptos"/>
                <a:ea typeface="Aptos"/>
                <a:cs typeface="Aptos"/>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66928" y="438912"/>
            <a:ext cx="5029200" cy="228600"/>
          </a:xfrm>
          <a:prstGeom prst="rect">
            <a:avLst/>
          </a:prstGeom>
          <a:noFill/>
          <a:ln/>
        </p:spPr>
        <p:txBody>
          <a:bodyPr wrap="square" lIns="0" tIns="0" rIns="0" bIns="0" rtlCol="0" anchor="ctr">
            <a:normAutofit/>
          </a:bodyPr>
          <a:lstStyle/>
          <a:p>
            <a:pPr algn="l" indent="0" marL="0">
              <a:buNone/>
            </a:pPr>
            <a:r>
              <a:rPr lang="en-US" sz="1050" b="1" spc="150" kern="0" dirty="0">
                <a:solidFill>
                  <a:srgbClr val="7432A8"/>
                </a:solidFill>
                <a:latin typeface="Aptos" pitchFamily="34" charset="0"/>
                <a:ea typeface="Aptos" pitchFamily="34" charset="-122"/>
                <a:cs typeface="Aptos" pitchFamily="34" charset="-120"/>
              </a:rPr>
              <a:t>ARCHITECTURE</a:t>
            </a:r>
            <a:endParaRPr lang="en-US" sz="1050" dirty="0"/>
          </a:p>
        </p:txBody>
      </p:sp>
      <p:sp>
        <p:nvSpPr>
          <p:cNvPr id="3" name="Text 1"/>
          <p:cNvSpPr/>
          <p:nvPr/>
        </p:nvSpPr>
        <p:spPr>
          <a:xfrm>
            <a:off x="566928" y="768096"/>
            <a:ext cx="10972800" cy="566928"/>
          </a:xfrm>
          <a:prstGeom prst="rect">
            <a:avLst/>
          </a:prstGeom>
          <a:noFill/>
          <a:ln/>
        </p:spPr>
        <p:txBody>
          <a:bodyPr wrap="square" lIns="0" tIns="0" rIns="0" bIns="0" rtlCol="0" anchor="t">
            <a:normAutofit/>
          </a:bodyPr>
          <a:lstStyle/>
          <a:p>
            <a:pPr algn="l" indent="0" marL="0">
              <a:buNone/>
            </a:pPr>
            <a:r>
              <a:rPr lang="en-US" sz="2800" b="1" dirty="0">
                <a:solidFill>
                  <a:srgbClr val="241337"/>
                </a:solidFill>
                <a:latin typeface="Aptos" pitchFamily="34" charset="0"/>
                <a:ea typeface="Aptos" pitchFamily="34" charset="-122"/>
                <a:cs typeface="Aptos" pitchFamily="34" charset="-120"/>
              </a:rPr>
              <a:t>Le modèle mental Scrapy</a:t>
            </a:r>
            <a:endParaRPr lang="en-US" sz="2800" dirty="0"/>
          </a:p>
        </p:txBody>
      </p:sp>
      <p:sp>
        <p:nvSpPr>
          <p:cNvPr id="4" name="Shape 2"/>
          <p:cNvSpPr/>
          <p:nvPr/>
        </p:nvSpPr>
        <p:spPr>
          <a:xfrm>
            <a:off x="731520" y="2240280"/>
            <a:ext cx="1600200" cy="777240"/>
          </a:xfrm>
          <a:prstGeom prst="roundRect">
            <a:avLst>
              <a:gd name="adj" fmla="val 5882"/>
            </a:avLst>
          </a:prstGeom>
          <a:solidFill>
            <a:srgbClr val="FFFFFF"/>
          </a:solidFill>
          <a:ln w="17780">
            <a:solidFill>
              <a:srgbClr val="7432A8"/>
            </a:solidFill>
            <a:prstDash val="solid"/>
          </a:ln>
        </p:spPr>
      </p:sp>
      <p:sp>
        <p:nvSpPr>
          <p:cNvPr id="5" name="Text 3"/>
          <p:cNvSpPr/>
          <p:nvPr/>
        </p:nvSpPr>
        <p:spPr>
          <a:xfrm>
            <a:off x="868680" y="2386584"/>
            <a:ext cx="1325880" cy="201168"/>
          </a:xfrm>
          <a:prstGeom prst="rect">
            <a:avLst/>
          </a:prstGeom>
          <a:noFill/>
          <a:ln/>
        </p:spPr>
        <p:txBody>
          <a:bodyPr wrap="square" lIns="0" tIns="0" rIns="0" bIns="0" rtlCol="0" anchor="ctr">
            <a:normAutofit/>
          </a:bodyPr>
          <a:lstStyle/>
          <a:p>
            <a:pPr algn="ctr" indent="0" marL="0">
              <a:buNone/>
            </a:pPr>
            <a:r>
              <a:rPr lang="en-US" sz="1250" b="1" dirty="0">
                <a:solidFill>
                  <a:srgbClr val="7432A8"/>
                </a:solidFill>
                <a:latin typeface="Aptos" pitchFamily="34" charset="0"/>
                <a:ea typeface="Aptos" pitchFamily="34" charset="-122"/>
                <a:cs typeface="Aptos" pitchFamily="34" charset="-120"/>
              </a:rPr>
              <a:t>SPIDER</a:t>
            </a:r>
            <a:endParaRPr lang="en-US" sz="1250" dirty="0"/>
          </a:p>
        </p:txBody>
      </p:sp>
      <p:sp>
        <p:nvSpPr>
          <p:cNvPr id="6" name="Text 4"/>
          <p:cNvSpPr/>
          <p:nvPr/>
        </p:nvSpPr>
        <p:spPr>
          <a:xfrm>
            <a:off x="868680" y="2679192"/>
            <a:ext cx="1325880" cy="164592"/>
          </a:xfrm>
          <a:prstGeom prst="rect">
            <a:avLst/>
          </a:prstGeom>
          <a:noFill/>
          <a:ln/>
        </p:spPr>
        <p:txBody>
          <a:bodyPr wrap="square" lIns="0" tIns="0" rIns="0" bIns="0" rtlCol="0" anchor="ctr">
            <a:normAutofit/>
          </a:bodyPr>
          <a:lstStyle/>
          <a:p>
            <a:pPr algn="ctr" indent="0" marL="0">
              <a:buNone/>
            </a:pPr>
            <a:r>
              <a:rPr lang="en-US" sz="950" dirty="0">
                <a:solidFill>
                  <a:srgbClr val="6F7082"/>
                </a:solidFill>
                <a:latin typeface="Aptos" pitchFamily="34" charset="0"/>
                <a:ea typeface="Aptos" pitchFamily="34" charset="-122"/>
                <a:cs typeface="Aptos" pitchFamily="34" charset="-120"/>
              </a:rPr>
              <a:t>logique métier</a:t>
            </a:r>
            <a:endParaRPr lang="en-US" sz="950" dirty="0"/>
          </a:p>
        </p:txBody>
      </p:sp>
      <p:sp>
        <p:nvSpPr>
          <p:cNvPr id="7" name="Shape 5"/>
          <p:cNvSpPr/>
          <p:nvPr/>
        </p:nvSpPr>
        <p:spPr>
          <a:xfrm>
            <a:off x="2743200" y="1508760"/>
            <a:ext cx="1600200" cy="777240"/>
          </a:xfrm>
          <a:prstGeom prst="roundRect">
            <a:avLst>
              <a:gd name="adj" fmla="val 5882"/>
            </a:avLst>
          </a:prstGeom>
          <a:solidFill>
            <a:srgbClr val="FFFFFF"/>
          </a:solidFill>
          <a:ln w="17780">
            <a:solidFill>
              <a:srgbClr val="4F7FC4"/>
            </a:solidFill>
            <a:prstDash val="solid"/>
          </a:ln>
        </p:spPr>
      </p:sp>
      <p:sp>
        <p:nvSpPr>
          <p:cNvPr id="8" name="Text 6"/>
          <p:cNvSpPr/>
          <p:nvPr/>
        </p:nvSpPr>
        <p:spPr>
          <a:xfrm>
            <a:off x="2880360" y="1655064"/>
            <a:ext cx="1325880" cy="201168"/>
          </a:xfrm>
          <a:prstGeom prst="rect">
            <a:avLst/>
          </a:prstGeom>
          <a:noFill/>
          <a:ln/>
        </p:spPr>
        <p:txBody>
          <a:bodyPr wrap="square" lIns="0" tIns="0" rIns="0" bIns="0" rtlCol="0" anchor="ctr">
            <a:normAutofit/>
          </a:bodyPr>
          <a:lstStyle/>
          <a:p>
            <a:pPr algn="ctr" indent="0" marL="0">
              <a:buNone/>
            </a:pPr>
            <a:r>
              <a:rPr lang="en-US" sz="1250" b="1" dirty="0">
                <a:solidFill>
                  <a:srgbClr val="4F7FC4"/>
                </a:solidFill>
                <a:latin typeface="Aptos" pitchFamily="34" charset="0"/>
                <a:ea typeface="Aptos" pitchFamily="34" charset="-122"/>
                <a:cs typeface="Aptos" pitchFamily="34" charset="-120"/>
              </a:rPr>
              <a:t>ENGINE</a:t>
            </a:r>
            <a:endParaRPr lang="en-US" sz="1250" dirty="0"/>
          </a:p>
        </p:txBody>
      </p:sp>
      <p:sp>
        <p:nvSpPr>
          <p:cNvPr id="9" name="Text 7"/>
          <p:cNvSpPr/>
          <p:nvPr/>
        </p:nvSpPr>
        <p:spPr>
          <a:xfrm>
            <a:off x="2880360" y="1947672"/>
            <a:ext cx="1325880" cy="164592"/>
          </a:xfrm>
          <a:prstGeom prst="rect">
            <a:avLst/>
          </a:prstGeom>
          <a:noFill/>
          <a:ln/>
        </p:spPr>
        <p:txBody>
          <a:bodyPr wrap="square" lIns="0" tIns="0" rIns="0" bIns="0" rtlCol="0" anchor="ctr">
            <a:normAutofit/>
          </a:bodyPr>
          <a:lstStyle/>
          <a:p>
            <a:pPr algn="ctr" indent="0" marL="0">
              <a:buNone/>
            </a:pPr>
            <a:r>
              <a:rPr lang="en-US" sz="950" dirty="0">
                <a:solidFill>
                  <a:srgbClr val="6F7082"/>
                </a:solidFill>
                <a:latin typeface="Aptos" pitchFamily="34" charset="0"/>
                <a:ea typeface="Aptos" pitchFamily="34" charset="-122"/>
                <a:cs typeface="Aptos" pitchFamily="34" charset="-120"/>
              </a:rPr>
              <a:t>orchestration</a:t>
            </a:r>
            <a:endParaRPr lang="en-US" sz="950" dirty="0"/>
          </a:p>
        </p:txBody>
      </p:sp>
      <p:sp>
        <p:nvSpPr>
          <p:cNvPr id="10" name="Shape 8"/>
          <p:cNvSpPr/>
          <p:nvPr/>
        </p:nvSpPr>
        <p:spPr>
          <a:xfrm>
            <a:off x="4800600" y="1508760"/>
            <a:ext cx="1691640" cy="777240"/>
          </a:xfrm>
          <a:prstGeom prst="roundRect">
            <a:avLst>
              <a:gd name="adj" fmla="val 5882"/>
            </a:avLst>
          </a:prstGeom>
          <a:solidFill>
            <a:srgbClr val="FFFFFF"/>
          </a:solidFill>
          <a:ln w="17780">
            <a:solidFill>
              <a:srgbClr val="DB8129"/>
            </a:solidFill>
            <a:prstDash val="solid"/>
          </a:ln>
        </p:spPr>
      </p:sp>
      <p:sp>
        <p:nvSpPr>
          <p:cNvPr id="11" name="Text 9"/>
          <p:cNvSpPr/>
          <p:nvPr/>
        </p:nvSpPr>
        <p:spPr>
          <a:xfrm>
            <a:off x="4937760" y="1655064"/>
            <a:ext cx="1417320" cy="201168"/>
          </a:xfrm>
          <a:prstGeom prst="rect">
            <a:avLst/>
          </a:prstGeom>
          <a:noFill/>
          <a:ln/>
        </p:spPr>
        <p:txBody>
          <a:bodyPr wrap="square" lIns="0" tIns="0" rIns="0" bIns="0" rtlCol="0" anchor="ctr">
            <a:normAutofit/>
          </a:bodyPr>
          <a:lstStyle/>
          <a:p>
            <a:pPr algn="ctr" indent="0" marL="0">
              <a:buNone/>
            </a:pPr>
            <a:r>
              <a:rPr lang="en-US" sz="1250" b="1" dirty="0">
                <a:solidFill>
                  <a:srgbClr val="DB8129"/>
                </a:solidFill>
                <a:latin typeface="Aptos" pitchFamily="34" charset="0"/>
                <a:ea typeface="Aptos" pitchFamily="34" charset="-122"/>
                <a:cs typeface="Aptos" pitchFamily="34" charset="-120"/>
              </a:rPr>
              <a:t>SCHEDULER</a:t>
            </a:r>
            <a:endParaRPr lang="en-US" sz="1250" dirty="0"/>
          </a:p>
        </p:txBody>
      </p:sp>
      <p:sp>
        <p:nvSpPr>
          <p:cNvPr id="12" name="Text 10"/>
          <p:cNvSpPr/>
          <p:nvPr/>
        </p:nvSpPr>
        <p:spPr>
          <a:xfrm>
            <a:off x="4937760" y="1947672"/>
            <a:ext cx="1417320" cy="164592"/>
          </a:xfrm>
          <a:prstGeom prst="rect">
            <a:avLst/>
          </a:prstGeom>
          <a:noFill/>
          <a:ln/>
        </p:spPr>
        <p:txBody>
          <a:bodyPr wrap="square" lIns="0" tIns="0" rIns="0" bIns="0" rtlCol="0" anchor="ctr">
            <a:normAutofit/>
          </a:bodyPr>
          <a:lstStyle/>
          <a:p>
            <a:pPr algn="ctr" indent="0" marL="0">
              <a:buNone/>
            </a:pPr>
            <a:r>
              <a:rPr lang="en-US" sz="950" dirty="0">
                <a:solidFill>
                  <a:srgbClr val="6F7082"/>
                </a:solidFill>
                <a:latin typeface="Aptos" pitchFamily="34" charset="0"/>
                <a:ea typeface="Aptos" pitchFamily="34" charset="-122"/>
                <a:cs typeface="Aptos" pitchFamily="34" charset="-120"/>
              </a:rPr>
              <a:t>file de requêtes</a:t>
            </a:r>
            <a:endParaRPr lang="en-US" sz="950" dirty="0"/>
          </a:p>
        </p:txBody>
      </p:sp>
      <p:sp>
        <p:nvSpPr>
          <p:cNvPr id="13" name="Shape 11"/>
          <p:cNvSpPr/>
          <p:nvPr/>
        </p:nvSpPr>
        <p:spPr>
          <a:xfrm>
            <a:off x="7040880" y="1508760"/>
            <a:ext cx="1691640" cy="777240"/>
          </a:xfrm>
          <a:prstGeom prst="roundRect">
            <a:avLst>
              <a:gd name="adj" fmla="val 5882"/>
            </a:avLst>
          </a:prstGeom>
          <a:solidFill>
            <a:srgbClr val="FFFFFF"/>
          </a:solidFill>
          <a:ln w="17780">
            <a:solidFill>
              <a:srgbClr val="2E899E"/>
            </a:solidFill>
            <a:prstDash val="solid"/>
          </a:ln>
        </p:spPr>
      </p:sp>
      <p:sp>
        <p:nvSpPr>
          <p:cNvPr id="14" name="Text 12"/>
          <p:cNvSpPr/>
          <p:nvPr/>
        </p:nvSpPr>
        <p:spPr>
          <a:xfrm>
            <a:off x="7178040" y="1655064"/>
            <a:ext cx="1417320" cy="201168"/>
          </a:xfrm>
          <a:prstGeom prst="rect">
            <a:avLst/>
          </a:prstGeom>
          <a:noFill/>
          <a:ln/>
        </p:spPr>
        <p:txBody>
          <a:bodyPr wrap="square" lIns="0" tIns="0" rIns="0" bIns="0" rtlCol="0" anchor="ctr">
            <a:normAutofit/>
          </a:bodyPr>
          <a:lstStyle/>
          <a:p>
            <a:pPr algn="ctr" indent="0" marL="0">
              <a:buNone/>
            </a:pPr>
            <a:r>
              <a:rPr lang="en-US" sz="1250" b="1" dirty="0">
                <a:solidFill>
                  <a:srgbClr val="2E899E"/>
                </a:solidFill>
                <a:latin typeface="Aptos" pitchFamily="34" charset="0"/>
                <a:ea typeface="Aptos" pitchFamily="34" charset="-122"/>
                <a:cs typeface="Aptos" pitchFamily="34" charset="-120"/>
              </a:rPr>
              <a:t>DOWNLOADER</a:t>
            </a:r>
            <a:endParaRPr lang="en-US" sz="1250" dirty="0"/>
          </a:p>
        </p:txBody>
      </p:sp>
      <p:sp>
        <p:nvSpPr>
          <p:cNvPr id="15" name="Text 13"/>
          <p:cNvSpPr/>
          <p:nvPr/>
        </p:nvSpPr>
        <p:spPr>
          <a:xfrm>
            <a:off x="7178040" y="1947672"/>
            <a:ext cx="1417320" cy="164592"/>
          </a:xfrm>
          <a:prstGeom prst="rect">
            <a:avLst/>
          </a:prstGeom>
          <a:noFill/>
          <a:ln/>
        </p:spPr>
        <p:txBody>
          <a:bodyPr wrap="square" lIns="0" tIns="0" rIns="0" bIns="0" rtlCol="0" anchor="ctr">
            <a:normAutofit/>
          </a:bodyPr>
          <a:lstStyle/>
          <a:p>
            <a:pPr algn="ctr" indent="0" marL="0">
              <a:buNone/>
            </a:pPr>
            <a:r>
              <a:rPr lang="en-US" sz="950" dirty="0">
                <a:solidFill>
                  <a:srgbClr val="6F7082"/>
                </a:solidFill>
                <a:latin typeface="Aptos" pitchFamily="34" charset="0"/>
                <a:ea typeface="Aptos" pitchFamily="34" charset="-122"/>
                <a:cs typeface="Aptos" pitchFamily="34" charset="-120"/>
              </a:rPr>
              <a:t>HTTP</a:t>
            </a:r>
            <a:endParaRPr lang="en-US" sz="950" dirty="0"/>
          </a:p>
        </p:txBody>
      </p:sp>
      <p:sp>
        <p:nvSpPr>
          <p:cNvPr id="16" name="Shape 14"/>
          <p:cNvSpPr/>
          <p:nvPr/>
        </p:nvSpPr>
        <p:spPr>
          <a:xfrm>
            <a:off x="9326880" y="2240280"/>
            <a:ext cx="1691640" cy="777240"/>
          </a:xfrm>
          <a:prstGeom prst="roundRect">
            <a:avLst>
              <a:gd name="adj" fmla="val 5882"/>
            </a:avLst>
          </a:prstGeom>
          <a:solidFill>
            <a:srgbClr val="FFFFFF"/>
          </a:solidFill>
          <a:ln w="17780">
            <a:solidFill>
              <a:srgbClr val="4EA27B"/>
            </a:solidFill>
            <a:prstDash val="solid"/>
          </a:ln>
        </p:spPr>
      </p:sp>
      <p:sp>
        <p:nvSpPr>
          <p:cNvPr id="17" name="Text 15"/>
          <p:cNvSpPr/>
          <p:nvPr/>
        </p:nvSpPr>
        <p:spPr>
          <a:xfrm>
            <a:off x="9464040" y="2386584"/>
            <a:ext cx="1417320" cy="201168"/>
          </a:xfrm>
          <a:prstGeom prst="rect">
            <a:avLst/>
          </a:prstGeom>
          <a:noFill/>
          <a:ln/>
        </p:spPr>
        <p:txBody>
          <a:bodyPr wrap="square" lIns="0" tIns="0" rIns="0" bIns="0" rtlCol="0" anchor="ctr">
            <a:normAutofit/>
          </a:bodyPr>
          <a:lstStyle/>
          <a:p>
            <a:pPr algn="ctr" indent="0" marL="0">
              <a:buNone/>
            </a:pPr>
            <a:r>
              <a:rPr lang="en-US" sz="1250" b="1" dirty="0">
                <a:solidFill>
                  <a:srgbClr val="4EA27B"/>
                </a:solidFill>
                <a:latin typeface="Aptos" pitchFamily="34" charset="0"/>
                <a:ea typeface="Aptos" pitchFamily="34" charset="-122"/>
                <a:cs typeface="Aptos" pitchFamily="34" charset="-120"/>
              </a:rPr>
              <a:t>WEBSITE</a:t>
            </a:r>
            <a:endParaRPr lang="en-US" sz="1250" dirty="0"/>
          </a:p>
        </p:txBody>
      </p:sp>
      <p:sp>
        <p:nvSpPr>
          <p:cNvPr id="18" name="Text 16"/>
          <p:cNvSpPr/>
          <p:nvPr/>
        </p:nvSpPr>
        <p:spPr>
          <a:xfrm>
            <a:off x="9464040" y="2679192"/>
            <a:ext cx="1417320" cy="164592"/>
          </a:xfrm>
          <a:prstGeom prst="rect">
            <a:avLst/>
          </a:prstGeom>
          <a:noFill/>
          <a:ln/>
        </p:spPr>
        <p:txBody>
          <a:bodyPr wrap="square" lIns="0" tIns="0" rIns="0" bIns="0" rtlCol="0" anchor="ctr">
            <a:normAutofit/>
          </a:bodyPr>
          <a:lstStyle/>
          <a:p>
            <a:pPr algn="ctr" indent="0" marL="0">
              <a:buNone/>
            </a:pPr>
            <a:r>
              <a:rPr lang="en-US" sz="950" dirty="0">
                <a:solidFill>
                  <a:srgbClr val="6F7082"/>
                </a:solidFill>
                <a:latin typeface="Aptos" pitchFamily="34" charset="0"/>
                <a:ea typeface="Aptos" pitchFamily="34" charset="-122"/>
                <a:cs typeface="Aptos" pitchFamily="34" charset="-120"/>
              </a:rPr>
              <a:t>HTML / JSON</a:t>
            </a:r>
            <a:endParaRPr lang="en-US" sz="950" dirty="0"/>
          </a:p>
        </p:txBody>
      </p:sp>
      <p:sp>
        <p:nvSpPr>
          <p:cNvPr id="19" name="Shape 17"/>
          <p:cNvSpPr/>
          <p:nvPr/>
        </p:nvSpPr>
        <p:spPr>
          <a:xfrm>
            <a:off x="2926080" y="3977640"/>
            <a:ext cx="1828800" cy="777240"/>
          </a:xfrm>
          <a:prstGeom prst="roundRect">
            <a:avLst>
              <a:gd name="adj" fmla="val 5882"/>
            </a:avLst>
          </a:prstGeom>
          <a:solidFill>
            <a:srgbClr val="FFFFFF"/>
          </a:solidFill>
          <a:ln w="17780">
            <a:solidFill>
              <a:srgbClr val="7432A8"/>
            </a:solidFill>
            <a:prstDash val="solid"/>
          </a:ln>
        </p:spPr>
      </p:sp>
      <p:sp>
        <p:nvSpPr>
          <p:cNvPr id="20" name="Text 18"/>
          <p:cNvSpPr/>
          <p:nvPr/>
        </p:nvSpPr>
        <p:spPr>
          <a:xfrm>
            <a:off x="3063240" y="4123944"/>
            <a:ext cx="1554480" cy="201168"/>
          </a:xfrm>
          <a:prstGeom prst="rect">
            <a:avLst/>
          </a:prstGeom>
          <a:noFill/>
          <a:ln/>
        </p:spPr>
        <p:txBody>
          <a:bodyPr wrap="square" lIns="0" tIns="0" rIns="0" bIns="0" rtlCol="0" anchor="ctr">
            <a:normAutofit/>
          </a:bodyPr>
          <a:lstStyle/>
          <a:p>
            <a:pPr algn="ctr" indent="0" marL="0">
              <a:buNone/>
            </a:pPr>
            <a:r>
              <a:rPr lang="en-US" sz="1250" b="1" dirty="0">
                <a:solidFill>
                  <a:srgbClr val="7432A8"/>
                </a:solidFill>
                <a:latin typeface="Aptos" pitchFamily="34" charset="0"/>
                <a:ea typeface="Aptos" pitchFamily="34" charset="-122"/>
                <a:cs typeface="Aptos" pitchFamily="34" charset="-120"/>
              </a:rPr>
              <a:t>ITEM</a:t>
            </a:r>
            <a:endParaRPr lang="en-US" sz="1250" dirty="0"/>
          </a:p>
        </p:txBody>
      </p:sp>
      <p:sp>
        <p:nvSpPr>
          <p:cNvPr id="21" name="Text 19"/>
          <p:cNvSpPr/>
          <p:nvPr/>
        </p:nvSpPr>
        <p:spPr>
          <a:xfrm>
            <a:off x="3063240" y="4416552"/>
            <a:ext cx="1554480" cy="164592"/>
          </a:xfrm>
          <a:prstGeom prst="rect">
            <a:avLst/>
          </a:prstGeom>
          <a:noFill/>
          <a:ln/>
        </p:spPr>
        <p:txBody>
          <a:bodyPr wrap="square" lIns="0" tIns="0" rIns="0" bIns="0" rtlCol="0" anchor="ctr">
            <a:normAutofit/>
          </a:bodyPr>
          <a:lstStyle/>
          <a:p>
            <a:pPr algn="ctr" indent="0" marL="0">
              <a:buNone/>
            </a:pPr>
            <a:r>
              <a:rPr lang="en-US" sz="950" dirty="0">
                <a:solidFill>
                  <a:srgbClr val="6F7082"/>
                </a:solidFill>
                <a:latin typeface="Aptos" pitchFamily="34" charset="0"/>
                <a:ea typeface="Aptos" pitchFamily="34" charset="-122"/>
                <a:cs typeface="Aptos" pitchFamily="34" charset="-120"/>
              </a:rPr>
              <a:t>donnée extraite</a:t>
            </a:r>
            <a:endParaRPr lang="en-US" sz="950" dirty="0"/>
          </a:p>
        </p:txBody>
      </p:sp>
      <p:sp>
        <p:nvSpPr>
          <p:cNvPr id="22" name="Shape 20"/>
          <p:cNvSpPr/>
          <p:nvPr/>
        </p:nvSpPr>
        <p:spPr>
          <a:xfrm>
            <a:off x="5486400" y="3977640"/>
            <a:ext cx="1828800" cy="777240"/>
          </a:xfrm>
          <a:prstGeom prst="roundRect">
            <a:avLst>
              <a:gd name="adj" fmla="val 5882"/>
            </a:avLst>
          </a:prstGeom>
          <a:solidFill>
            <a:srgbClr val="FFFFFF"/>
          </a:solidFill>
          <a:ln w="17780">
            <a:solidFill>
              <a:srgbClr val="4EA27B"/>
            </a:solidFill>
            <a:prstDash val="solid"/>
          </a:ln>
        </p:spPr>
      </p:sp>
      <p:sp>
        <p:nvSpPr>
          <p:cNvPr id="23" name="Text 21"/>
          <p:cNvSpPr/>
          <p:nvPr/>
        </p:nvSpPr>
        <p:spPr>
          <a:xfrm>
            <a:off x="5623560" y="4123944"/>
            <a:ext cx="1554480" cy="201168"/>
          </a:xfrm>
          <a:prstGeom prst="rect">
            <a:avLst/>
          </a:prstGeom>
          <a:noFill/>
          <a:ln/>
        </p:spPr>
        <p:txBody>
          <a:bodyPr wrap="square" lIns="0" tIns="0" rIns="0" bIns="0" rtlCol="0" anchor="ctr">
            <a:normAutofit/>
          </a:bodyPr>
          <a:lstStyle/>
          <a:p>
            <a:pPr algn="ctr" indent="0" marL="0">
              <a:buNone/>
            </a:pPr>
            <a:r>
              <a:rPr lang="en-US" sz="1250" b="1" dirty="0">
                <a:solidFill>
                  <a:srgbClr val="4EA27B"/>
                </a:solidFill>
                <a:latin typeface="Aptos" pitchFamily="34" charset="0"/>
                <a:ea typeface="Aptos" pitchFamily="34" charset="-122"/>
                <a:cs typeface="Aptos" pitchFamily="34" charset="-120"/>
              </a:rPr>
              <a:t>PIPELINE</a:t>
            </a:r>
            <a:endParaRPr lang="en-US" sz="1250" dirty="0"/>
          </a:p>
        </p:txBody>
      </p:sp>
      <p:sp>
        <p:nvSpPr>
          <p:cNvPr id="24" name="Text 22"/>
          <p:cNvSpPr/>
          <p:nvPr/>
        </p:nvSpPr>
        <p:spPr>
          <a:xfrm>
            <a:off x="5623560" y="4416552"/>
            <a:ext cx="1554480" cy="164592"/>
          </a:xfrm>
          <a:prstGeom prst="rect">
            <a:avLst/>
          </a:prstGeom>
          <a:noFill/>
          <a:ln/>
        </p:spPr>
        <p:txBody>
          <a:bodyPr wrap="square" lIns="0" tIns="0" rIns="0" bIns="0" rtlCol="0" anchor="ctr">
            <a:normAutofit/>
          </a:bodyPr>
          <a:lstStyle/>
          <a:p>
            <a:pPr algn="ctr" indent="0" marL="0">
              <a:buNone/>
            </a:pPr>
            <a:r>
              <a:rPr lang="en-US" sz="950" dirty="0">
                <a:solidFill>
                  <a:srgbClr val="6F7082"/>
                </a:solidFill>
                <a:latin typeface="Aptos" pitchFamily="34" charset="0"/>
                <a:ea typeface="Aptos" pitchFamily="34" charset="-122"/>
                <a:cs typeface="Aptos" pitchFamily="34" charset="-120"/>
              </a:rPr>
              <a:t>clean / validate</a:t>
            </a:r>
            <a:endParaRPr lang="en-US" sz="950" dirty="0"/>
          </a:p>
        </p:txBody>
      </p:sp>
      <p:sp>
        <p:nvSpPr>
          <p:cNvPr id="25" name="Shape 23"/>
          <p:cNvSpPr/>
          <p:nvPr/>
        </p:nvSpPr>
        <p:spPr>
          <a:xfrm>
            <a:off x="8046720" y="3977640"/>
            <a:ext cx="1828800" cy="777240"/>
          </a:xfrm>
          <a:prstGeom prst="roundRect">
            <a:avLst>
              <a:gd name="adj" fmla="val 5882"/>
            </a:avLst>
          </a:prstGeom>
          <a:solidFill>
            <a:srgbClr val="FFFFFF"/>
          </a:solidFill>
          <a:ln w="17780">
            <a:solidFill>
              <a:srgbClr val="4F7FC4"/>
            </a:solidFill>
            <a:prstDash val="solid"/>
          </a:ln>
        </p:spPr>
      </p:sp>
      <p:sp>
        <p:nvSpPr>
          <p:cNvPr id="26" name="Text 24"/>
          <p:cNvSpPr/>
          <p:nvPr/>
        </p:nvSpPr>
        <p:spPr>
          <a:xfrm>
            <a:off x="8183880" y="4123944"/>
            <a:ext cx="1554480" cy="201168"/>
          </a:xfrm>
          <a:prstGeom prst="rect">
            <a:avLst/>
          </a:prstGeom>
          <a:noFill/>
          <a:ln/>
        </p:spPr>
        <p:txBody>
          <a:bodyPr wrap="square" lIns="0" tIns="0" rIns="0" bIns="0" rtlCol="0" anchor="ctr">
            <a:normAutofit/>
          </a:bodyPr>
          <a:lstStyle/>
          <a:p>
            <a:pPr algn="ctr" indent="0" marL="0">
              <a:buNone/>
            </a:pPr>
            <a:r>
              <a:rPr lang="en-US" sz="1250" b="1" dirty="0">
                <a:solidFill>
                  <a:srgbClr val="4F7FC4"/>
                </a:solidFill>
                <a:latin typeface="Aptos" pitchFamily="34" charset="0"/>
                <a:ea typeface="Aptos" pitchFamily="34" charset="-122"/>
                <a:cs typeface="Aptos" pitchFamily="34" charset="-120"/>
              </a:rPr>
              <a:t>OUTPUT</a:t>
            </a:r>
            <a:endParaRPr lang="en-US" sz="1250" dirty="0"/>
          </a:p>
        </p:txBody>
      </p:sp>
      <p:sp>
        <p:nvSpPr>
          <p:cNvPr id="27" name="Text 25"/>
          <p:cNvSpPr/>
          <p:nvPr/>
        </p:nvSpPr>
        <p:spPr>
          <a:xfrm>
            <a:off x="8183880" y="4416552"/>
            <a:ext cx="1554480" cy="164592"/>
          </a:xfrm>
          <a:prstGeom prst="rect">
            <a:avLst/>
          </a:prstGeom>
          <a:noFill/>
          <a:ln/>
        </p:spPr>
        <p:txBody>
          <a:bodyPr wrap="square" lIns="0" tIns="0" rIns="0" bIns="0" rtlCol="0" anchor="ctr">
            <a:normAutofit/>
          </a:bodyPr>
          <a:lstStyle/>
          <a:p>
            <a:pPr algn="ctr" indent="0" marL="0">
              <a:buNone/>
            </a:pPr>
            <a:r>
              <a:rPr lang="en-US" sz="950" dirty="0">
                <a:solidFill>
                  <a:srgbClr val="6F7082"/>
                </a:solidFill>
                <a:latin typeface="Aptos" pitchFamily="34" charset="0"/>
                <a:ea typeface="Aptos" pitchFamily="34" charset="-122"/>
                <a:cs typeface="Aptos" pitchFamily="34" charset="-120"/>
              </a:rPr>
              <a:t>CSV / JSON / DB</a:t>
            </a:r>
            <a:endParaRPr lang="en-US" sz="950" dirty="0"/>
          </a:p>
        </p:txBody>
      </p:sp>
      <p:sp>
        <p:nvSpPr>
          <p:cNvPr id="28" name="Text 26"/>
          <p:cNvSpPr/>
          <p:nvPr/>
        </p:nvSpPr>
        <p:spPr>
          <a:xfrm>
            <a:off x="2331720" y="2331720"/>
            <a:ext cx="365760" cy="256032"/>
          </a:xfrm>
          <a:prstGeom prst="rect">
            <a:avLst/>
          </a:prstGeom>
          <a:noFill/>
          <a:ln/>
        </p:spPr>
        <p:txBody>
          <a:bodyPr wrap="square" lIns="0" tIns="0" rIns="0" bIns="0" rtlCol="0" anchor="ctr">
            <a:normAutofit/>
          </a:bodyPr>
          <a:lstStyle/>
          <a:p>
            <a:pPr algn="ctr" indent="0" marL="0">
              <a:buNone/>
            </a:pPr>
            <a:r>
              <a:rPr lang="en-US" sz="2000" b="1" dirty="0">
                <a:solidFill>
                  <a:srgbClr val="A9A4B2"/>
                </a:solidFill>
                <a:latin typeface="Aptos" pitchFamily="34" charset="0"/>
                <a:ea typeface="Aptos" pitchFamily="34" charset="-122"/>
                <a:cs typeface="Aptos" pitchFamily="34" charset="-120"/>
              </a:rPr>
              <a:t>→</a:t>
            </a:r>
            <a:endParaRPr lang="en-US" sz="2000" dirty="0"/>
          </a:p>
        </p:txBody>
      </p:sp>
      <p:sp>
        <p:nvSpPr>
          <p:cNvPr id="29" name="Text 27"/>
          <p:cNvSpPr/>
          <p:nvPr/>
        </p:nvSpPr>
        <p:spPr>
          <a:xfrm>
            <a:off x="4370832" y="1755648"/>
            <a:ext cx="384048" cy="256032"/>
          </a:xfrm>
          <a:prstGeom prst="rect">
            <a:avLst/>
          </a:prstGeom>
          <a:noFill/>
          <a:ln/>
        </p:spPr>
        <p:txBody>
          <a:bodyPr wrap="square" lIns="0" tIns="0" rIns="0" bIns="0" rtlCol="0" anchor="ctr">
            <a:normAutofit/>
          </a:bodyPr>
          <a:lstStyle/>
          <a:p>
            <a:pPr algn="ctr" indent="0" marL="0">
              <a:buNone/>
            </a:pPr>
            <a:r>
              <a:rPr lang="en-US" sz="2000" b="1" dirty="0">
                <a:solidFill>
                  <a:srgbClr val="A9A4B2"/>
                </a:solidFill>
                <a:latin typeface="Aptos" pitchFamily="34" charset="0"/>
                <a:ea typeface="Aptos" pitchFamily="34" charset="-122"/>
                <a:cs typeface="Aptos" pitchFamily="34" charset="-120"/>
              </a:rPr>
              <a:t>→</a:t>
            </a:r>
            <a:endParaRPr lang="en-US" sz="2000" dirty="0"/>
          </a:p>
        </p:txBody>
      </p:sp>
      <p:sp>
        <p:nvSpPr>
          <p:cNvPr id="30" name="Text 28"/>
          <p:cNvSpPr/>
          <p:nvPr/>
        </p:nvSpPr>
        <p:spPr>
          <a:xfrm>
            <a:off x="6565392" y="1755648"/>
            <a:ext cx="384048" cy="256032"/>
          </a:xfrm>
          <a:prstGeom prst="rect">
            <a:avLst/>
          </a:prstGeom>
          <a:noFill/>
          <a:ln/>
        </p:spPr>
        <p:txBody>
          <a:bodyPr wrap="square" lIns="0" tIns="0" rIns="0" bIns="0" rtlCol="0" anchor="ctr">
            <a:normAutofit/>
          </a:bodyPr>
          <a:lstStyle/>
          <a:p>
            <a:pPr algn="ctr" indent="0" marL="0">
              <a:buNone/>
            </a:pPr>
            <a:r>
              <a:rPr lang="en-US" sz="2000" b="1" dirty="0">
                <a:solidFill>
                  <a:srgbClr val="A9A4B2"/>
                </a:solidFill>
                <a:latin typeface="Aptos" pitchFamily="34" charset="0"/>
                <a:ea typeface="Aptos" pitchFamily="34" charset="-122"/>
                <a:cs typeface="Aptos" pitchFamily="34" charset="-120"/>
              </a:rPr>
              <a:t>→</a:t>
            </a:r>
            <a:endParaRPr lang="en-US" sz="2000" dirty="0"/>
          </a:p>
        </p:txBody>
      </p:sp>
      <p:sp>
        <p:nvSpPr>
          <p:cNvPr id="31" name="Text 29"/>
          <p:cNvSpPr/>
          <p:nvPr/>
        </p:nvSpPr>
        <p:spPr>
          <a:xfrm>
            <a:off x="8796528" y="2331720"/>
            <a:ext cx="384048" cy="256032"/>
          </a:xfrm>
          <a:prstGeom prst="rect">
            <a:avLst/>
          </a:prstGeom>
          <a:noFill/>
          <a:ln/>
        </p:spPr>
        <p:txBody>
          <a:bodyPr wrap="square" lIns="0" tIns="0" rIns="0" bIns="0" rtlCol="0" anchor="ctr">
            <a:normAutofit/>
          </a:bodyPr>
          <a:lstStyle/>
          <a:p>
            <a:pPr algn="ctr" indent="0" marL="0">
              <a:buNone/>
            </a:pPr>
            <a:r>
              <a:rPr lang="en-US" sz="2000" b="1" dirty="0">
                <a:solidFill>
                  <a:srgbClr val="A9A4B2"/>
                </a:solidFill>
                <a:latin typeface="Aptos" pitchFamily="34" charset="0"/>
                <a:ea typeface="Aptos" pitchFamily="34" charset="-122"/>
                <a:cs typeface="Aptos" pitchFamily="34" charset="-120"/>
              </a:rPr>
              <a:t>→</a:t>
            </a:r>
            <a:endParaRPr lang="en-US" sz="2000" dirty="0"/>
          </a:p>
        </p:txBody>
      </p:sp>
      <p:sp>
        <p:nvSpPr>
          <p:cNvPr id="32" name="Text 30"/>
          <p:cNvSpPr/>
          <p:nvPr/>
        </p:nvSpPr>
        <p:spPr>
          <a:xfrm>
            <a:off x="1828800" y="3246120"/>
            <a:ext cx="320040" cy="274320"/>
          </a:xfrm>
          <a:prstGeom prst="rect">
            <a:avLst/>
          </a:prstGeom>
          <a:noFill/>
          <a:ln/>
        </p:spPr>
        <p:txBody>
          <a:bodyPr wrap="square" lIns="0" tIns="0" rIns="0" bIns="0" rtlCol="0" anchor="ctr">
            <a:normAutofit/>
          </a:bodyPr>
          <a:lstStyle/>
          <a:p>
            <a:pPr algn="ctr" indent="0" marL="0">
              <a:buNone/>
            </a:pPr>
            <a:r>
              <a:rPr lang="en-US" sz="2000" b="1" dirty="0">
                <a:solidFill>
                  <a:srgbClr val="7432A8"/>
                </a:solidFill>
                <a:latin typeface="Aptos" pitchFamily="34" charset="0"/>
                <a:ea typeface="Aptos" pitchFamily="34" charset="-122"/>
                <a:cs typeface="Aptos" pitchFamily="34" charset="-120"/>
              </a:rPr>
              <a:t>↓</a:t>
            </a:r>
            <a:endParaRPr lang="en-US" sz="2000" dirty="0"/>
          </a:p>
        </p:txBody>
      </p:sp>
      <p:sp>
        <p:nvSpPr>
          <p:cNvPr id="33" name="Text 31"/>
          <p:cNvSpPr/>
          <p:nvPr/>
        </p:nvSpPr>
        <p:spPr>
          <a:xfrm>
            <a:off x="4892040" y="4215384"/>
            <a:ext cx="411480" cy="256032"/>
          </a:xfrm>
          <a:prstGeom prst="rect">
            <a:avLst/>
          </a:prstGeom>
          <a:noFill/>
          <a:ln/>
        </p:spPr>
        <p:txBody>
          <a:bodyPr wrap="square" lIns="0" tIns="0" rIns="0" bIns="0" rtlCol="0" anchor="ctr">
            <a:normAutofit/>
          </a:bodyPr>
          <a:lstStyle/>
          <a:p>
            <a:pPr algn="ctr" indent="0" marL="0">
              <a:buNone/>
            </a:pPr>
            <a:r>
              <a:rPr lang="en-US" sz="2000" b="1" dirty="0">
                <a:solidFill>
                  <a:srgbClr val="A9A4B2"/>
                </a:solidFill>
                <a:latin typeface="Aptos" pitchFamily="34" charset="0"/>
                <a:ea typeface="Aptos" pitchFamily="34" charset="-122"/>
                <a:cs typeface="Aptos" pitchFamily="34" charset="-120"/>
              </a:rPr>
              <a:t>→</a:t>
            </a:r>
            <a:endParaRPr lang="en-US" sz="2000" dirty="0"/>
          </a:p>
        </p:txBody>
      </p:sp>
      <p:sp>
        <p:nvSpPr>
          <p:cNvPr id="34" name="Text 32"/>
          <p:cNvSpPr/>
          <p:nvPr/>
        </p:nvSpPr>
        <p:spPr>
          <a:xfrm>
            <a:off x="7424928" y="4215384"/>
            <a:ext cx="411480" cy="256032"/>
          </a:xfrm>
          <a:prstGeom prst="rect">
            <a:avLst/>
          </a:prstGeom>
          <a:noFill/>
          <a:ln/>
        </p:spPr>
        <p:txBody>
          <a:bodyPr wrap="square" lIns="0" tIns="0" rIns="0" bIns="0" rtlCol="0" anchor="ctr">
            <a:normAutofit/>
          </a:bodyPr>
          <a:lstStyle/>
          <a:p>
            <a:pPr algn="ctr" indent="0" marL="0">
              <a:buNone/>
            </a:pPr>
            <a:r>
              <a:rPr lang="en-US" sz="2000" b="1" dirty="0">
                <a:solidFill>
                  <a:srgbClr val="A9A4B2"/>
                </a:solidFill>
                <a:latin typeface="Aptos" pitchFamily="34" charset="0"/>
                <a:ea typeface="Aptos" pitchFamily="34" charset="-122"/>
                <a:cs typeface="Aptos" pitchFamily="34" charset="-120"/>
              </a:rPr>
              <a:t>→</a:t>
            </a:r>
            <a:endParaRPr lang="en-US" sz="2000" dirty="0"/>
          </a:p>
        </p:txBody>
      </p:sp>
      <p:sp>
        <p:nvSpPr>
          <p:cNvPr id="35" name="Text 33"/>
          <p:cNvSpPr/>
          <p:nvPr/>
        </p:nvSpPr>
        <p:spPr>
          <a:xfrm>
            <a:off x="1188720" y="5532120"/>
            <a:ext cx="9784080" cy="292608"/>
          </a:xfrm>
          <a:prstGeom prst="rect">
            <a:avLst/>
          </a:prstGeom>
          <a:noFill/>
          <a:ln/>
        </p:spPr>
        <p:txBody>
          <a:bodyPr wrap="square" lIns="0" tIns="0" rIns="0" bIns="0" rtlCol="0" anchor="ctr">
            <a:normAutofit/>
          </a:bodyPr>
          <a:lstStyle/>
          <a:p>
            <a:pPr algn="ctr" indent="0" marL="0">
              <a:buNone/>
            </a:pPr>
            <a:r>
              <a:rPr lang="en-US" sz="1600" b="1" dirty="0">
                <a:solidFill>
                  <a:srgbClr val="241337"/>
                </a:solidFill>
                <a:latin typeface="Aptos" pitchFamily="34" charset="0"/>
                <a:ea typeface="Aptos" pitchFamily="34" charset="-122"/>
                <a:cs typeface="Aptos" pitchFamily="34" charset="-120"/>
              </a:rPr>
              <a:t>Le spider décide quoi demander et quoi extraire ; le framework gère le flux.</a:t>
            </a:r>
            <a:endParaRPr lang="en-US" sz="1600" dirty="0"/>
          </a:p>
        </p:txBody>
      </p:sp>
      <p:sp>
        <p:nvSpPr>
          <p:cNvPr id="25" name="Slide Number Placeholder 0"/>
          <p:cNvSpPr>
            <a:spLocks noGrp="1"/>
          </p:cNvSpPr>
          <p:nvPr>
            <p:ph type="sldNum" sz="quarter" idx="4294967295"/>
          </p:nvPr>
        </p:nvSpPr>
        <p:spPr>
          <a:xfrm>
            <a:off x="11750040" y="274320"/>
            <a:ext cx="228600" cy="164592"/>
          </a:xfrm>
          <a:prstGeom prst="rect">
            <a:avLst/>
          </a:prstGeom>
          <a:extLst>
            <a:ext uri="{C572A759-6A51-4108-AA02-DFA0A04FC94B}">
              <ma14:wrappingTextBoxFlag xmlns:ma14="http://schemas.microsoft.com/office/mac/drawingml/2011/main" val="0"/>
            </a:ext>
          </a:extLst>
        </p:spPr>
        <p:txBody>
          <a:bodyPr/>
          <a:lstStyle>
            <a:lvl1pPr>
              <a:defRPr sz="800">
                <a:solidFill>
                  <a:srgbClr val="858697"/>
                </a:solidFill>
                <a:latin typeface="Aptos"/>
                <a:ea typeface="Aptos"/>
                <a:cs typeface="Aptos"/>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66928" y="438912"/>
            <a:ext cx="5029200" cy="228600"/>
          </a:xfrm>
          <a:prstGeom prst="rect">
            <a:avLst/>
          </a:prstGeom>
          <a:noFill/>
          <a:ln/>
        </p:spPr>
        <p:txBody>
          <a:bodyPr wrap="square" lIns="0" tIns="0" rIns="0" bIns="0" rtlCol="0" anchor="ctr">
            <a:normAutofit/>
          </a:bodyPr>
          <a:lstStyle/>
          <a:p>
            <a:pPr algn="l" indent="0" marL="0">
              <a:buNone/>
            </a:pPr>
            <a:r>
              <a:rPr lang="en-US" sz="1050" b="1" spc="150" kern="0" dirty="0">
                <a:solidFill>
                  <a:srgbClr val="7432A8"/>
                </a:solidFill>
                <a:latin typeface="Aptos" pitchFamily="34" charset="0"/>
                <a:ea typeface="Aptos" pitchFamily="34" charset="-122"/>
                <a:cs typeface="Aptos" pitchFamily="34" charset="-120"/>
              </a:rPr>
              <a:t>PROJET</a:t>
            </a:r>
            <a:endParaRPr lang="en-US" sz="1050" dirty="0"/>
          </a:p>
        </p:txBody>
      </p:sp>
      <p:sp>
        <p:nvSpPr>
          <p:cNvPr id="3" name="Text 1"/>
          <p:cNvSpPr/>
          <p:nvPr/>
        </p:nvSpPr>
        <p:spPr>
          <a:xfrm>
            <a:off x="566928" y="768096"/>
            <a:ext cx="10972800" cy="566928"/>
          </a:xfrm>
          <a:prstGeom prst="rect">
            <a:avLst/>
          </a:prstGeom>
          <a:noFill/>
          <a:ln/>
        </p:spPr>
        <p:txBody>
          <a:bodyPr wrap="square" lIns="0" tIns="0" rIns="0" bIns="0" rtlCol="0" anchor="t">
            <a:normAutofit/>
          </a:bodyPr>
          <a:lstStyle/>
          <a:p>
            <a:pPr algn="l" indent="0" marL="0">
              <a:buNone/>
            </a:pPr>
            <a:r>
              <a:rPr lang="en-US" sz="2800" b="1" dirty="0">
                <a:solidFill>
                  <a:srgbClr val="241337"/>
                </a:solidFill>
                <a:latin typeface="Aptos" pitchFamily="34" charset="0"/>
                <a:ea typeface="Aptos" pitchFamily="34" charset="-122"/>
                <a:cs typeface="Aptos" pitchFamily="34" charset="-120"/>
              </a:rPr>
              <a:t>Structure d’un projet Scrapy</a:t>
            </a:r>
            <a:endParaRPr lang="en-US" sz="2800" dirty="0"/>
          </a:p>
        </p:txBody>
      </p:sp>
      <p:sp>
        <p:nvSpPr>
          <p:cNvPr id="4" name="Shape 2"/>
          <p:cNvSpPr/>
          <p:nvPr/>
        </p:nvSpPr>
        <p:spPr>
          <a:xfrm>
            <a:off x="731520" y="1645920"/>
            <a:ext cx="5029200" cy="4206240"/>
          </a:xfrm>
          <a:prstGeom prst="roundRect">
            <a:avLst>
              <a:gd name="adj" fmla="val 870"/>
            </a:avLst>
          </a:prstGeom>
          <a:solidFill>
            <a:srgbClr val="17141E"/>
          </a:solidFill>
          <a:ln w="12700">
            <a:solidFill>
              <a:srgbClr val="17141E"/>
            </a:solidFill>
            <a:prstDash val="solid"/>
          </a:ln>
        </p:spPr>
      </p:sp>
      <p:sp>
        <p:nvSpPr>
          <p:cNvPr id="5" name="Shape 3"/>
          <p:cNvSpPr/>
          <p:nvPr/>
        </p:nvSpPr>
        <p:spPr>
          <a:xfrm>
            <a:off x="731520" y="1645920"/>
            <a:ext cx="5029200" cy="347472"/>
          </a:xfrm>
          <a:prstGeom prst="rect">
            <a:avLst/>
          </a:prstGeom>
          <a:solidFill>
            <a:srgbClr val="2B2633"/>
          </a:solidFill>
          <a:ln w="12700">
            <a:solidFill>
              <a:srgbClr val="2B2633"/>
            </a:solidFill>
            <a:prstDash val="solid"/>
          </a:ln>
        </p:spPr>
      </p:sp>
      <p:sp>
        <p:nvSpPr>
          <p:cNvPr id="6" name="Shape 4"/>
          <p:cNvSpPr/>
          <p:nvPr/>
        </p:nvSpPr>
        <p:spPr>
          <a:xfrm>
            <a:off x="914400" y="1764792"/>
            <a:ext cx="73152" cy="73152"/>
          </a:xfrm>
          <a:prstGeom prst="ellipse">
            <a:avLst/>
          </a:prstGeom>
          <a:solidFill>
            <a:srgbClr val="D55E5A"/>
          </a:solidFill>
          <a:ln w="12700">
            <a:solidFill>
              <a:srgbClr val="D55E5A"/>
            </a:solidFill>
            <a:prstDash val="solid"/>
          </a:ln>
        </p:spPr>
      </p:sp>
      <p:sp>
        <p:nvSpPr>
          <p:cNvPr id="7" name="Shape 5"/>
          <p:cNvSpPr/>
          <p:nvPr/>
        </p:nvSpPr>
        <p:spPr>
          <a:xfrm>
            <a:off x="1060704" y="1764792"/>
            <a:ext cx="73152" cy="73152"/>
          </a:xfrm>
          <a:prstGeom prst="ellipse">
            <a:avLst/>
          </a:prstGeom>
          <a:solidFill>
            <a:srgbClr val="E0B24A"/>
          </a:solidFill>
          <a:ln w="12700">
            <a:solidFill>
              <a:srgbClr val="E0B24A"/>
            </a:solidFill>
            <a:prstDash val="solid"/>
          </a:ln>
        </p:spPr>
      </p:sp>
      <p:sp>
        <p:nvSpPr>
          <p:cNvPr id="8" name="Shape 6"/>
          <p:cNvSpPr/>
          <p:nvPr/>
        </p:nvSpPr>
        <p:spPr>
          <a:xfrm>
            <a:off x="1207008" y="1764792"/>
            <a:ext cx="73152" cy="73152"/>
          </a:xfrm>
          <a:prstGeom prst="ellipse">
            <a:avLst/>
          </a:prstGeom>
          <a:solidFill>
            <a:srgbClr val="7EB465"/>
          </a:solidFill>
          <a:ln w="12700">
            <a:solidFill>
              <a:srgbClr val="7EB465"/>
            </a:solidFill>
            <a:prstDash val="solid"/>
          </a:ln>
        </p:spPr>
      </p:sp>
      <p:sp>
        <p:nvSpPr>
          <p:cNvPr id="9" name="Text 7"/>
          <p:cNvSpPr/>
          <p:nvPr/>
        </p:nvSpPr>
        <p:spPr>
          <a:xfrm>
            <a:off x="4663440" y="1719072"/>
            <a:ext cx="914400" cy="137160"/>
          </a:xfrm>
          <a:prstGeom prst="rect">
            <a:avLst/>
          </a:prstGeom>
          <a:noFill/>
          <a:ln/>
        </p:spPr>
        <p:txBody>
          <a:bodyPr wrap="square" lIns="0" tIns="0" rIns="0" bIns="0" rtlCol="0" anchor="ctr">
            <a:normAutofit/>
          </a:bodyPr>
          <a:lstStyle/>
          <a:p>
            <a:pPr algn="r" indent="0" marL="0">
              <a:buNone/>
            </a:pPr>
            <a:r>
              <a:rPr lang="en-US" sz="900" dirty="0">
                <a:solidFill>
                  <a:srgbClr val="B8B3C2"/>
                </a:solidFill>
                <a:latin typeface="Aptos" pitchFamily="34" charset="0"/>
                <a:ea typeface="Aptos" pitchFamily="34" charset="-122"/>
                <a:cs typeface="Aptos" pitchFamily="34" charset="-120"/>
              </a:rPr>
              <a:t>ARBORESCENCE</a:t>
            </a:r>
            <a:endParaRPr lang="en-US" sz="900" dirty="0"/>
          </a:p>
        </p:txBody>
      </p:sp>
      <p:sp>
        <p:nvSpPr>
          <p:cNvPr id="10" name="Text 8"/>
          <p:cNvSpPr/>
          <p:nvPr/>
        </p:nvSpPr>
        <p:spPr>
          <a:xfrm>
            <a:off x="960120" y="2121408"/>
            <a:ext cx="4572000" cy="3584448"/>
          </a:xfrm>
          <a:prstGeom prst="rect">
            <a:avLst/>
          </a:prstGeom>
          <a:noFill/>
          <a:ln/>
        </p:spPr>
        <p:txBody>
          <a:bodyPr wrap="square" lIns="0" tIns="0" rIns="0" bIns="0" rtlCol="0" anchor="t">
            <a:normAutofit/>
          </a:bodyPr>
          <a:lstStyle/>
          <a:p>
            <a:pPr algn="l" indent="0" marL="0">
              <a:buNone/>
            </a:pPr>
            <a:r>
              <a:rPr lang="en-US" sz="1100" dirty="0">
                <a:solidFill>
                  <a:srgbClr val="F3EFF7"/>
                </a:solidFill>
                <a:latin typeface="Courier New" pitchFamily="34" charset="0"/>
                <a:ea typeface="Courier New" pitchFamily="34" charset="-122"/>
                <a:cs typeface="Courier New" pitchFamily="34" charset="-120"/>
              </a:rPr>
              <a:t>myproject/</a:t>
            </a:r>
            <a:endParaRPr lang="en-US" sz="1100" dirty="0"/>
          </a:p>
          <a:p>
            <a:pPr algn="l" indent="0" marL="0">
              <a:buNone/>
            </a:pPr>
            <a:r>
              <a:rPr lang="en-US" sz="1100" dirty="0">
                <a:solidFill>
                  <a:srgbClr val="F3EFF7"/>
                </a:solidFill>
                <a:latin typeface="Courier New" pitchFamily="34" charset="0"/>
                <a:ea typeface="Courier New" pitchFamily="34" charset="-122"/>
                <a:cs typeface="Courier New" pitchFamily="34" charset="-120"/>
              </a:rPr>
              <a:t>├── scrapy.cfg</a:t>
            </a:r>
            <a:endParaRPr lang="en-US" sz="1100" dirty="0"/>
          </a:p>
          <a:p>
            <a:pPr algn="l" indent="0" marL="0">
              <a:buNone/>
            </a:pPr>
            <a:r>
              <a:rPr lang="en-US" sz="1100" dirty="0">
                <a:solidFill>
                  <a:srgbClr val="F3EFF7"/>
                </a:solidFill>
                <a:latin typeface="Courier New" pitchFamily="34" charset="0"/>
                <a:ea typeface="Courier New" pitchFamily="34" charset="-122"/>
                <a:cs typeface="Courier New" pitchFamily="34" charset="-120"/>
              </a:rPr>
              <a:t>└── myproject/</a:t>
            </a:r>
            <a:endParaRPr lang="en-US" sz="1100" dirty="0"/>
          </a:p>
          <a:p>
            <a:pPr algn="l" indent="0" marL="0">
              <a:buNone/>
            </a:pPr>
            <a:r>
              <a:rPr lang="en-US" sz="1100" dirty="0">
                <a:solidFill>
                  <a:srgbClr val="F3EFF7"/>
                </a:solidFill>
                <a:latin typeface="Courier New" pitchFamily="34" charset="0"/>
                <a:ea typeface="Courier New" pitchFamily="34" charset="-122"/>
                <a:cs typeface="Courier New" pitchFamily="34" charset="-120"/>
              </a:rPr>
              <a:t>    ├── __init__.py</a:t>
            </a:r>
            <a:endParaRPr lang="en-US" sz="1100" dirty="0"/>
          </a:p>
          <a:p>
            <a:pPr algn="l" indent="0" marL="0">
              <a:buNone/>
            </a:pPr>
            <a:r>
              <a:rPr lang="en-US" sz="1100" dirty="0">
                <a:solidFill>
                  <a:srgbClr val="F3EFF7"/>
                </a:solidFill>
                <a:latin typeface="Courier New" pitchFamily="34" charset="0"/>
                <a:ea typeface="Courier New" pitchFamily="34" charset="-122"/>
                <a:cs typeface="Courier New" pitchFamily="34" charset="-120"/>
              </a:rPr>
              <a:t>    ├── items.py</a:t>
            </a:r>
            <a:endParaRPr lang="en-US" sz="1100" dirty="0"/>
          </a:p>
          <a:p>
            <a:pPr algn="l" indent="0" marL="0">
              <a:buNone/>
            </a:pPr>
            <a:r>
              <a:rPr lang="en-US" sz="1100" dirty="0">
                <a:solidFill>
                  <a:srgbClr val="F3EFF7"/>
                </a:solidFill>
                <a:latin typeface="Courier New" pitchFamily="34" charset="0"/>
                <a:ea typeface="Courier New" pitchFamily="34" charset="-122"/>
                <a:cs typeface="Courier New" pitchFamily="34" charset="-120"/>
              </a:rPr>
              <a:t>    ├── middlewares.py</a:t>
            </a:r>
            <a:endParaRPr lang="en-US" sz="1100" dirty="0"/>
          </a:p>
          <a:p>
            <a:pPr algn="l" indent="0" marL="0">
              <a:buNone/>
            </a:pPr>
            <a:r>
              <a:rPr lang="en-US" sz="1100" dirty="0">
                <a:solidFill>
                  <a:srgbClr val="F3EFF7"/>
                </a:solidFill>
                <a:latin typeface="Courier New" pitchFamily="34" charset="0"/>
                <a:ea typeface="Courier New" pitchFamily="34" charset="-122"/>
                <a:cs typeface="Courier New" pitchFamily="34" charset="-120"/>
              </a:rPr>
              <a:t>    ├── pipelines.py</a:t>
            </a:r>
            <a:endParaRPr lang="en-US" sz="1100" dirty="0"/>
          </a:p>
          <a:p>
            <a:pPr algn="l" indent="0" marL="0">
              <a:buNone/>
            </a:pPr>
            <a:r>
              <a:rPr lang="en-US" sz="1100" dirty="0">
                <a:solidFill>
                  <a:srgbClr val="F3EFF7"/>
                </a:solidFill>
                <a:latin typeface="Courier New" pitchFamily="34" charset="0"/>
                <a:ea typeface="Courier New" pitchFamily="34" charset="-122"/>
                <a:cs typeface="Courier New" pitchFamily="34" charset="-120"/>
              </a:rPr>
              <a:t>    ├── settings.py</a:t>
            </a:r>
            <a:endParaRPr lang="en-US" sz="1100" dirty="0"/>
          </a:p>
          <a:p>
            <a:pPr algn="l" indent="0" marL="0">
              <a:buNone/>
            </a:pPr>
            <a:r>
              <a:rPr lang="en-US" sz="1100" dirty="0">
                <a:solidFill>
                  <a:srgbClr val="F3EFF7"/>
                </a:solidFill>
                <a:latin typeface="Courier New" pitchFamily="34" charset="0"/>
                <a:ea typeface="Courier New" pitchFamily="34" charset="-122"/>
                <a:cs typeface="Courier New" pitchFamily="34" charset="-120"/>
              </a:rPr>
              <a:t>    └── spiders/</a:t>
            </a:r>
            <a:endParaRPr lang="en-US" sz="1100" dirty="0"/>
          </a:p>
          <a:p>
            <a:pPr algn="l" indent="0" marL="0">
              <a:buNone/>
            </a:pPr>
            <a:r>
              <a:rPr lang="en-US" sz="1100" dirty="0">
                <a:solidFill>
                  <a:srgbClr val="F3EFF7"/>
                </a:solidFill>
                <a:latin typeface="Courier New" pitchFamily="34" charset="0"/>
                <a:ea typeface="Courier New" pitchFamily="34" charset="-122"/>
                <a:cs typeface="Courier New" pitchFamily="34" charset="-120"/>
              </a:rPr>
              <a:t>        └── books.py</a:t>
            </a:r>
            <a:endParaRPr lang="en-US" sz="1100" dirty="0"/>
          </a:p>
        </p:txBody>
      </p:sp>
      <p:sp>
        <p:nvSpPr>
          <p:cNvPr id="11" name="Shape 9"/>
          <p:cNvSpPr/>
          <p:nvPr/>
        </p:nvSpPr>
        <p:spPr>
          <a:xfrm>
            <a:off x="6172200" y="1755648"/>
            <a:ext cx="4937760" cy="960120"/>
          </a:xfrm>
          <a:prstGeom prst="roundRect">
            <a:avLst>
              <a:gd name="adj" fmla="val 5714"/>
            </a:avLst>
          </a:prstGeom>
          <a:solidFill>
            <a:srgbClr val="FFFFFF"/>
          </a:solidFill>
          <a:ln w="12700">
            <a:solidFill>
              <a:srgbClr val="DDDCE6"/>
            </a:solidFill>
            <a:prstDash val="solid"/>
          </a:ln>
          <a:effectLst>
            <a:outerShdw sx="100000" sy="100000" kx="0" ky="0" algn="bl" rotWithShape="0" blurRad="19050" dist="50800" dir="2700000">
              <a:srgbClr val="D6D3DF">
                <a:alpha val="18000"/>
              </a:srgbClr>
            </a:outerShdw>
          </a:effectLst>
        </p:spPr>
      </p:sp>
      <p:sp>
        <p:nvSpPr>
          <p:cNvPr id="12" name="Shape 10"/>
          <p:cNvSpPr/>
          <p:nvPr/>
        </p:nvSpPr>
        <p:spPr>
          <a:xfrm>
            <a:off x="6172200" y="1755648"/>
            <a:ext cx="73152" cy="960120"/>
          </a:xfrm>
          <a:prstGeom prst="rect">
            <a:avLst/>
          </a:prstGeom>
          <a:solidFill>
            <a:srgbClr val="7432A8"/>
          </a:solidFill>
          <a:ln w="12700">
            <a:solidFill>
              <a:srgbClr val="7432A8"/>
            </a:solidFill>
            <a:prstDash val="solid"/>
          </a:ln>
        </p:spPr>
      </p:sp>
      <p:sp>
        <p:nvSpPr>
          <p:cNvPr id="13" name="Text 11"/>
          <p:cNvSpPr/>
          <p:nvPr/>
        </p:nvSpPr>
        <p:spPr>
          <a:xfrm>
            <a:off x="6492240" y="1975104"/>
            <a:ext cx="4434840" cy="347472"/>
          </a:xfrm>
          <a:prstGeom prst="rect">
            <a:avLst/>
          </a:prstGeom>
          <a:noFill/>
          <a:ln/>
        </p:spPr>
        <p:txBody>
          <a:bodyPr wrap="square" lIns="0" tIns="0" rIns="0" bIns="0" rtlCol="0" anchor="t">
            <a:normAutofit/>
          </a:bodyPr>
          <a:lstStyle/>
          <a:p>
            <a:pPr algn="l" indent="0" marL="0">
              <a:buNone/>
            </a:pPr>
            <a:r>
              <a:rPr lang="en-US" sz="1630" b="1" dirty="0">
                <a:solidFill>
                  <a:srgbClr val="241337"/>
                </a:solidFill>
                <a:latin typeface="Aptos" pitchFamily="34" charset="0"/>
                <a:ea typeface="Aptos" pitchFamily="34" charset="-122"/>
                <a:cs typeface="Aptos" pitchFamily="34" charset="-120"/>
              </a:rPr>
              <a:t>spiders/</a:t>
            </a:r>
            <a:endParaRPr lang="en-US" sz="1630" dirty="0"/>
          </a:p>
        </p:txBody>
      </p:sp>
      <p:sp>
        <p:nvSpPr>
          <p:cNvPr id="14" name="Text 12"/>
          <p:cNvSpPr/>
          <p:nvPr/>
        </p:nvSpPr>
        <p:spPr>
          <a:xfrm>
            <a:off x="6464808" y="2450592"/>
            <a:ext cx="4434840" cy="91440"/>
          </a:xfrm>
          <a:prstGeom prst="rect">
            <a:avLst/>
          </a:prstGeom>
          <a:noFill/>
          <a:ln/>
        </p:spPr>
        <p:txBody>
          <a:bodyPr wrap="square" lIns="0" tIns="0" rIns="0" bIns="0" rtlCol="0" anchor="t">
            <a:normAutofit/>
          </a:bodyPr>
          <a:lstStyle/>
          <a:p>
            <a:pPr algn="l" indent="0" marL="0">
              <a:buNone/>
            </a:pPr>
            <a:r>
              <a:rPr lang="en-US" sz="1230" dirty="0">
                <a:solidFill>
                  <a:srgbClr val="6F7082"/>
                </a:solidFill>
                <a:latin typeface="Aptos" pitchFamily="34" charset="0"/>
                <a:ea typeface="Aptos" pitchFamily="34" charset="-122"/>
                <a:cs typeface="Aptos" pitchFamily="34" charset="-120"/>
              </a:rPr>
              <a:t>Où vit la logique de navigation et d’extraction.</a:t>
            </a:r>
            <a:endParaRPr lang="en-US" sz="1230" dirty="0"/>
          </a:p>
        </p:txBody>
      </p:sp>
      <p:sp>
        <p:nvSpPr>
          <p:cNvPr id="15" name="Shape 13"/>
          <p:cNvSpPr/>
          <p:nvPr/>
        </p:nvSpPr>
        <p:spPr>
          <a:xfrm>
            <a:off x="6172200" y="2816352"/>
            <a:ext cx="4937760" cy="960120"/>
          </a:xfrm>
          <a:prstGeom prst="roundRect">
            <a:avLst>
              <a:gd name="adj" fmla="val 5714"/>
            </a:avLst>
          </a:prstGeom>
          <a:solidFill>
            <a:srgbClr val="FFFFFF"/>
          </a:solidFill>
          <a:ln w="12700">
            <a:solidFill>
              <a:srgbClr val="DDDCE6"/>
            </a:solidFill>
            <a:prstDash val="solid"/>
          </a:ln>
          <a:effectLst>
            <a:outerShdw sx="100000" sy="100000" kx="0" ky="0" algn="bl" rotWithShape="0" blurRad="19050" dist="50800" dir="2700000">
              <a:srgbClr val="D6D3DF">
                <a:alpha val="18000"/>
              </a:srgbClr>
            </a:outerShdw>
          </a:effectLst>
        </p:spPr>
      </p:sp>
      <p:sp>
        <p:nvSpPr>
          <p:cNvPr id="16" name="Shape 14"/>
          <p:cNvSpPr/>
          <p:nvPr/>
        </p:nvSpPr>
        <p:spPr>
          <a:xfrm>
            <a:off x="6172200" y="2816352"/>
            <a:ext cx="73152" cy="960120"/>
          </a:xfrm>
          <a:prstGeom prst="rect">
            <a:avLst/>
          </a:prstGeom>
          <a:solidFill>
            <a:srgbClr val="4EA27B"/>
          </a:solidFill>
          <a:ln w="12700">
            <a:solidFill>
              <a:srgbClr val="4EA27B"/>
            </a:solidFill>
            <a:prstDash val="solid"/>
          </a:ln>
        </p:spPr>
      </p:sp>
      <p:sp>
        <p:nvSpPr>
          <p:cNvPr id="17" name="Text 15"/>
          <p:cNvSpPr/>
          <p:nvPr/>
        </p:nvSpPr>
        <p:spPr>
          <a:xfrm>
            <a:off x="6492240" y="3035808"/>
            <a:ext cx="4434840" cy="347472"/>
          </a:xfrm>
          <a:prstGeom prst="rect">
            <a:avLst/>
          </a:prstGeom>
          <a:noFill/>
          <a:ln/>
        </p:spPr>
        <p:txBody>
          <a:bodyPr wrap="square" lIns="0" tIns="0" rIns="0" bIns="0" rtlCol="0" anchor="t">
            <a:normAutofit/>
          </a:bodyPr>
          <a:lstStyle/>
          <a:p>
            <a:pPr algn="l" indent="0" marL="0">
              <a:buNone/>
            </a:pPr>
            <a:r>
              <a:rPr lang="en-US" sz="1630" b="1" dirty="0">
                <a:solidFill>
                  <a:srgbClr val="241337"/>
                </a:solidFill>
                <a:latin typeface="Aptos" pitchFamily="34" charset="0"/>
                <a:ea typeface="Aptos" pitchFamily="34" charset="-122"/>
                <a:cs typeface="Aptos" pitchFamily="34" charset="-120"/>
              </a:rPr>
              <a:t>pipelines.py</a:t>
            </a:r>
            <a:endParaRPr lang="en-US" sz="1630" dirty="0"/>
          </a:p>
        </p:txBody>
      </p:sp>
      <p:sp>
        <p:nvSpPr>
          <p:cNvPr id="18" name="Text 16"/>
          <p:cNvSpPr/>
          <p:nvPr/>
        </p:nvSpPr>
        <p:spPr>
          <a:xfrm>
            <a:off x="6464808" y="3511296"/>
            <a:ext cx="4434840" cy="91440"/>
          </a:xfrm>
          <a:prstGeom prst="rect">
            <a:avLst/>
          </a:prstGeom>
          <a:noFill/>
          <a:ln/>
        </p:spPr>
        <p:txBody>
          <a:bodyPr wrap="square" lIns="0" tIns="0" rIns="0" bIns="0" rtlCol="0" anchor="t">
            <a:normAutofit/>
          </a:bodyPr>
          <a:lstStyle/>
          <a:p>
            <a:pPr algn="l" indent="0" marL="0">
              <a:buNone/>
            </a:pPr>
            <a:r>
              <a:rPr lang="en-US" sz="1230" dirty="0">
                <a:solidFill>
                  <a:srgbClr val="6F7082"/>
                </a:solidFill>
                <a:latin typeface="Aptos" pitchFamily="34" charset="0"/>
                <a:ea typeface="Aptos" pitchFamily="34" charset="-122"/>
                <a:cs typeface="Aptos" pitchFamily="34" charset="-120"/>
              </a:rPr>
              <a:t>Nettoyage, validation, déduplication, base de données.</a:t>
            </a:r>
            <a:endParaRPr lang="en-US" sz="1230" dirty="0"/>
          </a:p>
        </p:txBody>
      </p:sp>
      <p:sp>
        <p:nvSpPr>
          <p:cNvPr id="19" name="Shape 17"/>
          <p:cNvSpPr/>
          <p:nvPr/>
        </p:nvSpPr>
        <p:spPr>
          <a:xfrm>
            <a:off x="6172200" y="3877056"/>
            <a:ext cx="4937760" cy="960120"/>
          </a:xfrm>
          <a:prstGeom prst="roundRect">
            <a:avLst>
              <a:gd name="adj" fmla="val 5714"/>
            </a:avLst>
          </a:prstGeom>
          <a:solidFill>
            <a:srgbClr val="FFFFFF"/>
          </a:solidFill>
          <a:ln w="12700">
            <a:solidFill>
              <a:srgbClr val="DDDCE6"/>
            </a:solidFill>
            <a:prstDash val="solid"/>
          </a:ln>
          <a:effectLst>
            <a:outerShdw sx="100000" sy="100000" kx="0" ky="0" algn="bl" rotWithShape="0" blurRad="19050" dist="50800" dir="2700000">
              <a:srgbClr val="D6D3DF">
                <a:alpha val="18000"/>
              </a:srgbClr>
            </a:outerShdw>
          </a:effectLst>
        </p:spPr>
      </p:sp>
      <p:sp>
        <p:nvSpPr>
          <p:cNvPr id="20" name="Shape 18"/>
          <p:cNvSpPr/>
          <p:nvPr/>
        </p:nvSpPr>
        <p:spPr>
          <a:xfrm>
            <a:off x="6172200" y="3877056"/>
            <a:ext cx="73152" cy="960120"/>
          </a:xfrm>
          <a:prstGeom prst="rect">
            <a:avLst/>
          </a:prstGeom>
          <a:solidFill>
            <a:srgbClr val="DB8129"/>
          </a:solidFill>
          <a:ln w="12700">
            <a:solidFill>
              <a:srgbClr val="DB8129"/>
            </a:solidFill>
            <a:prstDash val="solid"/>
          </a:ln>
        </p:spPr>
      </p:sp>
      <p:sp>
        <p:nvSpPr>
          <p:cNvPr id="21" name="Text 19"/>
          <p:cNvSpPr/>
          <p:nvPr/>
        </p:nvSpPr>
        <p:spPr>
          <a:xfrm>
            <a:off x="6492240" y="4096512"/>
            <a:ext cx="4434840" cy="347472"/>
          </a:xfrm>
          <a:prstGeom prst="rect">
            <a:avLst/>
          </a:prstGeom>
          <a:noFill/>
          <a:ln/>
        </p:spPr>
        <p:txBody>
          <a:bodyPr wrap="square" lIns="0" tIns="0" rIns="0" bIns="0" rtlCol="0" anchor="t">
            <a:normAutofit/>
          </a:bodyPr>
          <a:lstStyle/>
          <a:p>
            <a:pPr algn="l" indent="0" marL="0">
              <a:buNone/>
            </a:pPr>
            <a:r>
              <a:rPr lang="en-US" sz="1630" b="1" dirty="0">
                <a:solidFill>
                  <a:srgbClr val="241337"/>
                </a:solidFill>
                <a:latin typeface="Aptos" pitchFamily="34" charset="0"/>
                <a:ea typeface="Aptos" pitchFamily="34" charset="-122"/>
                <a:cs typeface="Aptos" pitchFamily="34" charset="-120"/>
              </a:rPr>
              <a:t>settings.py</a:t>
            </a:r>
            <a:endParaRPr lang="en-US" sz="1630" dirty="0"/>
          </a:p>
        </p:txBody>
      </p:sp>
      <p:sp>
        <p:nvSpPr>
          <p:cNvPr id="22" name="Text 20"/>
          <p:cNvSpPr/>
          <p:nvPr/>
        </p:nvSpPr>
        <p:spPr>
          <a:xfrm>
            <a:off x="6464808" y="4572000"/>
            <a:ext cx="4434840" cy="91440"/>
          </a:xfrm>
          <a:prstGeom prst="rect">
            <a:avLst/>
          </a:prstGeom>
          <a:noFill/>
          <a:ln/>
        </p:spPr>
        <p:txBody>
          <a:bodyPr wrap="square" lIns="0" tIns="0" rIns="0" bIns="0" rtlCol="0" anchor="t">
            <a:normAutofit/>
          </a:bodyPr>
          <a:lstStyle/>
          <a:p>
            <a:pPr algn="l" indent="0" marL="0">
              <a:buNone/>
            </a:pPr>
            <a:r>
              <a:rPr lang="en-US" sz="1230" dirty="0">
                <a:solidFill>
                  <a:srgbClr val="6F7082"/>
                </a:solidFill>
                <a:latin typeface="Aptos" pitchFamily="34" charset="0"/>
                <a:ea typeface="Aptos" pitchFamily="34" charset="-122"/>
                <a:cs typeface="Aptos" pitchFamily="34" charset="-120"/>
              </a:rPr>
              <a:t>Politesse du crawl, logs, pipelines, middlewares et exports.</a:t>
            </a:r>
            <a:endParaRPr lang="en-US" sz="1230" dirty="0"/>
          </a:p>
        </p:txBody>
      </p:sp>
      <p:sp>
        <p:nvSpPr>
          <p:cNvPr id="23" name="Shape 21"/>
          <p:cNvSpPr/>
          <p:nvPr/>
        </p:nvSpPr>
        <p:spPr>
          <a:xfrm>
            <a:off x="6172200" y="4937760"/>
            <a:ext cx="4937760" cy="960120"/>
          </a:xfrm>
          <a:prstGeom prst="roundRect">
            <a:avLst>
              <a:gd name="adj" fmla="val 5714"/>
            </a:avLst>
          </a:prstGeom>
          <a:solidFill>
            <a:srgbClr val="FFFFFF"/>
          </a:solidFill>
          <a:ln w="12700">
            <a:solidFill>
              <a:srgbClr val="DDDCE6"/>
            </a:solidFill>
            <a:prstDash val="solid"/>
          </a:ln>
          <a:effectLst>
            <a:outerShdw sx="100000" sy="100000" kx="0" ky="0" algn="bl" rotWithShape="0" blurRad="19050" dist="50800" dir="2700000">
              <a:srgbClr val="D6D3DF">
                <a:alpha val="18000"/>
              </a:srgbClr>
            </a:outerShdw>
          </a:effectLst>
        </p:spPr>
      </p:sp>
      <p:sp>
        <p:nvSpPr>
          <p:cNvPr id="24" name="Shape 22"/>
          <p:cNvSpPr/>
          <p:nvPr/>
        </p:nvSpPr>
        <p:spPr>
          <a:xfrm>
            <a:off x="6172200" y="4937760"/>
            <a:ext cx="73152" cy="960120"/>
          </a:xfrm>
          <a:prstGeom prst="rect">
            <a:avLst/>
          </a:prstGeom>
          <a:solidFill>
            <a:srgbClr val="4F7FC4"/>
          </a:solidFill>
          <a:ln w="12700">
            <a:solidFill>
              <a:srgbClr val="4F7FC4"/>
            </a:solidFill>
            <a:prstDash val="solid"/>
          </a:ln>
        </p:spPr>
      </p:sp>
      <p:sp>
        <p:nvSpPr>
          <p:cNvPr id="25" name="Text 23"/>
          <p:cNvSpPr/>
          <p:nvPr/>
        </p:nvSpPr>
        <p:spPr>
          <a:xfrm>
            <a:off x="6492240" y="5157216"/>
            <a:ext cx="4434840" cy="347472"/>
          </a:xfrm>
          <a:prstGeom prst="rect">
            <a:avLst/>
          </a:prstGeom>
          <a:noFill/>
          <a:ln/>
        </p:spPr>
        <p:txBody>
          <a:bodyPr wrap="square" lIns="0" tIns="0" rIns="0" bIns="0" rtlCol="0" anchor="t">
            <a:normAutofit/>
          </a:bodyPr>
          <a:lstStyle/>
          <a:p>
            <a:pPr algn="l" indent="0" marL="0">
              <a:buNone/>
            </a:pPr>
            <a:r>
              <a:rPr lang="en-US" sz="1630" b="1" dirty="0">
                <a:solidFill>
                  <a:srgbClr val="241337"/>
                </a:solidFill>
                <a:latin typeface="Aptos" pitchFamily="34" charset="0"/>
                <a:ea typeface="Aptos" pitchFamily="34" charset="-122"/>
                <a:cs typeface="Aptos" pitchFamily="34" charset="-120"/>
              </a:rPr>
              <a:t>items.py</a:t>
            </a:r>
            <a:endParaRPr lang="en-US" sz="1630" dirty="0"/>
          </a:p>
        </p:txBody>
      </p:sp>
      <p:sp>
        <p:nvSpPr>
          <p:cNvPr id="26" name="Text 24"/>
          <p:cNvSpPr/>
          <p:nvPr/>
        </p:nvSpPr>
        <p:spPr>
          <a:xfrm>
            <a:off x="6464808" y="5632704"/>
            <a:ext cx="4434840" cy="91440"/>
          </a:xfrm>
          <a:prstGeom prst="rect">
            <a:avLst/>
          </a:prstGeom>
          <a:noFill/>
          <a:ln/>
        </p:spPr>
        <p:txBody>
          <a:bodyPr wrap="square" lIns="0" tIns="0" rIns="0" bIns="0" rtlCol="0" anchor="t">
            <a:normAutofit/>
          </a:bodyPr>
          <a:lstStyle/>
          <a:p>
            <a:pPr algn="l" indent="0" marL="0">
              <a:buNone/>
            </a:pPr>
            <a:r>
              <a:rPr lang="en-US" sz="1230" dirty="0">
                <a:solidFill>
                  <a:srgbClr val="6F7082"/>
                </a:solidFill>
                <a:latin typeface="Aptos" pitchFamily="34" charset="0"/>
                <a:ea typeface="Aptos" pitchFamily="34" charset="-122"/>
                <a:cs typeface="Aptos" pitchFamily="34" charset="-120"/>
              </a:rPr>
              <a:t>Schéma logique des données à produire.</a:t>
            </a:r>
            <a:endParaRPr lang="en-US" sz="1230" dirty="0"/>
          </a:p>
        </p:txBody>
      </p:sp>
      <p:sp>
        <p:nvSpPr>
          <p:cNvPr id="25" name="Slide Number Placeholder 0"/>
          <p:cNvSpPr>
            <a:spLocks noGrp="1"/>
          </p:cNvSpPr>
          <p:nvPr>
            <p:ph type="sldNum" sz="quarter" idx="4294967295"/>
          </p:nvPr>
        </p:nvSpPr>
        <p:spPr>
          <a:xfrm>
            <a:off x="11750040" y="274320"/>
            <a:ext cx="228600" cy="164592"/>
          </a:xfrm>
          <a:prstGeom prst="rect">
            <a:avLst/>
          </a:prstGeom>
          <a:extLst>
            <a:ext uri="{C572A759-6A51-4108-AA02-DFA0A04FC94B}">
              <ma14:wrappingTextBoxFlag xmlns:ma14="http://schemas.microsoft.com/office/mac/drawingml/2011/main" val="0"/>
            </a:ext>
          </a:extLst>
        </p:spPr>
        <p:txBody>
          <a:bodyPr/>
          <a:lstStyle>
            <a:lvl1pPr>
              <a:defRPr sz="800">
                <a:solidFill>
                  <a:srgbClr val="858697"/>
                </a:solidFill>
                <a:latin typeface="Aptos"/>
                <a:ea typeface="Aptos"/>
                <a:cs typeface="Aptos"/>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566928" y="438912"/>
            <a:ext cx="5029200" cy="228600"/>
          </a:xfrm>
          <a:prstGeom prst="rect">
            <a:avLst/>
          </a:prstGeom>
          <a:noFill/>
          <a:ln/>
        </p:spPr>
        <p:txBody>
          <a:bodyPr wrap="square" lIns="0" tIns="0" rIns="0" bIns="0" rtlCol="0" anchor="ctr">
            <a:normAutofit/>
          </a:bodyPr>
          <a:lstStyle/>
          <a:p>
            <a:pPr algn="l" indent="0" marL="0">
              <a:buNone/>
            </a:pPr>
            <a:r>
              <a:rPr lang="en-US" sz="1050" b="1" spc="150" kern="0" dirty="0">
                <a:solidFill>
                  <a:srgbClr val="7432A8"/>
                </a:solidFill>
                <a:latin typeface="Aptos" pitchFamily="34" charset="0"/>
                <a:ea typeface="Aptos" pitchFamily="34" charset="-122"/>
                <a:cs typeface="Aptos" pitchFamily="34" charset="-120"/>
              </a:rPr>
              <a:t>DÉMARRAGE</a:t>
            </a:r>
            <a:endParaRPr lang="en-US" sz="1050" dirty="0"/>
          </a:p>
        </p:txBody>
      </p:sp>
      <p:sp>
        <p:nvSpPr>
          <p:cNvPr id="3" name="Text 1"/>
          <p:cNvSpPr/>
          <p:nvPr/>
        </p:nvSpPr>
        <p:spPr>
          <a:xfrm>
            <a:off x="566928" y="768096"/>
            <a:ext cx="10972800" cy="566928"/>
          </a:xfrm>
          <a:prstGeom prst="rect">
            <a:avLst/>
          </a:prstGeom>
          <a:noFill/>
          <a:ln/>
        </p:spPr>
        <p:txBody>
          <a:bodyPr wrap="square" lIns="0" tIns="0" rIns="0" bIns="0" rtlCol="0" anchor="t">
            <a:normAutofit/>
          </a:bodyPr>
          <a:lstStyle/>
          <a:p>
            <a:pPr algn="l" indent="0" marL="0">
              <a:buNone/>
            </a:pPr>
            <a:r>
              <a:rPr lang="en-US" sz="2800" b="1" dirty="0">
                <a:solidFill>
                  <a:srgbClr val="241337"/>
                </a:solidFill>
                <a:latin typeface="Aptos" pitchFamily="34" charset="0"/>
                <a:ea typeface="Aptos" pitchFamily="34" charset="-122"/>
                <a:cs typeface="Aptos" pitchFamily="34" charset="-120"/>
              </a:rPr>
              <a:t>Créer et lancer un projet</a:t>
            </a:r>
            <a:endParaRPr lang="en-US" sz="2800" dirty="0"/>
          </a:p>
        </p:txBody>
      </p:sp>
      <p:sp>
        <p:nvSpPr>
          <p:cNvPr id="4" name="Shape 2"/>
          <p:cNvSpPr/>
          <p:nvPr/>
        </p:nvSpPr>
        <p:spPr>
          <a:xfrm>
            <a:off x="685800" y="1691640"/>
            <a:ext cx="6400800" cy="3337560"/>
          </a:xfrm>
          <a:prstGeom prst="roundRect">
            <a:avLst>
              <a:gd name="adj" fmla="val 1096"/>
            </a:avLst>
          </a:prstGeom>
          <a:solidFill>
            <a:srgbClr val="17141E"/>
          </a:solidFill>
          <a:ln w="12700">
            <a:solidFill>
              <a:srgbClr val="17141E"/>
            </a:solidFill>
            <a:prstDash val="solid"/>
          </a:ln>
        </p:spPr>
      </p:sp>
      <p:sp>
        <p:nvSpPr>
          <p:cNvPr id="5" name="Shape 3"/>
          <p:cNvSpPr/>
          <p:nvPr/>
        </p:nvSpPr>
        <p:spPr>
          <a:xfrm>
            <a:off x="685800" y="1691640"/>
            <a:ext cx="6400800" cy="347472"/>
          </a:xfrm>
          <a:prstGeom prst="rect">
            <a:avLst/>
          </a:prstGeom>
          <a:solidFill>
            <a:srgbClr val="2B2633"/>
          </a:solidFill>
          <a:ln w="12700">
            <a:solidFill>
              <a:srgbClr val="2B2633"/>
            </a:solidFill>
            <a:prstDash val="solid"/>
          </a:ln>
        </p:spPr>
      </p:sp>
      <p:sp>
        <p:nvSpPr>
          <p:cNvPr id="6" name="Shape 4"/>
          <p:cNvSpPr/>
          <p:nvPr/>
        </p:nvSpPr>
        <p:spPr>
          <a:xfrm>
            <a:off x="868680" y="1810512"/>
            <a:ext cx="73152" cy="73152"/>
          </a:xfrm>
          <a:prstGeom prst="ellipse">
            <a:avLst/>
          </a:prstGeom>
          <a:solidFill>
            <a:srgbClr val="D55E5A"/>
          </a:solidFill>
          <a:ln w="12700">
            <a:solidFill>
              <a:srgbClr val="D55E5A"/>
            </a:solidFill>
            <a:prstDash val="solid"/>
          </a:ln>
        </p:spPr>
      </p:sp>
      <p:sp>
        <p:nvSpPr>
          <p:cNvPr id="7" name="Shape 5"/>
          <p:cNvSpPr/>
          <p:nvPr/>
        </p:nvSpPr>
        <p:spPr>
          <a:xfrm>
            <a:off x="1014984" y="1810512"/>
            <a:ext cx="73152" cy="73152"/>
          </a:xfrm>
          <a:prstGeom prst="ellipse">
            <a:avLst/>
          </a:prstGeom>
          <a:solidFill>
            <a:srgbClr val="E0B24A"/>
          </a:solidFill>
          <a:ln w="12700">
            <a:solidFill>
              <a:srgbClr val="E0B24A"/>
            </a:solidFill>
            <a:prstDash val="solid"/>
          </a:ln>
        </p:spPr>
      </p:sp>
      <p:sp>
        <p:nvSpPr>
          <p:cNvPr id="8" name="Shape 6"/>
          <p:cNvSpPr/>
          <p:nvPr/>
        </p:nvSpPr>
        <p:spPr>
          <a:xfrm>
            <a:off x="1161288" y="1810512"/>
            <a:ext cx="73152" cy="73152"/>
          </a:xfrm>
          <a:prstGeom prst="ellipse">
            <a:avLst/>
          </a:prstGeom>
          <a:solidFill>
            <a:srgbClr val="7EB465"/>
          </a:solidFill>
          <a:ln w="12700">
            <a:solidFill>
              <a:srgbClr val="7EB465"/>
            </a:solidFill>
            <a:prstDash val="solid"/>
          </a:ln>
        </p:spPr>
      </p:sp>
      <p:sp>
        <p:nvSpPr>
          <p:cNvPr id="9" name="Text 7"/>
          <p:cNvSpPr/>
          <p:nvPr/>
        </p:nvSpPr>
        <p:spPr>
          <a:xfrm>
            <a:off x="5989320" y="1764792"/>
            <a:ext cx="914400" cy="137160"/>
          </a:xfrm>
          <a:prstGeom prst="rect">
            <a:avLst/>
          </a:prstGeom>
          <a:noFill/>
          <a:ln/>
        </p:spPr>
        <p:txBody>
          <a:bodyPr wrap="square" lIns="0" tIns="0" rIns="0" bIns="0" rtlCol="0" anchor="ctr">
            <a:normAutofit/>
          </a:bodyPr>
          <a:lstStyle/>
          <a:p>
            <a:pPr algn="r" indent="0" marL="0">
              <a:buNone/>
            </a:pPr>
            <a:r>
              <a:rPr lang="en-US" sz="900" dirty="0">
                <a:solidFill>
                  <a:srgbClr val="B8B3C2"/>
                </a:solidFill>
                <a:latin typeface="Aptos" pitchFamily="34" charset="0"/>
                <a:ea typeface="Aptos" pitchFamily="34" charset="-122"/>
                <a:cs typeface="Aptos" pitchFamily="34" charset="-120"/>
              </a:rPr>
              <a:t>TERMINAL</a:t>
            </a:r>
            <a:endParaRPr lang="en-US" sz="900" dirty="0"/>
          </a:p>
        </p:txBody>
      </p:sp>
      <p:sp>
        <p:nvSpPr>
          <p:cNvPr id="10" name="Text 8"/>
          <p:cNvSpPr/>
          <p:nvPr/>
        </p:nvSpPr>
        <p:spPr>
          <a:xfrm>
            <a:off x="914400" y="2167128"/>
            <a:ext cx="5943600" cy="2715768"/>
          </a:xfrm>
          <a:prstGeom prst="rect">
            <a:avLst/>
          </a:prstGeom>
          <a:noFill/>
          <a:ln/>
        </p:spPr>
        <p:txBody>
          <a:bodyPr wrap="square" lIns="0" tIns="0" rIns="0" bIns="0" rtlCol="0" anchor="t">
            <a:normAutofit/>
          </a:bodyPr>
          <a:lstStyle/>
          <a:p>
            <a:pPr algn="l" indent="0" marL="0">
              <a:buNone/>
            </a:pPr>
            <a:r>
              <a:rPr lang="en-US" sz="1100" dirty="0">
                <a:solidFill>
                  <a:srgbClr val="F3EFF7"/>
                </a:solidFill>
                <a:latin typeface="Courier New" pitchFamily="34" charset="0"/>
                <a:ea typeface="Courier New" pitchFamily="34" charset="-122"/>
                <a:cs typeface="Courier New" pitchFamily="34" charset="-120"/>
              </a:rPr>
              <a:t>python -m venv .venv</a:t>
            </a:r>
            <a:endParaRPr lang="en-US" sz="1100" dirty="0"/>
          </a:p>
          <a:p>
            <a:pPr algn="l" indent="0" marL="0">
              <a:buNone/>
            </a:pPr>
            <a:r>
              <a:rPr lang="en-US" sz="1100" dirty="0">
                <a:solidFill>
                  <a:srgbClr val="F3EFF7"/>
                </a:solidFill>
                <a:latin typeface="Courier New" pitchFamily="34" charset="0"/>
                <a:ea typeface="Courier New" pitchFamily="34" charset="-122"/>
                <a:cs typeface="Courier New" pitchFamily="34" charset="-120"/>
              </a:rPr>
              <a:t>source .venv/bin/activate</a:t>
            </a:r>
            <a:endParaRPr lang="en-US" sz="1100" dirty="0"/>
          </a:p>
          <a:p>
            <a:pPr algn="l" indent="0" marL="0">
              <a:buNone/>
            </a:pPr>
            <a:endParaRPr lang="en-US" sz="1100" dirty="0"/>
          </a:p>
          <a:p>
            <a:pPr algn="l" indent="0" marL="0">
              <a:buNone/>
            </a:pPr>
            <a:r>
              <a:rPr lang="en-US" sz="1100" dirty="0">
                <a:solidFill>
                  <a:srgbClr val="F3EFF7"/>
                </a:solidFill>
                <a:latin typeface="Courier New" pitchFamily="34" charset="0"/>
                <a:ea typeface="Courier New" pitchFamily="34" charset="-122"/>
                <a:cs typeface="Courier New" pitchFamily="34" charset="-120"/>
              </a:rPr>
              <a:t>pip install scrapy</a:t>
            </a:r>
            <a:endParaRPr lang="en-US" sz="1100" dirty="0"/>
          </a:p>
          <a:p>
            <a:pPr algn="l" indent="0" marL="0">
              <a:buNone/>
            </a:pPr>
            <a:endParaRPr lang="en-US" sz="1100" dirty="0"/>
          </a:p>
          <a:p>
            <a:pPr algn="l" indent="0" marL="0">
              <a:buNone/>
            </a:pPr>
            <a:r>
              <a:rPr lang="en-US" sz="1100" dirty="0">
                <a:solidFill>
                  <a:srgbClr val="F3EFF7"/>
                </a:solidFill>
                <a:latin typeface="Courier New" pitchFamily="34" charset="0"/>
                <a:ea typeface="Courier New" pitchFamily="34" charset="-122"/>
                <a:cs typeface="Courier New" pitchFamily="34" charset="-120"/>
              </a:rPr>
              <a:t>scrapy startproject catalog_scraper</a:t>
            </a:r>
            <a:endParaRPr lang="en-US" sz="1100" dirty="0"/>
          </a:p>
          <a:p>
            <a:pPr algn="l" indent="0" marL="0">
              <a:buNone/>
            </a:pPr>
            <a:r>
              <a:rPr lang="en-US" sz="1100" dirty="0">
                <a:solidFill>
                  <a:srgbClr val="F3EFF7"/>
                </a:solidFill>
                <a:latin typeface="Courier New" pitchFamily="34" charset="0"/>
                <a:ea typeface="Courier New" pitchFamily="34" charset="-122"/>
                <a:cs typeface="Courier New" pitchFamily="34" charset="-120"/>
              </a:rPr>
              <a:t>cd catalog_scraper</a:t>
            </a:r>
            <a:endParaRPr lang="en-US" sz="1100" dirty="0"/>
          </a:p>
          <a:p>
            <a:pPr algn="l" indent="0" marL="0">
              <a:buNone/>
            </a:pPr>
            <a:endParaRPr lang="en-US" sz="1100" dirty="0"/>
          </a:p>
          <a:p>
            <a:pPr algn="l" indent="0" marL="0">
              <a:buNone/>
            </a:pPr>
            <a:r>
              <a:rPr lang="en-US" sz="1100" dirty="0">
                <a:solidFill>
                  <a:srgbClr val="F3EFF7"/>
                </a:solidFill>
                <a:latin typeface="Courier New" pitchFamily="34" charset="0"/>
                <a:ea typeface="Courier New" pitchFamily="34" charset="-122"/>
                <a:cs typeface="Courier New" pitchFamily="34" charset="-120"/>
              </a:rPr>
              <a:t>scrapy genspider books books.toscrape.com</a:t>
            </a:r>
            <a:endParaRPr lang="en-US" sz="1100" dirty="0"/>
          </a:p>
        </p:txBody>
      </p:sp>
      <p:sp>
        <p:nvSpPr>
          <p:cNvPr id="11" name="Shape 9"/>
          <p:cNvSpPr/>
          <p:nvPr/>
        </p:nvSpPr>
        <p:spPr>
          <a:xfrm>
            <a:off x="7406640" y="1737360"/>
            <a:ext cx="4069080" cy="1024128"/>
          </a:xfrm>
          <a:prstGeom prst="roundRect">
            <a:avLst>
              <a:gd name="adj" fmla="val 5357"/>
            </a:avLst>
          </a:prstGeom>
          <a:solidFill>
            <a:srgbClr val="FFFFFF"/>
          </a:solidFill>
          <a:ln w="12700">
            <a:solidFill>
              <a:srgbClr val="DDDCE6"/>
            </a:solidFill>
            <a:prstDash val="solid"/>
          </a:ln>
          <a:effectLst>
            <a:outerShdw sx="100000" sy="100000" kx="0" ky="0" algn="bl" rotWithShape="0" blurRad="19050" dist="50800" dir="2700000">
              <a:srgbClr val="D6D3DF">
                <a:alpha val="18000"/>
              </a:srgbClr>
            </a:outerShdw>
          </a:effectLst>
        </p:spPr>
      </p:sp>
      <p:sp>
        <p:nvSpPr>
          <p:cNvPr id="12" name="Shape 10"/>
          <p:cNvSpPr/>
          <p:nvPr/>
        </p:nvSpPr>
        <p:spPr>
          <a:xfrm>
            <a:off x="7406640" y="1737360"/>
            <a:ext cx="73152" cy="1024128"/>
          </a:xfrm>
          <a:prstGeom prst="rect">
            <a:avLst/>
          </a:prstGeom>
          <a:solidFill>
            <a:srgbClr val="4F7FC4"/>
          </a:solidFill>
          <a:ln w="12700">
            <a:solidFill>
              <a:srgbClr val="4F7FC4"/>
            </a:solidFill>
            <a:prstDash val="solid"/>
          </a:ln>
        </p:spPr>
      </p:sp>
      <p:sp>
        <p:nvSpPr>
          <p:cNvPr id="13" name="Text 11"/>
          <p:cNvSpPr/>
          <p:nvPr/>
        </p:nvSpPr>
        <p:spPr>
          <a:xfrm>
            <a:off x="7726680" y="1956816"/>
            <a:ext cx="3566160" cy="347472"/>
          </a:xfrm>
          <a:prstGeom prst="rect">
            <a:avLst/>
          </a:prstGeom>
          <a:noFill/>
          <a:ln/>
        </p:spPr>
        <p:txBody>
          <a:bodyPr wrap="square" lIns="0" tIns="0" rIns="0" bIns="0" rtlCol="0" anchor="t">
            <a:normAutofit/>
          </a:bodyPr>
          <a:lstStyle/>
          <a:p>
            <a:pPr algn="l" indent="0" marL="0">
              <a:buNone/>
            </a:pPr>
            <a:r>
              <a:rPr lang="en-US" sz="1630" b="1" dirty="0">
                <a:solidFill>
                  <a:srgbClr val="241337"/>
                </a:solidFill>
                <a:latin typeface="Aptos" pitchFamily="34" charset="0"/>
                <a:ea typeface="Aptos" pitchFamily="34" charset="-122"/>
                <a:cs typeface="Aptos" pitchFamily="34" charset="-120"/>
              </a:rPr>
              <a:t>1. Isoler</a:t>
            </a:r>
            <a:endParaRPr lang="en-US" sz="1630" dirty="0"/>
          </a:p>
        </p:txBody>
      </p:sp>
      <p:sp>
        <p:nvSpPr>
          <p:cNvPr id="14" name="Text 12"/>
          <p:cNvSpPr/>
          <p:nvPr/>
        </p:nvSpPr>
        <p:spPr>
          <a:xfrm>
            <a:off x="7699248" y="2432304"/>
            <a:ext cx="3566160" cy="155448"/>
          </a:xfrm>
          <a:prstGeom prst="rect">
            <a:avLst/>
          </a:prstGeom>
          <a:noFill/>
          <a:ln/>
        </p:spPr>
        <p:txBody>
          <a:bodyPr wrap="square" lIns="0" tIns="0" rIns="0" bIns="0" rtlCol="0" anchor="t">
            <a:normAutofit/>
          </a:bodyPr>
          <a:lstStyle/>
          <a:p>
            <a:pPr algn="l" indent="0" marL="0">
              <a:buNone/>
            </a:pPr>
            <a:r>
              <a:rPr lang="en-US" sz="1230" dirty="0">
                <a:solidFill>
                  <a:srgbClr val="6F7082"/>
                </a:solidFill>
                <a:latin typeface="Aptos" pitchFamily="34" charset="0"/>
                <a:ea typeface="Aptos" pitchFamily="34" charset="-122"/>
                <a:cs typeface="Aptos" pitchFamily="34" charset="-120"/>
              </a:rPr>
              <a:t>Un environnement virtuel par projet.</a:t>
            </a:r>
            <a:endParaRPr lang="en-US" sz="1230" dirty="0"/>
          </a:p>
        </p:txBody>
      </p:sp>
      <p:sp>
        <p:nvSpPr>
          <p:cNvPr id="15" name="Shape 13"/>
          <p:cNvSpPr/>
          <p:nvPr/>
        </p:nvSpPr>
        <p:spPr>
          <a:xfrm>
            <a:off x="7406640" y="2880360"/>
            <a:ext cx="4069080" cy="1024128"/>
          </a:xfrm>
          <a:prstGeom prst="roundRect">
            <a:avLst>
              <a:gd name="adj" fmla="val 5357"/>
            </a:avLst>
          </a:prstGeom>
          <a:solidFill>
            <a:srgbClr val="FFFFFF"/>
          </a:solidFill>
          <a:ln w="12700">
            <a:solidFill>
              <a:srgbClr val="DDDCE6"/>
            </a:solidFill>
            <a:prstDash val="solid"/>
          </a:ln>
          <a:effectLst>
            <a:outerShdw sx="100000" sy="100000" kx="0" ky="0" algn="bl" rotWithShape="0" blurRad="19050" dist="50800" dir="2700000">
              <a:srgbClr val="D6D3DF">
                <a:alpha val="18000"/>
              </a:srgbClr>
            </a:outerShdw>
          </a:effectLst>
        </p:spPr>
      </p:sp>
      <p:sp>
        <p:nvSpPr>
          <p:cNvPr id="16" name="Shape 14"/>
          <p:cNvSpPr/>
          <p:nvPr/>
        </p:nvSpPr>
        <p:spPr>
          <a:xfrm>
            <a:off x="7406640" y="2880360"/>
            <a:ext cx="73152" cy="1024128"/>
          </a:xfrm>
          <a:prstGeom prst="rect">
            <a:avLst/>
          </a:prstGeom>
          <a:solidFill>
            <a:srgbClr val="7432A8"/>
          </a:solidFill>
          <a:ln w="12700">
            <a:solidFill>
              <a:srgbClr val="7432A8"/>
            </a:solidFill>
            <a:prstDash val="solid"/>
          </a:ln>
        </p:spPr>
      </p:sp>
      <p:sp>
        <p:nvSpPr>
          <p:cNvPr id="17" name="Text 15"/>
          <p:cNvSpPr/>
          <p:nvPr/>
        </p:nvSpPr>
        <p:spPr>
          <a:xfrm>
            <a:off x="7726680" y="3099816"/>
            <a:ext cx="3566160" cy="347472"/>
          </a:xfrm>
          <a:prstGeom prst="rect">
            <a:avLst/>
          </a:prstGeom>
          <a:noFill/>
          <a:ln/>
        </p:spPr>
        <p:txBody>
          <a:bodyPr wrap="square" lIns="0" tIns="0" rIns="0" bIns="0" rtlCol="0" anchor="t">
            <a:normAutofit/>
          </a:bodyPr>
          <a:lstStyle/>
          <a:p>
            <a:pPr algn="l" indent="0" marL="0">
              <a:buNone/>
            </a:pPr>
            <a:r>
              <a:rPr lang="en-US" sz="1630" b="1" dirty="0">
                <a:solidFill>
                  <a:srgbClr val="241337"/>
                </a:solidFill>
                <a:latin typeface="Aptos" pitchFamily="34" charset="0"/>
                <a:ea typeface="Aptos" pitchFamily="34" charset="-122"/>
                <a:cs typeface="Aptos" pitchFamily="34" charset="-120"/>
              </a:rPr>
              <a:t>2. Générer</a:t>
            </a:r>
            <a:endParaRPr lang="en-US" sz="1630" dirty="0"/>
          </a:p>
        </p:txBody>
      </p:sp>
      <p:sp>
        <p:nvSpPr>
          <p:cNvPr id="18" name="Text 16"/>
          <p:cNvSpPr/>
          <p:nvPr/>
        </p:nvSpPr>
        <p:spPr>
          <a:xfrm>
            <a:off x="7699248" y="3575304"/>
            <a:ext cx="3566160" cy="155448"/>
          </a:xfrm>
          <a:prstGeom prst="rect">
            <a:avLst/>
          </a:prstGeom>
          <a:noFill/>
          <a:ln/>
        </p:spPr>
        <p:txBody>
          <a:bodyPr wrap="square" lIns="0" tIns="0" rIns="0" bIns="0" rtlCol="0" anchor="t">
            <a:normAutofit/>
          </a:bodyPr>
          <a:lstStyle/>
          <a:p>
            <a:pPr algn="l" indent="0" marL="0">
              <a:buNone/>
            </a:pPr>
            <a:r>
              <a:rPr lang="en-US" sz="1230" dirty="0">
                <a:solidFill>
                  <a:srgbClr val="6F7082"/>
                </a:solidFill>
                <a:latin typeface="Aptos" pitchFamily="34" charset="0"/>
                <a:ea typeface="Aptos" pitchFamily="34" charset="-122"/>
                <a:cs typeface="Aptos" pitchFamily="34" charset="-120"/>
              </a:rPr>
              <a:t>Le projet fournit l’arborescence standard.</a:t>
            </a:r>
            <a:endParaRPr lang="en-US" sz="1230" dirty="0"/>
          </a:p>
        </p:txBody>
      </p:sp>
      <p:sp>
        <p:nvSpPr>
          <p:cNvPr id="19" name="Shape 17"/>
          <p:cNvSpPr/>
          <p:nvPr/>
        </p:nvSpPr>
        <p:spPr>
          <a:xfrm>
            <a:off x="7406640" y="4023360"/>
            <a:ext cx="4069080" cy="1024128"/>
          </a:xfrm>
          <a:prstGeom prst="roundRect">
            <a:avLst>
              <a:gd name="adj" fmla="val 5357"/>
            </a:avLst>
          </a:prstGeom>
          <a:solidFill>
            <a:srgbClr val="FFFFFF"/>
          </a:solidFill>
          <a:ln w="12700">
            <a:solidFill>
              <a:srgbClr val="DDDCE6"/>
            </a:solidFill>
            <a:prstDash val="solid"/>
          </a:ln>
          <a:effectLst>
            <a:outerShdw sx="100000" sy="100000" kx="0" ky="0" algn="bl" rotWithShape="0" blurRad="19050" dist="50800" dir="2700000">
              <a:srgbClr val="D6D3DF">
                <a:alpha val="18000"/>
              </a:srgbClr>
            </a:outerShdw>
          </a:effectLst>
        </p:spPr>
      </p:sp>
      <p:sp>
        <p:nvSpPr>
          <p:cNvPr id="20" name="Shape 18"/>
          <p:cNvSpPr/>
          <p:nvPr/>
        </p:nvSpPr>
        <p:spPr>
          <a:xfrm>
            <a:off x="7406640" y="4023360"/>
            <a:ext cx="73152" cy="1024128"/>
          </a:xfrm>
          <a:prstGeom prst="rect">
            <a:avLst/>
          </a:prstGeom>
          <a:solidFill>
            <a:srgbClr val="4EA27B"/>
          </a:solidFill>
          <a:ln w="12700">
            <a:solidFill>
              <a:srgbClr val="4EA27B"/>
            </a:solidFill>
            <a:prstDash val="solid"/>
          </a:ln>
        </p:spPr>
      </p:sp>
      <p:sp>
        <p:nvSpPr>
          <p:cNvPr id="21" name="Text 19"/>
          <p:cNvSpPr/>
          <p:nvPr/>
        </p:nvSpPr>
        <p:spPr>
          <a:xfrm>
            <a:off x="7726680" y="4242816"/>
            <a:ext cx="3566160" cy="347472"/>
          </a:xfrm>
          <a:prstGeom prst="rect">
            <a:avLst/>
          </a:prstGeom>
          <a:noFill/>
          <a:ln/>
        </p:spPr>
        <p:txBody>
          <a:bodyPr wrap="square" lIns="0" tIns="0" rIns="0" bIns="0" rtlCol="0" anchor="t">
            <a:normAutofit/>
          </a:bodyPr>
          <a:lstStyle/>
          <a:p>
            <a:pPr algn="l" indent="0" marL="0">
              <a:buNone/>
            </a:pPr>
            <a:r>
              <a:rPr lang="en-US" sz="1630" b="1" dirty="0">
                <a:solidFill>
                  <a:srgbClr val="241337"/>
                </a:solidFill>
                <a:latin typeface="Aptos" pitchFamily="34" charset="0"/>
                <a:ea typeface="Aptos" pitchFamily="34" charset="-122"/>
                <a:cs typeface="Aptos" pitchFamily="34" charset="-120"/>
              </a:rPr>
              <a:t>3. Vérifier</a:t>
            </a:r>
            <a:endParaRPr lang="en-US" sz="1630" dirty="0"/>
          </a:p>
        </p:txBody>
      </p:sp>
      <p:sp>
        <p:nvSpPr>
          <p:cNvPr id="22" name="Text 20"/>
          <p:cNvSpPr/>
          <p:nvPr/>
        </p:nvSpPr>
        <p:spPr>
          <a:xfrm>
            <a:off x="7699248" y="4718304"/>
            <a:ext cx="3566160" cy="155448"/>
          </a:xfrm>
          <a:prstGeom prst="rect">
            <a:avLst/>
          </a:prstGeom>
          <a:noFill/>
          <a:ln/>
        </p:spPr>
        <p:txBody>
          <a:bodyPr wrap="square" lIns="0" tIns="0" rIns="0" bIns="0" rtlCol="0" anchor="t">
            <a:normAutofit/>
          </a:bodyPr>
          <a:lstStyle/>
          <a:p>
            <a:pPr algn="l" indent="0" marL="0">
              <a:buNone/>
            </a:pPr>
            <a:r>
              <a:rPr lang="en-US" sz="1230" dirty="0">
                <a:solidFill>
                  <a:srgbClr val="6F7082"/>
                </a:solidFill>
                <a:latin typeface="Aptos" pitchFamily="34" charset="0"/>
                <a:ea typeface="Aptos" pitchFamily="34" charset="-122"/>
                <a:cs typeface="Aptos" pitchFamily="34" charset="-120"/>
              </a:rPr>
              <a:t>scrapy list · scrapy version · scrapy crawl &lt;name&gt;</a:t>
            </a:r>
            <a:endParaRPr lang="en-US" sz="1230" dirty="0"/>
          </a:p>
        </p:txBody>
      </p:sp>
      <p:sp>
        <p:nvSpPr>
          <p:cNvPr id="23" name="Text 21"/>
          <p:cNvSpPr/>
          <p:nvPr/>
        </p:nvSpPr>
        <p:spPr>
          <a:xfrm>
            <a:off x="914400" y="5440680"/>
            <a:ext cx="10149840" cy="310896"/>
          </a:xfrm>
          <a:prstGeom prst="rect">
            <a:avLst/>
          </a:prstGeom>
          <a:noFill/>
          <a:ln/>
        </p:spPr>
        <p:txBody>
          <a:bodyPr wrap="square" lIns="0" tIns="0" rIns="0" bIns="0" rtlCol="0" anchor="ctr">
            <a:normAutofit/>
          </a:bodyPr>
          <a:lstStyle/>
          <a:p>
            <a:pPr algn="ctr" indent="0" marL="0">
              <a:buNone/>
            </a:pPr>
            <a:r>
              <a:rPr lang="en-US" sz="1300" b="1" dirty="0">
                <a:solidFill>
                  <a:srgbClr val="6F7082"/>
                </a:solidFill>
                <a:latin typeface="Aptos" pitchFamily="34" charset="0"/>
                <a:ea typeface="Aptos" pitchFamily="34" charset="-122"/>
                <a:cs typeface="Aptos" pitchFamily="34" charset="-120"/>
              </a:rPr>
              <a:t>Support : site d’entraînement “Books to Scrape”, conçu pour la pratique du scraping.</a:t>
            </a:r>
            <a:endParaRPr lang="en-US" sz="1300" dirty="0"/>
          </a:p>
        </p:txBody>
      </p:sp>
      <p:sp>
        <p:nvSpPr>
          <p:cNvPr id="25" name="Slide Number Placeholder 0"/>
          <p:cNvSpPr>
            <a:spLocks noGrp="1"/>
          </p:cNvSpPr>
          <p:nvPr>
            <p:ph type="sldNum" sz="quarter" idx="4294967295"/>
          </p:nvPr>
        </p:nvSpPr>
        <p:spPr>
          <a:xfrm>
            <a:off x="11750040" y="274320"/>
            <a:ext cx="228600" cy="164592"/>
          </a:xfrm>
          <a:prstGeom prst="rect">
            <a:avLst/>
          </a:prstGeom>
          <a:extLst>
            <a:ext uri="{C572A759-6A51-4108-AA02-DFA0A04FC94B}">
              <ma14:wrappingTextBoxFlag xmlns:ma14="http://schemas.microsoft.com/office/mac/drawingml/2011/main" val="0"/>
            </a:ext>
          </a:extLst>
        </p:spPr>
        <p:txBody>
          <a:bodyPr/>
          <a:lstStyle>
            <a:lvl1pPr>
              <a:defRPr sz="800">
                <a:solidFill>
                  <a:srgbClr val="858697"/>
                </a:solidFill>
                <a:latin typeface="Aptos"/>
                <a:ea typeface="Aptos"/>
                <a:cs typeface="Aptos"/>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566928" y="438912"/>
            <a:ext cx="5029200" cy="228600"/>
          </a:xfrm>
          <a:prstGeom prst="rect">
            <a:avLst/>
          </a:prstGeom>
          <a:noFill/>
          <a:ln/>
        </p:spPr>
        <p:txBody>
          <a:bodyPr wrap="square" lIns="0" tIns="0" rIns="0" bIns="0" rtlCol="0" anchor="ctr">
            <a:normAutofit/>
          </a:bodyPr>
          <a:lstStyle/>
          <a:p>
            <a:pPr algn="l" indent="0" marL="0">
              <a:buNone/>
            </a:pPr>
            <a:r>
              <a:rPr lang="en-US" sz="1050" b="1" spc="150" kern="0" dirty="0">
                <a:solidFill>
                  <a:srgbClr val="7432A8"/>
                </a:solidFill>
                <a:latin typeface="Aptos" pitchFamily="34" charset="0"/>
                <a:ea typeface="Aptos" pitchFamily="34" charset="-122"/>
                <a:cs typeface="Aptos" pitchFamily="34" charset="-120"/>
              </a:rPr>
              <a:t>SPIDER</a:t>
            </a:r>
            <a:endParaRPr lang="en-US" sz="1050" dirty="0"/>
          </a:p>
        </p:txBody>
      </p:sp>
      <p:sp>
        <p:nvSpPr>
          <p:cNvPr id="3" name="Text 1"/>
          <p:cNvSpPr/>
          <p:nvPr/>
        </p:nvSpPr>
        <p:spPr>
          <a:xfrm>
            <a:off x="566928" y="768096"/>
            <a:ext cx="10972800" cy="566928"/>
          </a:xfrm>
          <a:prstGeom prst="rect">
            <a:avLst/>
          </a:prstGeom>
          <a:noFill/>
          <a:ln/>
        </p:spPr>
        <p:txBody>
          <a:bodyPr wrap="square" lIns="0" tIns="0" rIns="0" bIns="0" rtlCol="0" anchor="t">
            <a:normAutofit/>
          </a:bodyPr>
          <a:lstStyle/>
          <a:p>
            <a:pPr algn="l" indent="0" marL="0">
              <a:buNone/>
            </a:pPr>
            <a:r>
              <a:rPr lang="en-US" sz="2800" b="1" dirty="0">
                <a:solidFill>
                  <a:srgbClr val="241337"/>
                </a:solidFill>
                <a:latin typeface="Aptos" pitchFamily="34" charset="0"/>
                <a:ea typeface="Aptos" pitchFamily="34" charset="-122"/>
                <a:cs typeface="Aptos" pitchFamily="34" charset="-120"/>
              </a:rPr>
              <a:t>Anatomie minimale</a:t>
            </a:r>
            <a:endParaRPr lang="en-US" sz="2800" dirty="0"/>
          </a:p>
        </p:txBody>
      </p:sp>
      <p:sp>
        <p:nvSpPr>
          <p:cNvPr id="4" name="Shape 2"/>
          <p:cNvSpPr/>
          <p:nvPr/>
        </p:nvSpPr>
        <p:spPr>
          <a:xfrm>
            <a:off x="685800" y="1627632"/>
            <a:ext cx="6537960" cy="4297680"/>
          </a:xfrm>
          <a:prstGeom prst="roundRect">
            <a:avLst>
              <a:gd name="adj" fmla="val 851"/>
            </a:avLst>
          </a:prstGeom>
          <a:solidFill>
            <a:srgbClr val="17141E"/>
          </a:solidFill>
          <a:ln w="12700">
            <a:solidFill>
              <a:srgbClr val="17141E"/>
            </a:solidFill>
            <a:prstDash val="solid"/>
          </a:ln>
        </p:spPr>
      </p:sp>
      <p:sp>
        <p:nvSpPr>
          <p:cNvPr id="5" name="Shape 3"/>
          <p:cNvSpPr/>
          <p:nvPr/>
        </p:nvSpPr>
        <p:spPr>
          <a:xfrm>
            <a:off x="685800" y="1627632"/>
            <a:ext cx="6537960" cy="347472"/>
          </a:xfrm>
          <a:prstGeom prst="rect">
            <a:avLst/>
          </a:prstGeom>
          <a:solidFill>
            <a:srgbClr val="2B2633"/>
          </a:solidFill>
          <a:ln w="12700">
            <a:solidFill>
              <a:srgbClr val="2B2633"/>
            </a:solidFill>
            <a:prstDash val="solid"/>
          </a:ln>
        </p:spPr>
      </p:sp>
      <p:sp>
        <p:nvSpPr>
          <p:cNvPr id="6" name="Shape 4"/>
          <p:cNvSpPr/>
          <p:nvPr/>
        </p:nvSpPr>
        <p:spPr>
          <a:xfrm>
            <a:off x="868680" y="1746504"/>
            <a:ext cx="73152" cy="73152"/>
          </a:xfrm>
          <a:prstGeom prst="ellipse">
            <a:avLst/>
          </a:prstGeom>
          <a:solidFill>
            <a:srgbClr val="D55E5A"/>
          </a:solidFill>
          <a:ln w="12700">
            <a:solidFill>
              <a:srgbClr val="D55E5A"/>
            </a:solidFill>
            <a:prstDash val="solid"/>
          </a:ln>
        </p:spPr>
      </p:sp>
      <p:sp>
        <p:nvSpPr>
          <p:cNvPr id="7" name="Shape 5"/>
          <p:cNvSpPr/>
          <p:nvPr/>
        </p:nvSpPr>
        <p:spPr>
          <a:xfrm>
            <a:off x="1014984" y="1746504"/>
            <a:ext cx="73152" cy="73152"/>
          </a:xfrm>
          <a:prstGeom prst="ellipse">
            <a:avLst/>
          </a:prstGeom>
          <a:solidFill>
            <a:srgbClr val="E0B24A"/>
          </a:solidFill>
          <a:ln w="12700">
            <a:solidFill>
              <a:srgbClr val="E0B24A"/>
            </a:solidFill>
            <a:prstDash val="solid"/>
          </a:ln>
        </p:spPr>
      </p:sp>
      <p:sp>
        <p:nvSpPr>
          <p:cNvPr id="8" name="Shape 6"/>
          <p:cNvSpPr/>
          <p:nvPr/>
        </p:nvSpPr>
        <p:spPr>
          <a:xfrm>
            <a:off x="1161288" y="1746504"/>
            <a:ext cx="73152" cy="73152"/>
          </a:xfrm>
          <a:prstGeom prst="ellipse">
            <a:avLst/>
          </a:prstGeom>
          <a:solidFill>
            <a:srgbClr val="7EB465"/>
          </a:solidFill>
          <a:ln w="12700">
            <a:solidFill>
              <a:srgbClr val="7EB465"/>
            </a:solidFill>
            <a:prstDash val="solid"/>
          </a:ln>
        </p:spPr>
      </p:sp>
      <p:sp>
        <p:nvSpPr>
          <p:cNvPr id="9" name="Text 7"/>
          <p:cNvSpPr/>
          <p:nvPr/>
        </p:nvSpPr>
        <p:spPr>
          <a:xfrm>
            <a:off x="6126480" y="1700784"/>
            <a:ext cx="914400" cy="137160"/>
          </a:xfrm>
          <a:prstGeom prst="rect">
            <a:avLst/>
          </a:prstGeom>
          <a:noFill/>
          <a:ln/>
        </p:spPr>
        <p:txBody>
          <a:bodyPr wrap="square" lIns="0" tIns="0" rIns="0" bIns="0" rtlCol="0" anchor="ctr">
            <a:normAutofit/>
          </a:bodyPr>
          <a:lstStyle/>
          <a:p>
            <a:pPr algn="r" indent="0" marL="0">
              <a:buNone/>
            </a:pPr>
            <a:r>
              <a:rPr lang="en-US" sz="900" dirty="0">
                <a:solidFill>
                  <a:srgbClr val="B8B3C2"/>
                </a:solidFill>
                <a:latin typeface="Aptos" pitchFamily="34" charset="0"/>
                <a:ea typeface="Aptos" pitchFamily="34" charset="-122"/>
                <a:cs typeface="Aptos" pitchFamily="34" charset="-120"/>
              </a:rPr>
              <a:t>PYTHON</a:t>
            </a:r>
            <a:endParaRPr lang="en-US" sz="900" dirty="0"/>
          </a:p>
        </p:txBody>
      </p:sp>
      <p:sp>
        <p:nvSpPr>
          <p:cNvPr id="10" name="Text 8"/>
          <p:cNvSpPr/>
          <p:nvPr/>
        </p:nvSpPr>
        <p:spPr>
          <a:xfrm>
            <a:off x="914400" y="2103120"/>
            <a:ext cx="6080760" cy="3675888"/>
          </a:xfrm>
          <a:prstGeom prst="rect">
            <a:avLst/>
          </a:prstGeom>
          <a:noFill/>
          <a:ln/>
        </p:spPr>
        <p:txBody>
          <a:bodyPr wrap="square" lIns="0" tIns="0" rIns="0" bIns="0" rtlCol="0" anchor="t">
            <a:normAutofit/>
          </a:bodyPr>
          <a:lstStyle/>
          <a:p>
            <a:pPr algn="l" indent="0" marL="0">
              <a:buNone/>
            </a:pPr>
            <a:r>
              <a:rPr lang="en-US" sz="1100" dirty="0">
                <a:solidFill>
                  <a:srgbClr val="F3EFF7"/>
                </a:solidFill>
                <a:latin typeface="Courier New" pitchFamily="34" charset="0"/>
                <a:ea typeface="Courier New" pitchFamily="34" charset="-122"/>
                <a:cs typeface="Courier New" pitchFamily="34" charset="-120"/>
              </a:rPr>
              <a:t>import scrapy</a:t>
            </a:r>
            <a:endParaRPr lang="en-US" sz="1100" dirty="0"/>
          </a:p>
          <a:p>
            <a:pPr algn="l" indent="0" marL="0">
              <a:buNone/>
            </a:pPr>
            <a:endParaRPr lang="en-US" sz="1100" dirty="0"/>
          </a:p>
          <a:p>
            <a:pPr algn="l" indent="0" marL="0">
              <a:buNone/>
            </a:pPr>
            <a:r>
              <a:rPr lang="en-US" sz="1100" dirty="0">
                <a:solidFill>
                  <a:srgbClr val="F3EFF7"/>
                </a:solidFill>
                <a:latin typeface="Courier New" pitchFamily="34" charset="0"/>
                <a:ea typeface="Courier New" pitchFamily="34" charset="-122"/>
                <a:cs typeface="Courier New" pitchFamily="34" charset="-120"/>
              </a:rPr>
              <a:t>class BooksSpider(scrapy.Spider):</a:t>
            </a:r>
            <a:endParaRPr lang="en-US" sz="1100" dirty="0"/>
          </a:p>
          <a:p>
            <a:pPr algn="l" indent="0" marL="0">
              <a:buNone/>
            </a:pPr>
            <a:r>
              <a:rPr lang="en-US" sz="1100" dirty="0">
                <a:solidFill>
                  <a:srgbClr val="F3EFF7"/>
                </a:solidFill>
                <a:latin typeface="Courier New" pitchFamily="34" charset="0"/>
                <a:ea typeface="Courier New" pitchFamily="34" charset="-122"/>
                <a:cs typeface="Courier New" pitchFamily="34" charset="-120"/>
              </a:rPr>
              <a:t>    name = "books"</a:t>
            </a:r>
            <a:endParaRPr lang="en-US" sz="1100" dirty="0"/>
          </a:p>
          <a:p>
            <a:pPr algn="l" indent="0" marL="0">
              <a:buNone/>
            </a:pPr>
            <a:r>
              <a:rPr lang="en-US" sz="1100" dirty="0">
                <a:solidFill>
                  <a:srgbClr val="F3EFF7"/>
                </a:solidFill>
                <a:latin typeface="Courier New" pitchFamily="34" charset="0"/>
                <a:ea typeface="Courier New" pitchFamily="34" charset="-122"/>
                <a:cs typeface="Courier New" pitchFamily="34" charset="-120"/>
              </a:rPr>
              <a:t>    allowed_domains = ["books.toscrape.com"]</a:t>
            </a:r>
            <a:endParaRPr lang="en-US" sz="1100" dirty="0"/>
          </a:p>
          <a:p>
            <a:pPr algn="l" indent="0" marL="0">
              <a:buNone/>
            </a:pPr>
            <a:r>
              <a:rPr lang="en-US" sz="1100" dirty="0">
                <a:solidFill>
                  <a:srgbClr val="F3EFF7"/>
                </a:solidFill>
                <a:latin typeface="Courier New" pitchFamily="34" charset="0"/>
                <a:ea typeface="Courier New" pitchFamily="34" charset="-122"/>
                <a:cs typeface="Courier New" pitchFamily="34" charset="-120"/>
              </a:rPr>
              <a:t>    start_urls = ["https://books.toscrape.com/"]</a:t>
            </a:r>
            <a:endParaRPr lang="en-US" sz="1100" dirty="0"/>
          </a:p>
          <a:p>
            <a:pPr algn="l" indent="0" marL="0">
              <a:buNone/>
            </a:pPr>
            <a:endParaRPr lang="en-US" sz="1100" dirty="0"/>
          </a:p>
          <a:p>
            <a:pPr algn="l" indent="0" marL="0">
              <a:buNone/>
            </a:pPr>
            <a:r>
              <a:rPr lang="en-US" sz="1100" dirty="0">
                <a:solidFill>
                  <a:srgbClr val="F3EFF7"/>
                </a:solidFill>
                <a:latin typeface="Courier New" pitchFamily="34" charset="0"/>
                <a:ea typeface="Courier New" pitchFamily="34" charset="-122"/>
                <a:cs typeface="Courier New" pitchFamily="34" charset="-120"/>
              </a:rPr>
              <a:t>    def parse(self, response):</a:t>
            </a:r>
            <a:endParaRPr lang="en-US" sz="1100" dirty="0"/>
          </a:p>
          <a:p>
            <a:pPr algn="l" indent="0" marL="0">
              <a:buNone/>
            </a:pPr>
            <a:r>
              <a:rPr lang="en-US" sz="1100" dirty="0">
                <a:solidFill>
                  <a:srgbClr val="F3EFF7"/>
                </a:solidFill>
                <a:latin typeface="Courier New" pitchFamily="34" charset="0"/>
                <a:ea typeface="Courier New" pitchFamily="34" charset="-122"/>
                <a:cs typeface="Courier New" pitchFamily="34" charset="-120"/>
              </a:rPr>
              <a:t>        yield {</a:t>
            </a:r>
            <a:endParaRPr lang="en-US" sz="1100" dirty="0"/>
          </a:p>
          <a:p>
            <a:pPr algn="l" indent="0" marL="0">
              <a:buNone/>
            </a:pPr>
            <a:r>
              <a:rPr lang="en-US" sz="1100" dirty="0">
                <a:solidFill>
                  <a:srgbClr val="F3EFF7"/>
                </a:solidFill>
                <a:latin typeface="Courier New" pitchFamily="34" charset="0"/>
                <a:ea typeface="Courier New" pitchFamily="34" charset="-122"/>
                <a:cs typeface="Courier New" pitchFamily="34" charset="-120"/>
              </a:rPr>
              <a:t>            "title": response.css("title::text").get()</a:t>
            </a:r>
            <a:endParaRPr lang="en-US" sz="1100" dirty="0"/>
          </a:p>
          <a:p>
            <a:pPr algn="l" indent="0" marL="0">
              <a:buNone/>
            </a:pPr>
            <a:r>
              <a:rPr lang="en-US" sz="1100" dirty="0">
                <a:solidFill>
                  <a:srgbClr val="F3EFF7"/>
                </a:solidFill>
                <a:latin typeface="Courier New" pitchFamily="34" charset="0"/>
                <a:ea typeface="Courier New" pitchFamily="34" charset="-122"/>
                <a:cs typeface="Courier New" pitchFamily="34" charset="-120"/>
              </a:rPr>
              <a:t>        }</a:t>
            </a:r>
            <a:endParaRPr lang="en-US" sz="1100" dirty="0"/>
          </a:p>
        </p:txBody>
      </p:sp>
      <p:sp>
        <p:nvSpPr>
          <p:cNvPr id="11" name="Shape 9"/>
          <p:cNvSpPr/>
          <p:nvPr/>
        </p:nvSpPr>
        <p:spPr>
          <a:xfrm>
            <a:off x="7543800" y="1755648"/>
            <a:ext cx="3886200" cy="950976"/>
          </a:xfrm>
          <a:prstGeom prst="roundRect">
            <a:avLst>
              <a:gd name="adj" fmla="val 5769"/>
            </a:avLst>
          </a:prstGeom>
          <a:solidFill>
            <a:srgbClr val="FFFFFF"/>
          </a:solidFill>
          <a:ln w="12700">
            <a:solidFill>
              <a:srgbClr val="DDDCE6"/>
            </a:solidFill>
            <a:prstDash val="solid"/>
          </a:ln>
          <a:effectLst>
            <a:outerShdw sx="100000" sy="100000" kx="0" ky="0" algn="bl" rotWithShape="0" blurRad="19050" dist="50800" dir="2700000">
              <a:srgbClr val="D6D3DF">
                <a:alpha val="18000"/>
              </a:srgbClr>
            </a:outerShdw>
          </a:effectLst>
        </p:spPr>
      </p:sp>
      <p:sp>
        <p:nvSpPr>
          <p:cNvPr id="12" name="Shape 10"/>
          <p:cNvSpPr/>
          <p:nvPr/>
        </p:nvSpPr>
        <p:spPr>
          <a:xfrm>
            <a:off x="7543800" y="1755648"/>
            <a:ext cx="73152" cy="950976"/>
          </a:xfrm>
          <a:prstGeom prst="rect">
            <a:avLst/>
          </a:prstGeom>
          <a:solidFill>
            <a:srgbClr val="7432A8"/>
          </a:solidFill>
          <a:ln w="12700">
            <a:solidFill>
              <a:srgbClr val="7432A8"/>
            </a:solidFill>
            <a:prstDash val="solid"/>
          </a:ln>
        </p:spPr>
      </p:sp>
      <p:sp>
        <p:nvSpPr>
          <p:cNvPr id="13" name="Text 11"/>
          <p:cNvSpPr/>
          <p:nvPr/>
        </p:nvSpPr>
        <p:spPr>
          <a:xfrm>
            <a:off x="7863840" y="1975104"/>
            <a:ext cx="3383280" cy="347472"/>
          </a:xfrm>
          <a:prstGeom prst="rect">
            <a:avLst/>
          </a:prstGeom>
          <a:noFill/>
          <a:ln/>
        </p:spPr>
        <p:txBody>
          <a:bodyPr wrap="square" lIns="0" tIns="0" rIns="0" bIns="0" rtlCol="0" anchor="t">
            <a:normAutofit/>
          </a:bodyPr>
          <a:lstStyle/>
          <a:p>
            <a:pPr algn="l" indent="0" marL="0">
              <a:buNone/>
            </a:pPr>
            <a:r>
              <a:rPr lang="en-US" sz="1630" b="1" dirty="0">
                <a:solidFill>
                  <a:srgbClr val="241337"/>
                </a:solidFill>
                <a:latin typeface="Aptos" pitchFamily="34" charset="0"/>
                <a:ea typeface="Aptos" pitchFamily="34" charset="-122"/>
                <a:cs typeface="Aptos" pitchFamily="34" charset="-120"/>
              </a:rPr>
              <a:t>name</a:t>
            </a:r>
            <a:endParaRPr lang="en-US" sz="1630" dirty="0"/>
          </a:p>
        </p:txBody>
      </p:sp>
      <p:sp>
        <p:nvSpPr>
          <p:cNvPr id="14" name="Text 12"/>
          <p:cNvSpPr/>
          <p:nvPr/>
        </p:nvSpPr>
        <p:spPr>
          <a:xfrm>
            <a:off x="7836408" y="2450592"/>
            <a:ext cx="3383280" cy="82296"/>
          </a:xfrm>
          <a:prstGeom prst="rect">
            <a:avLst/>
          </a:prstGeom>
          <a:noFill/>
          <a:ln/>
        </p:spPr>
        <p:txBody>
          <a:bodyPr wrap="square" lIns="0" tIns="0" rIns="0" bIns="0" rtlCol="0" anchor="t">
            <a:normAutofit/>
          </a:bodyPr>
          <a:lstStyle/>
          <a:p>
            <a:pPr algn="l" indent="0" marL="0">
              <a:buNone/>
            </a:pPr>
            <a:r>
              <a:rPr lang="en-US" sz="1230" dirty="0">
                <a:solidFill>
                  <a:srgbClr val="6F7082"/>
                </a:solidFill>
                <a:latin typeface="Aptos" pitchFamily="34" charset="0"/>
                <a:ea typeface="Aptos" pitchFamily="34" charset="-122"/>
                <a:cs typeface="Aptos" pitchFamily="34" charset="-120"/>
              </a:rPr>
              <a:t>Identifiant utilisé par scrapy crawl.</a:t>
            </a:r>
            <a:endParaRPr lang="en-US" sz="1230" dirty="0"/>
          </a:p>
        </p:txBody>
      </p:sp>
      <p:sp>
        <p:nvSpPr>
          <p:cNvPr id="15" name="Shape 13"/>
          <p:cNvSpPr/>
          <p:nvPr/>
        </p:nvSpPr>
        <p:spPr>
          <a:xfrm>
            <a:off x="7543800" y="2816352"/>
            <a:ext cx="3886200" cy="950976"/>
          </a:xfrm>
          <a:prstGeom prst="roundRect">
            <a:avLst>
              <a:gd name="adj" fmla="val 5769"/>
            </a:avLst>
          </a:prstGeom>
          <a:solidFill>
            <a:srgbClr val="FFFFFF"/>
          </a:solidFill>
          <a:ln w="12700">
            <a:solidFill>
              <a:srgbClr val="DDDCE6"/>
            </a:solidFill>
            <a:prstDash val="solid"/>
          </a:ln>
          <a:effectLst>
            <a:outerShdw sx="100000" sy="100000" kx="0" ky="0" algn="bl" rotWithShape="0" blurRad="19050" dist="50800" dir="2700000">
              <a:srgbClr val="D6D3DF">
                <a:alpha val="18000"/>
              </a:srgbClr>
            </a:outerShdw>
          </a:effectLst>
        </p:spPr>
      </p:sp>
      <p:sp>
        <p:nvSpPr>
          <p:cNvPr id="16" name="Shape 14"/>
          <p:cNvSpPr/>
          <p:nvPr/>
        </p:nvSpPr>
        <p:spPr>
          <a:xfrm>
            <a:off x="7543800" y="2816352"/>
            <a:ext cx="73152" cy="950976"/>
          </a:xfrm>
          <a:prstGeom prst="rect">
            <a:avLst/>
          </a:prstGeom>
          <a:solidFill>
            <a:srgbClr val="DB8129"/>
          </a:solidFill>
          <a:ln w="12700">
            <a:solidFill>
              <a:srgbClr val="DB8129"/>
            </a:solidFill>
            <a:prstDash val="solid"/>
          </a:ln>
        </p:spPr>
      </p:sp>
      <p:sp>
        <p:nvSpPr>
          <p:cNvPr id="17" name="Text 15"/>
          <p:cNvSpPr/>
          <p:nvPr/>
        </p:nvSpPr>
        <p:spPr>
          <a:xfrm>
            <a:off x="7863840" y="3035808"/>
            <a:ext cx="3383280" cy="347472"/>
          </a:xfrm>
          <a:prstGeom prst="rect">
            <a:avLst/>
          </a:prstGeom>
          <a:noFill/>
          <a:ln/>
        </p:spPr>
        <p:txBody>
          <a:bodyPr wrap="square" lIns="0" tIns="0" rIns="0" bIns="0" rtlCol="0" anchor="t">
            <a:normAutofit/>
          </a:bodyPr>
          <a:lstStyle/>
          <a:p>
            <a:pPr algn="l" indent="0" marL="0">
              <a:buNone/>
            </a:pPr>
            <a:r>
              <a:rPr lang="en-US" sz="1630" b="1" dirty="0">
                <a:solidFill>
                  <a:srgbClr val="241337"/>
                </a:solidFill>
                <a:latin typeface="Aptos" pitchFamily="34" charset="0"/>
                <a:ea typeface="Aptos" pitchFamily="34" charset="-122"/>
                <a:cs typeface="Aptos" pitchFamily="34" charset="-120"/>
              </a:rPr>
              <a:t>start_urls</a:t>
            </a:r>
            <a:endParaRPr lang="en-US" sz="1630" dirty="0"/>
          </a:p>
        </p:txBody>
      </p:sp>
      <p:sp>
        <p:nvSpPr>
          <p:cNvPr id="18" name="Text 16"/>
          <p:cNvSpPr/>
          <p:nvPr/>
        </p:nvSpPr>
        <p:spPr>
          <a:xfrm>
            <a:off x="7836408" y="3511296"/>
            <a:ext cx="3383280" cy="82296"/>
          </a:xfrm>
          <a:prstGeom prst="rect">
            <a:avLst/>
          </a:prstGeom>
          <a:noFill/>
          <a:ln/>
        </p:spPr>
        <p:txBody>
          <a:bodyPr wrap="square" lIns="0" tIns="0" rIns="0" bIns="0" rtlCol="0" anchor="t">
            <a:normAutofit/>
          </a:bodyPr>
          <a:lstStyle/>
          <a:p>
            <a:pPr algn="l" indent="0" marL="0">
              <a:buNone/>
            </a:pPr>
            <a:r>
              <a:rPr lang="en-US" sz="1230" dirty="0">
                <a:solidFill>
                  <a:srgbClr val="6F7082"/>
                </a:solidFill>
                <a:latin typeface="Aptos" pitchFamily="34" charset="0"/>
                <a:ea typeface="Aptos" pitchFamily="34" charset="-122"/>
                <a:cs typeface="Aptos" pitchFamily="34" charset="-120"/>
              </a:rPr>
              <a:t>Premières URLs mises dans le crawl.</a:t>
            </a:r>
            <a:endParaRPr lang="en-US" sz="1230" dirty="0"/>
          </a:p>
        </p:txBody>
      </p:sp>
      <p:sp>
        <p:nvSpPr>
          <p:cNvPr id="19" name="Shape 17"/>
          <p:cNvSpPr/>
          <p:nvPr/>
        </p:nvSpPr>
        <p:spPr>
          <a:xfrm>
            <a:off x="7543800" y="3877056"/>
            <a:ext cx="3886200" cy="950976"/>
          </a:xfrm>
          <a:prstGeom prst="roundRect">
            <a:avLst>
              <a:gd name="adj" fmla="val 5769"/>
            </a:avLst>
          </a:prstGeom>
          <a:solidFill>
            <a:srgbClr val="FFFFFF"/>
          </a:solidFill>
          <a:ln w="12700">
            <a:solidFill>
              <a:srgbClr val="DDDCE6"/>
            </a:solidFill>
            <a:prstDash val="solid"/>
          </a:ln>
          <a:effectLst>
            <a:outerShdw sx="100000" sy="100000" kx="0" ky="0" algn="bl" rotWithShape="0" blurRad="19050" dist="50800" dir="2700000">
              <a:srgbClr val="D6D3DF">
                <a:alpha val="18000"/>
              </a:srgbClr>
            </a:outerShdw>
          </a:effectLst>
        </p:spPr>
      </p:sp>
      <p:sp>
        <p:nvSpPr>
          <p:cNvPr id="20" name="Shape 18"/>
          <p:cNvSpPr/>
          <p:nvPr/>
        </p:nvSpPr>
        <p:spPr>
          <a:xfrm>
            <a:off x="7543800" y="3877056"/>
            <a:ext cx="73152" cy="950976"/>
          </a:xfrm>
          <a:prstGeom prst="rect">
            <a:avLst/>
          </a:prstGeom>
          <a:solidFill>
            <a:srgbClr val="4EA27B"/>
          </a:solidFill>
          <a:ln w="12700">
            <a:solidFill>
              <a:srgbClr val="4EA27B"/>
            </a:solidFill>
            <a:prstDash val="solid"/>
          </a:ln>
        </p:spPr>
      </p:sp>
      <p:sp>
        <p:nvSpPr>
          <p:cNvPr id="21" name="Text 19"/>
          <p:cNvSpPr/>
          <p:nvPr/>
        </p:nvSpPr>
        <p:spPr>
          <a:xfrm>
            <a:off x="7863840" y="4096512"/>
            <a:ext cx="3383280" cy="347472"/>
          </a:xfrm>
          <a:prstGeom prst="rect">
            <a:avLst/>
          </a:prstGeom>
          <a:noFill/>
          <a:ln/>
        </p:spPr>
        <p:txBody>
          <a:bodyPr wrap="square" lIns="0" tIns="0" rIns="0" bIns="0" rtlCol="0" anchor="t">
            <a:normAutofit/>
          </a:bodyPr>
          <a:lstStyle/>
          <a:p>
            <a:pPr algn="l" indent="0" marL="0">
              <a:buNone/>
            </a:pPr>
            <a:r>
              <a:rPr lang="en-US" sz="1630" b="1" dirty="0">
                <a:solidFill>
                  <a:srgbClr val="241337"/>
                </a:solidFill>
                <a:latin typeface="Aptos" pitchFamily="34" charset="0"/>
                <a:ea typeface="Aptos" pitchFamily="34" charset="-122"/>
                <a:cs typeface="Aptos" pitchFamily="34" charset="-120"/>
              </a:rPr>
              <a:t>parse()</a:t>
            </a:r>
            <a:endParaRPr lang="en-US" sz="1630" dirty="0"/>
          </a:p>
        </p:txBody>
      </p:sp>
      <p:sp>
        <p:nvSpPr>
          <p:cNvPr id="22" name="Text 20"/>
          <p:cNvSpPr/>
          <p:nvPr/>
        </p:nvSpPr>
        <p:spPr>
          <a:xfrm>
            <a:off x="7836408" y="4572000"/>
            <a:ext cx="3383280" cy="82296"/>
          </a:xfrm>
          <a:prstGeom prst="rect">
            <a:avLst/>
          </a:prstGeom>
          <a:noFill/>
          <a:ln/>
        </p:spPr>
        <p:txBody>
          <a:bodyPr wrap="square" lIns="0" tIns="0" rIns="0" bIns="0" rtlCol="0" anchor="t">
            <a:normAutofit/>
          </a:bodyPr>
          <a:lstStyle/>
          <a:p>
            <a:pPr algn="l" indent="0" marL="0">
              <a:buNone/>
            </a:pPr>
            <a:r>
              <a:rPr lang="en-US" sz="1230" dirty="0">
                <a:solidFill>
                  <a:srgbClr val="6F7082"/>
                </a:solidFill>
                <a:latin typeface="Aptos" pitchFamily="34" charset="0"/>
                <a:ea typeface="Aptos" pitchFamily="34" charset="-122"/>
                <a:cs typeface="Aptos" pitchFamily="34" charset="-120"/>
              </a:rPr>
              <a:t>Callback qui reçoit une Response.</a:t>
            </a:r>
            <a:endParaRPr lang="en-US" sz="1230" dirty="0"/>
          </a:p>
        </p:txBody>
      </p:sp>
      <p:sp>
        <p:nvSpPr>
          <p:cNvPr id="23" name="Shape 21"/>
          <p:cNvSpPr/>
          <p:nvPr/>
        </p:nvSpPr>
        <p:spPr>
          <a:xfrm>
            <a:off x="7543800" y="4937760"/>
            <a:ext cx="3886200" cy="950976"/>
          </a:xfrm>
          <a:prstGeom prst="roundRect">
            <a:avLst>
              <a:gd name="adj" fmla="val 5769"/>
            </a:avLst>
          </a:prstGeom>
          <a:solidFill>
            <a:srgbClr val="FFFFFF"/>
          </a:solidFill>
          <a:ln w="12700">
            <a:solidFill>
              <a:srgbClr val="DDDCE6"/>
            </a:solidFill>
            <a:prstDash val="solid"/>
          </a:ln>
          <a:effectLst>
            <a:outerShdw sx="100000" sy="100000" kx="0" ky="0" algn="bl" rotWithShape="0" blurRad="19050" dist="50800" dir="2700000">
              <a:srgbClr val="D6D3DF">
                <a:alpha val="18000"/>
              </a:srgbClr>
            </a:outerShdw>
          </a:effectLst>
        </p:spPr>
      </p:sp>
      <p:sp>
        <p:nvSpPr>
          <p:cNvPr id="24" name="Shape 22"/>
          <p:cNvSpPr/>
          <p:nvPr/>
        </p:nvSpPr>
        <p:spPr>
          <a:xfrm>
            <a:off x="7543800" y="4937760"/>
            <a:ext cx="73152" cy="950976"/>
          </a:xfrm>
          <a:prstGeom prst="rect">
            <a:avLst/>
          </a:prstGeom>
          <a:solidFill>
            <a:srgbClr val="4F7FC4"/>
          </a:solidFill>
          <a:ln w="12700">
            <a:solidFill>
              <a:srgbClr val="4F7FC4"/>
            </a:solidFill>
            <a:prstDash val="solid"/>
          </a:ln>
        </p:spPr>
      </p:sp>
      <p:sp>
        <p:nvSpPr>
          <p:cNvPr id="25" name="Text 23"/>
          <p:cNvSpPr/>
          <p:nvPr/>
        </p:nvSpPr>
        <p:spPr>
          <a:xfrm>
            <a:off x="7863840" y="5157216"/>
            <a:ext cx="3383280" cy="347472"/>
          </a:xfrm>
          <a:prstGeom prst="rect">
            <a:avLst/>
          </a:prstGeom>
          <a:noFill/>
          <a:ln/>
        </p:spPr>
        <p:txBody>
          <a:bodyPr wrap="square" lIns="0" tIns="0" rIns="0" bIns="0" rtlCol="0" anchor="t">
            <a:normAutofit/>
          </a:bodyPr>
          <a:lstStyle/>
          <a:p>
            <a:pPr algn="l" indent="0" marL="0">
              <a:buNone/>
            </a:pPr>
            <a:r>
              <a:rPr lang="en-US" sz="1630" b="1" dirty="0">
                <a:solidFill>
                  <a:srgbClr val="241337"/>
                </a:solidFill>
                <a:latin typeface="Aptos" pitchFamily="34" charset="0"/>
                <a:ea typeface="Aptos" pitchFamily="34" charset="-122"/>
                <a:cs typeface="Aptos" pitchFamily="34" charset="-120"/>
              </a:rPr>
              <a:t>yield</a:t>
            </a:r>
            <a:endParaRPr lang="en-US" sz="1630" dirty="0"/>
          </a:p>
        </p:txBody>
      </p:sp>
      <p:sp>
        <p:nvSpPr>
          <p:cNvPr id="26" name="Text 24"/>
          <p:cNvSpPr/>
          <p:nvPr/>
        </p:nvSpPr>
        <p:spPr>
          <a:xfrm>
            <a:off x="7836408" y="5632704"/>
            <a:ext cx="3383280" cy="82296"/>
          </a:xfrm>
          <a:prstGeom prst="rect">
            <a:avLst/>
          </a:prstGeom>
          <a:noFill/>
          <a:ln/>
        </p:spPr>
        <p:txBody>
          <a:bodyPr wrap="square" lIns="0" tIns="0" rIns="0" bIns="0" rtlCol="0" anchor="t">
            <a:normAutofit/>
          </a:bodyPr>
          <a:lstStyle/>
          <a:p>
            <a:pPr algn="l" indent="0" marL="0">
              <a:buNone/>
            </a:pPr>
            <a:r>
              <a:rPr lang="en-US" sz="1230" dirty="0">
                <a:solidFill>
                  <a:srgbClr val="6F7082"/>
                </a:solidFill>
                <a:latin typeface="Aptos" pitchFamily="34" charset="0"/>
                <a:ea typeface="Aptos" pitchFamily="34" charset="-122"/>
                <a:cs typeface="Aptos" pitchFamily="34" charset="-120"/>
              </a:rPr>
              <a:t>Produit un item ou une nouvelle Request.</a:t>
            </a:r>
            <a:endParaRPr lang="en-US" sz="1230" dirty="0"/>
          </a:p>
        </p:txBody>
      </p:sp>
      <p:sp>
        <p:nvSpPr>
          <p:cNvPr id="25" name="Slide Number Placeholder 0"/>
          <p:cNvSpPr>
            <a:spLocks noGrp="1"/>
          </p:cNvSpPr>
          <p:nvPr>
            <p:ph type="sldNum" sz="quarter" idx="4294967295"/>
          </p:nvPr>
        </p:nvSpPr>
        <p:spPr>
          <a:xfrm>
            <a:off x="11750040" y="274320"/>
            <a:ext cx="228600" cy="164592"/>
          </a:xfrm>
          <a:prstGeom prst="rect">
            <a:avLst/>
          </a:prstGeom>
          <a:extLst>
            <a:ext uri="{C572A759-6A51-4108-AA02-DFA0A04FC94B}">
              <ma14:wrappingTextBoxFlag xmlns:ma14="http://schemas.microsoft.com/office/mac/drawingml/2011/main" val="0"/>
            </a:ext>
          </a:extLst>
        </p:spPr>
        <p:txBody>
          <a:bodyPr/>
          <a:lstStyle>
            <a:lvl1pPr>
              <a:defRPr sz="800">
                <a:solidFill>
                  <a:srgbClr val="858697"/>
                </a:solidFill>
                <a:latin typeface="Aptos"/>
                <a:ea typeface="Aptos"/>
                <a:cs typeface="Aptos"/>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566928" y="438912"/>
            <a:ext cx="5029200" cy="228600"/>
          </a:xfrm>
          <a:prstGeom prst="rect">
            <a:avLst/>
          </a:prstGeom>
          <a:noFill/>
          <a:ln/>
        </p:spPr>
        <p:txBody>
          <a:bodyPr wrap="square" lIns="0" tIns="0" rIns="0" bIns="0" rtlCol="0" anchor="ctr">
            <a:normAutofit/>
          </a:bodyPr>
          <a:lstStyle/>
          <a:p>
            <a:pPr algn="l" indent="0" marL="0">
              <a:buNone/>
            </a:pPr>
            <a:r>
              <a:rPr lang="en-US" sz="1050" b="1" spc="150" kern="0" dirty="0">
                <a:solidFill>
                  <a:srgbClr val="7432A8"/>
                </a:solidFill>
                <a:latin typeface="Aptos" pitchFamily="34" charset="0"/>
                <a:ea typeface="Aptos" pitchFamily="34" charset="-122"/>
                <a:cs typeface="Aptos" pitchFamily="34" charset="-120"/>
              </a:rPr>
              <a:t>FLUX</a:t>
            </a:r>
            <a:endParaRPr lang="en-US" sz="1050" dirty="0"/>
          </a:p>
        </p:txBody>
      </p:sp>
      <p:sp>
        <p:nvSpPr>
          <p:cNvPr id="3" name="Text 1"/>
          <p:cNvSpPr/>
          <p:nvPr/>
        </p:nvSpPr>
        <p:spPr>
          <a:xfrm>
            <a:off x="566928" y="768096"/>
            <a:ext cx="10972800" cy="566928"/>
          </a:xfrm>
          <a:prstGeom prst="rect">
            <a:avLst/>
          </a:prstGeom>
          <a:noFill/>
          <a:ln/>
        </p:spPr>
        <p:txBody>
          <a:bodyPr wrap="square" lIns="0" tIns="0" rIns="0" bIns="0" rtlCol="0" anchor="t">
            <a:normAutofit/>
          </a:bodyPr>
          <a:lstStyle/>
          <a:p>
            <a:pPr algn="l" indent="0" marL="0">
              <a:buNone/>
            </a:pPr>
            <a:r>
              <a:rPr lang="en-US" sz="2800" b="1" dirty="0">
                <a:solidFill>
                  <a:srgbClr val="241337"/>
                </a:solidFill>
                <a:latin typeface="Aptos" pitchFamily="34" charset="0"/>
                <a:ea typeface="Aptos" pitchFamily="34" charset="-122"/>
                <a:cs typeface="Aptos" pitchFamily="34" charset="-120"/>
              </a:rPr>
              <a:t>Request → Response → callback</a:t>
            </a:r>
            <a:endParaRPr lang="en-US" sz="2800" dirty="0"/>
          </a:p>
        </p:txBody>
      </p:sp>
      <p:sp>
        <p:nvSpPr>
          <p:cNvPr id="4" name="Shape 2"/>
          <p:cNvSpPr/>
          <p:nvPr/>
        </p:nvSpPr>
        <p:spPr>
          <a:xfrm>
            <a:off x="777240" y="2011680"/>
            <a:ext cx="2377440" cy="1097280"/>
          </a:xfrm>
          <a:prstGeom prst="roundRect">
            <a:avLst>
              <a:gd name="adj" fmla="val 5000"/>
            </a:avLst>
          </a:prstGeom>
          <a:solidFill>
            <a:srgbClr val="FFFFFF"/>
          </a:solidFill>
          <a:ln w="17780">
            <a:solidFill>
              <a:srgbClr val="4F7FC4"/>
            </a:solidFill>
            <a:prstDash val="solid"/>
          </a:ln>
        </p:spPr>
      </p:sp>
      <p:sp>
        <p:nvSpPr>
          <p:cNvPr id="5" name="Text 3"/>
          <p:cNvSpPr/>
          <p:nvPr/>
        </p:nvSpPr>
        <p:spPr>
          <a:xfrm>
            <a:off x="987552" y="2286000"/>
            <a:ext cx="1965960" cy="228600"/>
          </a:xfrm>
          <a:prstGeom prst="rect">
            <a:avLst/>
          </a:prstGeom>
          <a:noFill/>
          <a:ln/>
        </p:spPr>
        <p:txBody>
          <a:bodyPr wrap="square" lIns="0" tIns="0" rIns="0" bIns="0" rtlCol="0" anchor="ctr">
            <a:normAutofit/>
          </a:bodyPr>
          <a:lstStyle/>
          <a:p>
            <a:pPr algn="ctr" indent="0" marL="0">
              <a:buNone/>
            </a:pPr>
            <a:r>
              <a:rPr lang="en-US" sz="1700" b="1" dirty="0">
                <a:solidFill>
                  <a:srgbClr val="4F7FC4"/>
                </a:solidFill>
                <a:latin typeface="Aptos" pitchFamily="34" charset="0"/>
                <a:ea typeface="Aptos" pitchFamily="34" charset="-122"/>
                <a:cs typeface="Aptos" pitchFamily="34" charset="-120"/>
              </a:rPr>
              <a:t>scrapy.Request</a:t>
            </a:r>
            <a:endParaRPr lang="en-US" sz="1700" dirty="0"/>
          </a:p>
        </p:txBody>
      </p:sp>
      <p:sp>
        <p:nvSpPr>
          <p:cNvPr id="6" name="Shape 4"/>
          <p:cNvSpPr/>
          <p:nvPr/>
        </p:nvSpPr>
        <p:spPr>
          <a:xfrm>
            <a:off x="4846320" y="2011680"/>
            <a:ext cx="2377440" cy="1097280"/>
          </a:xfrm>
          <a:prstGeom prst="roundRect">
            <a:avLst>
              <a:gd name="adj" fmla="val 5000"/>
            </a:avLst>
          </a:prstGeom>
          <a:solidFill>
            <a:srgbClr val="FFFFFF"/>
          </a:solidFill>
          <a:ln w="17780">
            <a:solidFill>
              <a:srgbClr val="4EA27B"/>
            </a:solidFill>
            <a:prstDash val="solid"/>
          </a:ln>
        </p:spPr>
      </p:sp>
      <p:sp>
        <p:nvSpPr>
          <p:cNvPr id="7" name="Text 5"/>
          <p:cNvSpPr/>
          <p:nvPr/>
        </p:nvSpPr>
        <p:spPr>
          <a:xfrm>
            <a:off x="5074920" y="2286000"/>
            <a:ext cx="1920240" cy="228600"/>
          </a:xfrm>
          <a:prstGeom prst="rect">
            <a:avLst/>
          </a:prstGeom>
          <a:noFill/>
          <a:ln/>
        </p:spPr>
        <p:txBody>
          <a:bodyPr wrap="square" lIns="0" tIns="0" rIns="0" bIns="0" rtlCol="0" anchor="ctr">
            <a:normAutofit/>
          </a:bodyPr>
          <a:lstStyle/>
          <a:p>
            <a:pPr algn="ctr" indent="0" marL="0">
              <a:buNone/>
            </a:pPr>
            <a:r>
              <a:rPr lang="en-US" sz="1700" b="1" dirty="0">
                <a:solidFill>
                  <a:srgbClr val="4EA27B"/>
                </a:solidFill>
                <a:latin typeface="Aptos" pitchFamily="34" charset="0"/>
                <a:ea typeface="Aptos" pitchFamily="34" charset="-122"/>
                <a:cs typeface="Aptos" pitchFamily="34" charset="-120"/>
              </a:rPr>
              <a:t>Response</a:t>
            </a:r>
            <a:endParaRPr lang="en-US" sz="1700" dirty="0"/>
          </a:p>
        </p:txBody>
      </p:sp>
      <p:sp>
        <p:nvSpPr>
          <p:cNvPr id="8" name="Shape 6"/>
          <p:cNvSpPr/>
          <p:nvPr/>
        </p:nvSpPr>
        <p:spPr>
          <a:xfrm>
            <a:off x="8869680" y="2011680"/>
            <a:ext cx="2377440" cy="1097280"/>
          </a:xfrm>
          <a:prstGeom prst="roundRect">
            <a:avLst>
              <a:gd name="adj" fmla="val 5000"/>
            </a:avLst>
          </a:prstGeom>
          <a:solidFill>
            <a:srgbClr val="FFFFFF"/>
          </a:solidFill>
          <a:ln w="17780">
            <a:solidFill>
              <a:srgbClr val="7432A8"/>
            </a:solidFill>
            <a:prstDash val="solid"/>
          </a:ln>
        </p:spPr>
      </p:sp>
      <p:sp>
        <p:nvSpPr>
          <p:cNvPr id="9" name="Text 7"/>
          <p:cNvSpPr/>
          <p:nvPr/>
        </p:nvSpPr>
        <p:spPr>
          <a:xfrm>
            <a:off x="9125712" y="2286000"/>
            <a:ext cx="1874520" cy="228600"/>
          </a:xfrm>
          <a:prstGeom prst="rect">
            <a:avLst/>
          </a:prstGeom>
          <a:noFill/>
          <a:ln/>
        </p:spPr>
        <p:txBody>
          <a:bodyPr wrap="square" lIns="0" tIns="0" rIns="0" bIns="0" rtlCol="0" anchor="ctr">
            <a:normAutofit/>
          </a:bodyPr>
          <a:lstStyle/>
          <a:p>
            <a:pPr algn="ctr" indent="0" marL="0">
              <a:buNone/>
            </a:pPr>
            <a:r>
              <a:rPr lang="en-US" sz="1700" b="1" dirty="0">
                <a:solidFill>
                  <a:srgbClr val="7432A8"/>
                </a:solidFill>
                <a:latin typeface="Aptos" pitchFamily="34" charset="0"/>
                <a:ea typeface="Aptos" pitchFamily="34" charset="-122"/>
                <a:cs typeface="Aptos" pitchFamily="34" charset="-120"/>
              </a:rPr>
              <a:t>callback</a:t>
            </a:r>
            <a:endParaRPr lang="en-US" sz="1700" dirty="0"/>
          </a:p>
        </p:txBody>
      </p:sp>
      <p:sp>
        <p:nvSpPr>
          <p:cNvPr id="10" name="Text 8"/>
          <p:cNvSpPr/>
          <p:nvPr/>
        </p:nvSpPr>
        <p:spPr>
          <a:xfrm>
            <a:off x="3401568" y="2359152"/>
            <a:ext cx="1005840" cy="228600"/>
          </a:xfrm>
          <a:prstGeom prst="rect">
            <a:avLst/>
          </a:prstGeom>
          <a:noFill/>
          <a:ln/>
        </p:spPr>
        <p:txBody>
          <a:bodyPr wrap="square" lIns="0" tIns="0" rIns="0" bIns="0" rtlCol="0" anchor="ctr">
            <a:normAutofit/>
          </a:bodyPr>
          <a:lstStyle/>
          <a:p>
            <a:pPr algn="ctr" indent="0" marL="0">
              <a:buNone/>
            </a:pPr>
            <a:r>
              <a:rPr lang="en-US" sz="1200" b="1" dirty="0">
                <a:solidFill>
                  <a:srgbClr val="6F7082"/>
                </a:solidFill>
                <a:latin typeface="Aptos" pitchFamily="34" charset="0"/>
                <a:ea typeface="Aptos" pitchFamily="34" charset="-122"/>
                <a:cs typeface="Aptos" pitchFamily="34" charset="-120"/>
              </a:rPr>
              <a:t>HTTP</a:t>
            </a:r>
            <a:endParaRPr lang="en-US" sz="1200" dirty="0"/>
          </a:p>
        </p:txBody>
      </p:sp>
      <p:sp>
        <p:nvSpPr>
          <p:cNvPr id="11" name="Text 9"/>
          <p:cNvSpPr/>
          <p:nvPr/>
        </p:nvSpPr>
        <p:spPr>
          <a:xfrm>
            <a:off x="4041648" y="2340864"/>
            <a:ext cx="411480" cy="256032"/>
          </a:xfrm>
          <a:prstGeom prst="rect">
            <a:avLst/>
          </a:prstGeom>
          <a:noFill/>
          <a:ln/>
        </p:spPr>
        <p:txBody>
          <a:bodyPr wrap="square" lIns="0" tIns="0" rIns="0" bIns="0" rtlCol="0" anchor="ctr">
            <a:normAutofit/>
          </a:bodyPr>
          <a:lstStyle/>
          <a:p>
            <a:pPr algn="ctr" indent="0" marL="0">
              <a:buNone/>
            </a:pPr>
            <a:r>
              <a:rPr lang="en-US" sz="2000" b="1" dirty="0">
                <a:solidFill>
                  <a:srgbClr val="6F7082"/>
                </a:solidFill>
                <a:latin typeface="Aptos" pitchFamily="34" charset="0"/>
                <a:ea typeface="Aptos" pitchFamily="34" charset="-122"/>
                <a:cs typeface="Aptos" pitchFamily="34" charset="-120"/>
              </a:rPr>
              <a:t>→</a:t>
            </a:r>
            <a:endParaRPr lang="en-US" sz="2000" dirty="0"/>
          </a:p>
        </p:txBody>
      </p:sp>
      <p:sp>
        <p:nvSpPr>
          <p:cNvPr id="12" name="Text 10"/>
          <p:cNvSpPr/>
          <p:nvPr/>
        </p:nvSpPr>
        <p:spPr>
          <a:xfrm>
            <a:off x="7818120" y="2340864"/>
            <a:ext cx="411480" cy="256032"/>
          </a:xfrm>
          <a:prstGeom prst="rect">
            <a:avLst/>
          </a:prstGeom>
          <a:noFill/>
          <a:ln/>
        </p:spPr>
        <p:txBody>
          <a:bodyPr wrap="square" lIns="0" tIns="0" rIns="0" bIns="0" rtlCol="0" anchor="ctr">
            <a:normAutofit/>
          </a:bodyPr>
          <a:lstStyle/>
          <a:p>
            <a:pPr algn="ctr" indent="0" marL="0">
              <a:buNone/>
            </a:pPr>
            <a:r>
              <a:rPr lang="en-US" sz="2000" b="1" dirty="0">
                <a:solidFill>
                  <a:srgbClr val="6F7082"/>
                </a:solidFill>
                <a:latin typeface="Aptos" pitchFamily="34" charset="0"/>
                <a:ea typeface="Aptos" pitchFamily="34" charset="-122"/>
                <a:cs typeface="Aptos" pitchFamily="34" charset="-120"/>
              </a:rPr>
              <a:t>→</a:t>
            </a:r>
            <a:endParaRPr lang="en-US" sz="2000" dirty="0"/>
          </a:p>
        </p:txBody>
      </p:sp>
      <p:sp>
        <p:nvSpPr>
          <p:cNvPr id="13" name="Shape 11"/>
          <p:cNvSpPr/>
          <p:nvPr/>
        </p:nvSpPr>
        <p:spPr>
          <a:xfrm>
            <a:off x="914400" y="3840480"/>
            <a:ext cx="3154680" cy="1280160"/>
          </a:xfrm>
          <a:prstGeom prst="roundRect">
            <a:avLst>
              <a:gd name="adj" fmla="val 4286"/>
            </a:avLst>
          </a:prstGeom>
          <a:solidFill>
            <a:srgbClr val="FFFFFF"/>
          </a:solidFill>
          <a:ln w="12700">
            <a:solidFill>
              <a:srgbClr val="DDDCE6"/>
            </a:solidFill>
            <a:prstDash val="solid"/>
          </a:ln>
          <a:effectLst>
            <a:outerShdw sx="100000" sy="100000" kx="0" ky="0" algn="bl" rotWithShape="0" blurRad="19050" dist="50800" dir="2700000">
              <a:srgbClr val="D6D3DF">
                <a:alpha val="18000"/>
              </a:srgbClr>
            </a:outerShdw>
          </a:effectLst>
        </p:spPr>
      </p:sp>
      <p:sp>
        <p:nvSpPr>
          <p:cNvPr id="14" name="Shape 12"/>
          <p:cNvSpPr/>
          <p:nvPr/>
        </p:nvSpPr>
        <p:spPr>
          <a:xfrm>
            <a:off x="914400" y="3840480"/>
            <a:ext cx="73152" cy="1280160"/>
          </a:xfrm>
          <a:prstGeom prst="rect">
            <a:avLst/>
          </a:prstGeom>
          <a:solidFill>
            <a:srgbClr val="4F7FC4"/>
          </a:solidFill>
          <a:ln w="12700">
            <a:solidFill>
              <a:srgbClr val="4F7FC4"/>
            </a:solidFill>
            <a:prstDash val="solid"/>
          </a:ln>
        </p:spPr>
      </p:sp>
      <p:sp>
        <p:nvSpPr>
          <p:cNvPr id="15" name="Text 13"/>
          <p:cNvSpPr/>
          <p:nvPr/>
        </p:nvSpPr>
        <p:spPr>
          <a:xfrm>
            <a:off x="1234440" y="4059936"/>
            <a:ext cx="2651760" cy="347472"/>
          </a:xfrm>
          <a:prstGeom prst="rect">
            <a:avLst/>
          </a:prstGeom>
          <a:noFill/>
          <a:ln/>
        </p:spPr>
        <p:txBody>
          <a:bodyPr wrap="square" lIns="0" tIns="0" rIns="0" bIns="0" rtlCol="0" anchor="t">
            <a:normAutofit/>
          </a:bodyPr>
          <a:lstStyle/>
          <a:p>
            <a:pPr algn="l" indent="0" marL="0">
              <a:buNone/>
            </a:pPr>
            <a:r>
              <a:rPr lang="en-US" sz="1630" b="1" dirty="0">
                <a:solidFill>
                  <a:srgbClr val="241337"/>
                </a:solidFill>
                <a:latin typeface="Aptos" pitchFamily="34" charset="0"/>
                <a:ea typeface="Aptos" pitchFamily="34" charset="-122"/>
                <a:cs typeface="Aptos" pitchFamily="34" charset="-120"/>
              </a:rPr>
              <a:t>Request porte</a:t>
            </a:r>
            <a:endParaRPr lang="en-US" sz="1630" dirty="0"/>
          </a:p>
        </p:txBody>
      </p:sp>
      <p:sp>
        <p:nvSpPr>
          <p:cNvPr id="16" name="Text 14"/>
          <p:cNvSpPr/>
          <p:nvPr/>
        </p:nvSpPr>
        <p:spPr>
          <a:xfrm>
            <a:off x="1207008" y="4535424"/>
            <a:ext cx="2651760" cy="411480"/>
          </a:xfrm>
          <a:prstGeom prst="rect">
            <a:avLst/>
          </a:prstGeom>
          <a:noFill/>
          <a:ln/>
        </p:spPr>
        <p:txBody>
          <a:bodyPr wrap="square" lIns="0" tIns="0" rIns="0" bIns="0" rtlCol="0" anchor="t">
            <a:normAutofit/>
          </a:bodyPr>
          <a:lstStyle/>
          <a:p>
            <a:pPr algn="l" indent="0" marL="0">
              <a:buNone/>
            </a:pPr>
            <a:r>
              <a:rPr lang="en-US" sz="1230" dirty="0">
                <a:solidFill>
                  <a:srgbClr val="6F7082"/>
                </a:solidFill>
                <a:latin typeface="Aptos" pitchFamily="34" charset="0"/>
                <a:ea typeface="Aptos" pitchFamily="34" charset="-122"/>
                <a:cs typeface="Aptos" pitchFamily="34" charset="-120"/>
              </a:rPr>
              <a:t>URL, méthode, headers, meta, callback…</a:t>
            </a:r>
            <a:endParaRPr lang="en-US" sz="1230" dirty="0"/>
          </a:p>
        </p:txBody>
      </p:sp>
      <p:sp>
        <p:nvSpPr>
          <p:cNvPr id="17" name="Shape 15"/>
          <p:cNvSpPr/>
          <p:nvPr/>
        </p:nvSpPr>
        <p:spPr>
          <a:xfrm>
            <a:off x="4526280" y="3840480"/>
            <a:ext cx="3154680" cy="1280160"/>
          </a:xfrm>
          <a:prstGeom prst="roundRect">
            <a:avLst>
              <a:gd name="adj" fmla="val 4286"/>
            </a:avLst>
          </a:prstGeom>
          <a:solidFill>
            <a:srgbClr val="FFFFFF"/>
          </a:solidFill>
          <a:ln w="12700">
            <a:solidFill>
              <a:srgbClr val="DDDCE6"/>
            </a:solidFill>
            <a:prstDash val="solid"/>
          </a:ln>
          <a:effectLst>
            <a:outerShdw sx="100000" sy="100000" kx="0" ky="0" algn="bl" rotWithShape="0" blurRad="19050" dist="50800" dir="2700000">
              <a:srgbClr val="D6D3DF">
                <a:alpha val="18000"/>
              </a:srgbClr>
            </a:outerShdw>
          </a:effectLst>
        </p:spPr>
      </p:sp>
      <p:sp>
        <p:nvSpPr>
          <p:cNvPr id="18" name="Shape 16"/>
          <p:cNvSpPr/>
          <p:nvPr/>
        </p:nvSpPr>
        <p:spPr>
          <a:xfrm>
            <a:off x="4526280" y="3840480"/>
            <a:ext cx="73152" cy="1280160"/>
          </a:xfrm>
          <a:prstGeom prst="rect">
            <a:avLst/>
          </a:prstGeom>
          <a:solidFill>
            <a:srgbClr val="4EA27B"/>
          </a:solidFill>
          <a:ln w="12700">
            <a:solidFill>
              <a:srgbClr val="4EA27B"/>
            </a:solidFill>
            <a:prstDash val="solid"/>
          </a:ln>
        </p:spPr>
      </p:sp>
      <p:sp>
        <p:nvSpPr>
          <p:cNvPr id="19" name="Text 17"/>
          <p:cNvSpPr/>
          <p:nvPr/>
        </p:nvSpPr>
        <p:spPr>
          <a:xfrm>
            <a:off x="4846320" y="4059936"/>
            <a:ext cx="2651760" cy="347472"/>
          </a:xfrm>
          <a:prstGeom prst="rect">
            <a:avLst/>
          </a:prstGeom>
          <a:noFill/>
          <a:ln/>
        </p:spPr>
        <p:txBody>
          <a:bodyPr wrap="square" lIns="0" tIns="0" rIns="0" bIns="0" rtlCol="0" anchor="t">
            <a:normAutofit/>
          </a:bodyPr>
          <a:lstStyle/>
          <a:p>
            <a:pPr algn="l" indent="0" marL="0">
              <a:buNone/>
            </a:pPr>
            <a:r>
              <a:rPr lang="en-US" sz="1630" b="1" dirty="0">
                <a:solidFill>
                  <a:srgbClr val="241337"/>
                </a:solidFill>
                <a:latin typeface="Aptos" pitchFamily="34" charset="0"/>
                <a:ea typeface="Aptos" pitchFamily="34" charset="-122"/>
                <a:cs typeface="Aptos" pitchFamily="34" charset="-120"/>
              </a:rPr>
              <a:t>Response porte</a:t>
            </a:r>
            <a:endParaRPr lang="en-US" sz="1630" dirty="0"/>
          </a:p>
        </p:txBody>
      </p:sp>
      <p:sp>
        <p:nvSpPr>
          <p:cNvPr id="20" name="Text 18"/>
          <p:cNvSpPr/>
          <p:nvPr/>
        </p:nvSpPr>
        <p:spPr>
          <a:xfrm>
            <a:off x="4818888" y="4535424"/>
            <a:ext cx="2651760" cy="411480"/>
          </a:xfrm>
          <a:prstGeom prst="rect">
            <a:avLst/>
          </a:prstGeom>
          <a:noFill/>
          <a:ln/>
        </p:spPr>
        <p:txBody>
          <a:bodyPr wrap="square" lIns="0" tIns="0" rIns="0" bIns="0" rtlCol="0" anchor="t">
            <a:normAutofit/>
          </a:bodyPr>
          <a:lstStyle/>
          <a:p>
            <a:pPr algn="l" indent="0" marL="0">
              <a:buNone/>
            </a:pPr>
            <a:r>
              <a:rPr lang="en-US" sz="1230" dirty="0">
                <a:solidFill>
                  <a:srgbClr val="6F7082"/>
                </a:solidFill>
                <a:latin typeface="Aptos" pitchFamily="34" charset="0"/>
                <a:ea typeface="Aptos" pitchFamily="34" charset="-122"/>
                <a:cs typeface="Aptos" pitchFamily="34" charset="-120"/>
              </a:rPr>
              <a:t>status, URL finale, body, sélecteurs…</a:t>
            </a:r>
            <a:endParaRPr lang="en-US" sz="1230" dirty="0"/>
          </a:p>
        </p:txBody>
      </p:sp>
      <p:sp>
        <p:nvSpPr>
          <p:cNvPr id="21" name="Shape 19"/>
          <p:cNvSpPr/>
          <p:nvPr/>
        </p:nvSpPr>
        <p:spPr>
          <a:xfrm>
            <a:off x="8138160" y="3840480"/>
            <a:ext cx="3154680" cy="1280160"/>
          </a:xfrm>
          <a:prstGeom prst="roundRect">
            <a:avLst>
              <a:gd name="adj" fmla="val 4286"/>
            </a:avLst>
          </a:prstGeom>
          <a:solidFill>
            <a:srgbClr val="FFFFFF"/>
          </a:solidFill>
          <a:ln w="12700">
            <a:solidFill>
              <a:srgbClr val="DDDCE6"/>
            </a:solidFill>
            <a:prstDash val="solid"/>
          </a:ln>
          <a:effectLst>
            <a:outerShdw sx="100000" sy="100000" kx="0" ky="0" algn="bl" rotWithShape="0" blurRad="19050" dist="50800" dir="2700000">
              <a:srgbClr val="D6D3DF">
                <a:alpha val="18000"/>
              </a:srgbClr>
            </a:outerShdw>
          </a:effectLst>
        </p:spPr>
      </p:sp>
      <p:sp>
        <p:nvSpPr>
          <p:cNvPr id="22" name="Shape 20"/>
          <p:cNvSpPr/>
          <p:nvPr/>
        </p:nvSpPr>
        <p:spPr>
          <a:xfrm>
            <a:off x="8138160" y="3840480"/>
            <a:ext cx="73152" cy="1280160"/>
          </a:xfrm>
          <a:prstGeom prst="rect">
            <a:avLst/>
          </a:prstGeom>
          <a:solidFill>
            <a:srgbClr val="7432A8"/>
          </a:solidFill>
          <a:ln w="12700">
            <a:solidFill>
              <a:srgbClr val="7432A8"/>
            </a:solidFill>
            <a:prstDash val="solid"/>
          </a:ln>
        </p:spPr>
      </p:sp>
      <p:sp>
        <p:nvSpPr>
          <p:cNvPr id="23" name="Text 21"/>
          <p:cNvSpPr/>
          <p:nvPr/>
        </p:nvSpPr>
        <p:spPr>
          <a:xfrm>
            <a:off x="8458200" y="4059936"/>
            <a:ext cx="2651760" cy="347472"/>
          </a:xfrm>
          <a:prstGeom prst="rect">
            <a:avLst/>
          </a:prstGeom>
          <a:noFill/>
          <a:ln/>
        </p:spPr>
        <p:txBody>
          <a:bodyPr wrap="square" lIns="0" tIns="0" rIns="0" bIns="0" rtlCol="0" anchor="t">
            <a:normAutofit/>
          </a:bodyPr>
          <a:lstStyle/>
          <a:p>
            <a:pPr algn="l" indent="0" marL="0">
              <a:buNone/>
            </a:pPr>
            <a:r>
              <a:rPr lang="en-US" sz="1630" b="1" dirty="0">
                <a:solidFill>
                  <a:srgbClr val="241337"/>
                </a:solidFill>
                <a:latin typeface="Aptos" pitchFamily="34" charset="0"/>
                <a:ea typeface="Aptos" pitchFamily="34" charset="-122"/>
                <a:cs typeface="Aptos" pitchFamily="34" charset="-120"/>
              </a:rPr>
              <a:t>Callback décide</a:t>
            </a:r>
            <a:endParaRPr lang="en-US" sz="1630" dirty="0"/>
          </a:p>
        </p:txBody>
      </p:sp>
      <p:sp>
        <p:nvSpPr>
          <p:cNvPr id="24" name="Text 22"/>
          <p:cNvSpPr/>
          <p:nvPr/>
        </p:nvSpPr>
        <p:spPr>
          <a:xfrm>
            <a:off x="8430768" y="4535424"/>
            <a:ext cx="2651760" cy="411480"/>
          </a:xfrm>
          <a:prstGeom prst="rect">
            <a:avLst/>
          </a:prstGeom>
          <a:noFill/>
          <a:ln/>
        </p:spPr>
        <p:txBody>
          <a:bodyPr wrap="square" lIns="0" tIns="0" rIns="0" bIns="0" rtlCol="0" anchor="t">
            <a:normAutofit/>
          </a:bodyPr>
          <a:lstStyle/>
          <a:p>
            <a:pPr algn="l" indent="0" marL="0">
              <a:buNone/>
            </a:pPr>
            <a:r>
              <a:rPr lang="en-US" sz="1230" dirty="0">
                <a:solidFill>
                  <a:srgbClr val="6F7082"/>
                </a:solidFill>
                <a:latin typeface="Aptos" pitchFamily="34" charset="0"/>
                <a:ea typeface="Aptos" pitchFamily="34" charset="-122"/>
                <a:cs typeface="Aptos" pitchFamily="34" charset="-120"/>
              </a:rPr>
              <a:t>extraire un item ou créer d’autres requêtes.</a:t>
            </a:r>
            <a:endParaRPr lang="en-US" sz="1230" dirty="0"/>
          </a:p>
        </p:txBody>
      </p:sp>
      <p:sp>
        <p:nvSpPr>
          <p:cNvPr id="25" name="Slide Number Placeholder 0"/>
          <p:cNvSpPr>
            <a:spLocks noGrp="1"/>
          </p:cNvSpPr>
          <p:nvPr>
            <p:ph type="sldNum" sz="quarter" idx="4294967295"/>
          </p:nvPr>
        </p:nvSpPr>
        <p:spPr>
          <a:xfrm>
            <a:off x="11750040" y="274320"/>
            <a:ext cx="228600" cy="164592"/>
          </a:xfrm>
          <a:prstGeom prst="rect">
            <a:avLst/>
          </a:prstGeom>
          <a:extLst>
            <a:ext uri="{C572A759-6A51-4108-AA02-DFA0A04FC94B}">
              <ma14:wrappingTextBoxFlag xmlns:ma14="http://schemas.microsoft.com/office/mac/drawingml/2011/main" val="0"/>
            </a:ext>
          </a:extLst>
        </p:spPr>
        <p:txBody>
          <a:bodyPr/>
          <a:lstStyle>
            <a:lvl1pPr>
              <a:defRPr sz="800">
                <a:solidFill>
                  <a:srgbClr val="858697"/>
                </a:solidFill>
                <a:latin typeface="Aptos"/>
                <a:ea typeface="Aptos"/>
                <a:cs typeface="Aptos"/>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566928" y="438912"/>
            <a:ext cx="5029200" cy="228600"/>
          </a:xfrm>
          <a:prstGeom prst="rect">
            <a:avLst/>
          </a:prstGeom>
          <a:noFill/>
          <a:ln/>
        </p:spPr>
        <p:txBody>
          <a:bodyPr wrap="square" lIns="0" tIns="0" rIns="0" bIns="0" rtlCol="0" anchor="ctr">
            <a:normAutofit/>
          </a:bodyPr>
          <a:lstStyle/>
          <a:p>
            <a:pPr algn="l" indent="0" marL="0">
              <a:buNone/>
            </a:pPr>
            <a:r>
              <a:rPr lang="en-US" sz="1050" b="1" spc="150" kern="0" dirty="0">
                <a:solidFill>
                  <a:srgbClr val="7432A8"/>
                </a:solidFill>
                <a:latin typeface="Aptos" pitchFamily="34" charset="0"/>
                <a:ea typeface="Aptos" pitchFamily="34" charset="-122"/>
                <a:cs typeface="Aptos" pitchFamily="34" charset="-120"/>
              </a:rPr>
              <a:t>OUTIL DE TRAVAIL</a:t>
            </a:r>
            <a:endParaRPr lang="en-US" sz="1050" dirty="0"/>
          </a:p>
        </p:txBody>
      </p:sp>
      <p:sp>
        <p:nvSpPr>
          <p:cNvPr id="3" name="Text 1"/>
          <p:cNvSpPr/>
          <p:nvPr/>
        </p:nvSpPr>
        <p:spPr>
          <a:xfrm>
            <a:off x="566928" y="768096"/>
            <a:ext cx="10972800" cy="566928"/>
          </a:xfrm>
          <a:prstGeom prst="rect">
            <a:avLst/>
          </a:prstGeom>
          <a:noFill/>
          <a:ln/>
        </p:spPr>
        <p:txBody>
          <a:bodyPr wrap="square" lIns="0" tIns="0" rIns="0" bIns="0" rtlCol="0" anchor="t">
            <a:normAutofit/>
          </a:bodyPr>
          <a:lstStyle/>
          <a:p>
            <a:pPr algn="l" indent="0" marL="0">
              <a:buNone/>
            </a:pPr>
            <a:r>
              <a:rPr lang="en-US" sz="2800" b="1" dirty="0">
                <a:solidFill>
                  <a:srgbClr val="241337"/>
                </a:solidFill>
                <a:latin typeface="Aptos" pitchFamily="34" charset="0"/>
                <a:ea typeface="Aptos" pitchFamily="34" charset="-122"/>
                <a:cs typeface="Aptos" pitchFamily="34" charset="-120"/>
              </a:rPr>
              <a:t>Scrapy shell : tester avant de coder</a:t>
            </a:r>
            <a:endParaRPr lang="en-US" sz="2800" dirty="0"/>
          </a:p>
        </p:txBody>
      </p:sp>
      <p:sp>
        <p:nvSpPr>
          <p:cNvPr id="4" name="Shape 2"/>
          <p:cNvSpPr/>
          <p:nvPr/>
        </p:nvSpPr>
        <p:spPr>
          <a:xfrm>
            <a:off x="731520" y="1664208"/>
            <a:ext cx="6675120" cy="4251960"/>
          </a:xfrm>
          <a:prstGeom prst="roundRect">
            <a:avLst>
              <a:gd name="adj" fmla="val 860"/>
            </a:avLst>
          </a:prstGeom>
          <a:solidFill>
            <a:srgbClr val="17141E"/>
          </a:solidFill>
          <a:ln w="12700">
            <a:solidFill>
              <a:srgbClr val="17141E"/>
            </a:solidFill>
            <a:prstDash val="solid"/>
          </a:ln>
        </p:spPr>
      </p:sp>
      <p:sp>
        <p:nvSpPr>
          <p:cNvPr id="5" name="Shape 3"/>
          <p:cNvSpPr/>
          <p:nvPr/>
        </p:nvSpPr>
        <p:spPr>
          <a:xfrm>
            <a:off x="731520" y="1664208"/>
            <a:ext cx="6675120" cy="347472"/>
          </a:xfrm>
          <a:prstGeom prst="rect">
            <a:avLst/>
          </a:prstGeom>
          <a:solidFill>
            <a:srgbClr val="2B2633"/>
          </a:solidFill>
          <a:ln w="12700">
            <a:solidFill>
              <a:srgbClr val="2B2633"/>
            </a:solidFill>
            <a:prstDash val="solid"/>
          </a:ln>
        </p:spPr>
      </p:sp>
      <p:sp>
        <p:nvSpPr>
          <p:cNvPr id="6" name="Shape 4"/>
          <p:cNvSpPr/>
          <p:nvPr/>
        </p:nvSpPr>
        <p:spPr>
          <a:xfrm>
            <a:off x="914400" y="1783080"/>
            <a:ext cx="73152" cy="73152"/>
          </a:xfrm>
          <a:prstGeom prst="ellipse">
            <a:avLst/>
          </a:prstGeom>
          <a:solidFill>
            <a:srgbClr val="D55E5A"/>
          </a:solidFill>
          <a:ln w="12700">
            <a:solidFill>
              <a:srgbClr val="D55E5A"/>
            </a:solidFill>
            <a:prstDash val="solid"/>
          </a:ln>
        </p:spPr>
      </p:sp>
      <p:sp>
        <p:nvSpPr>
          <p:cNvPr id="7" name="Shape 5"/>
          <p:cNvSpPr/>
          <p:nvPr/>
        </p:nvSpPr>
        <p:spPr>
          <a:xfrm>
            <a:off x="1060704" y="1783080"/>
            <a:ext cx="73152" cy="73152"/>
          </a:xfrm>
          <a:prstGeom prst="ellipse">
            <a:avLst/>
          </a:prstGeom>
          <a:solidFill>
            <a:srgbClr val="E0B24A"/>
          </a:solidFill>
          <a:ln w="12700">
            <a:solidFill>
              <a:srgbClr val="E0B24A"/>
            </a:solidFill>
            <a:prstDash val="solid"/>
          </a:ln>
        </p:spPr>
      </p:sp>
      <p:sp>
        <p:nvSpPr>
          <p:cNvPr id="8" name="Shape 6"/>
          <p:cNvSpPr/>
          <p:nvPr/>
        </p:nvSpPr>
        <p:spPr>
          <a:xfrm>
            <a:off x="1207008" y="1783080"/>
            <a:ext cx="73152" cy="73152"/>
          </a:xfrm>
          <a:prstGeom prst="ellipse">
            <a:avLst/>
          </a:prstGeom>
          <a:solidFill>
            <a:srgbClr val="7EB465"/>
          </a:solidFill>
          <a:ln w="12700">
            <a:solidFill>
              <a:srgbClr val="7EB465"/>
            </a:solidFill>
            <a:prstDash val="solid"/>
          </a:ln>
        </p:spPr>
      </p:sp>
      <p:sp>
        <p:nvSpPr>
          <p:cNvPr id="9" name="Text 7"/>
          <p:cNvSpPr/>
          <p:nvPr/>
        </p:nvSpPr>
        <p:spPr>
          <a:xfrm>
            <a:off x="6309360" y="1737360"/>
            <a:ext cx="914400" cy="137160"/>
          </a:xfrm>
          <a:prstGeom prst="rect">
            <a:avLst/>
          </a:prstGeom>
          <a:noFill/>
          <a:ln/>
        </p:spPr>
        <p:txBody>
          <a:bodyPr wrap="square" lIns="0" tIns="0" rIns="0" bIns="0" rtlCol="0" anchor="ctr">
            <a:normAutofit/>
          </a:bodyPr>
          <a:lstStyle/>
          <a:p>
            <a:pPr algn="r" indent="0" marL="0">
              <a:buNone/>
            </a:pPr>
            <a:r>
              <a:rPr lang="en-US" sz="900" dirty="0">
                <a:solidFill>
                  <a:srgbClr val="B8B3C2"/>
                </a:solidFill>
                <a:latin typeface="Aptos" pitchFamily="34" charset="0"/>
                <a:ea typeface="Aptos" pitchFamily="34" charset="-122"/>
                <a:cs typeface="Aptos" pitchFamily="34" charset="-120"/>
              </a:rPr>
              <a:t>TERMINAL</a:t>
            </a:r>
            <a:endParaRPr lang="en-US" sz="900" dirty="0"/>
          </a:p>
        </p:txBody>
      </p:sp>
      <p:sp>
        <p:nvSpPr>
          <p:cNvPr id="10" name="Text 8"/>
          <p:cNvSpPr/>
          <p:nvPr/>
        </p:nvSpPr>
        <p:spPr>
          <a:xfrm>
            <a:off x="960120" y="2139696"/>
            <a:ext cx="6217920" cy="3630168"/>
          </a:xfrm>
          <a:prstGeom prst="rect">
            <a:avLst/>
          </a:prstGeom>
          <a:noFill/>
          <a:ln/>
        </p:spPr>
        <p:txBody>
          <a:bodyPr wrap="square" lIns="0" tIns="0" rIns="0" bIns="0" rtlCol="0" anchor="t">
            <a:normAutofit/>
          </a:bodyPr>
          <a:lstStyle/>
          <a:p>
            <a:pPr algn="l" indent="0" marL="0">
              <a:buNone/>
            </a:pPr>
            <a:r>
              <a:rPr lang="en-US" sz="1100" dirty="0">
                <a:solidFill>
                  <a:srgbClr val="F3EFF7"/>
                </a:solidFill>
                <a:latin typeface="Courier New" pitchFamily="34" charset="0"/>
                <a:ea typeface="Courier New" pitchFamily="34" charset="-122"/>
                <a:cs typeface="Courier New" pitchFamily="34" charset="-120"/>
              </a:rPr>
              <a:t>scrapy shell "https://books.toscrape.com/"</a:t>
            </a:r>
            <a:endParaRPr lang="en-US" sz="1100" dirty="0"/>
          </a:p>
          <a:p>
            <a:pPr algn="l" indent="0" marL="0">
              <a:buNone/>
            </a:pPr>
            <a:endParaRPr lang="en-US" sz="1100" dirty="0"/>
          </a:p>
          <a:p>
            <a:pPr algn="l" indent="0" marL="0">
              <a:buNone/>
            </a:pPr>
            <a:r>
              <a:rPr lang="en-US" sz="1100" dirty="0">
                <a:solidFill>
                  <a:srgbClr val="F3EFF7"/>
                </a:solidFill>
                <a:latin typeface="Courier New" pitchFamily="34" charset="0"/>
                <a:ea typeface="Courier New" pitchFamily="34" charset="-122"/>
                <a:cs typeface="Courier New" pitchFamily="34" charset="-120"/>
              </a:rPr>
              <a:t>&gt;&gt;&gt; response.status</a:t>
            </a:r>
            <a:endParaRPr lang="en-US" sz="1100" dirty="0"/>
          </a:p>
          <a:p>
            <a:pPr algn="l" indent="0" marL="0">
              <a:buNone/>
            </a:pPr>
            <a:r>
              <a:rPr lang="en-US" sz="1100" dirty="0">
                <a:solidFill>
                  <a:srgbClr val="F3EFF7"/>
                </a:solidFill>
                <a:latin typeface="Courier New" pitchFamily="34" charset="0"/>
                <a:ea typeface="Courier New" pitchFamily="34" charset="-122"/>
                <a:cs typeface="Courier New" pitchFamily="34" charset="-120"/>
              </a:rPr>
              <a:t>200</a:t>
            </a:r>
            <a:endParaRPr lang="en-US" sz="1100" dirty="0"/>
          </a:p>
          <a:p>
            <a:pPr algn="l" indent="0" marL="0">
              <a:buNone/>
            </a:pPr>
            <a:endParaRPr lang="en-US" sz="1100" dirty="0"/>
          </a:p>
          <a:p>
            <a:pPr algn="l" indent="0" marL="0">
              <a:buNone/>
            </a:pPr>
            <a:r>
              <a:rPr lang="en-US" sz="1100" dirty="0">
                <a:solidFill>
                  <a:srgbClr val="F3EFF7"/>
                </a:solidFill>
                <a:latin typeface="Courier New" pitchFamily="34" charset="0"/>
                <a:ea typeface="Courier New" pitchFamily="34" charset="-122"/>
                <a:cs typeface="Courier New" pitchFamily="34" charset="-120"/>
              </a:rPr>
              <a:t>&gt;&gt;&gt; response.css("article.product_pod").get()</a:t>
            </a:r>
            <a:endParaRPr lang="en-US" sz="1100" dirty="0"/>
          </a:p>
          <a:p>
            <a:pPr algn="l" indent="0" marL="0">
              <a:buNone/>
            </a:pPr>
            <a:r>
              <a:rPr lang="en-US" sz="1100" dirty="0">
                <a:solidFill>
                  <a:srgbClr val="F3EFF7"/>
                </a:solidFill>
                <a:latin typeface="Courier New" pitchFamily="34" charset="0"/>
                <a:ea typeface="Courier New" pitchFamily="34" charset="-122"/>
                <a:cs typeface="Courier New" pitchFamily="34" charset="-120"/>
              </a:rPr>
              <a:t>'&lt;article class="product_pod"&gt;...'</a:t>
            </a:r>
            <a:endParaRPr lang="en-US" sz="1100" dirty="0"/>
          </a:p>
          <a:p>
            <a:pPr algn="l" indent="0" marL="0">
              <a:buNone/>
            </a:pPr>
            <a:endParaRPr lang="en-US" sz="1100" dirty="0"/>
          </a:p>
          <a:p>
            <a:pPr algn="l" indent="0" marL="0">
              <a:buNone/>
            </a:pPr>
            <a:r>
              <a:rPr lang="en-US" sz="1100" dirty="0">
                <a:solidFill>
                  <a:srgbClr val="F3EFF7"/>
                </a:solidFill>
                <a:latin typeface="Courier New" pitchFamily="34" charset="0"/>
                <a:ea typeface="Courier New" pitchFamily="34" charset="-122"/>
                <a:cs typeface="Courier New" pitchFamily="34" charset="-120"/>
              </a:rPr>
              <a:t>&gt;&gt;&gt; response.css("h3 a::attr(title)").getall()[:3]</a:t>
            </a:r>
            <a:endParaRPr lang="en-US" sz="1100" dirty="0"/>
          </a:p>
          <a:p>
            <a:pPr algn="l" indent="0" marL="0">
              <a:buNone/>
            </a:pPr>
            <a:r>
              <a:rPr lang="en-US" sz="1100" dirty="0">
                <a:solidFill>
                  <a:srgbClr val="F3EFF7"/>
                </a:solidFill>
                <a:latin typeface="Courier New" pitchFamily="34" charset="0"/>
                <a:ea typeface="Courier New" pitchFamily="34" charset="-122"/>
                <a:cs typeface="Courier New" pitchFamily="34" charset="-120"/>
              </a:rPr>
              <a:t>[...]</a:t>
            </a:r>
            <a:endParaRPr lang="en-US" sz="1100" dirty="0"/>
          </a:p>
        </p:txBody>
      </p:sp>
      <p:sp>
        <p:nvSpPr>
          <p:cNvPr id="11" name="Shape 9"/>
          <p:cNvSpPr/>
          <p:nvPr/>
        </p:nvSpPr>
        <p:spPr>
          <a:xfrm>
            <a:off x="7726680" y="1783080"/>
            <a:ext cx="3657600" cy="987552"/>
          </a:xfrm>
          <a:prstGeom prst="roundRect">
            <a:avLst>
              <a:gd name="adj" fmla="val 5556"/>
            </a:avLst>
          </a:prstGeom>
          <a:solidFill>
            <a:srgbClr val="FFFFFF"/>
          </a:solidFill>
          <a:ln w="12700">
            <a:solidFill>
              <a:srgbClr val="DDDCE6"/>
            </a:solidFill>
            <a:prstDash val="solid"/>
          </a:ln>
          <a:effectLst>
            <a:outerShdw sx="100000" sy="100000" kx="0" ky="0" algn="bl" rotWithShape="0" blurRad="19050" dist="50800" dir="2700000">
              <a:srgbClr val="D6D3DF">
                <a:alpha val="18000"/>
              </a:srgbClr>
            </a:outerShdw>
          </a:effectLst>
        </p:spPr>
      </p:sp>
      <p:sp>
        <p:nvSpPr>
          <p:cNvPr id="12" name="Shape 10"/>
          <p:cNvSpPr/>
          <p:nvPr/>
        </p:nvSpPr>
        <p:spPr>
          <a:xfrm>
            <a:off x="7726680" y="1783080"/>
            <a:ext cx="73152" cy="987552"/>
          </a:xfrm>
          <a:prstGeom prst="rect">
            <a:avLst/>
          </a:prstGeom>
          <a:solidFill>
            <a:srgbClr val="4F7FC4"/>
          </a:solidFill>
          <a:ln w="12700">
            <a:solidFill>
              <a:srgbClr val="4F7FC4"/>
            </a:solidFill>
            <a:prstDash val="solid"/>
          </a:ln>
        </p:spPr>
      </p:sp>
      <p:sp>
        <p:nvSpPr>
          <p:cNvPr id="13" name="Text 11"/>
          <p:cNvSpPr/>
          <p:nvPr/>
        </p:nvSpPr>
        <p:spPr>
          <a:xfrm>
            <a:off x="8046720" y="2002536"/>
            <a:ext cx="3154680" cy="347472"/>
          </a:xfrm>
          <a:prstGeom prst="rect">
            <a:avLst/>
          </a:prstGeom>
          <a:noFill/>
          <a:ln/>
        </p:spPr>
        <p:txBody>
          <a:bodyPr wrap="square" lIns="0" tIns="0" rIns="0" bIns="0" rtlCol="0" anchor="t">
            <a:normAutofit/>
          </a:bodyPr>
          <a:lstStyle/>
          <a:p>
            <a:pPr algn="l" indent="0" marL="0">
              <a:buNone/>
            </a:pPr>
            <a:r>
              <a:rPr lang="en-US" sz="1630" b="1" dirty="0">
                <a:solidFill>
                  <a:srgbClr val="241337"/>
                </a:solidFill>
                <a:latin typeface="Aptos" pitchFamily="34" charset="0"/>
                <a:ea typeface="Aptos" pitchFamily="34" charset="-122"/>
                <a:cs typeface="Aptos" pitchFamily="34" charset="-120"/>
              </a:rPr>
              <a:t>Inspecter</a:t>
            </a:r>
            <a:endParaRPr lang="en-US" sz="1630" dirty="0"/>
          </a:p>
        </p:txBody>
      </p:sp>
      <p:sp>
        <p:nvSpPr>
          <p:cNvPr id="14" name="Text 12"/>
          <p:cNvSpPr/>
          <p:nvPr/>
        </p:nvSpPr>
        <p:spPr>
          <a:xfrm>
            <a:off x="8019288" y="2478024"/>
            <a:ext cx="3154680" cy="118872"/>
          </a:xfrm>
          <a:prstGeom prst="rect">
            <a:avLst/>
          </a:prstGeom>
          <a:noFill/>
          <a:ln/>
        </p:spPr>
        <p:txBody>
          <a:bodyPr wrap="square" lIns="0" tIns="0" rIns="0" bIns="0" rtlCol="0" anchor="t">
            <a:normAutofit/>
          </a:bodyPr>
          <a:lstStyle/>
          <a:p>
            <a:pPr algn="l" indent="0" marL="0">
              <a:buNone/>
            </a:pPr>
            <a:r>
              <a:rPr lang="en-US" sz="1230" dirty="0">
                <a:solidFill>
                  <a:srgbClr val="6F7082"/>
                </a:solidFill>
                <a:latin typeface="Aptos" pitchFamily="34" charset="0"/>
                <a:ea typeface="Aptos" pitchFamily="34" charset="-122"/>
                <a:cs typeface="Aptos" pitchFamily="34" charset="-120"/>
              </a:rPr>
              <a:t>response.status · response.url · response.text</a:t>
            </a:r>
            <a:endParaRPr lang="en-US" sz="1230" dirty="0"/>
          </a:p>
        </p:txBody>
      </p:sp>
      <p:sp>
        <p:nvSpPr>
          <p:cNvPr id="15" name="Shape 13"/>
          <p:cNvSpPr/>
          <p:nvPr/>
        </p:nvSpPr>
        <p:spPr>
          <a:xfrm>
            <a:off x="7726680" y="2907792"/>
            <a:ext cx="3657600" cy="987552"/>
          </a:xfrm>
          <a:prstGeom prst="roundRect">
            <a:avLst>
              <a:gd name="adj" fmla="val 5556"/>
            </a:avLst>
          </a:prstGeom>
          <a:solidFill>
            <a:srgbClr val="FFFFFF"/>
          </a:solidFill>
          <a:ln w="12700">
            <a:solidFill>
              <a:srgbClr val="DDDCE6"/>
            </a:solidFill>
            <a:prstDash val="solid"/>
          </a:ln>
          <a:effectLst>
            <a:outerShdw sx="100000" sy="100000" kx="0" ky="0" algn="bl" rotWithShape="0" blurRad="19050" dist="50800" dir="2700000">
              <a:srgbClr val="D6D3DF">
                <a:alpha val="18000"/>
              </a:srgbClr>
            </a:outerShdw>
          </a:effectLst>
        </p:spPr>
      </p:sp>
      <p:sp>
        <p:nvSpPr>
          <p:cNvPr id="16" name="Shape 14"/>
          <p:cNvSpPr/>
          <p:nvPr/>
        </p:nvSpPr>
        <p:spPr>
          <a:xfrm>
            <a:off x="7726680" y="2907792"/>
            <a:ext cx="73152" cy="987552"/>
          </a:xfrm>
          <a:prstGeom prst="rect">
            <a:avLst/>
          </a:prstGeom>
          <a:solidFill>
            <a:srgbClr val="7432A8"/>
          </a:solidFill>
          <a:ln w="12700">
            <a:solidFill>
              <a:srgbClr val="7432A8"/>
            </a:solidFill>
            <a:prstDash val="solid"/>
          </a:ln>
        </p:spPr>
      </p:sp>
      <p:sp>
        <p:nvSpPr>
          <p:cNvPr id="17" name="Text 15"/>
          <p:cNvSpPr/>
          <p:nvPr/>
        </p:nvSpPr>
        <p:spPr>
          <a:xfrm>
            <a:off x="8046720" y="3127248"/>
            <a:ext cx="3154680" cy="347472"/>
          </a:xfrm>
          <a:prstGeom prst="rect">
            <a:avLst/>
          </a:prstGeom>
          <a:noFill/>
          <a:ln/>
        </p:spPr>
        <p:txBody>
          <a:bodyPr wrap="square" lIns="0" tIns="0" rIns="0" bIns="0" rtlCol="0" anchor="t">
            <a:normAutofit/>
          </a:bodyPr>
          <a:lstStyle/>
          <a:p>
            <a:pPr algn="l" indent="0" marL="0">
              <a:buNone/>
            </a:pPr>
            <a:r>
              <a:rPr lang="en-US" sz="1630" b="1" dirty="0">
                <a:solidFill>
                  <a:srgbClr val="241337"/>
                </a:solidFill>
                <a:latin typeface="Aptos" pitchFamily="34" charset="0"/>
                <a:ea typeface="Aptos" pitchFamily="34" charset="-122"/>
                <a:cs typeface="Aptos" pitchFamily="34" charset="-120"/>
              </a:rPr>
              <a:t>Tester</a:t>
            </a:r>
            <a:endParaRPr lang="en-US" sz="1630" dirty="0"/>
          </a:p>
        </p:txBody>
      </p:sp>
      <p:sp>
        <p:nvSpPr>
          <p:cNvPr id="18" name="Text 16"/>
          <p:cNvSpPr/>
          <p:nvPr/>
        </p:nvSpPr>
        <p:spPr>
          <a:xfrm>
            <a:off x="8019288" y="3602736"/>
            <a:ext cx="3154680" cy="118872"/>
          </a:xfrm>
          <a:prstGeom prst="rect">
            <a:avLst/>
          </a:prstGeom>
          <a:noFill/>
          <a:ln/>
        </p:spPr>
        <p:txBody>
          <a:bodyPr wrap="square" lIns="0" tIns="0" rIns="0" bIns="0" rtlCol="0" anchor="t">
            <a:normAutofit/>
          </a:bodyPr>
          <a:lstStyle/>
          <a:p>
            <a:pPr algn="l" indent="0" marL="0">
              <a:buNone/>
            </a:pPr>
            <a:r>
              <a:rPr lang="en-US" sz="1230" dirty="0">
                <a:solidFill>
                  <a:srgbClr val="6F7082"/>
                </a:solidFill>
                <a:latin typeface="Aptos" pitchFamily="34" charset="0"/>
                <a:ea typeface="Aptos" pitchFamily="34" charset="-122"/>
                <a:cs typeface="Aptos" pitchFamily="34" charset="-120"/>
              </a:rPr>
              <a:t>CSS ou XPath sans relancer un spider entier.</a:t>
            </a:r>
            <a:endParaRPr lang="en-US" sz="1230" dirty="0"/>
          </a:p>
        </p:txBody>
      </p:sp>
      <p:sp>
        <p:nvSpPr>
          <p:cNvPr id="19" name="Shape 17"/>
          <p:cNvSpPr/>
          <p:nvPr/>
        </p:nvSpPr>
        <p:spPr>
          <a:xfrm>
            <a:off x="7726680" y="4032504"/>
            <a:ext cx="3657600" cy="987552"/>
          </a:xfrm>
          <a:prstGeom prst="roundRect">
            <a:avLst>
              <a:gd name="adj" fmla="val 5556"/>
            </a:avLst>
          </a:prstGeom>
          <a:solidFill>
            <a:srgbClr val="FFFFFF"/>
          </a:solidFill>
          <a:ln w="12700">
            <a:solidFill>
              <a:srgbClr val="DDDCE6"/>
            </a:solidFill>
            <a:prstDash val="solid"/>
          </a:ln>
          <a:effectLst>
            <a:outerShdw sx="100000" sy="100000" kx="0" ky="0" algn="bl" rotWithShape="0" blurRad="19050" dist="50800" dir="2700000">
              <a:srgbClr val="D6D3DF">
                <a:alpha val="18000"/>
              </a:srgbClr>
            </a:outerShdw>
          </a:effectLst>
        </p:spPr>
      </p:sp>
      <p:sp>
        <p:nvSpPr>
          <p:cNvPr id="20" name="Shape 18"/>
          <p:cNvSpPr/>
          <p:nvPr/>
        </p:nvSpPr>
        <p:spPr>
          <a:xfrm>
            <a:off x="7726680" y="4032504"/>
            <a:ext cx="73152" cy="987552"/>
          </a:xfrm>
          <a:prstGeom prst="rect">
            <a:avLst/>
          </a:prstGeom>
          <a:solidFill>
            <a:srgbClr val="4EA27B"/>
          </a:solidFill>
          <a:ln w="12700">
            <a:solidFill>
              <a:srgbClr val="4EA27B"/>
            </a:solidFill>
            <a:prstDash val="solid"/>
          </a:ln>
        </p:spPr>
      </p:sp>
      <p:sp>
        <p:nvSpPr>
          <p:cNvPr id="21" name="Text 19"/>
          <p:cNvSpPr/>
          <p:nvPr/>
        </p:nvSpPr>
        <p:spPr>
          <a:xfrm>
            <a:off x="8046720" y="4251960"/>
            <a:ext cx="3154680" cy="347472"/>
          </a:xfrm>
          <a:prstGeom prst="rect">
            <a:avLst/>
          </a:prstGeom>
          <a:noFill/>
          <a:ln/>
        </p:spPr>
        <p:txBody>
          <a:bodyPr wrap="square" lIns="0" tIns="0" rIns="0" bIns="0" rtlCol="0" anchor="t">
            <a:normAutofit/>
          </a:bodyPr>
          <a:lstStyle/>
          <a:p>
            <a:pPr algn="l" indent="0" marL="0">
              <a:buNone/>
            </a:pPr>
            <a:r>
              <a:rPr lang="en-US" sz="1630" b="1" dirty="0">
                <a:solidFill>
                  <a:srgbClr val="241337"/>
                </a:solidFill>
                <a:latin typeface="Aptos" pitchFamily="34" charset="0"/>
                <a:ea typeface="Aptos" pitchFamily="34" charset="-122"/>
                <a:cs typeface="Aptos" pitchFamily="34" charset="-120"/>
              </a:rPr>
              <a:t>Itérer</a:t>
            </a:r>
            <a:endParaRPr lang="en-US" sz="1630" dirty="0"/>
          </a:p>
        </p:txBody>
      </p:sp>
      <p:sp>
        <p:nvSpPr>
          <p:cNvPr id="22" name="Text 20"/>
          <p:cNvSpPr/>
          <p:nvPr/>
        </p:nvSpPr>
        <p:spPr>
          <a:xfrm>
            <a:off x="8019288" y="4727448"/>
            <a:ext cx="3154680" cy="118872"/>
          </a:xfrm>
          <a:prstGeom prst="rect">
            <a:avLst/>
          </a:prstGeom>
          <a:noFill/>
          <a:ln/>
        </p:spPr>
        <p:txBody>
          <a:bodyPr wrap="square" lIns="0" tIns="0" rIns="0" bIns="0" rtlCol="0" anchor="t">
            <a:normAutofit/>
          </a:bodyPr>
          <a:lstStyle/>
          <a:p>
            <a:pPr algn="l" indent="0" marL="0">
              <a:buNone/>
            </a:pPr>
            <a:r>
              <a:rPr lang="en-US" sz="1230" dirty="0">
                <a:solidFill>
                  <a:srgbClr val="6F7082"/>
                </a:solidFill>
                <a:latin typeface="Aptos" pitchFamily="34" charset="0"/>
                <a:ea typeface="Aptos" pitchFamily="34" charset="-122"/>
                <a:cs typeface="Aptos" pitchFamily="34" charset="-120"/>
              </a:rPr>
              <a:t>Corriger le sélecteur en quelques secondes.</a:t>
            </a:r>
            <a:endParaRPr lang="en-US" sz="1230" dirty="0"/>
          </a:p>
        </p:txBody>
      </p:sp>
      <p:sp>
        <p:nvSpPr>
          <p:cNvPr id="23" name="Text 21"/>
          <p:cNvSpPr/>
          <p:nvPr/>
        </p:nvSpPr>
        <p:spPr>
          <a:xfrm>
            <a:off x="7845552" y="5330952"/>
            <a:ext cx="3429000" cy="411480"/>
          </a:xfrm>
          <a:prstGeom prst="rect">
            <a:avLst/>
          </a:prstGeom>
          <a:noFill/>
          <a:ln/>
        </p:spPr>
        <p:txBody>
          <a:bodyPr wrap="square" lIns="0" tIns="0" rIns="0" bIns="0" rtlCol="0" anchor="ctr">
            <a:normAutofit/>
          </a:bodyPr>
          <a:lstStyle/>
          <a:p>
            <a:pPr algn="ctr" indent="0" marL="0">
              <a:buNone/>
            </a:pPr>
            <a:r>
              <a:rPr lang="en-US" sz="1300" b="1" dirty="0">
                <a:solidFill>
                  <a:srgbClr val="241337"/>
                </a:solidFill>
                <a:latin typeface="Aptos" pitchFamily="34" charset="0"/>
                <a:ea typeface="Aptos" pitchFamily="34" charset="-122"/>
                <a:cs typeface="Aptos" pitchFamily="34" charset="-120"/>
              </a:rPr>
              <a:t>Règle : un sélecteur fragile dans le shell sera fragile dans le spider.</a:t>
            </a:r>
            <a:endParaRPr lang="en-US" sz="1300" dirty="0"/>
          </a:p>
        </p:txBody>
      </p:sp>
      <p:sp>
        <p:nvSpPr>
          <p:cNvPr id="25" name="Slide Number Placeholder 0"/>
          <p:cNvSpPr>
            <a:spLocks noGrp="1"/>
          </p:cNvSpPr>
          <p:nvPr>
            <p:ph type="sldNum" sz="quarter" idx="4294967295"/>
          </p:nvPr>
        </p:nvSpPr>
        <p:spPr>
          <a:xfrm>
            <a:off x="11750040" y="274320"/>
            <a:ext cx="228600" cy="164592"/>
          </a:xfrm>
          <a:prstGeom prst="rect">
            <a:avLst/>
          </a:prstGeom>
          <a:extLst>
            <a:ext uri="{C572A759-6A51-4108-AA02-DFA0A04FC94B}">
              <ma14:wrappingTextBoxFlag xmlns:ma14="http://schemas.microsoft.com/office/mac/drawingml/2011/main" val="0"/>
            </a:ext>
          </a:extLst>
        </p:spPr>
        <p:txBody>
          <a:bodyPr/>
          <a:lstStyle>
            <a:lvl1pPr>
              <a:defRPr sz="800">
                <a:solidFill>
                  <a:srgbClr val="858697"/>
                </a:solidFill>
                <a:latin typeface="Aptos"/>
                <a:ea typeface="Aptos"/>
                <a:cs typeface="Aptos"/>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566928" y="438912"/>
            <a:ext cx="5029200" cy="228600"/>
          </a:xfrm>
          <a:prstGeom prst="rect">
            <a:avLst/>
          </a:prstGeom>
          <a:noFill/>
          <a:ln/>
        </p:spPr>
        <p:txBody>
          <a:bodyPr wrap="square" lIns="0" tIns="0" rIns="0" bIns="0" rtlCol="0" anchor="ctr">
            <a:normAutofit/>
          </a:bodyPr>
          <a:lstStyle/>
          <a:p>
            <a:pPr algn="l" indent="0" marL="0">
              <a:buNone/>
            </a:pPr>
            <a:r>
              <a:rPr lang="en-US" sz="1050" b="1" spc="150" kern="0" dirty="0">
                <a:solidFill>
                  <a:srgbClr val="7432A8"/>
                </a:solidFill>
                <a:latin typeface="Aptos" pitchFamily="34" charset="0"/>
                <a:ea typeface="Aptos" pitchFamily="34" charset="-122"/>
                <a:cs typeface="Aptos" pitchFamily="34" charset="-120"/>
              </a:rPr>
              <a:t>SÉLECTEURS</a:t>
            </a:r>
            <a:endParaRPr lang="en-US" sz="1050" dirty="0"/>
          </a:p>
        </p:txBody>
      </p:sp>
      <p:sp>
        <p:nvSpPr>
          <p:cNvPr id="3" name="Text 1"/>
          <p:cNvSpPr/>
          <p:nvPr/>
        </p:nvSpPr>
        <p:spPr>
          <a:xfrm>
            <a:off x="566928" y="768096"/>
            <a:ext cx="10972800" cy="566928"/>
          </a:xfrm>
          <a:prstGeom prst="rect">
            <a:avLst/>
          </a:prstGeom>
          <a:noFill/>
          <a:ln/>
        </p:spPr>
        <p:txBody>
          <a:bodyPr wrap="square" lIns="0" tIns="0" rIns="0" bIns="0" rtlCol="0" anchor="t">
            <a:normAutofit/>
          </a:bodyPr>
          <a:lstStyle/>
          <a:p>
            <a:pPr algn="l" indent="0" marL="0">
              <a:buNone/>
            </a:pPr>
            <a:r>
              <a:rPr lang="en-US" sz="2800" b="1" dirty="0">
                <a:solidFill>
                  <a:srgbClr val="241337"/>
                </a:solidFill>
                <a:latin typeface="Aptos" pitchFamily="34" charset="0"/>
                <a:ea typeface="Aptos" pitchFamily="34" charset="-122"/>
                <a:cs typeface="Aptos" pitchFamily="34" charset="-120"/>
              </a:rPr>
              <a:t>CSS : le choix par défaut pour rester lisible</a:t>
            </a:r>
            <a:endParaRPr lang="en-US" sz="2800" dirty="0"/>
          </a:p>
        </p:txBody>
      </p:sp>
      <p:sp>
        <p:nvSpPr>
          <p:cNvPr id="4" name="Shape 2"/>
          <p:cNvSpPr/>
          <p:nvPr/>
        </p:nvSpPr>
        <p:spPr>
          <a:xfrm>
            <a:off x="685800" y="1691640"/>
            <a:ext cx="6400800" cy="3474720"/>
          </a:xfrm>
          <a:prstGeom prst="roundRect">
            <a:avLst>
              <a:gd name="adj" fmla="val 1053"/>
            </a:avLst>
          </a:prstGeom>
          <a:solidFill>
            <a:srgbClr val="17141E"/>
          </a:solidFill>
          <a:ln w="12700">
            <a:solidFill>
              <a:srgbClr val="17141E"/>
            </a:solidFill>
            <a:prstDash val="solid"/>
          </a:ln>
        </p:spPr>
      </p:sp>
      <p:sp>
        <p:nvSpPr>
          <p:cNvPr id="5" name="Shape 3"/>
          <p:cNvSpPr/>
          <p:nvPr/>
        </p:nvSpPr>
        <p:spPr>
          <a:xfrm>
            <a:off x="685800" y="1691640"/>
            <a:ext cx="6400800" cy="347472"/>
          </a:xfrm>
          <a:prstGeom prst="rect">
            <a:avLst/>
          </a:prstGeom>
          <a:solidFill>
            <a:srgbClr val="2B2633"/>
          </a:solidFill>
          <a:ln w="12700">
            <a:solidFill>
              <a:srgbClr val="2B2633"/>
            </a:solidFill>
            <a:prstDash val="solid"/>
          </a:ln>
        </p:spPr>
      </p:sp>
      <p:sp>
        <p:nvSpPr>
          <p:cNvPr id="6" name="Shape 4"/>
          <p:cNvSpPr/>
          <p:nvPr/>
        </p:nvSpPr>
        <p:spPr>
          <a:xfrm>
            <a:off x="868680" y="1810512"/>
            <a:ext cx="73152" cy="73152"/>
          </a:xfrm>
          <a:prstGeom prst="ellipse">
            <a:avLst/>
          </a:prstGeom>
          <a:solidFill>
            <a:srgbClr val="D55E5A"/>
          </a:solidFill>
          <a:ln w="12700">
            <a:solidFill>
              <a:srgbClr val="D55E5A"/>
            </a:solidFill>
            <a:prstDash val="solid"/>
          </a:ln>
        </p:spPr>
      </p:sp>
      <p:sp>
        <p:nvSpPr>
          <p:cNvPr id="7" name="Shape 5"/>
          <p:cNvSpPr/>
          <p:nvPr/>
        </p:nvSpPr>
        <p:spPr>
          <a:xfrm>
            <a:off x="1014984" y="1810512"/>
            <a:ext cx="73152" cy="73152"/>
          </a:xfrm>
          <a:prstGeom prst="ellipse">
            <a:avLst/>
          </a:prstGeom>
          <a:solidFill>
            <a:srgbClr val="E0B24A"/>
          </a:solidFill>
          <a:ln w="12700">
            <a:solidFill>
              <a:srgbClr val="E0B24A"/>
            </a:solidFill>
            <a:prstDash val="solid"/>
          </a:ln>
        </p:spPr>
      </p:sp>
      <p:sp>
        <p:nvSpPr>
          <p:cNvPr id="8" name="Shape 6"/>
          <p:cNvSpPr/>
          <p:nvPr/>
        </p:nvSpPr>
        <p:spPr>
          <a:xfrm>
            <a:off x="1161288" y="1810512"/>
            <a:ext cx="73152" cy="73152"/>
          </a:xfrm>
          <a:prstGeom prst="ellipse">
            <a:avLst/>
          </a:prstGeom>
          <a:solidFill>
            <a:srgbClr val="7EB465"/>
          </a:solidFill>
          <a:ln w="12700">
            <a:solidFill>
              <a:srgbClr val="7EB465"/>
            </a:solidFill>
            <a:prstDash val="solid"/>
          </a:ln>
        </p:spPr>
      </p:sp>
      <p:sp>
        <p:nvSpPr>
          <p:cNvPr id="9" name="Text 7"/>
          <p:cNvSpPr/>
          <p:nvPr/>
        </p:nvSpPr>
        <p:spPr>
          <a:xfrm>
            <a:off x="5989320" y="1764792"/>
            <a:ext cx="914400" cy="137160"/>
          </a:xfrm>
          <a:prstGeom prst="rect">
            <a:avLst/>
          </a:prstGeom>
          <a:noFill/>
          <a:ln/>
        </p:spPr>
        <p:txBody>
          <a:bodyPr wrap="square" lIns="0" tIns="0" rIns="0" bIns="0" rtlCol="0" anchor="ctr">
            <a:normAutofit/>
          </a:bodyPr>
          <a:lstStyle/>
          <a:p>
            <a:pPr algn="r" indent="0" marL="0">
              <a:buNone/>
            </a:pPr>
            <a:r>
              <a:rPr lang="en-US" sz="900" dirty="0">
                <a:solidFill>
                  <a:srgbClr val="B8B3C2"/>
                </a:solidFill>
                <a:latin typeface="Aptos" pitchFamily="34" charset="0"/>
                <a:ea typeface="Aptos" pitchFamily="34" charset="-122"/>
                <a:cs typeface="Aptos" pitchFamily="34" charset="-120"/>
              </a:rPr>
              <a:t>PYTHON</a:t>
            </a:r>
            <a:endParaRPr lang="en-US" sz="900" dirty="0"/>
          </a:p>
        </p:txBody>
      </p:sp>
      <p:sp>
        <p:nvSpPr>
          <p:cNvPr id="10" name="Text 8"/>
          <p:cNvSpPr/>
          <p:nvPr/>
        </p:nvSpPr>
        <p:spPr>
          <a:xfrm>
            <a:off x="914400" y="2167128"/>
            <a:ext cx="5943600" cy="2852928"/>
          </a:xfrm>
          <a:prstGeom prst="rect">
            <a:avLst/>
          </a:prstGeom>
          <a:noFill/>
          <a:ln/>
        </p:spPr>
        <p:txBody>
          <a:bodyPr wrap="square" lIns="0" tIns="0" rIns="0" bIns="0" rtlCol="0" anchor="t">
            <a:normAutofit/>
          </a:bodyPr>
          <a:lstStyle/>
          <a:p>
            <a:pPr algn="l" indent="0" marL="0">
              <a:buNone/>
            </a:pPr>
            <a:r>
              <a:rPr lang="en-US" sz="1100" dirty="0">
                <a:solidFill>
                  <a:srgbClr val="F3EFF7"/>
                </a:solidFill>
                <a:latin typeface="Courier New" pitchFamily="34" charset="0"/>
                <a:ea typeface="Courier New" pitchFamily="34" charset="-122"/>
                <a:cs typeface="Courier New" pitchFamily="34" charset="-120"/>
              </a:rPr>
              <a:t>books = response.css("article.product_pod")</a:t>
            </a:r>
            <a:endParaRPr lang="en-US" sz="1100" dirty="0"/>
          </a:p>
          <a:p>
            <a:pPr algn="l" indent="0" marL="0">
              <a:buNone/>
            </a:pPr>
            <a:endParaRPr lang="en-US" sz="1100" dirty="0"/>
          </a:p>
          <a:p>
            <a:pPr algn="l" indent="0" marL="0">
              <a:buNone/>
            </a:pPr>
            <a:r>
              <a:rPr lang="en-US" sz="1100" dirty="0">
                <a:solidFill>
                  <a:srgbClr val="F3EFF7"/>
                </a:solidFill>
                <a:latin typeface="Courier New" pitchFamily="34" charset="0"/>
                <a:ea typeface="Courier New" pitchFamily="34" charset="-122"/>
                <a:cs typeface="Courier New" pitchFamily="34" charset="-120"/>
              </a:rPr>
              <a:t>for book in books:</a:t>
            </a:r>
            <a:endParaRPr lang="en-US" sz="1100" dirty="0"/>
          </a:p>
          <a:p>
            <a:pPr algn="l" indent="0" marL="0">
              <a:buNone/>
            </a:pPr>
            <a:r>
              <a:rPr lang="en-US" sz="1100" dirty="0">
                <a:solidFill>
                  <a:srgbClr val="F3EFF7"/>
                </a:solidFill>
                <a:latin typeface="Courier New" pitchFamily="34" charset="0"/>
                <a:ea typeface="Courier New" pitchFamily="34" charset="-122"/>
                <a:cs typeface="Courier New" pitchFamily="34" charset="-120"/>
              </a:rPr>
              <a:t>    title = book.css("h3 a::attr(title)").get()</a:t>
            </a:r>
            <a:endParaRPr lang="en-US" sz="1100" dirty="0"/>
          </a:p>
          <a:p>
            <a:pPr algn="l" indent="0" marL="0">
              <a:buNone/>
            </a:pPr>
            <a:r>
              <a:rPr lang="en-US" sz="1100" dirty="0">
                <a:solidFill>
                  <a:srgbClr val="F3EFF7"/>
                </a:solidFill>
                <a:latin typeface="Courier New" pitchFamily="34" charset="0"/>
                <a:ea typeface="Courier New" pitchFamily="34" charset="-122"/>
                <a:cs typeface="Courier New" pitchFamily="34" charset="-120"/>
              </a:rPr>
              <a:t>    price = book.css("p.price_color::text").get()</a:t>
            </a:r>
            <a:endParaRPr lang="en-US" sz="1100" dirty="0"/>
          </a:p>
          <a:p>
            <a:pPr algn="l" indent="0" marL="0">
              <a:buNone/>
            </a:pPr>
            <a:r>
              <a:rPr lang="en-US" sz="1100" dirty="0">
                <a:solidFill>
                  <a:srgbClr val="F3EFF7"/>
                </a:solidFill>
                <a:latin typeface="Courier New" pitchFamily="34" charset="0"/>
                <a:ea typeface="Courier New" pitchFamily="34" charset="-122"/>
                <a:cs typeface="Courier New" pitchFamily="34" charset="-120"/>
              </a:rPr>
              <a:t>    link = book.css("h3 a::attr(href)").get()</a:t>
            </a:r>
            <a:endParaRPr lang="en-US" sz="1100" dirty="0"/>
          </a:p>
        </p:txBody>
      </p:sp>
      <p:sp>
        <p:nvSpPr>
          <p:cNvPr id="11" name="Shape 9"/>
          <p:cNvSpPr/>
          <p:nvPr/>
        </p:nvSpPr>
        <p:spPr>
          <a:xfrm>
            <a:off x="7406640" y="1783080"/>
            <a:ext cx="4023360" cy="914400"/>
          </a:xfrm>
          <a:prstGeom prst="roundRect">
            <a:avLst>
              <a:gd name="adj" fmla="val 6000"/>
            </a:avLst>
          </a:prstGeom>
          <a:solidFill>
            <a:srgbClr val="FFFFFF"/>
          </a:solidFill>
          <a:ln w="12700">
            <a:solidFill>
              <a:srgbClr val="DDDCE6"/>
            </a:solidFill>
            <a:prstDash val="solid"/>
          </a:ln>
          <a:effectLst>
            <a:outerShdw sx="100000" sy="100000" kx="0" ky="0" algn="bl" rotWithShape="0" blurRad="19050" dist="50800" dir="2700000">
              <a:srgbClr val="D6D3DF">
                <a:alpha val="18000"/>
              </a:srgbClr>
            </a:outerShdw>
          </a:effectLst>
        </p:spPr>
      </p:sp>
      <p:sp>
        <p:nvSpPr>
          <p:cNvPr id="12" name="Shape 10"/>
          <p:cNvSpPr/>
          <p:nvPr/>
        </p:nvSpPr>
        <p:spPr>
          <a:xfrm>
            <a:off x="7406640" y="1783080"/>
            <a:ext cx="73152" cy="914400"/>
          </a:xfrm>
          <a:prstGeom prst="rect">
            <a:avLst/>
          </a:prstGeom>
          <a:solidFill>
            <a:srgbClr val="7432A8"/>
          </a:solidFill>
          <a:ln w="12700">
            <a:solidFill>
              <a:srgbClr val="7432A8"/>
            </a:solidFill>
            <a:prstDash val="solid"/>
          </a:ln>
        </p:spPr>
      </p:sp>
      <p:sp>
        <p:nvSpPr>
          <p:cNvPr id="13" name="Text 11"/>
          <p:cNvSpPr/>
          <p:nvPr/>
        </p:nvSpPr>
        <p:spPr>
          <a:xfrm>
            <a:off x="7726680" y="2002536"/>
            <a:ext cx="3520440" cy="347472"/>
          </a:xfrm>
          <a:prstGeom prst="rect">
            <a:avLst/>
          </a:prstGeom>
          <a:noFill/>
          <a:ln/>
        </p:spPr>
        <p:txBody>
          <a:bodyPr wrap="square" lIns="0" tIns="0" rIns="0" bIns="0" rtlCol="0" anchor="t">
            <a:normAutofit/>
          </a:bodyPr>
          <a:lstStyle/>
          <a:p>
            <a:pPr algn="l" indent="0" marL="0">
              <a:buNone/>
            </a:pPr>
            <a:r>
              <a:rPr lang="en-US" sz="1630" b="1" dirty="0">
                <a:solidFill>
                  <a:srgbClr val="241337"/>
                </a:solidFill>
                <a:latin typeface="Aptos" pitchFamily="34" charset="0"/>
                <a:ea typeface="Aptos" pitchFamily="34" charset="-122"/>
                <a:cs typeface="Aptos" pitchFamily="34" charset="-120"/>
              </a:rPr>
              <a:t>::text</a:t>
            </a:r>
            <a:endParaRPr lang="en-US" sz="1630" dirty="0"/>
          </a:p>
        </p:txBody>
      </p:sp>
      <p:sp>
        <p:nvSpPr>
          <p:cNvPr id="14" name="Text 12"/>
          <p:cNvSpPr/>
          <p:nvPr/>
        </p:nvSpPr>
        <p:spPr>
          <a:xfrm>
            <a:off x="7699248" y="2478024"/>
            <a:ext cx="3520440" cy="45720"/>
          </a:xfrm>
          <a:prstGeom prst="rect">
            <a:avLst/>
          </a:prstGeom>
          <a:noFill/>
          <a:ln/>
        </p:spPr>
        <p:txBody>
          <a:bodyPr wrap="square" lIns="0" tIns="0" rIns="0" bIns="0" rtlCol="0" anchor="t">
            <a:normAutofit/>
          </a:bodyPr>
          <a:lstStyle/>
          <a:p>
            <a:pPr algn="l" indent="0" marL="0">
              <a:buNone/>
            </a:pPr>
            <a:r>
              <a:rPr lang="en-US" sz="1230" dirty="0">
                <a:solidFill>
                  <a:srgbClr val="6F7082"/>
                </a:solidFill>
                <a:latin typeface="Aptos" pitchFamily="34" charset="0"/>
                <a:ea typeface="Aptos" pitchFamily="34" charset="-122"/>
                <a:cs typeface="Aptos" pitchFamily="34" charset="-120"/>
              </a:rPr>
              <a:t>Récupère le contenu textuel.</a:t>
            </a:r>
            <a:endParaRPr lang="en-US" sz="1230" dirty="0"/>
          </a:p>
        </p:txBody>
      </p:sp>
      <p:sp>
        <p:nvSpPr>
          <p:cNvPr id="15" name="Shape 13"/>
          <p:cNvSpPr/>
          <p:nvPr/>
        </p:nvSpPr>
        <p:spPr>
          <a:xfrm>
            <a:off x="7406640" y="2816352"/>
            <a:ext cx="4023360" cy="914400"/>
          </a:xfrm>
          <a:prstGeom prst="roundRect">
            <a:avLst>
              <a:gd name="adj" fmla="val 6000"/>
            </a:avLst>
          </a:prstGeom>
          <a:solidFill>
            <a:srgbClr val="FFFFFF"/>
          </a:solidFill>
          <a:ln w="12700">
            <a:solidFill>
              <a:srgbClr val="DDDCE6"/>
            </a:solidFill>
            <a:prstDash val="solid"/>
          </a:ln>
          <a:effectLst>
            <a:outerShdw sx="100000" sy="100000" kx="0" ky="0" algn="bl" rotWithShape="0" blurRad="19050" dist="50800" dir="2700000">
              <a:srgbClr val="D6D3DF">
                <a:alpha val="18000"/>
              </a:srgbClr>
            </a:outerShdw>
          </a:effectLst>
        </p:spPr>
      </p:sp>
      <p:sp>
        <p:nvSpPr>
          <p:cNvPr id="16" name="Shape 14"/>
          <p:cNvSpPr/>
          <p:nvPr/>
        </p:nvSpPr>
        <p:spPr>
          <a:xfrm>
            <a:off x="7406640" y="2816352"/>
            <a:ext cx="73152" cy="914400"/>
          </a:xfrm>
          <a:prstGeom prst="rect">
            <a:avLst/>
          </a:prstGeom>
          <a:solidFill>
            <a:srgbClr val="4F7FC4"/>
          </a:solidFill>
          <a:ln w="12700">
            <a:solidFill>
              <a:srgbClr val="4F7FC4"/>
            </a:solidFill>
            <a:prstDash val="solid"/>
          </a:ln>
        </p:spPr>
      </p:sp>
      <p:sp>
        <p:nvSpPr>
          <p:cNvPr id="17" name="Text 15"/>
          <p:cNvSpPr/>
          <p:nvPr/>
        </p:nvSpPr>
        <p:spPr>
          <a:xfrm>
            <a:off x="7726680" y="3035808"/>
            <a:ext cx="3520440" cy="347472"/>
          </a:xfrm>
          <a:prstGeom prst="rect">
            <a:avLst/>
          </a:prstGeom>
          <a:noFill/>
          <a:ln/>
        </p:spPr>
        <p:txBody>
          <a:bodyPr wrap="square" lIns="0" tIns="0" rIns="0" bIns="0" rtlCol="0" anchor="t">
            <a:normAutofit/>
          </a:bodyPr>
          <a:lstStyle/>
          <a:p>
            <a:pPr algn="l" indent="0" marL="0">
              <a:buNone/>
            </a:pPr>
            <a:r>
              <a:rPr lang="en-US" sz="1630" b="1" dirty="0">
                <a:solidFill>
                  <a:srgbClr val="241337"/>
                </a:solidFill>
                <a:latin typeface="Aptos" pitchFamily="34" charset="0"/>
                <a:ea typeface="Aptos" pitchFamily="34" charset="-122"/>
                <a:cs typeface="Aptos" pitchFamily="34" charset="-120"/>
              </a:rPr>
              <a:t>::attr(href)</a:t>
            </a:r>
            <a:endParaRPr lang="en-US" sz="1630" dirty="0"/>
          </a:p>
        </p:txBody>
      </p:sp>
      <p:sp>
        <p:nvSpPr>
          <p:cNvPr id="18" name="Text 16"/>
          <p:cNvSpPr/>
          <p:nvPr/>
        </p:nvSpPr>
        <p:spPr>
          <a:xfrm>
            <a:off x="7699248" y="3511296"/>
            <a:ext cx="3520440" cy="45720"/>
          </a:xfrm>
          <a:prstGeom prst="rect">
            <a:avLst/>
          </a:prstGeom>
          <a:noFill/>
          <a:ln/>
        </p:spPr>
        <p:txBody>
          <a:bodyPr wrap="square" lIns="0" tIns="0" rIns="0" bIns="0" rtlCol="0" anchor="t">
            <a:normAutofit/>
          </a:bodyPr>
          <a:lstStyle/>
          <a:p>
            <a:pPr algn="l" indent="0" marL="0">
              <a:buNone/>
            </a:pPr>
            <a:r>
              <a:rPr lang="en-US" sz="1230" dirty="0">
                <a:solidFill>
                  <a:srgbClr val="6F7082"/>
                </a:solidFill>
                <a:latin typeface="Aptos" pitchFamily="34" charset="0"/>
                <a:ea typeface="Aptos" pitchFamily="34" charset="-122"/>
                <a:cs typeface="Aptos" pitchFamily="34" charset="-120"/>
              </a:rPr>
              <a:t>Récupère un attribut.</a:t>
            </a:r>
            <a:endParaRPr lang="en-US" sz="1230" dirty="0"/>
          </a:p>
        </p:txBody>
      </p:sp>
      <p:sp>
        <p:nvSpPr>
          <p:cNvPr id="19" name="Shape 17"/>
          <p:cNvSpPr/>
          <p:nvPr/>
        </p:nvSpPr>
        <p:spPr>
          <a:xfrm>
            <a:off x="7406640" y="3849624"/>
            <a:ext cx="4023360" cy="914400"/>
          </a:xfrm>
          <a:prstGeom prst="roundRect">
            <a:avLst>
              <a:gd name="adj" fmla="val 6000"/>
            </a:avLst>
          </a:prstGeom>
          <a:solidFill>
            <a:srgbClr val="FFFFFF"/>
          </a:solidFill>
          <a:ln w="12700">
            <a:solidFill>
              <a:srgbClr val="DDDCE6"/>
            </a:solidFill>
            <a:prstDash val="solid"/>
          </a:ln>
          <a:effectLst>
            <a:outerShdw sx="100000" sy="100000" kx="0" ky="0" algn="bl" rotWithShape="0" blurRad="19050" dist="50800" dir="2700000">
              <a:srgbClr val="D6D3DF">
                <a:alpha val="18000"/>
              </a:srgbClr>
            </a:outerShdw>
          </a:effectLst>
        </p:spPr>
      </p:sp>
      <p:sp>
        <p:nvSpPr>
          <p:cNvPr id="20" name="Shape 18"/>
          <p:cNvSpPr/>
          <p:nvPr/>
        </p:nvSpPr>
        <p:spPr>
          <a:xfrm>
            <a:off x="7406640" y="3849624"/>
            <a:ext cx="73152" cy="914400"/>
          </a:xfrm>
          <a:prstGeom prst="rect">
            <a:avLst/>
          </a:prstGeom>
          <a:solidFill>
            <a:srgbClr val="4EA27B"/>
          </a:solidFill>
          <a:ln w="12700">
            <a:solidFill>
              <a:srgbClr val="4EA27B"/>
            </a:solidFill>
            <a:prstDash val="solid"/>
          </a:ln>
        </p:spPr>
      </p:sp>
      <p:sp>
        <p:nvSpPr>
          <p:cNvPr id="21" name="Text 19"/>
          <p:cNvSpPr/>
          <p:nvPr/>
        </p:nvSpPr>
        <p:spPr>
          <a:xfrm>
            <a:off x="7726680" y="4069080"/>
            <a:ext cx="3520440" cy="347472"/>
          </a:xfrm>
          <a:prstGeom prst="rect">
            <a:avLst/>
          </a:prstGeom>
          <a:noFill/>
          <a:ln/>
        </p:spPr>
        <p:txBody>
          <a:bodyPr wrap="square" lIns="0" tIns="0" rIns="0" bIns="0" rtlCol="0" anchor="t">
            <a:normAutofit/>
          </a:bodyPr>
          <a:lstStyle/>
          <a:p>
            <a:pPr algn="l" indent="0" marL="0">
              <a:buNone/>
            </a:pPr>
            <a:r>
              <a:rPr lang="en-US" sz="1630" b="1" dirty="0">
                <a:solidFill>
                  <a:srgbClr val="241337"/>
                </a:solidFill>
                <a:latin typeface="Aptos" pitchFamily="34" charset="0"/>
                <a:ea typeface="Aptos" pitchFamily="34" charset="-122"/>
                <a:cs typeface="Aptos" pitchFamily="34" charset="-120"/>
              </a:rPr>
              <a:t>.get() / .getall()</a:t>
            </a:r>
            <a:endParaRPr lang="en-US" sz="1630" dirty="0"/>
          </a:p>
        </p:txBody>
      </p:sp>
      <p:sp>
        <p:nvSpPr>
          <p:cNvPr id="22" name="Text 20"/>
          <p:cNvSpPr/>
          <p:nvPr/>
        </p:nvSpPr>
        <p:spPr>
          <a:xfrm>
            <a:off x="7699248" y="4544568"/>
            <a:ext cx="3520440" cy="45720"/>
          </a:xfrm>
          <a:prstGeom prst="rect">
            <a:avLst/>
          </a:prstGeom>
          <a:noFill/>
          <a:ln/>
        </p:spPr>
        <p:txBody>
          <a:bodyPr wrap="square" lIns="0" tIns="0" rIns="0" bIns="0" rtlCol="0" anchor="t">
            <a:normAutofit/>
          </a:bodyPr>
          <a:lstStyle/>
          <a:p>
            <a:pPr algn="l" indent="0" marL="0">
              <a:buNone/>
            </a:pPr>
            <a:r>
              <a:rPr lang="en-US" sz="1230" dirty="0">
                <a:solidFill>
                  <a:srgbClr val="6F7082"/>
                </a:solidFill>
                <a:latin typeface="Aptos" pitchFamily="34" charset="0"/>
                <a:ea typeface="Aptos" pitchFamily="34" charset="-122"/>
                <a:cs typeface="Aptos" pitchFamily="34" charset="-120"/>
              </a:rPr>
              <a:t>Un résultat ou la liste complète.</a:t>
            </a:r>
            <a:endParaRPr lang="en-US" sz="1230" dirty="0"/>
          </a:p>
        </p:txBody>
      </p:sp>
      <p:sp>
        <p:nvSpPr>
          <p:cNvPr id="23" name="Text 21"/>
          <p:cNvSpPr/>
          <p:nvPr/>
        </p:nvSpPr>
        <p:spPr>
          <a:xfrm>
            <a:off x="1234440" y="5504688"/>
            <a:ext cx="9784080" cy="320040"/>
          </a:xfrm>
          <a:prstGeom prst="rect">
            <a:avLst/>
          </a:prstGeom>
          <a:noFill/>
          <a:ln/>
        </p:spPr>
        <p:txBody>
          <a:bodyPr wrap="square" lIns="0" tIns="0" rIns="0" bIns="0" rtlCol="0" anchor="ctr">
            <a:normAutofit/>
          </a:bodyPr>
          <a:lstStyle/>
          <a:p>
            <a:pPr algn="ctr" indent="0" marL="0">
              <a:buNone/>
            </a:pPr>
            <a:r>
              <a:rPr lang="en-US" sz="1550" b="1" dirty="0">
                <a:solidFill>
                  <a:srgbClr val="241337"/>
                </a:solidFill>
                <a:latin typeface="Aptos" pitchFamily="34" charset="0"/>
                <a:ea typeface="Aptos" pitchFamily="34" charset="-122"/>
                <a:cs typeface="Aptos" pitchFamily="34" charset="-120"/>
              </a:rPr>
              <a:t>Conseil : sélectionner d’abord le “bloc répétitif”, puis extraire les champs à l’intérieur.</a:t>
            </a:r>
            <a:endParaRPr lang="en-US" sz="1550" dirty="0"/>
          </a:p>
        </p:txBody>
      </p:sp>
      <p:sp>
        <p:nvSpPr>
          <p:cNvPr id="25" name="Slide Number Placeholder 0"/>
          <p:cNvSpPr>
            <a:spLocks noGrp="1"/>
          </p:cNvSpPr>
          <p:nvPr>
            <p:ph type="sldNum" sz="quarter" idx="4294967295"/>
          </p:nvPr>
        </p:nvSpPr>
        <p:spPr>
          <a:xfrm>
            <a:off x="11750040" y="274320"/>
            <a:ext cx="228600" cy="164592"/>
          </a:xfrm>
          <a:prstGeom prst="rect">
            <a:avLst/>
          </a:prstGeom>
          <a:extLst>
            <a:ext uri="{C572A759-6A51-4108-AA02-DFA0A04FC94B}">
              <ma14:wrappingTextBoxFlag xmlns:ma14="http://schemas.microsoft.com/office/mac/drawingml/2011/main" val="0"/>
            </a:ext>
          </a:extLst>
        </p:spPr>
        <p:txBody>
          <a:bodyPr/>
          <a:lstStyle>
            <a:lvl1pPr>
              <a:defRPr sz="800">
                <a:solidFill>
                  <a:srgbClr val="858697"/>
                </a:solidFill>
                <a:latin typeface="Aptos"/>
                <a:ea typeface="Aptos"/>
                <a:cs typeface="Aptos"/>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566928" y="438912"/>
            <a:ext cx="5029200" cy="228600"/>
          </a:xfrm>
          <a:prstGeom prst="rect">
            <a:avLst/>
          </a:prstGeom>
          <a:noFill/>
          <a:ln/>
        </p:spPr>
        <p:txBody>
          <a:bodyPr wrap="square" lIns="0" tIns="0" rIns="0" bIns="0" rtlCol="0" anchor="ctr">
            <a:normAutofit/>
          </a:bodyPr>
          <a:lstStyle/>
          <a:p>
            <a:pPr algn="l" indent="0" marL="0">
              <a:buNone/>
            </a:pPr>
            <a:r>
              <a:rPr lang="en-US" sz="1050" b="1" spc="150" kern="0" dirty="0">
                <a:solidFill>
                  <a:srgbClr val="7432A8"/>
                </a:solidFill>
                <a:latin typeface="Aptos" pitchFamily="34" charset="0"/>
                <a:ea typeface="Aptos" pitchFamily="34" charset="-122"/>
                <a:cs typeface="Aptos" pitchFamily="34" charset="-120"/>
              </a:rPr>
              <a:t>SÉLECTEURS</a:t>
            </a:r>
            <a:endParaRPr lang="en-US" sz="1050" dirty="0"/>
          </a:p>
        </p:txBody>
      </p:sp>
      <p:sp>
        <p:nvSpPr>
          <p:cNvPr id="3" name="Text 1"/>
          <p:cNvSpPr/>
          <p:nvPr/>
        </p:nvSpPr>
        <p:spPr>
          <a:xfrm>
            <a:off x="566928" y="768096"/>
            <a:ext cx="10972800" cy="566928"/>
          </a:xfrm>
          <a:prstGeom prst="rect">
            <a:avLst/>
          </a:prstGeom>
          <a:noFill/>
          <a:ln/>
        </p:spPr>
        <p:txBody>
          <a:bodyPr wrap="square" lIns="0" tIns="0" rIns="0" bIns="0" rtlCol="0" anchor="t">
            <a:normAutofit/>
          </a:bodyPr>
          <a:lstStyle/>
          <a:p>
            <a:pPr algn="l" indent="0" marL="0">
              <a:buNone/>
            </a:pPr>
            <a:r>
              <a:rPr lang="en-US" sz="2800" b="1" dirty="0">
                <a:solidFill>
                  <a:srgbClr val="241337"/>
                </a:solidFill>
                <a:latin typeface="Aptos" pitchFamily="34" charset="0"/>
                <a:ea typeface="Aptos" pitchFamily="34" charset="-122"/>
                <a:cs typeface="Aptos" pitchFamily="34" charset="-120"/>
              </a:rPr>
              <a:t>XPath : puissant pour naviguer par relations</a:t>
            </a:r>
            <a:endParaRPr lang="en-US" sz="2800" dirty="0"/>
          </a:p>
        </p:txBody>
      </p:sp>
      <p:sp>
        <p:nvSpPr>
          <p:cNvPr id="4" name="Shape 2"/>
          <p:cNvSpPr/>
          <p:nvPr/>
        </p:nvSpPr>
        <p:spPr>
          <a:xfrm>
            <a:off x="685800" y="1691640"/>
            <a:ext cx="6629400" cy="3611880"/>
          </a:xfrm>
          <a:prstGeom prst="roundRect">
            <a:avLst>
              <a:gd name="adj" fmla="val 1013"/>
            </a:avLst>
          </a:prstGeom>
          <a:solidFill>
            <a:srgbClr val="17141E"/>
          </a:solidFill>
          <a:ln w="12700">
            <a:solidFill>
              <a:srgbClr val="17141E"/>
            </a:solidFill>
            <a:prstDash val="solid"/>
          </a:ln>
        </p:spPr>
      </p:sp>
      <p:sp>
        <p:nvSpPr>
          <p:cNvPr id="5" name="Shape 3"/>
          <p:cNvSpPr/>
          <p:nvPr/>
        </p:nvSpPr>
        <p:spPr>
          <a:xfrm>
            <a:off x="685800" y="1691640"/>
            <a:ext cx="6629400" cy="347472"/>
          </a:xfrm>
          <a:prstGeom prst="rect">
            <a:avLst/>
          </a:prstGeom>
          <a:solidFill>
            <a:srgbClr val="2B2633"/>
          </a:solidFill>
          <a:ln w="12700">
            <a:solidFill>
              <a:srgbClr val="2B2633"/>
            </a:solidFill>
            <a:prstDash val="solid"/>
          </a:ln>
        </p:spPr>
      </p:sp>
      <p:sp>
        <p:nvSpPr>
          <p:cNvPr id="6" name="Shape 4"/>
          <p:cNvSpPr/>
          <p:nvPr/>
        </p:nvSpPr>
        <p:spPr>
          <a:xfrm>
            <a:off x="868680" y="1810512"/>
            <a:ext cx="73152" cy="73152"/>
          </a:xfrm>
          <a:prstGeom prst="ellipse">
            <a:avLst/>
          </a:prstGeom>
          <a:solidFill>
            <a:srgbClr val="D55E5A"/>
          </a:solidFill>
          <a:ln w="12700">
            <a:solidFill>
              <a:srgbClr val="D55E5A"/>
            </a:solidFill>
            <a:prstDash val="solid"/>
          </a:ln>
        </p:spPr>
      </p:sp>
      <p:sp>
        <p:nvSpPr>
          <p:cNvPr id="7" name="Shape 5"/>
          <p:cNvSpPr/>
          <p:nvPr/>
        </p:nvSpPr>
        <p:spPr>
          <a:xfrm>
            <a:off x="1014984" y="1810512"/>
            <a:ext cx="73152" cy="73152"/>
          </a:xfrm>
          <a:prstGeom prst="ellipse">
            <a:avLst/>
          </a:prstGeom>
          <a:solidFill>
            <a:srgbClr val="E0B24A"/>
          </a:solidFill>
          <a:ln w="12700">
            <a:solidFill>
              <a:srgbClr val="E0B24A"/>
            </a:solidFill>
            <a:prstDash val="solid"/>
          </a:ln>
        </p:spPr>
      </p:sp>
      <p:sp>
        <p:nvSpPr>
          <p:cNvPr id="8" name="Shape 6"/>
          <p:cNvSpPr/>
          <p:nvPr/>
        </p:nvSpPr>
        <p:spPr>
          <a:xfrm>
            <a:off x="1161288" y="1810512"/>
            <a:ext cx="73152" cy="73152"/>
          </a:xfrm>
          <a:prstGeom prst="ellipse">
            <a:avLst/>
          </a:prstGeom>
          <a:solidFill>
            <a:srgbClr val="7EB465"/>
          </a:solidFill>
          <a:ln w="12700">
            <a:solidFill>
              <a:srgbClr val="7EB465"/>
            </a:solidFill>
            <a:prstDash val="solid"/>
          </a:ln>
        </p:spPr>
      </p:sp>
      <p:sp>
        <p:nvSpPr>
          <p:cNvPr id="9" name="Text 7"/>
          <p:cNvSpPr/>
          <p:nvPr/>
        </p:nvSpPr>
        <p:spPr>
          <a:xfrm>
            <a:off x="6217920" y="1764792"/>
            <a:ext cx="914400" cy="137160"/>
          </a:xfrm>
          <a:prstGeom prst="rect">
            <a:avLst/>
          </a:prstGeom>
          <a:noFill/>
          <a:ln/>
        </p:spPr>
        <p:txBody>
          <a:bodyPr wrap="square" lIns="0" tIns="0" rIns="0" bIns="0" rtlCol="0" anchor="ctr">
            <a:normAutofit/>
          </a:bodyPr>
          <a:lstStyle/>
          <a:p>
            <a:pPr algn="r" indent="0" marL="0">
              <a:buNone/>
            </a:pPr>
            <a:r>
              <a:rPr lang="en-US" sz="900" dirty="0">
                <a:solidFill>
                  <a:srgbClr val="B8B3C2"/>
                </a:solidFill>
                <a:latin typeface="Aptos" pitchFamily="34" charset="0"/>
                <a:ea typeface="Aptos" pitchFamily="34" charset="-122"/>
                <a:cs typeface="Aptos" pitchFamily="34" charset="-120"/>
              </a:rPr>
              <a:t>XPATH</a:t>
            </a:r>
            <a:endParaRPr lang="en-US" sz="900" dirty="0"/>
          </a:p>
        </p:txBody>
      </p:sp>
      <p:sp>
        <p:nvSpPr>
          <p:cNvPr id="10" name="Text 8"/>
          <p:cNvSpPr/>
          <p:nvPr/>
        </p:nvSpPr>
        <p:spPr>
          <a:xfrm>
            <a:off x="914400" y="2167128"/>
            <a:ext cx="6172200" cy="2990088"/>
          </a:xfrm>
          <a:prstGeom prst="rect">
            <a:avLst/>
          </a:prstGeom>
          <a:noFill/>
          <a:ln/>
        </p:spPr>
        <p:txBody>
          <a:bodyPr wrap="square" lIns="0" tIns="0" rIns="0" bIns="0" rtlCol="0" anchor="t">
            <a:normAutofit/>
          </a:bodyPr>
          <a:lstStyle/>
          <a:p>
            <a:pPr algn="l" indent="0" marL="0">
              <a:buNone/>
            </a:pPr>
            <a:r>
              <a:rPr lang="en-US" sz="1100" dirty="0">
                <a:solidFill>
                  <a:srgbClr val="F3EFF7"/>
                </a:solidFill>
                <a:latin typeface="Courier New" pitchFamily="34" charset="0"/>
                <a:ea typeface="Courier New" pitchFamily="34" charset="-122"/>
                <a:cs typeface="Courier New" pitchFamily="34" charset="-120"/>
              </a:rPr>
              <a:t>response.xpath("//article[contains(@class,'product_pod')]")</a:t>
            </a:r>
            <a:endParaRPr lang="en-US" sz="1100" dirty="0"/>
          </a:p>
          <a:p>
            <a:pPr algn="l" indent="0" marL="0">
              <a:buNone/>
            </a:pPr>
            <a:endParaRPr lang="en-US" sz="1100" dirty="0"/>
          </a:p>
          <a:p>
            <a:pPr algn="l" indent="0" marL="0">
              <a:buNone/>
            </a:pPr>
            <a:r>
              <a:rPr lang="en-US" sz="1100" dirty="0">
                <a:solidFill>
                  <a:srgbClr val="F3EFF7"/>
                </a:solidFill>
                <a:latin typeface="Courier New" pitchFamily="34" charset="0"/>
                <a:ea typeface="Courier New" pitchFamily="34" charset="-122"/>
                <a:cs typeface="Courier New" pitchFamily="34" charset="-120"/>
              </a:rPr>
              <a:t>book.xpath(".//h3/a/@title").get()</a:t>
            </a:r>
            <a:endParaRPr lang="en-US" sz="1100" dirty="0"/>
          </a:p>
          <a:p>
            <a:pPr algn="l" indent="0" marL="0">
              <a:buNone/>
            </a:pPr>
            <a:r>
              <a:rPr lang="en-US" sz="1100" dirty="0">
                <a:solidFill>
                  <a:srgbClr val="F3EFF7"/>
                </a:solidFill>
                <a:latin typeface="Courier New" pitchFamily="34" charset="0"/>
                <a:ea typeface="Courier New" pitchFamily="34" charset="-122"/>
                <a:cs typeface="Courier New" pitchFamily="34" charset="-120"/>
              </a:rPr>
              <a:t>book.xpath(".//p[@class='price_color']/text()").get()</a:t>
            </a:r>
            <a:endParaRPr lang="en-US" sz="1100" dirty="0"/>
          </a:p>
          <a:p>
            <a:pPr algn="l" indent="0" marL="0">
              <a:buNone/>
            </a:pPr>
            <a:endParaRPr lang="en-US" sz="1100" dirty="0"/>
          </a:p>
          <a:p>
            <a:pPr algn="l" indent="0" marL="0">
              <a:buNone/>
            </a:pPr>
            <a:r>
              <a:rPr lang="en-US" sz="1100" dirty="0">
                <a:solidFill>
                  <a:srgbClr val="F3EFF7"/>
                </a:solidFill>
                <a:latin typeface="Courier New" pitchFamily="34" charset="0"/>
                <a:ea typeface="Courier New" pitchFamily="34" charset="-122"/>
                <a:cs typeface="Courier New" pitchFamily="34" charset="-120"/>
              </a:rPr>
              <a:t># Exemple relationnel</a:t>
            </a:r>
            <a:endParaRPr lang="en-US" sz="1100" dirty="0"/>
          </a:p>
          <a:p>
            <a:pPr algn="l" indent="0" marL="0">
              <a:buNone/>
            </a:pPr>
            <a:r>
              <a:rPr lang="en-US" sz="1100" dirty="0">
                <a:solidFill>
                  <a:srgbClr val="F3EFF7"/>
                </a:solidFill>
                <a:latin typeface="Courier New" pitchFamily="34" charset="0"/>
                <a:ea typeface="Courier New" pitchFamily="34" charset="-122"/>
                <a:cs typeface="Courier New" pitchFamily="34" charset="-120"/>
              </a:rPr>
              <a:t>response.xpath("//h2[text()='Books']/following::ul[1]")</a:t>
            </a:r>
            <a:endParaRPr lang="en-US" sz="1100" dirty="0"/>
          </a:p>
        </p:txBody>
      </p:sp>
      <p:sp>
        <p:nvSpPr>
          <p:cNvPr id="11" name="Shape 9"/>
          <p:cNvSpPr/>
          <p:nvPr/>
        </p:nvSpPr>
        <p:spPr>
          <a:xfrm>
            <a:off x="7635240" y="1783080"/>
            <a:ext cx="3657600" cy="1024128"/>
          </a:xfrm>
          <a:prstGeom prst="roundRect">
            <a:avLst>
              <a:gd name="adj" fmla="val 5357"/>
            </a:avLst>
          </a:prstGeom>
          <a:solidFill>
            <a:srgbClr val="FFFFFF"/>
          </a:solidFill>
          <a:ln w="12700">
            <a:solidFill>
              <a:srgbClr val="DDDCE6"/>
            </a:solidFill>
            <a:prstDash val="solid"/>
          </a:ln>
          <a:effectLst>
            <a:outerShdw sx="100000" sy="100000" kx="0" ky="0" algn="bl" rotWithShape="0" blurRad="19050" dist="50800" dir="2700000">
              <a:srgbClr val="D6D3DF">
                <a:alpha val="18000"/>
              </a:srgbClr>
            </a:outerShdw>
          </a:effectLst>
        </p:spPr>
      </p:sp>
      <p:sp>
        <p:nvSpPr>
          <p:cNvPr id="12" name="Shape 10"/>
          <p:cNvSpPr/>
          <p:nvPr/>
        </p:nvSpPr>
        <p:spPr>
          <a:xfrm>
            <a:off x="7635240" y="1783080"/>
            <a:ext cx="73152" cy="1024128"/>
          </a:xfrm>
          <a:prstGeom prst="rect">
            <a:avLst/>
          </a:prstGeom>
          <a:solidFill>
            <a:srgbClr val="4F7FC4"/>
          </a:solidFill>
          <a:ln w="12700">
            <a:solidFill>
              <a:srgbClr val="4F7FC4"/>
            </a:solidFill>
            <a:prstDash val="solid"/>
          </a:ln>
        </p:spPr>
      </p:sp>
      <p:sp>
        <p:nvSpPr>
          <p:cNvPr id="13" name="Text 11"/>
          <p:cNvSpPr/>
          <p:nvPr/>
        </p:nvSpPr>
        <p:spPr>
          <a:xfrm>
            <a:off x="7955280" y="2002536"/>
            <a:ext cx="3154680" cy="347472"/>
          </a:xfrm>
          <a:prstGeom prst="rect">
            <a:avLst/>
          </a:prstGeom>
          <a:noFill/>
          <a:ln/>
        </p:spPr>
        <p:txBody>
          <a:bodyPr wrap="square" lIns="0" tIns="0" rIns="0" bIns="0" rtlCol="0" anchor="t">
            <a:normAutofit/>
          </a:bodyPr>
          <a:lstStyle/>
          <a:p>
            <a:pPr algn="l" indent="0" marL="0">
              <a:buNone/>
            </a:pPr>
            <a:r>
              <a:rPr lang="en-US" sz="1630" b="1" dirty="0">
                <a:solidFill>
                  <a:srgbClr val="241337"/>
                </a:solidFill>
                <a:latin typeface="Aptos" pitchFamily="34" charset="0"/>
                <a:ea typeface="Aptos" pitchFamily="34" charset="-122"/>
                <a:cs typeface="Aptos" pitchFamily="34" charset="-120"/>
              </a:rPr>
              <a:t>Quand CSS suffit</a:t>
            </a:r>
            <a:endParaRPr lang="en-US" sz="1630" dirty="0"/>
          </a:p>
        </p:txBody>
      </p:sp>
      <p:sp>
        <p:nvSpPr>
          <p:cNvPr id="14" name="Text 12"/>
          <p:cNvSpPr/>
          <p:nvPr/>
        </p:nvSpPr>
        <p:spPr>
          <a:xfrm>
            <a:off x="7927848" y="2478024"/>
            <a:ext cx="3154680" cy="155448"/>
          </a:xfrm>
          <a:prstGeom prst="rect">
            <a:avLst/>
          </a:prstGeom>
          <a:noFill/>
          <a:ln/>
        </p:spPr>
        <p:txBody>
          <a:bodyPr wrap="square" lIns="0" tIns="0" rIns="0" bIns="0" rtlCol="0" anchor="t">
            <a:normAutofit/>
          </a:bodyPr>
          <a:lstStyle/>
          <a:p>
            <a:pPr algn="l" indent="0" marL="0">
              <a:buNone/>
            </a:pPr>
            <a:r>
              <a:rPr lang="en-US" sz="1230" dirty="0">
                <a:solidFill>
                  <a:srgbClr val="6F7082"/>
                </a:solidFill>
                <a:latin typeface="Aptos" pitchFamily="34" charset="0"/>
                <a:ea typeface="Aptos" pitchFamily="34" charset="-122"/>
                <a:cs typeface="Aptos" pitchFamily="34" charset="-120"/>
              </a:rPr>
              <a:t>Classes, IDs, attributs simples.</a:t>
            </a:r>
            <a:endParaRPr lang="en-US" sz="1230" dirty="0"/>
          </a:p>
        </p:txBody>
      </p:sp>
      <p:sp>
        <p:nvSpPr>
          <p:cNvPr id="15" name="Shape 13"/>
          <p:cNvSpPr/>
          <p:nvPr/>
        </p:nvSpPr>
        <p:spPr>
          <a:xfrm>
            <a:off x="7635240" y="2944368"/>
            <a:ext cx="3657600" cy="1024128"/>
          </a:xfrm>
          <a:prstGeom prst="roundRect">
            <a:avLst>
              <a:gd name="adj" fmla="val 5357"/>
            </a:avLst>
          </a:prstGeom>
          <a:solidFill>
            <a:srgbClr val="FFFFFF"/>
          </a:solidFill>
          <a:ln w="12700">
            <a:solidFill>
              <a:srgbClr val="DDDCE6"/>
            </a:solidFill>
            <a:prstDash val="solid"/>
          </a:ln>
          <a:effectLst>
            <a:outerShdw sx="100000" sy="100000" kx="0" ky="0" algn="bl" rotWithShape="0" blurRad="19050" dist="50800" dir="2700000">
              <a:srgbClr val="D6D3DF">
                <a:alpha val="18000"/>
              </a:srgbClr>
            </a:outerShdw>
          </a:effectLst>
        </p:spPr>
      </p:sp>
      <p:sp>
        <p:nvSpPr>
          <p:cNvPr id="16" name="Shape 14"/>
          <p:cNvSpPr/>
          <p:nvPr/>
        </p:nvSpPr>
        <p:spPr>
          <a:xfrm>
            <a:off x="7635240" y="2944368"/>
            <a:ext cx="73152" cy="1024128"/>
          </a:xfrm>
          <a:prstGeom prst="rect">
            <a:avLst/>
          </a:prstGeom>
          <a:solidFill>
            <a:srgbClr val="DB8129"/>
          </a:solidFill>
          <a:ln w="12700">
            <a:solidFill>
              <a:srgbClr val="DB8129"/>
            </a:solidFill>
            <a:prstDash val="solid"/>
          </a:ln>
        </p:spPr>
      </p:sp>
      <p:sp>
        <p:nvSpPr>
          <p:cNvPr id="17" name="Text 15"/>
          <p:cNvSpPr/>
          <p:nvPr/>
        </p:nvSpPr>
        <p:spPr>
          <a:xfrm>
            <a:off x="7955280" y="3163824"/>
            <a:ext cx="3154680" cy="347472"/>
          </a:xfrm>
          <a:prstGeom prst="rect">
            <a:avLst/>
          </a:prstGeom>
          <a:noFill/>
          <a:ln/>
        </p:spPr>
        <p:txBody>
          <a:bodyPr wrap="square" lIns="0" tIns="0" rIns="0" bIns="0" rtlCol="0" anchor="t">
            <a:normAutofit/>
          </a:bodyPr>
          <a:lstStyle/>
          <a:p>
            <a:pPr algn="l" indent="0" marL="0">
              <a:buNone/>
            </a:pPr>
            <a:r>
              <a:rPr lang="en-US" sz="1630" b="1" dirty="0">
                <a:solidFill>
                  <a:srgbClr val="241337"/>
                </a:solidFill>
                <a:latin typeface="Aptos" pitchFamily="34" charset="0"/>
                <a:ea typeface="Aptos" pitchFamily="34" charset="-122"/>
                <a:cs typeface="Aptos" pitchFamily="34" charset="-120"/>
              </a:rPr>
              <a:t>Quand XPath aide</a:t>
            </a:r>
            <a:endParaRPr lang="en-US" sz="1630" dirty="0"/>
          </a:p>
        </p:txBody>
      </p:sp>
      <p:sp>
        <p:nvSpPr>
          <p:cNvPr id="18" name="Text 16"/>
          <p:cNvSpPr/>
          <p:nvPr/>
        </p:nvSpPr>
        <p:spPr>
          <a:xfrm>
            <a:off x="7927848" y="3639312"/>
            <a:ext cx="3154680" cy="155448"/>
          </a:xfrm>
          <a:prstGeom prst="rect">
            <a:avLst/>
          </a:prstGeom>
          <a:noFill/>
          <a:ln/>
        </p:spPr>
        <p:txBody>
          <a:bodyPr wrap="square" lIns="0" tIns="0" rIns="0" bIns="0" rtlCol="0" anchor="t">
            <a:normAutofit/>
          </a:bodyPr>
          <a:lstStyle/>
          <a:p>
            <a:pPr algn="l" indent="0" marL="0">
              <a:buNone/>
            </a:pPr>
            <a:r>
              <a:rPr lang="en-US" sz="1230" dirty="0">
                <a:solidFill>
                  <a:srgbClr val="6F7082"/>
                </a:solidFill>
                <a:latin typeface="Aptos" pitchFamily="34" charset="0"/>
                <a:ea typeface="Aptos" pitchFamily="34" charset="-122"/>
                <a:cs typeface="Aptos" pitchFamily="34" charset="-120"/>
              </a:rPr>
              <a:t>Relations parent/enfant/frère, conditions sur texte.</a:t>
            </a:r>
            <a:endParaRPr lang="en-US" sz="1230" dirty="0"/>
          </a:p>
        </p:txBody>
      </p:sp>
      <p:sp>
        <p:nvSpPr>
          <p:cNvPr id="19" name="Shape 17"/>
          <p:cNvSpPr/>
          <p:nvPr/>
        </p:nvSpPr>
        <p:spPr>
          <a:xfrm>
            <a:off x="7635240" y="4105656"/>
            <a:ext cx="3657600" cy="1024128"/>
          </a:xfrm>
          <a:prstGeom prst="roundRect">
            <a:avLst>
              <a:gd name="adj" fmla="val 5357"/>
            </a:avLst>
          </a:prstGeom>
          <a:solidFill>
            <a:srgbClr val="FFFFFF"/>
          </a:solidFill>
          <a:ln w="12700">
            <a:solidFill>
              <a:srgbClr val="DDDCE6"/>
            </a:solidFill>
            <a:prstDash val="solid"/>
          </a:ln>
          <a:effectLst>
            <a:outerShdw sx="100000" sy="100000" kx="0" ky="0" algn="bl" rotWithShape="0" blurRad="19050" dist="50800" dir="2700000">
              <a:srgbClr val="D6D3DF">
                <a:alpha val="18000"/>
              </a:srgbClr>
            </a:outerShdw>
          </a:effectLst>
        </p:spPr>
      </p:sp>
      <p:sp>
        <p:nvSpPr>
          <p:cNvPr id="20" name="Shape 18"/>
          <p:cNvSpPr/>
          <p:nvPr/>
        </p:nvSpPr>
        <p:spPr>
          <a:xfrm>
            <a:off x="7635240" y="4105656"/>
            <a:ext cx="73152" cy="1024128"/>
          </a:xfrm>
          <a:prstGeom prst="rect">
            <a:avLst/>
          </a:prstGeom>
          <a:solidFill>
            <a:srgbClr val="7432A8"/>
          </a:solidFill>
          <a:ln w="12700">
            <a:solidFill>
              <a:srgbClr val="7432A8"/>
            </a:solidFill>
            <a:prstDash val="solid"/>
          </a:ln>
        </p:spPr>
      </p:sp>
      <p:sp>
        <p:nvSpPr>
          <p:cNvPr id="21" name="Text 19"/>
          <p:cNvSpPr/>
          <p:nvPr/>
        </p:nvSpPr>
        <p:spPr>
          <a:xfrm>
            <a:off x="7955280" y="4325112"/>
            <a:ext cx="3154680" cy="347472"/>
          </a:xfrm>
          <a:prstGeom prst="rect">
            <a:avLst/>
          </a:prstGeom>
          <a:noFill/>
          <a:ln/>
        </p:spPr>
        <p:txBody>
          <a:bodyPr wrap="square" lIns="0" tIns="0" rIns="0" bIns="0" rtlCol="0" anchor="t">
            <a:normAutofit/>
          </a:bodyPr>
          <a:lstStyle/>
          <a:p>
            <a:pPr algn="l" indent="0" marL="0">
              <a:buNone/>
            </a:pPr>
            <a:r>
              <a:rPr lang="en-US" sz="1630" b="1" dirty="0">
                <a:solidFill>
                  <a:srgbClr val="241337"/>
                </a:solidFill>
                <a:latin typeface="Aptos" pitchFamily="34" charset="0"/>
                <a:ea typeface="Aptos" pitchFamily="34" charset="-122"/>
                <a:cs typeface="Aptos" pitchFamily="34" charset="-120"/>
              </a:rPr>
              <a:t>Bonne pratique</a:t>
            </a:r>
            <a:endParaRPr lang="en-US" sz="1630" dirty="0"/>
          </a:p>
        </p:txBody>
      </p:sp>
      <p:sp>
        <p:nvSpPr>
          <p:cNvPr id="22" name="Text 20"/>
          <p:cNvSpPr/>
          <p:nvPr/>
        </p:nvSpPr>
        <p:spPr>
          <a:xfrm>
            <a:off x="7927848" y="4800600"/>
            <a:ext cx="3154680" cy="155448"/>
          </a:xfrm>
          <a:prstGeom prst="rect">
            <a:avLst/>
          </a:prstGeom>
          <a:noFill/>
          <a:ln/>
        </p:spPr>
        <p:txBody>
          <a:bodyPr wrap="square" lIns="0" tIns="0" rIns="0" bIns="0" rtlCol="0" anchor="t">
            <a:normAutofit/>
          </a:bodyPr>
          <a:lstStyle/>
          <a:p>
            <a:pPr algn="l" indent="0" marL="0">
              <a:buNone/>
            </a:pPr>
            <a:r>
              <a:rPr lang="en-US" sz="1230" dirty="0">
                <a:solidFill>
                  <a:srgbClr val="6F7082"/>
                </a:solidFill>
                <a:latin typeface="Aptos" pitchFamily="34" charset="0"/>
                <a:ea typeface="Aptos" pitchFamily="34" charset="-122"/>
                <a:cs typeface="Aptos" pitchFamily="34" charset="-120"/>
              </a:rPr>
              <a:t>Préférer le sélecteur le plus clair et le plus stable.</a:t>
            </a:r>
            <a:endParaRPr lang="en-US" sz="1230" dirty="0"/>
          </a:p>
        </p:txBody>
      </p:sp>
      <p:sp>
        <p:nvSpPr>
          <p:cNvPr id="25" name="Slide Number Placeholder 0"/>
          <p:cNvSpPr>
            <a:spLocks noGrp="1"/>
          </p:cNvSpPr>
          <p:nvPr>
            <p:ph type="sldNum" sz="quarter" idx="4294967295"/>
          </p:nvPr>
        </p:nvSpPr>
        <p:spPr>
          <a:xfrm>
            <a:off x="11750040" y="274320"/>
            <a:ext cx="228600" cy="164592"/>
          </a:xfrm>
          <a:prstGeom prst="rect">
            <a:avLst/>
          </a:prstGeom>
          <a:extLst>
            <a:ext uri="{C572A759-6A51-4108-AA02-DFA0A04FC94B}">
              <ma14:wrappingTextBoxFlag xmlns:ma14="http://schemas.microsoft.com/office/mac/drawingml/2011/main" val="0"/>
            </a:ext>
          </a:extLst>
        </p:spPr>
        <p:txBody>
          <a:bodyPr/>
          <a:lstStyle>
            <a:lvl1pPr>
              <a:defRPr sz="800">
                <a:solidFill>
                  <a:srgbClr val="858697"/>
                </a:solidFill>
                <a:latin typeface="Aptos"/>
                <a:ea typeface="Aptos"/>
                <a:cs typeface="Aptos"/>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566928" y="438912"/>
            <a:ext cx="5029200" cy="228600"/>
          </a:xfrm>
          <a:prstGeom prst="rect">
            <a:avLst/>
          </a:prstGeom>
          <a:noFill/>
          <a:ln/>
        </p:spPr>
        <p:txBody>
          <a:bodyPr wrap="square" lIns="0" tIns="0" rIns="0" bIns="0" rtlCol="0" anchor="ctr">
            <a:normAutofit/>
          </a:bodyPr>
          <a:lstStyle/>
          <a:p>
            <a:pPr algn="l" indent="0" marL="0">
              <a:buNone/>
            </a:pPr>
            <a:r>
              <a:rPr lang="en-US" sz="1050" b="1" spc="150" kern="0" dirty="0">
                <a:solidFill>
                  <a:srgbClr val="7432A8"/>
                </a:solidFill>
                <a:latin typeface="Aptos" pitchFamily="34" charset="0"/>
                <a:ea typeface="Aptos" pitchFamily="34" charset="-122"/>
                <a:cs typeface="Aptos" pitchFamily="34" charset="-120"/>
              </a:rPr>
              <a:t>EXERCICE 1</a:t>
            </a:r>
            <a:endParaRPr lang="en-US" sz="1050" dirty="0"/>
          </a:p>
        </p:txBody>
      </p:sp>
      <p:sp>
        <p:nvSpPr>
          <p:cNvPr id="3" name="Text 1"/>
          <p:cNvSpPr/>
          <p:nvPr/>
        </p:nvSpPr>
        <p:spPr>
          <a:xfrm>
            <a:off x="566928" y="768096"/>
            <a:ext cx="10972800" cy="566928"/>
          </a:xfrm>
          <a:prstGeom prst="rect">
            <a:avLst/>
          </a:prstGeom>
          <a:noFill/>
          <a:ln/>
        </p:spPr>
        <p:txBody>
          <a:bodyPr wrap="square" lIns="0" tIns="0" rIns="0" bIns="0" rtlCol="0" anchor="t">
            <a:normAutofit/>
          </a:bodyPr>
          <a:lstStyle/>
          <a:p>
            <a:pPr algn="l" indent="0" marL="0">
              <a:buNone/>
            </a:pPr>
            <a:r>
              <a:rPr lang="en-US" sz="2800" b="1" dirty="0">
                <a:solidFill>
                  <a:srgbClr val="241337"/>
                </a:solidFill>
                <a:latin typeface="Aptos" pitchFamily="34" charset="0"/>
                <a:ea typeface="Aptos" pitchFamily="34" charset="-122"/>
                <a:cs typeface="Aptos" pitchFamily="34" charset="-120"/>
              </a:rPr>
              <a:t>Trouver les bons sélecteurs dans le shell</a:t>
            </a:r>
            <a:endParaRPr lang="en-US" sz="2800" dirty="0"/>
          </a:p>
        </p:txBody>
      </p:sp>
      <p:sp>
        <p:nvSpPr>
          <p:cNvPr id="4" name="Text 2"/>
          <p:cNvSpPr/>
          <p:nvPr/>
        </p:nvSpPr>
        <p:spPr>
          <a:xfrm>
            <a:off x="566928" y="1344168"/>
            <a:ext cx="10698480" cy="384048"/>
          </a:xfrm>
          <a:prstGeom prst="rect">
            <a:avLst/>
          </a:prstGeom>
          <a:noFill/>
          <a:ln/>
        </p:spPr>
        <p:txBody>
          <a:bodyPr wrap="square" lIns="0" tIns="0" rIns="0" bIns="0" rtlCol="0" anchor="t">
            <a:normAutofit/>
          </a:bodyPr>
          <a:lstStyle/>
          <a:p>
            <a:pPr algn="l" indent="0" marL="0">
              <a:buNone/>
            </a:pPr>
            <a:r>
              <a:rPr lang="en-US" sz="1350" dirty="0">
                <a:solidFill>
                  <a:srgbClr val="6F7082"/>
                </a:solidFill>
                <a:latin typeface="Aptos" pitchFamily="34" charset="0"/>
                <a:ea typeface="Aptos" pitchFamily="34" charset="-122"/>
                <a:cs typeface="Aptos" pitchFamily="34" charset="-120"/>
              </a:rPr>
              <a:t>Objectif : savoir obtenir une donnée fiable avant de créer le spider.</a:t>
            </a:r>
            <a:endParaRPr lang="en-US" sz="1350" dirty="0"/>
          </a:p>
        </p:txBody>
      </p:sp>
      <p:sp>
        <p:nvSpPr>
          <p:cNvPr id="5" name="Shape 3"/>
          <p:cNvSpPr/>
          <p:nvPr/>
        </p:nvSpPr>
        <p:spPr>
          <a:xfrm>
            <a:off x="685800" y="1828800"/>
            <a:ext cx="2286000" cy="3154680"/>
          </a:xfrm>
          <a:prstGeom prst="roundRect">
            <a:avLst>
              <a:gd name="adj" fmla="val 2400"/>
            </a:avLst>
          </a:prstGeom>
          <a:solidFill>
            <a:srgbClr val="FFFFFF"/>
          </a:solidFill>
          <a:ln w="12700">
            <a:solidFill>
              <a:srgbClr val="DDDCE6"/>
            </a:solidFill>
            <a:prstDash val="solid"/>
          </a:ln>
          <a:effectLst>
            <a:outerShdw sx="100000" sy="100000" kx="0" ky="0" algn="bl" rotWithShape="0" blurRad="19050" dist="50800" dir="2700000">
              <a:srgbClr val="D6D3DF">
                <a:alpha val="18000"/>
              </a:srgbClr>
            </a:outerShdw>
          </a:effectLst>
        </p:spPr>
      </p:sp>
      <p:sp>
        <p:nvSpPr>
          <p:cNvPr id="6" name="Shape 4"/>
          <p:cNvSpPr/>
          <p:nvPr/>
        </p:nvSpPr>
        <p:spPr>
          <a:xfrm>
            <a:off x="685800" y="1828800"/>
            <a:ext cx="73152" cy="3154680"/>
          </a:xfrm>
          <a:prstGeom prst="rect">
            <a:avLst/>
          </a:prstGeom>
          <a:solidFill>
            <a:srgbClr val="2E899E"/>
          </a:solidFill>
          <a:ln w="12700">
            <a:solidFill>
              <a:srgbClr val="2E899E"/>
            </a:solidFill>
            <a:prstDash val="solid"/>
          </a:ln>
        </p:spPr>
      </p:sp>
      <p:sp>
        <p:nvSpPr>
          <p:cNvPr id="7" name="Text 5"/>
          <p:cNvSpPr/>
          <p:nvPr/>
        </p:nvSpPr>
        <p:spPr>
          <a:xfrm>
            <a:off x="1005840" y="2048256"/>
            <a:ext cx="1783080" cy="347472"/>
          </a:xfrm>
          <a:prstGeom prst="rect">
            <a:avLst/>
          </a:prstGeom>
          <a:noFill/>
          <a:ln/>
        </p:spPr>
        <p:txBody>
          <a:bodyPr wrap="square" lIns="0" tIns="0" rIns="0" bIns="0" rtlCol="0" anchor="t">
            <a:normAutofit/>
          </a:bodyPr>
          <a:lstStyle/>
          <a:p>
            <a:pPr algn="l" indent="0" marL="0">
              <a:buNone/>
            </a:pPr>
            <a:r>
              <a:rPr lang="en-US" sz="1630" b="1" dirty="0">
                <a:solidFill>
                  <a:srgbClr val="241337"/>
                </a:solidFill>
                <a:latin typeface="Aptos" pitchFamily="34" charset="0"/>
                <a:ea typeface="Aptos" pitchFamily="34" charset="-122"/>
                <a:cs typeface="Aptos" pitchFamily="34" charset="-120"/>
              </a:rPr>
              <a:t>Objectif</a:t>
            </a:r>
            <a:endParaRPr lang="en-US" sz="1630" dirty="0"/>
          </a:p>
        </p:txBody>
      </p:sp>
      <p:sp>
        <p:nvSpPr>
          <p:cNvPr id="8" name="Text 6"/>
          <p:cNvSpPr/>
          <p:nvPr/>
        </p:nvSpPr>
        <p:spPr>
          <a:xfrm>
            <a:off x="978408" y="2523744"/>
            <a:ext cx="1783080" cy="2286000"/>
          </a:xfrm>
          <a:prstGeom prst="rect">
            <a:avLst/>
          </a:prstGeom>
          <a:noFill/>
          <a:ln/>
        </p:spPr>
        <p:txBody>
          <a:bodyPr wrap="square" lIns="0" tIns="0" rIns="0" bIns="0" rtlCol="0" anchor="t">
            <a:normAutofit/>
          </a:bodyPr>
          <a:lstStyle/>
          <a:p>
            <a:pPr algn="l" indent="0" marL="0">
              <a:buNone/>
            </a:pPr>
            <a:r>
              <a:rPr lang="en-US" sz="1230" dirty="0">
                <a:solidFill>
                  <a:srgbClr val="6F7082"/>
                </a:solidFill>
                <a:latin typeface="Aptos" pitchFamily="34" charset="0"/>
                <a:ea typeface="Aptos" pitchFamily="34" charset="-122"/>
                <a:cs typeface="Aptos" pitchFamily="34" charset="-120"/>
              </a:rPr>
              <a:t>Sur Books to Scrape, récupérer :</a:t>
            </a:r>
            <a:endParaRPr lang="en-US" sz="1230" dirty="0"/>
          </a:p>
          <a:p>
            <a:pPr algn="l" indent="0" marL="0">
              <a:buNone/>
            </a:pPr>
            <a:endParaRPr lang="en-US" sz="1230" dirty="0"/>
          </a:p>
          <a:p>
            <a:pPr algn="l" indent="0" marL="0">
              <a:buNone/>
            </a:pPr>
            <a:r>
              <a:rPr lang="en-US" sz="1230" dirty="0">
                <a:solidFill>
                  <a:srgbClr val="6F7082"/>
                </a:solidFill>
                <a:latin typeface="Aptos" pitchFamily="34" charset="0"/>
                <a:ea typeface="Aptos" pitchFamily="34" charset="-122"/>
                <a:cs typeface="Aptos" pitchFamily="34" charset="-120"/>
              </a:rPr>
              <a:t>• titre</a:t>
            </a:r>
            <a:endParaRPr lang="en-US" sz="1230" dirty="0"/>
          </a:p>
          <a:p>
            <a:pPr algn="l" indent="0" marL="0">
              <a:buNone/>
            </a:pPr>
            <a:r>
              <a:rPr lang="en-US" sz="1230" dirty="0">
                <a:solidFill>
                  <a:srgbClr val="6F7082"/>
                </a:solidFill>
                <a:latin typeface="Aptos" pitchFamily="34" charset="0"/>
                <a:ea typeface="Aptos" pitchFamily="34" charset="-122"/>
                <a:cs typeface="Aptos" pitchFamily="34" charset="-120"/>
              </a:rPr>
              <a:t>• prix</a:t>
            </a:r>
            <a:endParaRPr lang="en-US" sz="1230" dirty="0"/>
          </a:p>
          <a:p>
            <a:pPr algn="l" indent="0" marL="0">
              <a:buNone/>
            </a:pPr>
            <a:r>
              <a:rPr lang="en-US" sz="1230" dirty="0">
                <a:solidFill>
                  <a:srgbClr val="6F7082"/>
                </a:solidFill>
                <a:latin typeface="Aptos" pitchFamily="34" charset="0"/>
                <a:ea typeface="Aptos" pitchFamily="34" charset="-122"/>
                <a:cs typeface="Aptos" pitchFamily="34" charset="-120"/>
              </a:rPr>
              <a:t>• disponibilité</a:t>
            </a:r>
            <a:endParaRPr lang="en-US" sz="1230" dirty="0"/>
          </a:p>
          <a:p>
            <a:pPr algn="l" indent="0" marL="0">
              <a:buNone/>
            </a:pPr>
            <a:r>
              <a:rPr lang="en-US" sz="1230" dirty="0">
                <a:solidFill>
                  <a:srgbClr val="6F7082"/>
                </a:solidFill>
                <a:latin typeface="Aptos" pitchFamily="34" charset="0"/>
                <a:ea typeface="Aptos" pitchFamily="34" charset="-122"/>
                <a:cs typeface="Aptos" pitchFamily="34" charset="-120"/>
              </a:rPr>
              <a:t>• URL relative</a:t>
            </a:r>
            <a:endParaRPr lang="en-US" sz="1230" dirty="0"/>
          </a:p>
          <a:p>
            <a:pPr algn="l" indent="0" marL="0">
              <a:buNone/>
            </a:pPr>
            <a:r>
              <a:rPr lang="en-US" sz="1230" dirty="0">
                <a:solidFill>
                  <a:srgbClr val="6F7082"/>
                </a:solidFill>
                <a:latin typeface="Aptos" pitchFamily="34" charset="0"/>
                <a:ea typeface="Aptos" pitchFamily="34" charset="-122"/>
                <a:cs typeface="Aptos" pitchFamily="34" charset="-120"/>
              </a:rPr>
              <a:t>• note en étoiles</a:t>
            </a:r>
            <a:endParaRPr lang="en-US" sz="1230" dirty="0"/>
          </a:p>
        </p:txBody>
      </p:sp>
      <p:sp>
        <p:nvSpPr>
          <p:cNvPr id="9" name="Shape 7"/>
          <p:cNvSpPr/>
          <p:nvPr/>
        </p:nvSpPr>
        <p:spPr>
          <a:xfrm>
            <a:off x="3246120" y="1828800"/>
            <a:ext cx="5486400" cy="3154680"/>
          </a:xfrm>
          <a:prstGeom prst="roundRect">
            <a:avLst>
              <a:gd name="adj" fmla="val 1739"/>
            </a:avLst>
          </a:prstGeom>
          <a:solidFill>
            <a:srgbClr val="FFFFFF"/>
          </a:solidFill>
          <a:ln w="12700">
            <a:solidFill>
              <a:srgbClr val="DDDCE6"/>
            </a:solidFill>
            <a:prstDash val="solid"/>
          </a:ln>
          <a:effectLst>
            <a:outerShdw sx="100000" sy="100000" kx="0" ky="0" algn="bl" rotWithShape="0" blurRad="19050" dist="50800" dir="2700000">
              <a:srgbClr val="D6D3DF">
                <a:alpha val="18000"/>
              </a:srgbClr>
            </a:outerShdw>
          </a:effectLst>
        </p:spPr>
      </p:sp>
      <p:sp>
        <p:nvSpPr>
          <p:cNvPr id="10" name="Shape 8"/>
          <p:cNvSpPr/>
          <p:nvPr/>
        </p:nvSpPr>
        <p:spPr>
          <a:xfrm>
            <a:off x="3246120" y="1828800"/>
            <a:ext cx="73152" cy="3154680"/>
          </a:xfrm>
          <a:prstGeom prst="rect">
            <a:avLst/>
          </a:prstGeom>
          <a:solidFill>
            <a:srgbClr val="7432A8"/>
          </a:solidFill>
          <a:ln w="12700">
            <a:solidFill>
              <a:srgbClr val="7432A8"/>
            </a:solidFill>
            <a:prstDash val="solid"/>
          </a:ln>
        </p:spPr>
      </p:sp>
      <p:sp>
        <p:nvSpPr>
          <p:cNvPr id="11" name="Text 9"/>
          <p:cNvSpPr/>
          <p:nvPr/>
        </p:nvSpPr>
        <p:spPr>
          <a:xfrm>
            <a:off x="3566160" y="2048256"/>
            <a:ext cx="4983480" cy="347472"/>
          </a:xfrm>
          <a:prstGeom prst="rect">
            <a:avLst/>
          </a:prstGeom>
          <a:noFill/>
          <a:ln/>
        </p:spPr>
        <p:txBody>
          <a:bodyPr wrap="square" lIns="0" tIns="0" rIns="0" bIns="0" rtlCol="0" anchor="t">
            <a:normAutofit/>
          </a:bodyPr>
          <a:lstStyle/>
          <a:p>
            <a:pPr algn="l" indent="0" marL="0">
              <a:buNone/>
            </a:pPr>
            <a:r>
              <a:rPr lang="en-US" sz="1630" b="1" dirty="0">
                <a:solidFill>
                  <a:srgbClr val="241337"/>
                </a:solidFill>
                <a:latin typeface="Aptos" pitchFamily="34" charset="0"/>
                <a:ea typeface="Aptos" pitchFamily="34" charset="-122"/>
                <a:cs typeface="Aptos" pitchFamily="34" charset="-120"/>
              </a:rPr>
              <a:t>Consignes</a:t>
            </a:r>
            <a:endParaRPr lang="en-US" sz="1630" dirty="0"/>
          </a:p>
        </p:txBody>
      </p:sp>
      <p:sp>
        <p:nvSpPr>
          <p:cNvPr id="12" name="Text 10"/>
          <p:cNvSpPr/>
          <p:nvPr/>
        </p:nvSpPr>
        <p:spPr>
          <a:xfrm>
            <a:off x="3538728" y="2523744"/>
            <a:ext cx="4983480" cy="2286000"/>
          </a:xfrm>
          <a:prstGeom prst="rect">
            <a:avLst/>
          </a:prstGeom>
          <a:noFill/>
          <a:ln/>
        </p:spPr>
        <p:txBody>
          <a:bodyPr wrap="square" lIns="0" tIns="0" rIns="0" bIns="0" rtlCol="0" anchor="t">
            <a:normAutofit/>
          </a:bodyPr>
          <a:lstStyle/>
          <a:p>
            <a:pPr algn="l" indent="0" marL="0">
              <a:buNone/>
            </a:pPr>
            <a:r>
              <a:rPr lang="en-US" sz="1230" dirty="0">
                <a:solidFill>
                  <a:srgbClr val="6F7082"/>
                </a:solidFill>
                <a:latin typeface="Aptos" pitchFamily="34" charset="0"/>
                <a:ea typeface="Aptos" pitchFamily="34" charset="-122"/>
                <a:cs typeface="Aptos" pitchFamily="34" charset="-120"/>
              </a:rPr>
              <a:t>1. Ouvrir scrapy shell.</a:t>
            </a:r>
            <a:endParaRPr lang="en-US" sz="1230" dirty="0"/>
          </a:p>
          <a:p>
            <a:pPr algn="l" indent="0" marL="0">
              <a:buNone/>
            </a:pPr>
            <a:r>
              <a:rPr lang="en-US" sz="1230" dirty="0">
                <a:solidFill>
                  <a:srgbClr val="6F7082"/>
                </a:solidFill>
                <a:latin typeface="Aptos" pitchFamily="34" charset="0"/>
                <a:ea typeface="Aptos" pitchFamily="34" charset="-122"/>
                <a:cs typeface="Aptos" pitchFamily="34" charset="-120"/>
              </a:rPr>
              <a:t>2. Trouver le bloc représentant un livre.</a:t>
            </a:r>
            <a:endParaRPr lang="en-US" sz="1230" dirty="0"/>
          </a:p>
          <a:p>
            <a:pPr algn="l" indent="0" marL="0">
              <a:buNone/>
            </a:pPr>
            <a:r>
              <a:rPr lang="en-US" sz="1230" dirty="0">
                <a:solidFill>
                  <a:srgbClr val="6F7082"/>
                </a:solidFill>
                <a:latin typeface="Aptos" pitchFamily="34" charset="0"/>
                <a:ea typeface="Aptos" pitchFamily="34" charset="-122"/>
                <a:cs typeface="Aptos" pitchFamily="34" charset="-120"/>
              </a:rPr>
              <a:t>3. Tester un sélecteur par champ.</a:t>
            </a:r>
            <a:endParaRPr lang="en-US" sz="1230" dirty="0"/>
          </a:p>
          <a:p>
            <a:pPr algn="l" indent="0" marL="0">
              <a:buNone/>
            </a:pPr>
            <a:r>
              <a:rPr lang="en-US" sz="1230" dirty="0">
                <a:solidFill>
                  <a:srgbClr val="6F7082"/>
                </a:solidFill>
                <a:latin typeface="Aptos" pitchFamily="34" charset="0"/>
                <a:ea typeface="Aptos" pitchFamily="34" charset="-122"/>
                <a:cs typeface="Aptos" pitchFamily="34" charset="-120"/>
              </a:rPr>
              <a:t>4. Vérifier plusieurs cartes produits.</a:t>
            </a:r>
            <a:endParaRPr lang="en-US" sz="1230" dirty="0"/>
          </a:p>
          <a:p>
            <a:pPr algn="l" indent="0" marL="0">
              <a:buNone/>
            </a:pPr>
            <a:r>
              <a:rPr lang="en-US" sz="1230" dirty="0">
                <a:solidFill>
                  <a:srgbClr val="6F7082"/>
                </a:solidFill>
                <a:latin typeface="Aptos" pitchFamily="34" charset="0"/>
                <a:ea typeface="Aptos" pitchFamily="34" charset="-122"/>
                <a:cs typeface="Aptos" pitchFamily="34" charset="-120"/>
              </a:rPr>
              <a:t>5. Noter les sélecteurs retenus et pourquoi ils sont robustes.</a:t>
            </a:r>
            <a:endParaRPr lang="en-US" sz="1230" dirty="0"/>
          </a:p>
        </p:txBody>
      </p:sp>
      <p:sp>
        <p:nvSpPr>
          <p:cNvPr id="13" name="Shape 11"/>
          <p:cNvSpPr/>
          <p:nvPr/>
        </p:nvSpPr>
        <p:spPr>
          <a:xfrm>
            <a:off x="9006840" y="1828800"/>
            <a:ext cx="2286000" cy="3154680"/>
          </a:xfrm>
          <a:prstGeom prst="roundRect">
            <a:avLst>
              <a:gd name="adj" fmla="val 2400"/>
            </a:avLst>
          </a:prstGeom>
          <a:solidFill>
            <a:srgbClr val="FFFFFF"/>
          </a:solidFill>
          <a:ln w="12700">
            <a:solidFill>
              <a:srgbClr val="DDDCE6"/>
            </a:solidFill>
            <a:prstDash val="solid"/>
          </a:ln>
          <a:effectLst>
            <a:outerShdw sx="100000" sy="100000" kx="0" ky="0" algn="bl" rotWithShape="0" blurRad="19050" dist="50800" dir="2700000">
              <a:srgbClr val="D6D3DF">
                <a:alpha val="18000"/>
              </a:srgbClr>
            </a:outerShdw>
          </a:effectLst>
        </p:spPr>
      </p:sp>
      <p:sp>
        <p:nvSpPr>
          <p:cNvPr id="14" name="Shape 12"/>
          <p:cNvSpPr/>
          <p:nvPr/>
        </p:nvSpPr>
        <p:spPr>
          <a:xfrm>
            <a:off x="9006840" y="1828800"/>
            <a:ext cx="73152" cy="3154680"/>
          </a:xfrm>
          <a:prstGeom prst="rect">
            <a:avLst/>
          </a:prstGeom>
          <a:solidFill>
            <a:srgbClr val="DB8129"/>
          </a:solidFill>
          <a:ln w="12700">
            <a:solidFill>
              <a:srgbClr val="DB8129"/>
            </a:solidFill>
            <a:prstDash val="solid"/>
          </a:ln>
        </p:spPr>
      </p:sp>
      <p:sp>
        <p:nvSpPr>
          <p:cNvPr id="15" name="Text 13"/>
          <p:cNvSpPr/>
          <p:nvPr/>
        </p:nvSpPr>
        <p:spPr>
          <a:xfrm>
            <a:off x="9326880" y="2048256"/>
            <a:ext cx="1783080" cy="347472"/>
          </a:xfrm>
          <a:prstGeom prst="rect">
            <a:avLst/>
          </a:prstGeom>
          <a:noFill/>
          <a:ln/>
        </p:spPr>
        <p:txBody>
          <a:bodyPr wrap="square" lIns="0" tIns="0" rIns="0" bIns="0" rtlCol="0" anchor="t">
            <a:normAutofit/>
          </a:bodyPr>
          <a:lstStyle/>
          <a:p>
            <a:pPr algn="l" indent="0" marL="0">
              <a:buNone/>
            </a:pPr>
            <a:r>
              <a:rPr lang="en-US" sz="1630" b="1" dirty="0">
                <a:solidFill>
                  <a:srgbClr val="241337"/>
                </a:solidFill>
                <a:latin typeface="Aptos" pitchFamily="34" charset="0"/>
                <a:ea typeface="Aptos" pitchFamily="34" charset="-122"/>
                <a:cs typeface="Aptos" pitchFamily="34" charset="-120"/>
              </a:rPr>
              <a:t>Bonus</a:t>
            </a:r>
            <a:endParaRPr lang="en-US" sz="1630" dirty="0"/>
          </a:p>
        </p:txBody>
      </p:sp>
      <p:sp>
        <p:nvSpPr>
          <p:cNvPr id="16" name="Text 14"/>
          <p:cNvSpPr/>
          <p:nvPr/>
        </p:nvSpPr>
        <p:spPr>
          <a:xfrm>
            <a:off x="9299448" y="2523744"/>
            <a:ext cx="1783080" cy="2286000"/>
          </a:xfrm>
          <a:prstGeom prst="rect">
            <a:avLst/>
          </a:prstGeom>
          <a:noFill/>
          <a:ln/>
        </p:spPr>
        <p:txBody>
          <a:bodyPr wrap="square" lIns="0" tIns="0" rIns="0" bIns="0" rtlCol="0" anchor="t">
            <a:normAutofit/>
          </a:bodyPr>
          <a:lstStyle/>
          <a:p>
            <a:pPr algn="l" indent="0" marL="0">
              <a:buNone/>
            </a:pPr>
            <a:r>
              <a:rPr lang="en-US" sz="1230" dirty="0">
                <a:solidFill>
                  <a:srgbClr val="6F7082"/>
                </a:solidFill>
                <a:latin typeface="Aptos" pitchFamily="34" charset="0"/>
                <a:ea typeface="Aptos" pitchFamily="34" charset="-122"/>
                <a:cs typeface="Aptos" pitchFamily="34" charset="-120"/>
              </a:rPr>
              <a:t>Trouver une version CSS ET une version XPath pour le prix.</a:t>
            </a:r>
            <a:endParaRPr lang="en-US" sz="1230" dirty="0"/>
          </a:p>
        </p:txBody>
      </p:sp>
      <p:sp>
        <p:nvSpPr>
          <p:cNvPr id="17" name="Shape 15"/>
          <p:cNvSpPr/>
          <p:nvPr/>
        </p:nvSpPr>
        <p:spPr>
          <a:xfrm>
            <a:off x="9646920" y="1325880"/>
            <a:ext cx="960120" cy="320040"/>
          </a:xfrm>
          <a:prstGeom prst="roundRect">
            <a:avLst>
              <a:gd name="adj" fmla="val 17143"/>
            </a:avLst>
          </a:prstGeom>
          <a:solidFill>
            <a:srgbClr val="F0E7F6"/>
          </a:solidFill>
          <a:ln w="12700">
            <a:solidFill>
              <a:srgbClr val="F0E7F6"/>
            </a:solidFill>
            <a:prstDash val="solid"/>
          </a:ln>
        </p:spPr>
      </p:sp>
      <p:sp>
        <p:nvSpPr>
          <p:cNvPr id="18" name="Text 16"/>
          <p:cNvSpPr/>
          <p:nvPr/>
        </p:nvSpPr>
        <p:spPr>
          <a:xfrm>
            <a:off x="9720072" y="1371600"/>
            <a:ext cx="813816" cy="201168"/>
          </a:xfrm>
          <a:prstGeom prst="rect">
            <a:avLst/>
          </a:prstGeom>
          <a:noFill/>
          <a:ln/>
        </p:spPr>
        <p:txBody>
          <a:bodyPr wrap="square" lIns="0" tIns="0" rIns="0" bIns="0" rtlCol="0" anchor="ctr">
            <a:normAutofit/>
          </a:bodyPr>
          <a:lstStyle/>
          <a:p>
            <a:pPr algn="ctr" indent="0" marL="0">
              <a:buNone/>
            </a:pPr>
            <a:r>
              <a:rPr lang="en-US" sz="1020" b="1" dirty="0">
                <a:solidFill>
                  <a:srgbClr val="7432A8"/>
                </a:solidFill>
                <a:latin typeface="Aptos" pitchFamily="34" charset="0"/>
                <a:ea typeface="Aptos" pitchFamily="34" charset="-122"/>
                <a:cs typeface="Aptos" pitchFamily="34" charset="-120"/>
              </a:rPr>
              <a:t>15 min</a:t>
            </a:r>
            <a:endParaRPr lang="en-US" sz="1020" dirty="0"/>
          </a:p>
        </p:txBody>
      </p:sp>
      <p:sp>
        <p:nvSpPr>
          <p:cNvPr id="25" name="Slide Number Placeholder 0"/>
          <p:cNvSpPr>
            <a:spLocks noGrp="1"/>
          </p:cNvSpPr>
          <p:nvPr>
            <p:ph type="sldNum" sz="quarter" idx="4294967295"/>
          </p:nvPr>
        </p:nvSpPr>
        <p:spPr>
          <a:xfrm>
            <a:off x="11750040" y="274320"/>
            <a:ext cx="228600" cy="164592"/>
          </a:xfrm>
          <a:prstGeom prst="rect">
            <a:avLst/>
          </a:prstGeom>
          <a:extLst>
            <a:ext uri="{C572A759-6A51-4108-AA02-DFA0A04FC94B}">
              <ma14:wrappingTextBoxFlag xmlns:ma14="http://schemas.microsoft.com/office/mac/drawingml/2011/main" val="0"/>
            </a:ext>
          </a:extLst>
        </p:spPr>
        <p:txBody>
          <a:bodyPr/>
          <a:lstStyle>
            <a:lvl1pPr>
              <a:defRPr sz="800">
                <a:solidFill>
                  <a:srgbClr val="858697"/>
                </a:solidFill>
                <a:latin typeface="Aptos"/>
                <a:ea typeface="Aptos"/>
                <a:cs typeface="Aptos"/>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566928" y="438912"/>
            <a:ext cx="5029200" cy="228600"/>
          </a:xfrm>
          <a:prstGeom prst="rect">
            <a:avLst/>
          </a:prstGeom>
          <a:noFill/>
          <a:ln/>
        </p:spPr>
        <p:txBody>
          <a:bodyPr wrap="square" lIns="0" tIns="0" rIns="0" bIns="0" rtlCol="0" anchor="ctr">
            <a:normAutofit/>
          </a:bodyPr>
          <a:lstStyle/>
          <a:p>
            <a:pPr algn="l" indent="0" marL="0">
              <a:buNone/>
            </a:pPr>
            <a:r>
              <a:rPr lang="en-US" sz="1050" b="1" spc="150" kern="0" dirty="0">
                <a:solidFill>
                  <a:srgbClr val="7432A8"/>
                </a:solidFill>
                <a:latin typeface="Aptos" pitchFamily="34" charset="0"/>
                <a:ea typeface="Aptos" pitchFamily="34" charset="-122"/>
                <a:cs typeface="Aptos" pitchFamily="34" charset="-120"/>
              </a:rPr>
              <a:t>MODÈLE DE DONNÉE</a:t>
            </a:r>
            <a:endParaRPr lang="en-US" sz="1050" dirty="0"/>
          </a:p>
        </p:txBody>
      </p:sp>
      <p:sp>
        <p:nvSpPr>
          <p:cNvPr id="3" name="Text 1"/>
          <p:cNvSpPr/>
          <p:nvPr/>
        </p:nvSpPr>
        <p:spPr>
          <a:xfrm>
            <a:off x="566928" y="768096"/>
            <a:ext cx="10972800" cy="566928"/>
          </a:xfrm>
          <a:prstGeom prst="rect">
            <a:avLst/>
          </a:prstGeom>
          <a:noFill/>
          <a:ln/>
        </p:spPr>
        <p:txBody>
          <a:bodyPr wrap="square" lIns="0" tIns="0" rIns="0" bIns="0" rtlCol="0" anchor="t">
            <a:normAutofit/>
          </a:bodyPr>
          <a:lstStyle/>
          <a:p>
            <a:pPr algn="l" indent="0" marL="0">
              <a:buNone/>
            </a:pPr>
            <a:r>
              <a:rPr lang="en-US" sz="2800" b="1" dirty="0">
                <a:solidFill>
                  <a:srgbClr val="241337"/>
                </a:solidFill>
                <a:latin typeface="Aptos" pitchFamily="34" charset="0"/>
                <a:ea typeface="Aptos" pitchFamily="34" charset="-122"/>
                <a:cs typeface="Aptos" pitchFamily="34" charset="-120"/>
              </a:rPr>
              <a:t>Items : expliciter ce que le spider produit</a:t>
            </a:r>
            <a:endParaRPr lang="en-US" sz="2800" dirty="0"/>
          </a:p>
        </p:txBody>
      </p:sp>
      <p:sp>
        <p:nvSpPr>
          <p:cNvPr id="4" name="Shape 2"/>
          <p:cNvSpPr/>
          <p:nvPr/>
        </p:nvSpPr>
        <p:spPr>
          <a:xfrm>
            <a:off x="685800" y="1691640"/>
            <a:ext cx="5166360" cy="3383280"/>
          </a:xfrm>
          <a:prstGeom prst="roundRect">
            <a:avLst>
              <a:gd name="adj" fmla="val 1081"/>
            </a:avLst>
          </a:prstGeom>
          <a:solidFill>
            <a:srgbClr val="17141E"/>
          </a:solidFill>
          <a:ln w="12700">
            <a:solidFill>
              <a:srgbClr val="17141E"/>
            </a:solidFill>
            <a:prstDash val="solid"/>
          </a:ln>
        </p:spPr>
      </p:sp>
      <p:sp>
        <p:nvSpPr>
          <p:cNvPr id="5" name="Shape 3"/>
          <p:cNvSpPr/>
          <p:nvPr/>
        </p:nvSpPr>
        <p:spPr>
          <a:xfrm>
            <a:off x="685800" y="1691640"/>
            <a:ext cx="5166360" cy="347472"/>
          </a:xfrm>
          <a:prstGeom prst="rect">
            <a:avLst/>
          </a:prstGeom>
          <a:solidFill>
            <a:srgbClr val="2B2633"/>
          </a:solidFill>
          <a:ln w="12700">
            <a:solidFill>
              <a:srgbClr val="2B2633"/>
            </a:solidFill>
            <a:prstDash val="solid"/>
          </a:ln>
        </p:spPr>
      </p:sp>
      <p:sp>
        <p:nvSpPr>
          <p:cNvPr id="6" name="Shape 4"/>
          <p:cNvSpPr/>
          <p:nvPr/>
        </p:nvSpPr>
        <p:spPr>
          <a:xfrm>
            <a:off x="868680" y="1810512"/>
            <a:ext cx="73152" cy="73152"/>
          </a:xfrm>
          <a:prstGeom prst="ellipse">
            <a:avLst/>
          </a:prstGeom>
          <a:solidFill>
            <a:srgbClr val="D55E5A"/>
          </a:solidFill>
          <a:ln w="12700">
            <a:solidFill>
              <a:srgbClr val="D55E5A"/>
            </a:solidFill>
            <a:prstDash val="solid"/>
          </a:ln>
        </p:spPr>
      </p:sp>
      <p:sp>
        <p:nvSpPr>
          <p:cNvPr id="7" name="Shape 5"/>
          <p:cNvSpPr/>
          <p:nvPr/>
        </p:nvSpPr>
        <p:spPr>
          <a:xfrm>
            <a:off x="1014984" y="1810512"/>
            <a:ext cx="73152" cy="73152"/>
          </a:xfrm>
          <a:prstGeom prst="ellipse">
            <a:avLst/>
          </a:prstGeom>
          <a:solidFill>
            <a:srgbClr val="E0B24A"/>
          </a:solidFill>
          <a:ln w="12700">
            <a:solidFill>
              <a:srgbClr val="E0B24A"/>
            </a:solidFill>
            <a:prstDash val="solid"/>
          </a:ln>
        </p:spPr>
      </p:sp>
      <p:sp>
        <p:nvSpPr>
          <p:cNvPr id="8" name="Shape 6"/>
          <p:cNvSpPr/>
          <p:nvPr/>
        </p:nvSpPr>
        <p:spPr>
          <a:xfrm>
            <a:off x="1161288" y="1810512"/>
            <a:ext cx="73152" cy="73152"/>
          </a:xfrm>
          <a:prstGeom prst="ellipse">
            <a:avLst/>
          </a:prstGeom>
          <a:solidFill>
            <a:srgbClr val="7EB465"/>
          </a:solidFill>
          <a:ln w="12700">
            <a:solidFill>
              <a:srgbClr val="7EB465"/>
            </a:solidFill>
            <a:prstDash val="solid"/>
          </a:ln>
        </p:spPr>
      </p:sp>
      <p:sp>
        <p:nvSpPr>
          <p:cNvPr id="9" name="Text 7"/>
          <p:cNvSpPr/>
          <p:nvPr/>
        </p:nvSpPr>
        <p:spPr>
          <a:xfrm>
            <a:off x="4754880" y="1764792"/>
            <a:ext cx="914400" cy="137160"/>
          </a:xfrm>
          <a:prstGeom prst="rect">
            <a:avLst/>
          </a:prstGeom>
          <a:noFill/>
          <a:ln/>
        </p:spPr>
        <p:txBody>
          <a:bodyPr wrap="square" lIns="0" tIns="0" rIns="0" bIns="0" rtlCol="0" anchor="ctr">
            <a:normAutofit/>
          </a:bodyPr>
          <a:lstStyle/>
          <a:p>
            <a:pPr algn="r" indent="0" marL="0">
              <a:buNone/>
            </a:pPr>
            <a:r>
              <a:rPr lang="en-US" sz="900" dirty="0">
                <a:solidFill>
                  <a:srgbClr val="B8B3C2"/>
                </a:solidFill>
                <a:latin typeface="Aptos" pitchFamily="34" charset="0"/>
                <a:ea typeface="Aptos" pitchFamily="34" charset="-122"/>
                <a:cs typeface="Aptos" pitchFamily="34" charset="-120"/>
              </a:rPr>
              <a:t>items.py</a:t>
            </a:r>
            <a:endParaRPr lang="en-US" sz="900" dirty="0"/>
          </a:p>
        </p:txBody>
      </p:sp>
      <p:sp>
        <p:nvSpPr>
          <p:cNvPr id="10" name="Text 8"/>
          <p:cNvSpPr/>
          <p:nvPr/>
        </p:nvSpPr>
        <p:spPr>
          <a:xfrm>
            <a:off x="914400" y="2167128"/>
            <a:ext cx="4709160" cy="2761488"/>
          </a:xfrm>
          <a:prstGeom prst="rect">
            <a:avLst/>
          </a:prstGeom>
          <a:noFill/>
          <a:ln/>
        </p:spPr>
        <p:txBody>
          <a:bodyPr wrap="square" lIns="0" tIns="0" rIns="0" bIns="0" rtlCol="0" anchor="t">
            <a:normAutofit/>
          </a:bodyPr>
          <a:lstStyle/>
          <a:p>
            <a:pPr algn="l" indent="0" marL="0">
              <a:buNone/>
            </a:pPr>
            <a:r>
              <a:rPr lang="en-US" sz="1100" dirty="0">
                <a:solidFill>
                  <a:srgbClr val="F3EFF7"/>
                </a:solidFill>
                <a:latin typeface="Courier New" pitchFamily="34" charset="0"/>
                <a:ea typeface="Courier New" pitchFamily="34" charset="-122"/>
                <a:cs typeface="Courier New" pitchFamily="34" charset="-120"/>
              </a:rPr>
              <a:t>import scrapy</a:t>
            </a:r>
            <a:endParaRPr lang="en-US" sz="1100" dirty="0"/>
          </a:p>
          <a:p>
            <a:pPr algn="l" indent="0" marL="0">
              <a:buNone/>
            </a:pPr>
            <a:endParaRPr lang="en-US" sz="1100" dirty="0"/>
          </a:p>
          <a:p>
            <a:pPr algn="l" indent="0" marL="0">
              <a:buNone/>
            </a:pPr>
            <a:r>
              <a:rPr lang="en-US" sz="1100" dirty="0">
                <a:solidFill>
                  <a:srgbClr val="F3EFF7"/>
                </a:solidFill>
                <a:latin typeface="Courier New" pitchFamily="34" charset="0"/>
                <a:ea typeface="Courier New" pitchFamily="34" charset="-122"/>
                <a:cs typeface="Courier New" pitchFamily="34" charset="-120"/>
              </a:rPr>
              <a:t>class BookItem(scrapy.Item):</a:t>
            </a:r>
            <a:endParaRPr lang="en-US" sz="1100" dirty="0"/>
          </a:p>
          <a:p>
            <a:pPr algn="l" indent="0" marL="0">
              <a:buNone/>
            </a:pPr>
            <a:r>
              <a:rPr lang="en-US" sz="1100" dirty="0">
                <a:solidFill>
                  <a:srgbClr val="F3EFF7"/>
                </a:solidFill>
                <a:latin typeface="Courier New" pitchFamily="34" charset="0"/>
                <a:ea typeface="Courier New" pitchFamily="34" charset="-122"/>
                <a:cs typeface="Courier New" pitchFamily="34" charset="-120"/>
              </a:rPr>
              <a:t>    title = scrapy.Field()</a:t>
            </a:r>
            <a:endParaRPr lang="en-US" sz="1100" dirty="0"/>
          </a:p>
          <a:p>
            <a:pPr algn="l" indent="0" marL="0">
              <a:buNone/>
            </a:pPr>
            <a:r>
              <a:rPr lang="en-US" sz="1100" dirty="0">
                <a:solidFill>
                  <a:srgbClr val="F3EFF7"/>
                </a:solidFill>
                <a:latin typeface="Courier New" pitchFamily="34" charset="0"/>
                <a:ea typeface="Courier New" pitchFamily="34" charset="-122"/>
                <a:cs typeface="Courier New" pitchFamily="34" charset="-120"/>
              </a:rPr>
              <a:t>    price = scrapy.Field()</a:t>
            </a:r>
            <a:endParaRPr lang="en-US" sz="1100" dirty="0"/>
          </a:p>
          <a:p>
            <a:pPr algn="l" indent="0" marL="0">
              <a:buNone/>
            </a:pPr>
            <a:r>
              <a:rPr lang="en-US" sz="1100" dirty="0">
                <a:solidFill>
                  <a:srgbClr val="F3EFF7"/>
                </a:solidFill>
                <a:latin typeface="Courier New" pitchFamily="34" charset="0"/>
                <a:ea typeface="Courier New" pitchFamily="34" charset="-122"/>
                <a:cs typeface="Courier New" pitchFamily="34" charset="-120"/>
              </a:rPr>
              <a:t>    availability = scrapy.Field()</a:t>
            </a:r>
            <a:endParaRPr lang="en-US" sz="1100" dirty="0"/>
          </a:p>
          <a:p>
            <a:pPr algn="l" indent="0" marL="0">
              <a:buNone/>
            </a:pPr>
            <a:r>
              <a:rPr lang="en-US" sz="1100" dirty="0">
                <a:solidFill>
                  <a:srgbClr val="F3EFF7"/>
                </a:solidFill>
                <a:latin typeface="Courier New" pitchFamily="34" charset="0"/>
                <a:ea typeface="Courier New" pitchFamily="34" charset="-122"/>
                <a:cs typeface="Courier New" pitchFamily="34" charset="-120"/>
              </a:rPr>
              <a:t>    url = scrapy.Field()</a:t>
            </a:r>
            <a:endParaRPr lang="en-US" sz="1100" dirty="0"/>
          </a:p>
          <a:p>
            <a:pPr algn="l" indent="0" marL="0">
              <a:buNone/>
            </a:pPr>
            <a:r>
              <a:rPr lang="en-US" sz="1100" dirty="0">
                <a:solidFill>
                  <a:srgbClr val="F3EFF7"/>
                </a:solidFill>
                <a:latin typeface="Courier New" pitchFamily="34" charset="0"/>
                <a:ea typeface="Courier New" pitchFamily="34" charset="-122"/>
                <a:cs typeface="Courier New" pitchFamily="34" charset="-120"/>
              </a:rPr>
              <a:t>    rating = scrapy.Field()</a:t>
            </a:r>
            <a:endParaRPr lang="en-US" sz="1100" dirty="0"/>
          </a:p>
        </p:txBody>
      </p:sp>
      <p:sp>
        <p:nvSpPr>
          <p:cNvPr id="11" name="Shape 9"/>
          <p:cNvSpPr/>
          <p:nvPr/>
        </p:nvSpPr>
        <p:spPr>
          <a:xfrm>
            <a:off x="6172200" y="1691640"/>
            <a:ext cx="5257800" cy="3383280"/>
          </a:xfrm>
          <a:prstGeom prst="roundRect">
            <a:avLst>
              <a:gd name="adj" fmla="val 1081"/>
            </a:avLst>
          </a:prstGeom>
          <a:solidFill>
            <a:srgbClr val="17141E"/>
          </a:solidFill>
          <a:ln w="12700">
            <a:solidFill>
              <a:srgbClr val="17141E"/>
            </a:solidFill>
            <a:prstDash val="solid"/>
          </a:ln>
        </p:spPr>
      </p:sp>
      <p:sp>
        <p:nvSpPr>
          <p:cNvPr id="12" name="Shape 10"/>
          <p:cNvSpPr/>
          <p:nvPr/>
        </p:nvSpPr>
        <p:spPr>
          <a:xfrm>
            <a:off x="6172200" y="1691640"/>
            <a:ext cx="5257800" cy="347472"/>
          </a:xfrm>
          <a:prstGeom prst="rect">
            <a:avLst/>
          </a:prstGeom>
          <a:solidFill>
            <a:srgbClr val="2B2633"/>
          </a:solidFill>
          <a:ln w="12700">
            <a:solidFill>
              <a:srgbClr val="2B2633"/>
            </a:solidFill>
            <a:prstDash val="solid"/>
          </a:ln>
        </p:spPr>
      </p:sp>
      <p:sp>
        <p:nvSpPr>
          <p:cNvPr id="13" name="Shape 11"/>
          <p:cNvSpPr/>
          <p:nvPr/>
        </p:nvSpPr>
        <p:spPr>
          <a:xfrm>
            <a:off x="6355080" y="1810512"/>
            <a:ext cx="73152" cy="73152"/>
          </a:xfrm>
          <a:prstGeom prst="ellipse">
            <a:avLst/>
          </a:prstGeom>
          <a:solidFill>
            <a:srgbClr val="D55E5A"/>
          </a:solidFill>
          <a:ln w="12700">
            <a:solidFill>
              <a:srgbClr val="D55E5A"/>
            </a:solidFill>
            <a:prstDash val="solid"/>
          </a:ln>
        </p:spPr>
      </p:sp>
      <p:sp>
        <p:nvSpPr>
          <p:cNvPr id="14" name="Shape 12"/>
          <p:cNvSpPr/>
          <p:nvPr/>
        </p:nvSpPr>
        <p:spPr>
          <a:xfrm>
            <a:off x="6501384" y="1810512"/>
            <a:ext cx="73152" cy="73152"/>
          </a:xfrm>
          <a:prstGeom prst="ellipse">
            <a:avLst/>
          </a:prstGeom>
          <a:solidFill>
            <a:srgbClr val="E0B24A"/>
          </a:solidFill>
          <a:ln w="12700">
            <a:solidFill>
              <a:srgbClr val="E0B24A"/>
            </a:solidFill>
            <a:prstDash val="solid"/>
          </a:ln>
        </p:spPr>
      </p:sp>
      <p:sp>
        <p:nvSpPr>
          <p:cNvPr id="15" name="Shape 13"/>
          <p:cNvSpPr/>
          <p:nvPr/>
        </p:nvSpPr>
        <p:spPr>
          <a:xfrm>
            <a:off x="6647688" y="1810512"/>
            <a:ext cx="73152" cy="73152"/>
          </a:xfrm>
          <a:prstGeom prst="ellipse">
            <a:avLst/>
          </a:prstGeom>
          <a:solidFill>
            <a:srgbClr val="7EB465"/>
          </a:solidFill>
          <a:ln w="12700">
            <a:solidFill>
              <a:srgbClr val="7EB465"/>
            </a:solidFill>
            <a:prstDash val="solid"/>
          </a:ln>
        </p:spPr>
      </p:sp>
      <p:sp>
        <p:nvSpPr>
          <p:cNvPr id="16" name="Text 14"/>
          <p:cNvSpPr/>
          <p:nvPr/>
        </p:nvSpPr>
        <p:spPr>
          <a:xfrm>
            <a:off x="10332720" y="1764792"/>
            <a:ext cx="914400" cy="137160"/>
          </a:xfrm>
          <a:prstGeom prst="rect">
            <a:avLst/>
          </a:prstGeom>
          <a:noFill/>
          <a:ln/>
        </p:spPr>
        <p:txBody>
          <a:bodyPr wrap="square" lIns="0" tIns="0" rIns="0" bIns="0" rtlCol="0" anchor="ctr">
            <a:normAutofit/>
          </a:bodyPr>
          <a:lstStyle/>
          <a:p>
            <a:pPr algn="r" indent="0" marL="0">
              <a:buNone/>
            </a:pPr>
            <a:r>
              <a:rPr lang="en-US" sz="900" dirty="0">
                <a:solidFill>
                  <a:srgbClr val="B8B3C2"/>
                </a:solidFill>
                <a:latin typeface="Aptos" pitchFamily="34" charset="0"/>
                <a:ea typeface="Aptos" pitchFamily="34" charset="-122"/>
                <a:cs typeface="Aptos" pitchFamily="34" charset="-120"/>
              </a:rPr>
              <a:t>spider</a:t>
            </a:r>
            <a:endParaRPr lang="en-US" sz="900" dirty="0"/>
          </a:p>
        </p:txBody>
      </p:sp>
      <p:sp>
        <p:nvSpPr>
          <p:cNvPr id="17" name="Text 15"/>
          <p:cNvSpPr/>
          <p:nvPr/>
        </p:nvSpPr>
        <p:spPr>
          <a:xfrm>
            <a:off x="6400800" y="2167128"/>
            <a:ext cx="4800600" cy="2761488"/>
          </a:xfrm>
          <a:prstGeom prst="rect">
            <a:avLst/>
          </a:prstGeom>
          <a:noFill/>
          <a:ln/>
        </p:spPr>
        <p:txBody>
          <a:bodyPr wrap="square" lIns="0" tIns="0" rIns="0" bIns="0" rtlCol="0" anchor="t">
            <a:normAutofit/>
          </a:bodyPr>
          <a:lstStyle/>
          <a:p>
            <a:pPr algn="l" indent="0" marL="0">
              <a:buNone/>
            </a:pPr>
            <a:r>
              <a:rPr lang="en-US" sz="1100" dirty="0">
                <a:solidFill>
                  <a:srgbClr val="F3EFF7"/>
                </a:solidFill>
                <a:latin typeface="Courier New" pitchFamily="34" charset="0"/>
                <a:ea typeface="Courier New" pitchFamily="34" charset="-122"/>
                <a:cs typeface="Courier New" pitchFamily="34" charset="-120"/>
              </a:rPr>
              <a:t>from catalog_scraper.items import BookItem</a:t>
            </a:r>
            <a:endParaRPr lang="en-US" sz="1100" dirty="0"/>
          </a:p>
          <a:p>
            <a:pPr algn="l" indent="0" marL="0">
              <a:buNone/>
            </a:pPr>
            <a:endParaRPr lang="en-US" sz="1100" dirty="0"/>
          </a:p>
          <a:p>
            <a:pPr algn="l" indent="0" marL="0">
              <a:buNone/>
            </a:pPr>
            <a:r>
              <a:rPr lang="en-US" sz="1100" dirty="0">
                <a:solidFill>
                  <a:srgbClr val="F3EFF7"/>
                </a:solidFill>
                <a:latin typeface="Courier New" pitchFamily="34" charset="0"/>
                <a:ea typeface="Courier New" pitchFamily="34" charset="-122"/>
                <a:cs typeface="Courier New" pitchFamily="34" charset="-120"/>
              </a:rPr>
              <a:t>yield BookItem(</a:t>
            </a:r>
            <a:endParaRPr lang="en-US" sz="1100" dirty="0"/>
          </a:p>
          <a:p>
            <a:pPr algn="l" indent="0" marL="0">
              <a:buNone/>
            </a:pPr>
            <a:r>
              <a:rPr lang="en-US" sz="1100" dirty="0">
                <a:solidFill>
                  <a:srgbClr val="F3EFF7"/>
                </a:solidFill>
                <a:latin typeface="Courier New" pitchFamily="34" charset="0"/>
                <a:ea typeface="Courier New" pitchFamily="34" charset="-122"/>
                <a:cs typeface="Courier New" pitchFamily="34" charset="-120"/>
              </a:rPr>
              <a:t>    title=title,</a:t>
            </a:r>
            <a:endParaRPr lang="en-US" sz="1100" dirty="0"/>
          </a:p>
          <a:p>
            <a:pPr algn="l" indent="0" marL="0">
              <a:buNone/>
            </a:pPr>
            <a:r>
              <a:rPr lang="en-US" sz="1100" dirty="0">
                <a:solidFill>
                  <a:srgbClr val="F3EFF7"/>
                </a:solidFill>
                <a:latin typeface="Courier New" pitchFamily="34" charset="0"/>
                <a:ea typeface="Courier New" pitchFamily="34" charset="-122"/>
                <a:cs typeface="Courier New" pitchFamily="34" charset="-120"/>
              </a:rPr>
              <a:t>    price=price,</a:t>
            </a:r>
            <a:endParaRPr lang="en-US" sz="1100" dirty="0"/>
          </a:p>
          <a:p>
            <a:pPr algn="l" indent="0" marL="0">
              <a:buNone/>
            </a:pPr>
            <a:r>
              <a:rPr lang="en-US" sz="1100" dirty="0">
                <a:solidFill>
                  <a:srgbClr val="F3EFF7"/>
                </a:solidFill>
                <a:latin typeface="Courier New" pitchFamily="34" charset="0"/>
                <a:ea typeface="Courier New" pitchFamily="34" charset="-122"/>
                <a:cs typeface="Courier New" pitchFamily="34" charset="-120"/>
              </a:rPr>
              <a:t>    availability=availability,</a:t>
            </a:r>
            <a:endParaRPr lang="en-US" sz="1100" dirty="0"/>
          </a:p>
          <a:p>
            <a:pPr algn="l" indent="0" marL="0">
              <a:buNone/>
            </a:pPr>
            <a:r>
              <a:rPr lang="en-US" sz="1100" dirty="0">
                <a:solidFill>
                  <a:srgbClr val="F3EFF7"/>
                </a:solidFill>
                <a:latin typeface="Courier New" pitchFamily="34" charset="0"/>
                <a:ea typeface="Courier New" pitchFamily="34" charset="-122"/>
                <a:cs typeface="Courier New" pitchFamily="34" charset="-120"/>
              </a:rPr>
              <a:t>    url=response.urljoin(link),</a:t>
            </a:r>
            <a:endParaRPr lang="en-US" sz="1100" dirty="0"/>
          </a:p>
          <a:p>
            <a:pPr algn="l" indent="0" marL="0">
              <a:buNone/>
            </a:pPr>
            <a:r>
              <a:rPr lang="en-US" sz="1100" dirty="0">
                <a:solidFill>
                  <a:srgbClr val="F3EFF7"/>
                </a:solidFill>
                <a:latin typeface="Courier New" pitchFamily="34" charset="0"/>
                <a:ea typeface="Courier New" pitchFamily="34" charset="-122"/>
                <a:cs typeface="Courier New" pitchFamily="34" charset="-120"/>
              </a:rPr>
              <a:t>    rating=rating,</a:t>
            </a:r>
            <a:endParaRPr lang="en-US" sz="1100" dirty="0"/>
          </a:p>
          <a:p>
            <a:pPr algn="l" indent="0" marL="0">
              <a:buNone/>
            </a:pPr>
            <a:r>
              <a:rPr lang="en-US" sz="1100" dirty="0">
                <a:solidFill>
                  <a:srgbClr val="F3EFF7"/>
                </a:solidFill>
                <a:latin typeface="Courier New" pitchFamily="34" charset="0"/>
                <a:ea typeface="Courier New" pitchFamily="34" charset="-122"/>
                <a:cs typeface="Courier New" pitchFamily="34" charset="-120"/>
              </a:rPr>
              <a:t>)</a:t>
            </a:r>
            <a:endParaRPr lang="en-US" sz="1100" dirty="0"/>
          </a:p>
        </p:txBody>
      </p:sp>
      <p:sp>
        <p:nvSpPr>
          <p:cNvPr id="18" name="Text 16"/>
          <p:cNvSpPr/>
          <p:nvPr/>
        </p:nvSpPr>
        <p:spPr>
          <a:xfrm>
            <a:off x="1508760" y="5440680"/>
            <a:ext cx="9235440" cy="320040"/>
          </a:xfrm>
          <a:prstGeom prst="rect">
            <a:avLst/>
          </a:prstGeom>
          <a:noFill/>
          <a:ln/>
        </p:spPr>
        <p:txBody>
          <a:bodyPr wrap="square" lIns="0" tIns="0" rIns="0" bIns="0" rtlCol="0" anchor="ctr">
            <a:normAutofit/>
          </a:bodyPr>
          <a:lstStyle/>
          <a:p>
            <a:pPr algn="ctr" indent="0" marL="0">
              <a:buNone/>
            </a:pPr>
            <a:r>
              <a:rPr lang="en-US" sz="1600" b="1" dirty="0">
                <a:solidFill>
                  <a:srgbClr val="241337"/>
                </a:solidFill>
                <a:latin typeface="Aptos" pitchFamily="34" charset="0"/>
                <a:ea typeface="Aptos" pitchFamily="34" charset="-122"/>
                <a:cs typeface="Aptos" pitchFamily="34" charset="-120"/>
              </a:rPr>
              <a:t>Bénéfice : contrat clair entre extraction, nettoyage et stockage.</a:t>
            </a:r>
            <a:endParaRPr lang="en-US" sz="1600" dirty="0"/>
          </a:p>
        </p:txBody>
      </p:sp>
      <p:sp>
        <p:nvSpPr>
          <p:cNvPr id="25" name="Slide Number Placeholder 0"/>
          <p:cNvSpPr>
            <a:spLocks noGrp="1"/>
          </p:cNvSpPr>
          <p:nvPr>
            <p:ph type="sldNum" sz="quarter" idx="4294967295"/>
          </p:nvPr>
        </p:nvSpPr>
        <p:spPr>
          <a:xfrm>
            <a:off x="11750040" y="274320"/>
            <a:ext cx="228600" cy="164592"/>
          </a:xfrm>
          <a:prstGeom prst="rect">
            <a:avLst/>
          </a:prstGeom>
          <a:extLst>
            <a:ext uri="{C572A759-6A51-4108-AA02-DFA0A04FC94B}">
              <ma14:wrappingTextBoxFlag xmlns:ma14="http://schemas.microsoft.com/office/mac/drawingml/2011/main" val="0"/>
            </a:ext>
          </a:extLst>
        </p:spPr>
        <p:txBody>
          <a:bodyPr/>
          <a:lstStyle>
            <a:lvl1pPr>
              <a:defRPr sz="800">
                <a:solidFill>
                  <a:srgbClr val="858697"/>
                </a:solidFill>
                <a:latin typeface="Aptos"/>
                <a:ea typeface="Aptos"/>
                <a:cs typeface="Aptos"/>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566928" y="438912"/>
            <a:ext cx="5029200" cy="228600"/>
          </a:xfrm>
          <a:prstGeom prst="rect">
            <a:avLst/>
          </a:prstGeom>
          <a:noFill/>
          <a:ln/>
        </p:spPr>
        <p:txBody>
          <a:bodyPr wrap="square" lIns="0" tIns="0" rIns="0" bIns="0" rtlCol="0" anchor="ctr">
            <a:normAutofit/>
          </a:bodyPr>
          <a:lstStyle/>
          <a:p>
            <a:pPr algn="l" indent="0" marL="0">
              <a:buNone/>
            </a:pPr>
            <a:r>
              <a:rPr lang="en-US" sz="1050" b="1" spc="150" kern="0" dirty="0">
                <a:solidFill>
                  <a:srgbClr val="7432A8"/>
                </a:solidFill>
                <a:latin typeface="Aptos" pitchFamily="34" charset="0"/>
                <a:ea typeface="Aptos" pitchFamily="34" charset="-122"/>
                <a:cs typeface="Aptos" pitchFamily="34" charset="-120"/>
              </a:rPr>
              <a:t>CONTRÔLE DU CRAWL</a:t>
            </a:r>
            <a:endParaRPr lang="en-US" sz="1050" dirty="0"/>
          </a:p>
        </p:txBody>
      </p:sp>
      <p:sp>
        <p:nvSpPr>
          <p:cNvPr id="3" name="Text 1"/>
          <p:cNvSpPr/>
          <p:nvPr/>
        </p:nvSpPr>
        <p:spPr>
          <a:xfrm>
            <a:off x="566928" y="768096"/>
            <a:ext cx="10972800" cy="566928"/>
          </a:xfrm>
          <a:prstGeom prst="rect">
            <a:avLst/>
          </a:prstGeom>
          <a:noFill/>
          <a:ln/>
        </p:spPr>
        <p:txBody>
          <a:bodyPr wrap="square" lIns="0" tIns="0" rIns="0" bIns="0" rtlCol="0" anchor="t">
            <a:normAutofit/>
          </a:bodyPr>
          <a:lstStyle/>
          <a:p>
            <a:pPr algn="l" indent="0" marL="0">
              <a:buNone/>
            </a:pPr>
            <a:r>
              <a:rPr lang="en-US" sz="2800" b="1" dirty="0">
                <a:solidFill>
                  <a:srgbClr val="241337"/>
                </a:solidFill>
                <a:latin typeface="Aptos" pitchFamily="34" charset="0"/>
                <a:ea typeface="Aptos" pitchFamily="34" charset="-122"/>
                <a:cs typeface="Aptos" pitchFamily="34" charset="-120"/>
              </a:rPr>
              <a:t>yield peut produire deux choses</a:t>
            </a:r>
            <a:endParaRPr lang="en-US" sz="2800" dirty="0"/>
          </a:p>
        </p:txBody>
      </p:sp>
      <p:sp>
        <p:nvSpPr>
          <p:cNvPr id="4" name="Shape 2"/>
          <p:cNvSpPr/>
          <p:nvPr/>
        </p:nvSpPr>
        <p:spPr>
          <a:xfrm>
            <a:off x="777240" y="1828800"/>
            <a:ext cx="5212080" cy="3154680"/>
          </a:xfrm>
          <a:prstGeom prst="roundRect">
            <a:avLst>
              <a:gd name="adj" fmla="val 1739"/>
            </a:avLst>
          </a:prstGeom>
          <a:solidFill>
            <a:srgbClr val="FFFFFF"/>
          </a:solidFill>
          <a:ln w="12700">
            <a:solidFill>
              <a:srgbClr val="DDDCE6"/>
            </a:solidFill>
            <a:prstDash val="solid"/>
          </a:ln>
          <a:effectLst>
            <a:outerShdw sx="100000" sy="100000" kx="0" ky="0" algn="bl" rotWithShape="0" blurRad="19050" dist="50800" dir="2700000">
              <a:srgbClr val="D6D3DF">
                <a:alpha val="18000"/>
              </a:srgbClr>
            </a:outerShdw>
          </a:effectLst>
        </p:spPr>
      </p:sp>
      <p:sp>
        <p:nvSpPr>
          <p:cNvPr id="5" name="Shape 3"/>
          <p:cNvSpPr/>
          <p:nvPr/>
        </p:nvSpPr>
        <p:spPr>
          <a:xfrm>
            <a:off x="777240" y="1828800"/>
            <a:ext cx="73152" cy="3154680"/>
          </a:xfrm>
          <a:prstGeom prst="rect">
            <a:avLst/>
          </a:prstGeom>
          <a:solidFill>
            <a:srgbClr val="4EA27B"/>
          </a:solidFill>
          <a:ln w="12700">
            <a:solidFill>
              <a:srgbClr val="4EA27B"/>
            </a:solidFill>
            <a:prstDash val="solid"/>
          </a:ln>
        </p:spPr>
      </p:sp>
      <p:sp>
        <p:nvSpPr>
          <p:cNvPr id="6" name="Text 4"/>
          <p:cNvSpPr/>
          <p:nvPr/>
        </p:nvSpPr>
        <p:spPr>
          <a:xfrm>
            <a:off x="1097280" y="2048256"/>
            <a:ext cx="4709160" cy="347472"/>
          </a:xfrm>
          <a:prstGeom prst="rect">
            <a:avLst/>
          </a:prstGeom>
          <a:noFill/>
          <a:ln/>
        </p:spPr>
        <p:txBody>
          <a:bodyPr wrap="square" lIns="0" tIns="0" rIns="0" bIns="0" rtlCol="0" anchor="t">
            <a:normAutofit/>
          </a:bodyPr>
          <a:lstStyle/>
          <a:p>
            <a:pPr algn="l" indent="0" marL="0">
              <a:buNone/>
            </a:pPr>
            <a:r>
              <a:rPr lang="en-US" sz="1630" b="1" dirty="0">
                <a:solidFill>
                  <a:srgbClr val="241337"/>
                </a:solidFill>
                <a:latin typeface="Aptos" pitchFamily="34" charset="0"/>
                <a:ea typeface="Aptos" pitchFamily="34" charset="-122"/>
                <a:cs typeface="Aptos" pitchFamily="34" charset="-120"/>
              </a:rPr>
              <a:t>1 — Un Item</a:t>
            </a:r>
            <a:endParaRPr lang="en-US" sz="1630" dirty="0"/>
          </a:p>
        </p:txBody>
      </p:sp>
      <p:sp>
        <p:nvSpPr>
          <p:cNvPr id="7" name="Text 5"/>
          <p:cNvSpPr/>
          <p:nvPr/>
        </p:nvSpPr>
        <p:spPr>
          <a:xfrm>
            <a:off x="1069848" y="2523744"/>
            <a:ext cx="4709160" cy="2286000"/>
          </a:xfrm>
          <a:prstGeom prst="rect">
            <a:avLst/>
          </a:prstGeom>
          <a:noFill/>
          <a:ln/>
        </p:spPr>
        <p:txBody>
          <a:bodyPr wrap="square" lIns="0" tIns="0" rIns="0" bIns="0" rtlCol="0" anchor="t">
            <a:normAutofit/>
          </a:bodyPr>
          <a:lstStyle/>
          <a:p>
            <a:pPr algn="l" indent="0" marL="0">
              <a:buNone/>
            </a:pPr>
            <a:r>
              <a:rPr lang="en-US" sz="1230" dirty="0">
                <a:solidFill>
                  <a:srgbClr val="6F7082"/>
                </a:solidFill>
                <a:latin typeface="Aptos" pitchFamily="34" charset="0"/>
                <a:ea typeface="Aptos" pitchFamily="34" charset="-122"/>
                <a:cs typeface="Aptos" pitchFamily="34" charset="-120"/>
              </a:rPr>
              <a:t>Une donnée est terminée et part vers les pipelines / feed exports.</a:t>
            </a:r>
            <a:endParaRPr lang="en-US" sz="1230" dirty="0"/>
          </a:p>
          <a:p>
            <a:pPr algn="l" indent="0" marL="0">
              <a:buNone/>
            </a:pPr>
            <a:endParaRPr lang="en-US" sz="1230" dirty="0"/>
          </a:p>
          <a:p>
            <a:pPr algn="l" indent="0" marL="0">
              <a:buNone/>
            </a:pPr>
            <a:r>
              <a:rPr lang="en-US" sz="1230" dirty="0">
                <a:solidFill>
                  <a:srgbClr val="6F7082"/>
                </a:solidFill>
                <a:latin typeface="Aptos" pitchFamily="34" charset="0"/>
                <a:ea typeface="Aptos" pitchFamily="34" charset="-122"/>
                <a:cs typeface="Aptos" pitchFamily="34" charset="-120"/>
              </a:rPr>
              <a:t>Exemple :</a:t>
            </a:r>
            <a:endParaRPr lang="en-US" sz="1230" dirty="0"/>
          </a:p>
          <a:p>
            <a:pPr algn="l" indent="0" marL="0">
              <a:buNone/>
            </a:pPr>
            <a:r>
              <a:rPr lang="en-US" sz="1230" dirty="0">
                <a:solidFill>
                  <a:srgbClr val="6F7082"/>
                </a:solidFill>
                <a:latin typeface="Aptos" pitchFamily="34" charset="0"/>
                <a:ea typeface="Aptos" pitchFamily="34" charset="-122"/>
                <a:cs typeface="Aptos" pitchFamily="34" charset="-120"/>
              </a:rPr>
              <a:t>`yield {"title": title, "price": price}`</a:t>
            </a:r>
            <a:endParaRPr lang="en-US" sz="1230" dirty="0"/>
          </a:p>
        </p:txBody>
      </p:sp>
      <p:sp>
        <p:nvSpPr>
          <p:cNvPr id="8" name="Shape 6"/>
          <p:cNvSpPr/>
          <p:nvPr/>
        </p:nvSpPr>
        <p:spPr>
          <a:xfrm>
            <a:off x="6217920" y="1828800"/>
            <a:ext cx="5212080" cy="3154680"/>
          </a:xfrm>
          <a:prstGeom prst="roundRect">
            <a:avLst>
              <a:gd name="adj" fmla="val 1739"/>
            </a:avLst>
          </a:prstGeom>
          <a:solidFill>
            <a:srgbClr val="FFFFFF"/>
          </a:solidFill>
          <a:ln w="12700">
            <a:solidFill>
              <a:srgbClr val="DDDCE6"/>
            </a:solidFill>
            <a:prstDash val="solid"/>
          </a:ln>
          <a:effectLst>
            <a:outerShdw sx="100000" sy="100000" kx="0" ky="0" algn="bl" rotWithShape="0" blurRad="19050" dist="50800" dir="2700000">
              <a:srgbClr val="D6D3DF">
                <a:alpha val="18000"/>
              </a:srgbClr>
            </a:outerShdw>
          </a:effectLst>
        </p:spPr>
      </p:sp>
      <p:sp>
        <p:nvSpPr>
          <p:cNvPr id="9" name="Shape 7"/>
          <p:cNvSpPr/>
          <p:nvPr/>
        </p:nvSpPr>
        <p:spPr>
          <a:xfrm>
            <a:off x="6217920" y="1828800"/>
            <a:ext cx="73152" cy="3154680"/>
          </a:xfrm>
          <a:prstGeom prst="rect">
            <a:avLst/>
          </a:prstGeom>
          <a:solidFill>
            <a:srgbClr val="4F7FC4"/>
          </a:solidFill>
          <a:ln w="12700">
            <a:solidFill>
              <a:srgbClr val="4F7FC4"/>
            </a:solidFill>
            <a:prstDash val="solid"/>
          </a:ln>
        </p:spPr>
      </p:sp>
      <p:sp>
        <p:nvSpPr>
          <p:cNvPr id="10" name="Text 8"/>
          <p:cNvSpPr/>
          <p:nvPr/>
        </p:nvSpPr>
        <p:spPr>
          <a:xfrm>
            <a:off x="6537960" y="2048256"/>
            <a:ext cx="4709160" cy="347472"/>
          </a:xfrm>
          <a:prstGeom prst="rect">
            <a:avLst/>
          </a:prstGeom>
          <a:noFill/>
          <a:ln/>
        </p:spPr>
        <p:txBody>
          <a:bodyPr wrap="square" lIns="0" tIns="0" rIns="0" bIns="0" rtlCol="0" anchor="t">
            <a:normAutofit/>
          </a:bodyPr>
          <a:lstStyle/>
          <a:p>
            <a:pPr algn="l" indent="0" marL="0">
              <a:buNone/>
            </a:pPr>
            <a:r>
              <a:rPr lang="en-US" sz="1630" b="1" dirty="0">
                <a:solidFill>
                  <a:srgbClr val="241337"/>
                </a:solidFill>
                <a:latin typeface="Aptos" pitchFamily="34" charset="0"/>
                <a:ea typeface="Aptos" pitchFamily="34" charset="-122"/>
                <a:cs typeface="Aptos" pitchFamily="34" charset="-120"/>
              </a:rPr>
              <a:t>2 — Une Request</a:t>
            </a:r>
            <a:endParaRPr lang="en-US" sz="1630" dirty="0"/>
          </a:p>
        </p:txBody>
      </p:sp>
      <p:sp>
        <p:nvSpPr>
          <p:cNvPr id="11" name="Text 9"/>
          <p:cNvSpPr/>
          <p:nvPr/>
        </p:nvSpPr>
        <p:spPr>
          <a:xfrm>
            <a:off x="6510528" y="2523744"/>
            <a:ext cx="4709160" cy="2286000"/>
          </a:xfrm>
          <a:prstGeom prst="rect">
            <a:avLst/>
          </a:prstGeom>
          <a:noFill/>
          <a:ln/>
        </p:spPr>
        <p:txBody>
          <a:bodyPr wrap="square" lIns="0" tIns="0" rIns="0" bIns="0" rtlCol="0" anchor="t">
            <a:normAutofit/>
          </a:bodyPr>
          <a:lstStyle/>
          <a:p>
            <a:pPr algn="l" indent="0" marL="0">
              <a:buNone/>
            </a:pPr>
            <a:r>
              <a:rPr lang="en-US" sz="1230" dirty="0">
                <a:solidFill>
                  <a:srgbClr val="6F7082"/>
                </a:solidFill>
                <a:latin typeface="Aptos" pitchFamily="34" charset="0"/>
                <a:ea typeface="Aptos" pitchFamily="34" charset="-122"/>
                <a:cs typeface="Aptos" pitchFamily="34" charset="-120"/>
              </a:rPr>
              <a:t>Le spider veut visiter une nouvelle URL.</a:t>
            </a:r>
            <a:endParaRPr lang="en-US" sz="1230" dirty="0"/>
          </a:p>
          <a:p>
            <a:pPr algn="l" indent="0" marL="0">
              <a:buNone/>
            </a:pPr>
            <a:endParaRPr lang="en-US" sz="1230" dirty="0"/>
          </a:p>
          <a:p>
            <a:pPr algn="l" indent="0" marL="0">
              <a:buNone/>
            </a:pPr>
            <a:r>
              <a:rPr lang="en-US" sz="1230" dirty="0">
                <a:solidFill>
                  <a:srgbClr val="6F7082"/>
                </a:solidFill>
                <a:latin typeface="Aptos" pitchFamily="34" charset="0"/>
                <a:ea typeface="Aptos" pitchFamily="34" charset="-122"/>
                <a:cs typeface="Aptos" pitchFamily="34" charset="-120"/>
              </a:rPr>
              <a:t>Exemple :</a:t>
            </a:r>
            <a:endParaRPr lang="en-US" sz="1230" dirty="0"/>
          </a:p>
          <a:p>
            <a:pPr algn="l" indent="0" marL="0">
              <a:buNone/>
            </a:pPr>
            <a:r>
              <a:rPr lang="en-US" sz="1230" dirty="0">
                <a:solidFill>
                  <a:srgbClr val="6F7082"/>
                </a:solidFill>
                <a:latin typeface="Aptos" pitchFamily="34" charset="0"/>
                <a:ea typeface="Aptos" pitchFamily="34" charset="-122"/>
                <a:cs typeface="Aptos" pitchFamily="34" charset="-120"/>
              </a:rPr>
              <a:t>`yield response.follow(url, callback=self.parse_detail)`</a:t>
            </a:r>
            <a:endParaRPr lang="en-US" sz="1230" dirty="0"/>
          </a:p>
        </p:txBody>
      </p:sp>
      <p:sp>
        <p:nvSpPr>
          <p:cNvPr id="12" name="Text 10"/>
          <p:cNvSpPr/>
          <p:nvPr/>
        </p:nvSpPr>
        <p:spPr>
          <a:xfrm>
            <a:off x="1097280" y="5468112"/>
            <a:ext cx="9966960" cy="320040"/>
          </a:xfrm>
          <a:prstGeom prst="rect">
            <a:avLst/>
          </a:prstGeom>
          <a:noFill/>
          <a:ln/>
        </p:spPr>
        <p:txBody>
          <a:bodyPr wrap="square" lIns="0" tIns="0" rIns="0" bIns="0" rtlCol="0" anchor="ctr">
            <a:normAutofit/>
          </a:bodyPr>
          <a:lstStyle/>
          <a:p>
            <a:pPr algn="ctr" indent="0" marL="0">
              <a:buNone/>
            </a:pPr>
            <a:r>
              <a:rPr lang="en-US" sz="1600" b="1" dirty="0">
                <a:solidFill>
                  <a:srgbClr val="241337"/>
                </a:solidFill>
                <a:latin typeface="Aptos" pitchFamily="34" charset="0"/>
                <a:ea typeface="Aptos" pitchFamily="34" charset="-122"/>
                <a:cs typeface="Aptos" pitchFamily="34" charset="-120"/>
              </a:rPr>
              <a:t>Un crawler est donc une boucle : recevoir → extraire → décider où aller ensuite.</a:t>
            </a:r>
            <a:endParaRPr lang="en-US" sz="1600" dirty="0"/>
          </a:p>
        </p:txBody>
      </p:sp>
      <p:sp>
        <p:nvSpPr>
          <p:cNvPr id="25" name="Slide Number Placeholder 0"/>
          <p:cNvSpPr>
            <a:spLocks noGrp="1"/>
          </p:cNvSpPr>
          <p:nvPr>
            <p:ph type="sldNum" sz="quarter" idx="4294967295"/>
          </p:nvPr>
        </p:nvSpPr>
        <p:spPr>
          <a:xfrm>
            <a:off x="11750040" y="274320"/>
            <a:ext cx="228600" cy="164592"/>
          </a:xfrm>
          <a:prstGeom prst="rect">
            <a:avLst/>
          </a:prstGeom>
          <a:extLst>
            <a:ext uri="{C572A759-6A51-4108-AA02-DFA0A04FC94B}">
              <ma14:wrappingTextBoxFlag xmlns:ma14="http://schemas.microsoft.com/office/mac/drawingml/2011/main" val="0"/>
            </a:ext>
          </a:extLst>
        </p:spPr>
        <p:txBody>
          <a:bodyPr/>
          <a:lstStyle>
            <a:lvl1pPr>
              <a:defRPr sz="800">
                <a:solidFill>
                  <a:srgbClr val="858697"/>
                </a:solidFill>
                <a:latin typeface="Aptos"/>
                <a:ea typeface="Aptos"/>
                <a:cs typeface="Aptos"/>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566928" y="438912"/>
            <a:ext cx="5029200" cy="228600"/>
          </a:xfrm>
          <a:prstGeom prst="rect">
            <a:avLst/>
          </a:prstGeom>
          <a:noFill/>
          <a:ln/>
        </p:spPr>
        <p:txBody>
          <a:bodyPr wrap="square" lIns="0" tIns="0" rIns="0" bIns="0" rtlCol="0" anchor="ctr">
            <a:normAutofit/>
          </a:bodyPr>
          <a:lstStyle/>
          <a:p>
            <a:pPr algn="l" indent="0" marL="0">
              <a:buNone/>
            </a:pPr>
            <a:r>
              <a:rPr lang="en-US" sz="1050" b="1" spc="150" kern="0" dirty="0">
                <a:solidFill>
                  <a:srgbClr val="7432A8"/>
                </a:solidFill>
                <a:latin typeface="Aptos" pitchFamily="34" charset="0"/>
                <a:ea typeface="Aptos" pitchFamily="34" charset="-122"/>
                <a:cs typeface="Aptos" pitchFamily="34" charset="-120"/>
              </a:rPr>
              <a:t>NAVIGATION</a:t>
            </a:r>
            <a:endParaRPr lang="en-US" sz="1050" dirty="0"/>
          </a:p>
        </p:txBody>
      </p:sp>
      <p:sp>
        <p:nvSpPr>
          <p:cNvPr id="3" name="Text 1"/>
          <p:cNvSpPr/>
          <p:nvPr/>
        </p:nvSpPr>
        <p:spPr>
          <a:xfrm>
            <a:off x="566928" y="768096"/>
            <a:ext cx="10972800" cy="566928"/>
          </a:xfrm>
          <a:prstGeom prst="rect">
            <a:avLst/>
          </a:prstGeom>
          <a:noFill/>
          <a:ln/>
        </p:spPr>
        <p:txBody>
          <a:bodyPr wrap="square" lIns="0" tIns="0" rIns="0" bIns="0" rtlCol="0" anchor="t">
            <a:normAutofit/>
          </a:bodyPr>
          <a:lstStyle/>
          <a:p>
            <a:pPr algn="l" indent="0" marL="0">
              <a:buNone/>
            </a:pPr>
            <a:r>
              <a:rPr lang="en-US" sz="2800" b="1" dirty="0">
                <a:solidFill>
                  <a:srgbClr val="241337"/>
                </a:solidFill>
                <a:latin typeface="Aptos" pitchFamily="34" charset="0"/>
                <a:ea typeface="Aptos" pitchFamily="34" charset="-122"/>
                <a:cs typeface="Aptos" pitchFamily="34" charset="-120"/>
              </a:rPr>
              <a:t>Pagination avec response.follow()</a:t>
            </a:r>
            <a:endParaRPr lang="en-US" sz="2800" dirty="0"/>
          </a:p>
        </p:txBody>
      </p:sp>
      <p:sp>
        <p:nvSpPr>
          <p:cNvPr id="4" name="Shape 2"/>
          <p:cNvSpPr/>
          <p:nvPr/>
        </p:nvSpPr>
        <p:spPr>
          <a:xfrm>
            <a:off x="685800" y="1691640"/>
            <a:ext cx="6720840" cy="4114800"/>
          </a:xfrm>
          <a:prstGeom prst="roundRect">
            <a:avLst>
              <a:gd name="adj" fmla="val 889"/>
            </a:avLst>
          </a:prstGeom>
          <a:solidFill>
            <a:srgbClr val="17141E"/>
          </a:solidFill>
          <a:ln w="12700">
            <a:solidFill>
              <a:srgbClr val="17141E"/>
            </a:solidFill>
            <a:prstDash val="solid"/>
          </a:ln>
        </p:spPr>
      </p:sp>
      <p:sp>
        <p:nvSpPr>
          <p:cNvPr id="5" name="Shape 3"/>
          <p:cNvSpPr/>
          <p:nvPr/>
        </p:nvSpPr>
        <p:spPr>
          <a:xfrm>
            <a:off x="685800" y="1691640"/>
            <a:ext cx="6720840" cy="347472"/>
          </a:xfrm>
          <a:prstGeom prst="rect">
            <a:avLst/>
          </a:prstGeom>
          <a:solidFill>
            <a:srgbClr val="2B2633"/>
          </a:solidFill>
          <a:ln w="12700">
            <a:solidFill>
              <a:srgbClr val="2B2633"/>
            </a:solidFill>
            <a:prstDash val="solid"/>
          </a:ln>
        </p:spPr>
      </p:sp>
      <p:sp>
        <p:nvSpPr>
          <p:cNvPr id="6" name="Shape 4"/>
          <p:cNvSpPr/>
          <p:nvPr/>
        </p:nvSpPr>
        <p:spPr>
          <a:xfrm>
            <a:off x="868680" y="1810512"/>
            <a:ext cx="73152" cy="73152"/>
          </a:xfrm>
          <a:prstGeom prst="ellipse">
            <a:avLst/>
          </a:prstGeom>
          <a:solidFill>
            <a:srgbClr val="D55E5A"/>
          </a:solidFill>
          <a:ln w="12700">
            <a:solidFill>
              <a:srgbClr val="D55E5A"/>
            </a:solidFill>
            <a:prstDash val="solid"/>
          </a:ln>
        </p:spPr>
      </p:sp>
      <p:sp>
        <p:nvSpPr>
          <p:cNvPr id="7" name="Shape 5"/>
          <p:cNvSpPr/>
          <p:nvPr/>
        </p:nvSpPr>
        <p:spPr>
          <a:xfrm>
            <a:off x="1014984" y="1810512"/>
            <a:ext cx="73152" cy="73152"/>
          </a:xfrm>
          <a:prstGeom prst="ellipse">
            <a:avLst/>
          </a:prstGeom>
          <a:solidFill>
            <a:srgbClr val="E0B24A"/>
          </a:solidFill>
          <a:ln w="12700">
            <a:solidFill>
              <a:srgbClr val="E0B24A"/>
            </a:solidFill>
            <a:prstDash val="solid"/>
          </a:ln>
        </p:spPr>
      </p:sp>
      <p:sp>
        <p:nvSpPr>
          <p:cNvPr id="8" name="Shape 6"/>
          <p:cNvSpPr/>
          <p:nvPr/>
        </p:nvSpPr>
        <p:spPr>
          <a:xfrm>
            <a:off x="1161288" y="1810512"/>
            <a:ext cx="73152" cy="73152"/>
          </a:xfrm>
          <a:prstGeom prst="ellipse">
            <a:avLst/>
          </a:prstGeom>
          <a:solidFill>
            <a:srgbClr val="7EB465"/>
          </a:solidFill>
          <a:ln w="12700">
            <a:solidFill>
              <a:srgbClr val="7EB465"/>
            </a:solidFill>
            <a:prstDash val="solid"/>
          </a:ln>
        </p:spPr>
      </p:sp>
      <p:sp>
        <p:nvSpPr>
          <p:cNvPr id="9" name="Text 7"/>
          <p:cNvSpPr/>
          <p:nvPr/>
        </p:nvSpPr>
        <p:spPr>
          <a:xfrm>
            <a:off x="6309360" y="1764792"/>
            <a:ext cx="914400" cy="137160"/>
          </a:xfrm>
          <a:prstGeom prst="rect">
            <a:avLst/>
          </a:prstGeom>
          <a:noFill/>
          <a:ln/>
        </p:spPr>
        <p:txBody>
          <a:bodyPr wrap="square" lIns="0" tIns="0" rIns="0" bIns="0" rtlCol="0" anchor="ctr">
            <a:normAutofit/>
          </a:bodyPr>
          <a:lstStyle/>
          <a:p>
            <a:pPr algn="r" indent="0" marL="0">
              <a:buNone/>
            </a:pPr>
            <a:r>
              <a:rPr lang="en-US" sz="900" dirty="0">
                <a:solidFill>
                  <a:srgbClr val="B8B3C2"/>
                </a:solidFill>
                <a:latin typeface="Aptos" pitchFamily="34" charset="0"/>
                <a:ea typeface="Aptos" pitchFamily="34" charset="-122"/>
                <a:cs typeface="Aptos" pitchFamily="34" charset="-120"/>
              </a:rPr>
              <a:t>PYTHON</a:t>
            </a:r>
            <a:endParaRPr lang="en-US" sz="900" dirty="0"/>
          </a:p>
        </p:txBody>
      </p:sp>
      <p:sp>
        <p:nvSpPr>
          <p:cNvPr id="10" name="Text 8"/>
          <p:cNvSpPr/>
          <p:nvPr/>
        </p:nvSpPr>
        <p:spPr>
          <a:xfrm>
            <a:off x="914400" y="2167128"/>
            <a:ext cx="6263640" cy="3493008"/>
          </a:xfrm>
          <a:prstGeom prst="rect">
            <a:avLst/>
          </a:prstGeom>
          <a:noFill/>
          <a:ln/>
        </p:spPr>
        <p:txBody>
          <a:bodyPr wrap="square" lIns="0" tIns="0" rIns="0" bIns="0" rtlCol="0" anchor="t">
            <a:normAutofit/>
          </a:bodyPr>
          <a:lstStyle/>
          <a:p>
            <a:pPr algn="l" indent="0" marL="0">
              <a:buNone/>
            </a:pPr>
            <a:r>
              <a:rPr lang="en-US" sz="1100" dirty="0">
                <a:solidFill>
                  <a:srgbClr val="F3EFF7"/>
                </a:solidFill>
                <a:latin typeface="Courier New" pitchFamily="34" charset="0"/>
                <a:ea typeface="Courier New" pitchFamily="34" charset="-122"/>
                <a:cs typeface="Courier New" pitchFamily="34" charset="-120"/>
              </a:rPr>
              <a:t>def parse(self, response):</a:t>
            </a:r>
            <a:endParaRPr lang="en-US" sz="1100" dirty="0"/>
          </a:p>
          <a:p>
            <a:pPr algn="l" indent="0" marL="0">
              <a:buNone/>
            </a:pPr>
            <a:r>
              <a:rPr lang="en-US" sz="1100" dirty="0">
                <a:solidFill>
                  <a:srgbClr val="F3EFF7"/>
                </a:solidFill>
                <a:latin typeface="Courier New" pitchFamily="34" charset="0"/>
                <a:ea typeface="Courier New" pitchFamily="34" charset="-122"/>
                <a:cs typeface="Courier New" pitchFamily="34" charset="-120"/>
              </a:rPr>
              <a:t>    for book in response.css("article.product_pod"):</a:t>
            </a:r>
            <a:endParaRPr lang="en-US" sz="1100" dirty="0"/>
          </a:p>
          <a:p>
            <a:pPr algn="l" indent="0" marL="0">
              <a:buNone/>
            </a:pPr>
            <a:r>
              <a:rPr lang="en-US" sz="1100" dirty="0">
                <a:solidFill>
                  <a:srgbClr val="F3EFF7"/>
                </a:solidFill>
                <a:latin typeface="Courier New" pitchFamily="34" charset="0"/>
                <a:ea typeface="Courier New" pitchFamily="34" charset="-122"/>
                <a:cs typeface="Courier New" pitchFamily="34" charset="-120"/>
              </a:rPr>
              <a:t>        yield {</a:t>
            </a:r>
            <a:endParaRPr lang="en-US" sz="1100" dirty="0"/>
          </a:p>
          <a:p>
            <a:pPr algn="l" indent="0" marL="0">
              <a:buNone/>
            </a:pPr>
            <a:r>
              <a:rPr lang="en-US" sz="1100" dirty="0">
                <a:solidFill>
                  <a:srgbClr val="F3EFF7"/>
                </a:solidFill>
                <a:latin typeface="Courier New" pitchFamily="34" charset="0"/>
                <a:ea typeface="Courier New" pitchFamily="34" charset="-122"/>
                <a:cs typeface="Courier New" pitchFamily="34" charset="-120"/>
              </a:rPr>
              <a:t>            "title": book.css("h3 a::attr(title)").get()</a:t>
            </a:r>
            <a:endParaRPr lang="en-US" sz="1100" dirty="0"/>
          </a:p>
          <a:p>
            <a:pPr algn="l" indent="0" marL="0">
              <a:buNone/>
            </a:pPr>
            <a:r>
              <a:rPr lang="en-US" sz="1100" dirty="0">
                <a:solidFill>
                  <a:srgbClr val="F3EFF7"/>
                </a:solidFill>
                <a:latin typeface="Courier New" pitchFamily="34" charset="0"/>
                <a:ea typeface="Courier New" pitchFamily="34" charset="-122"/>
                <a:cs typeface="Courier New" pitchFamily="34" charset="-120"/>
              </a:rPr>
              <a:t>        }</a:t>
            </a:r>
            <a:endParaRPr lang="en-US" sz="1100" dirty="0"/>
          </a:p>
          <a:p>
            <a:pPr algn="l" indent="0" marL="0">
              <a:buNone/>
            </a:pPr>
            <a:endParaRPr lang="en-US" sz="1100" dirty="0"/>
          </a:p>
          <a:p>
            <a:pPr algn="l" indent="0" marL="0">
              <a:buNone/>
            </a:pPr>
            <a:r>
              <a:rPr lang="en-US" sz="1100" dirty="0">
                <a:solidFill>
                  <a:srgbClr val="F3EFF7"/>
                </a:solidFill>
                <a:latin typeface="Courier New" pitchFamily="34" charset="0"/>
                <a:ea typeface="Courier New" pitchFamily="34" charset="-122"/>
                <a:cs typeface="Courier New" pitchFamily="34" charset="-120"/>
              </a:rPr>
              <a:t>    next_page = response.css("li.next a::attr(href)").get()</a:t>
            </a:r>
            <a:endParaRPr lang="en-US" sz="1100" dirty="0"/>
          </a:p>
          <a:p>
            <a:pPr algn="l" indent="0" marL="0">
              <a:buNone/>
            </a:pPr>
            <a:r>
              <a:rPr lang="en-US" sz="1100" dirty="0">
                <a:solidFill>
                  <a:srgbClr val="F3EFF7"/>
                </a:solidFill>
                <a:latin typeface="Courier New" pitchFamily="34" charset="0"/>
                <a:ea typeface="Courier New" pitchFamily="34" charset="-122"/>
                <a:cs typeface="Courier New" pitchFamily="34" charset="-120"/>
              </a:rPr>
              <a:t>    if next_page:</a:t>
            </a:r>
            <a:endParaRPr lang="en-US" sz="1100" dirty="0"/>
          </a:p>
          <a:p>
            <a:pPr algn="l" indent="0" marL="0">
              <a:buNone/>
            </a:pPr>
            <a:r>
              <a:rPr lang="en-US" sz="1100" dirty="0">
                <a:solidFill>
                  <a:srgbClr val="F3EFF7"/>
                </a:solidFill>
                <a:latin typeface="Courier New" pitchFamily="34" charset="0"/>
                <a:ea typeface="Courier New" pitchFamily="34" charset="-122"/>
                <a:cs typeface="Courier New" pitchFamily="34" charset="-120"/>
              </a:rPr>
              <a:t>        yield response.follow(next_page, callback=self.parse)</a:t>
            </a:r>
            <a:endParaRPr lang="en-US" sz="1100" dirty="0"/>
          </a:p>
        </p:txBody>
      </p:sp>
      <p:sp>
        <p:nvSpPr>
          <p:cNvPr id="11" name="Shape 9"/>
          <p:cNvSpPr/>
          <p:nvPr/>
        </p:nvSpPr>
        <p:spPr>
          <a:xfrm>
            <a:off x="7726680" y="1783080"/>
            <a:ext cx="1417320" cy="685800"/>
          </a:xfrm>
          <a:prstGeom prst="roundRect">
            <a:avLst>
              <a:gd name="adj" fmla="val 6667"/>
            </a:avLst>
          </a:prstGeom>
          <a:solidFill>
            <a:srgbClr val="FFFFFF"/>
          </a:solidFill>
          <a:ln w="15240">
            <a:solidFill>
              <a:srgbClr val="7432A8"/>
            </a:solidFill>
            <a:prstDash val="solid"/>
          </a:ln>
        </p:spPr>
      </p:sp>
      <p:sp>
        <p:nvSpPr>
          <p:cNvPr id="12" name="Text 10"/>
          <p:cNvSpPr/>
          <p:nvPr/>
        </p:nvSpPr>
        <p:spPr>
          <a:xfrm>
            <a:off x="7818120" y="1993392"/>
            <a:ext cx="1234440" cy="182880"/>
          </a:xfrm>
          <a:prstGeom prst="rect">
            <a:avLst/>
          </a:prstGeom>
          <a:noFill/>
          <a:ln/>
        </p:spPr>
        <p:txBody>
          <a:bodyPr wrap="square" lIns="0" tIns="0" rIns="0" bIns="0" rtlCol="0" anchor="ctr">
            <a:normAutofit/>
          </a:bodyPr>
          <a:lstStyle/>
          <a:p>
            <a:pPr algn="ctr" indent="0" marL="0">
              <a:buNone/>
            </a:pPr>
            <a:r>
              <a:rPr lang="en-US" sz="1150" b="1" dirty="0">
                <a:solidFill>
                  <a:srgbClr val="7432A8"/>
                </a:solidFill>
                <a:latin typeface="Aptos" pitchFamily="34" charset="0"/>
                <a:ea typeface="Aptos" pitchFamily="34" charset="-122"/>
                <a:cs typeface="Aptos" pitchFamily="34" charset="-120"/>
              </a:rPr>
              <a:t>Page 1</a:t>
            </a:r>
            <a:endParaRPr lang="en-US" sz="1150" dirty="0"/>
          </a:p>
        </p:txBody>
      </p:sp>
      <p:sp>
        <p:nvSpPr>
          <p:cNvPr id="13" name="Shape 11"/>
          <p:cNvSpPr/>
          <p:nvPr/>
        </p:nvSpPr>
        <p:spPr>
          <a:xfrm>
            <a:off x="9418320" y="1783080"/>
            <a:ext cx="1417320" cy="685800"/>
          </a:xfrm>
          <a:prstGeom prst="roundRect">
            <a:avLst>
              <a:gd name="adj" fmla="val 6667"/>
            </a:avLst>
          </a:prstGeom>
          <a:solidFill>
            <a:srgbClr val="FFFFFF"/>
          </a:solidFill>
          <a:ln w="15240">
            <a:solidFill>
              <a:srgbClr val="DDDCE6"/>
            </a:solidFill>
            <a:prstDash val="solid"/>
          </a:ln>
        </p:spPr>
      </p:sp>
      <p:sp>
        <p:nvSpPr>
          <p:cNvPr id="14" name="Text 12"/>
          <p:cNvSpPr/>
          <p:nvPr/>
        </p:nvSpPr>
        <p:spPr>
          <a:xfrm>
            <a:off x="9509760" y="1993392"/>
            <a:ext cx="1234440" cy="182880"/>
          </a:xfrm>
          <a:prstGeom prst="rect">
            <a:avLst/>
          </a:prstGeom>
          <a:noFill/>
          <a:ln/>
        </p:spPr>
        <p:txBody>
          <a:bodyPr wrap="square" lIns="0" tIns="0" rIns="0" bIns="0" rtlCol="0" anchor="ctr">
            <a:normAutofit/>
          </a:bodyPr>
          <a:lstStyle/>
          <a:p>
            <a:pPr algn="ctr" indent="0" marL="0">
              <a:buNone/>
            </a:pPr>
            <a:r>
              <a:rPr lang="en-US" sz="1150" b="1" dirty="0">
                <a:solidFill>
                  <a:srgbClr val="241337"/>
                </a:solidFill>
                <a:latin typeface="Aptos" pitchFamily="34" charset="0"/>
                <a:ea typeface="Aptos" pitchFamily="34" charset="-122"/>
                <a:cs typeface="Aptos" pitchFamily="34" charset="-120"/>
              </a:rPr>
              <a:t>Page 2</a:t>
            </a:r>
            <a:endParaRPr lang="en-US" sz="1150" dirty="0"/>
          </a:p>
        </p:txBody>
      </p:sp>
      <p:sp>
        <p:nvSpPr>
          <p:cNvPr id="15" name="Shape 13"/>
          <p:cNvSpPr/>
          <p:nvPr/>
        </p:nvSpPr>
        <p:spPr>
          <a:xfrm>
            <a:off x="7726680" y="2880360"/>
            <a:ext cx="1417320" cy="685800"/>
          </a:xfrm>
          <a:prstGeom prst="roundRect">
            <a:avLst>
              <a:gd name="adj" fmla="val 6667"/>
            </a:avLst>
          </a:prstGeom>
          <a:solidFill>
            <a:srgbClr val="FFFFFF"/>
          </a:solidFill>
          <a:ln w="15240">
            <a:solidFill>
              <a:srgbClr val="DDDCE6"/>
            </a:solidFill>
            <a:prstDash val="solid"/>
          </a:ln>
        </p:spPr>
      </p:sp>
      <p:sp>
        <p:nvSpPr>
          <p:cNvPr id="16" name="Text 14"/>
          <p:cNvSpPr/>
          <p:nvPr/>
        </p:nvSpPr>
        <p:spPr>
          <a:xfrm>
            <a:off x="7818120" y="3090672"/>
            <a:ext cx="1234440" cy="182880"/>
          </a:xfrm>
          <a:prstGeom prst="rect">
            <a:avLst/>
          </a:prstGeom>
          <a:noFill/>
          <a:ln/>
        </p:spPr>
        <p:txBody>
          <a:bodyPr wrap="square" lIns="0" tIns="0" rIns="0" bIns="0" rtlCol="0" anchor="ctr">
            <a:normAutofit/>
          </a:bodyPr>
          <a:lstStyle/>
          <a:p>
            <a:pPr algn="ctr" indent="0" marL="0">
              <a:buNone/>
            </a:pPr>
            <a:r>
              <a:rPr lang="en-US" sz="1150" b="1" dirty="0">
                <a:solidFill>
                  <a:srgbClr val="241337"/>
                </a:solidFill>
                <a:latin typeface="Aptos" pitchFamily="34" charset="0"/>
                <a:ea typeface="Aptos" pitchFamily="34" charset="-122"/>
                <a:cs typeface="Aptos" pitchFamily="34" charset="-120"/>
              </a:rPr>
              <a:t>Page 3</a:t>
            </a:r>
            <a:endParaRPr lang="en-US" sz="1150" dirty="0"/>
          </a:p>
        </p:txBody>
      </p:sp>
      <p:sp>
        <p:nvSpPr>
          <p:cNvPr id="17" name="Shape 15"/>
          <p:cNvSpPr/>
          <p:nvPr/>
        </p:nvSpPr>
        <p:spPr>
          <a:xfrm>
            <a:off x="9418320" y="2880360"/>
            <a:ext cx="1417320" cy="685800"/>
          </a:xfrm>
          <a:prstGeom prst="roundRect">
            <a:avLst>
              <a:gd name="adj" fmla="val 6667"/>
            </a:avLst>
          </a:prstGeom>
          <a:solidFill>
            <a:srgbClr val="FFFFFF"/>
          </a:solidFill>
          <a:ln w="15240">
            <a:solidFill>
              <a:srgbClr val="DDDCE6"/>
            </a:solidFill>
            <a:prstDash val="solid"/>
          </a:ln>
        </p:spPr>
      </p:sp>
      <p:sp>
        <p:nvSpPr>
          <p:cNvPr id="18" name="Text 16"/>
          <p:cNvSpPr/>
          <p:nvPr/>
        </p:nvSpPr>
        <p:spPr>
          <a:xfrm>
            <a:off x="9509760" y="3090672"/>
            <a:ext cx="1234440" cy="182880"/>
          </a:xfrm>
          <a:prstGeom prst="rect">
            <a:avLst/>
          </a:prstGeom>
          <a:noFill/>
          <a:ln/>
        </p:spPr>
        <p:txBody>
          <a:bodyPr wrap="square" lIns="0" tIns="0" rIns="0" bIns="0" rtlCol="0" anchor="ctr">
            <a:normAutofit/>
          </a:bodyPr>
          <a:lstStyle/>
          <a:p>
            <a:pPr algn="ctr" indent="0" marL="0">
              <a:buNone/>
            </a:pPr>
            <a:r>
              <a:rPr lang="en-US" sz="1150" b="1" dirty="0">
                <a:solidFill>
                  <a:srgbClr val="241337"/>
                </a:solidFill>
                <a:latin typeface="Aptos" pitchFamily="34" charset="0"/>
                <a:ea typeface="Aptos" pitchFamily="34" charset="-122"/>
                <a:cs typeface="Aptos" pitchFamily="34" charset="-120"/>
              </a:rPr>
              <a:t>…</a:t>
            </a:r>
            <a:endParaRPr lang="en-US" sz="1150" dirty="0"/>
          </a:p>
        </p:txBody>
      </p:sp>
      <p:sp>
        <p:nvSpPr>
          <p:cNvPr id="19" name="Shape 17"/>
          <p:cNvSpPr/>
          <p:nvPr/>
        </p:nvSpPr>
        <p:spPr>
          <a:xfrm>
            <a:off x="7726680" y="3977640"/>
            <a:ext cx="1417320" cy="685800"/>
          </a:xfrm>
          <a:prstGeom prst="roundRect">
            <a:avLst>
              <a:gd name="adj" fmla="val 6667"/>
            </a:avLst>
          </a:prstGeom>
          <a:solidFill>
            <a:srgbClr val="FFFFFF"/>
          </a:solidFill>
          <a:ln w="15240">
            <a:solidFill>
              <a:srgbClr val="DDDCE6"/>
            </a:solidFill>
            <a:prstDash val="solid"/>
          </a:ln>
        </p:spPr>
      </p:sp>
      <p:sp>
        <p:nvSpPr>
          <p:cNvPr id="20" name="Text 18"/>
          <p:cNvSpPr/>
          <p:nvPr/>
        </p:nvSpPr>
        <p:spPr>
          <a:xfrm>
            <a:off x="7818120" y="4187952"/>
            <a:ext cx="1234440" cy="182880"/>
          </a:xfrm>
          <a:prstGeom prst="rect">
            <a:avLst/>
          </a:prstGeom>
          <a:noFill/>
          <a:ln/>
        </p:spPr>
        <p:txBody>
          <a:bodyPr wrap="square" lIns="0" tIns="0" rIns="0" bIns="0" rtlCol="0" anchor="ctr">
            <a:normAutofit/>
          </a:bodyPr>
          <a:lstStyle/>
          <a:p>
            <a:pPr algn="ctr" indent="0" marL="0">
              <a:buNone/>
            </a:pPr>
            <a:r>
              <a:rPr lang="en-US" sz="1150" b="1" dirty="0">
                <a:solidFill>
                  <a:srgbClr val="241337"/>
                </a:solidFill>
                <a:latin typeface="Aptos" pitchFamily="34" charset="0"/>
                <a:ea typeface="Aptos" pitchFamily="34" charset="-122"/>
                <a:cs typeface="Aptos" pitchFamily="34" charset="-120"/>
              </a:rPr>
              <a:t>Page N</a:t>
            </a:r>
            <a:endParaRPr lang="en-US" sz="1150" dirty="0"/>
          </a:p>
        </p:txBody>
      </p:sp>
      <p:sp>
        <p:nvSpPr>
          <p:cNvPr id="21" name="Text 19"/>
          <p:cNvSpPr/>
          <p:nvPr/>
        </p:nvSpPr>
        <p:spPr>
          <a:xfrm>
            <a:off x="7818120" y="4572000"/>
            <a:ext cx="3017520" cy="292608"/>
          </a:xfrm>
          <a:prstGeom prst="rect">
            <a:avLst/>
          </a:prstGeom>
          <a:noFill/>
          <a:ln/>
        </p:spPr>
        <p:txBody>
          <a:bodyPr wrap="square" lIns="0" tIns="0" rIns="0" bIns="0" rtlCol="0" anchor="ctr">
            <a:normAutofit/>
          </a:bodyPr>
          <a:lstStyle/>
          <a:p>
            <a:pPr algn="ctr" indent="0" marL="0">
              <a:buNone/>
            </a:pPr>
            <a:r>
              <a:rPr lang="en-US" sz="1400" b="1" dirty="0">
                <a:solidFill>
                  <a:srgbClr val="6F7082"/>
                </a:solidFill>
                <a:latin typeface="Aptos" pitchFamily="34" charset="0"/>
                <a:ea typeface="Aptos" pitchFamily="34" charset="-122"/>
                <a:cs typeface="Aptos" pitchFamily="34" charset="-120"/>
              </a:rPr>
              <a:t>Même callback, nouvelle URL.</a:t>
            </a:r>
            <a:endParaRPr lang="en-US" sz="1400" dirty="0"/>
          </a:p>
        </p:txBody>
      </p:sp>
      <p:sp>
        <p:nvSpPr>
          <p:cNvPr id="25" name="Slide Number Placeholder 0"/>
          <p:cNvSpPr>
            <a:spLocks noGrp="1"/>
          </p:cNvSpPr>
          <p:nvPr>
            <p:ph type="sldNum" sz="quarter" idx="4294967295"/>
          </p:nvPr>
        </p:nvSpPr>
        <p:spPr>
          <a:xfrm>
            <a:off x="11750040" y="274320"/>
            <a:ext cx="228600" cy="164592"/>
          </a:xfrm>
          <a:prstGeom prst="rect">
            <a:avLst/>
          </a:prstGeom>
          <a:extLst>
            <a:ext uri="{C572A759-6A51-4108-AA02-DFA0A04FC94B}">
              <ma14:wrappingTextBoxFlag xmlns:ma14="http://schemas.microsoft.com/office/mac/drawingml/2011/main" val="0"/>
            </a:ext>
          </a:extLst>
        </p:spPr>
        <p:txBody>
          <a:bodyPr/>
          <a:lstStyle>
            <a:lvl1pPr>
              <a:defRPr sz="800">
                <a:solidFill>
                  <a:srgbClr val="858697"/>
                </a:solidFill>
                <a:latin typeface="Aptos"/>
                <a:ea typeface="Aptos"/>
                <a:cs typeface="Aptos"/>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566928" y="438912"/>
            <a:ext cx="5029200" cy="228600"/>
          </a:xfrm>
          <a:prstGeom prst="rect">
            <a:avLst/>
          </a:prstGeom>
          <a:noFill/>
          <a:ln/>
        </p:spPr>
        <p:txBody>
          <a:bodyPr wrap="square" lIns="0" tIns="0" rIns="0" bIns="0" rtlCol="0" anchor="ctr">
            <a:normAutofit/>
          </a:bodyPr>
          <a:lstStyle/>
          <a:p>
            <a:pPr algn="l" indent="0" marL="0">
              <a:buNone/>
            </a:pPr>
            <a:r>
              <a:rPr lang="en-US" sz="1050" b="1" spc="150" kern="0" dirty="0">
                <a:solidFill>
                  <a:srgbClr val="7432A8"/>
                </a:solidFill>
                <a:latin typeface="Aptos" pitchFamily="34" charset="0"/>
                <a:ea typeface="Aptos" pitchFamily="34" charset="-122"/>
                <a:cs typeface="Aptos" pitchFamily="34" charset="-120"/>
              </a:rPr>
              <a:t>NAVIGATION</a:t>
            </a:r>
            <a:endParaRPr lang="en-US" sz="1050" dirty="0"/>
          </a:p>
        </p:txBody>
      </p:sp>
      <p:sp>
        <p:nvSpPr>
          <p:cNvPr id="3" name="Text 1"/>
          <p:cNvSpPr/>
          <p:nvPr/>
        </p:nvSpPr>
        <p:spPr>
          <a:xfrm>
            <a:off x="566928" y="768096"/>
            <a:ext cx="10972800" cy="566928"/>
          </a:xfrm>
          <a:prstGeom prst="rect">
            <a:avLst/>
          </a:prstGeom>
          <a:noFill/>
          <a:ln/>
        </p:spPr>
        <p:txBody>
          <a:bodyPr wrap="square" lIns="0" tIns="0" rIns="0" bIns="0" rtlCol="0" anchor="t">
            <a:normAutofit/>
          </a:bodyPr>
          <a:lstStyle/>
          <a:p>
            <a:pPr algn="l" indent="0" marL="0">
              <a:buNone/>
            </a:pPr>
            <a:r>
              <a:rPr lang="en-US" sz="2800" b="1" dirty="0">
                <a:solidFill>
                  <a:srgbClr val="241337"/>
                </a:solidFill>
                <a:latin typeface="Aptos" pitchFamily="34" charset="0"/>
                <a:ea typeface="Aptos" pitchFamily="34" charset="-122"/>
                <a:cs typeface="Aptos" pitchFamily="34" charset="-120"/>
              </a:rPr>
              <a:t>Liste → page détail → item complet</a:t>
            </a:r>
            <a:endParaRPr lang="en-US" sz="2800" dirty="0"/>
          </a:p>
        </p:txBody>
      </p:sp>
      <p:sp>
        <p:nvSpPr>
          <p:cNvPr id="4" name="Shape 2"/>
          <p:cNvSpPr/>
          <p:nvPr/>
        </p:nvSpPr>
        <p:spPr>
          <a:xfrm>
            <a:off x="685800" y="1682496"/>
            <a:ext cx="6858000" cy="4251960"/>
          </a:xfrm>
          <a:prstGeom prst="roundRect">
            <a:avLst>
              <a:gd name="adj" fmla="val 860"/>
            </a:avLst>
          </a:prstGeom>
          <a:solidFill>
            <a:srgbClr val="17141E"/>
          </a:solidFill>
          <a:ln w="12700">
            <a:solidFill>
              <a:srgbClr val="17141E"/>
            </a:solidFill>
            <a:prstDash val="solid"/>
          </a:ln>
        </p:spPr>
      </p:sp>
      <p:sp>
        <p:nvSpPr>
          <p:cNvPr id="5" name="Shape 3"/>
          <p:cNvSpPr/>
          <p:nvPr/>
        </p:nvSpPr>
        <p:spPr>
          <a:xfrm>
            <a:off x="685800" y="1682496"/>
            <a:ext cx="6858000" cy="347472"/>
          </a:xfrm>
          <a:prstGeom prst="rect">
            <a:avLst/>
          </a:prstGeom>
          <a:solidFill>
            <a:srgbClr val="2B2633"/>
          </a:solidFill>
          <a:ln w="12700">
            <a:solidFill>
              <a:srgbClr val="2B2633"/>
            </a:solidFill>
            <a:prstDash val="solid"/>
          </a:ln>
        </p:spPr>
      </p:sp>
      <p:sp>
        <p:nvSpPr>
          <p:cNvPr id="6" name="Shape 4"/>
          <p:cNvSpPr/>
          <p:nvPr/>
        </p:nvSpPr>
        <p:spPr>
          <a:xfrm>
            <a:off x="868680" y="1801368"/>
            <a:ext cx="73152" cy="73152"/>
          </a:xfrm>
          <a:prstGeom prst="ellipse">
            <a:avLst/>
          </a:prstGeom>
          <a:solidFill>
            <a:srgbClr val="D55E5A"/>
          </a:solidFill>
          <a:ln w="12700">
            <a:solidFill>
              <a:srgbClr val="D55E5A"/>
            </a:solidFill>
            <a:prstDash val="solid"/>
          </a:ln>
        </p:spPr>
      </p:sp>
      <p:sp>
        <p:nvSpPr>
          <p:cNvPr id="7" name="Shape 5"/>
          <p:cNvSpPr/>
          <p:nvPr/>
        </p:nvSpPr>
        <p:spPr>
          <a:xfrm>
            <a:off x="1014984" y="1801368"/>
            <a:ext cx="73152" cy="73152"/>
          </a:xfrm>
          <a:prstGeom prst="ellipse">
            <a:avLst/>
          </a:prstGeom>
          <a:solidFill>
            <a:srgbClr val="E0B24A"/>
          </a:solidFill>
          <a:ln w="12700">
            <a:solidFill>
              <a:srgbClr val="E0B24A"/>
            </a:solidFill>
            <a:prstDash val="solid"/>
          </a:ln>
        </p:spPr>
      </p:sp>
      <p:sp>
        <p:nvSpPr>
          <p:cNvPr id="8" name="Shape 6"/>
          <p:cNvSpPr/>
          <p:nvPr/>
        </p:nvSpPr>
        <p:spPr>
          <a:xfrm>
            <a:off x="1161288" y="1801368"/>
            <a:ext cx="73152" cy="73152"/>
          </a:xfrm>
          <a:prstGeom prst="ellipse">
            <a:avLst/>
          </a:prstGeom>
          <a:solidFill>
            <a:srgbClr val="7EB465"/>
          </a:solidFill>
          <a:ln w="12700">
            <a:solidFill>
              <a:srgbClr val="7EB465"/>
            </a:solidFill>
            <a:prstDash val="solid"/>
          </a:ln>
        </p:spPr>
      </p:sp>
      <p:sp>
        <p:nvSpPr>
          <p:cNvPr id="9" name="Text 7"/>
          <p:cNvSpPr/>
          <p:nvPr/>
        </p:nvSpPr>
        <p:spPr>
          <a:xfrm>
            <a:off x="6446520" y="1755648"/>
            <a:ext cx="914400" cy="137160"/>
          </a:xfrm>
          <a:prstGeom prst="rect">
            <a:avLst/>
          </a:prstGeom>
          <a:noFill/>
          <a:ln/>
        </p:spPr>
        <p:txBody>
          <a:bodyPr wrap="square" lIns="0" tIns="0" rIns="0" bIns="0" rtlCol="0" anchor="ctr">
            <a:normAutofit/>
          </a:bodyPr>
          <a:lstStyle/>
          <a:p>
            <a:pPr algn="r" indent="0" marL="0">
              <a:buNone/>
            </a:pPr>
            <a:r>
              <a:rPr lang="en-US" sz="900" dirty="0">
                <a:solidFill>
                  <a:srgbClr val="B8B3C2"/>
                </a:solidFill>
                <a:latin typeface="Aptos" pitchFamily="34" charset="0"/>
                <a:ea typeface="Aptos" pitchFamily="34" charset="-122"/>
                <a:cs typeface="Aptos" pitchFamily="34" charset="-120"/>
              </a:rPr>
              <a:t>PYTHON</a:t>
            </a:r>
            <a:endParaRPr lang="en-US" sz="900" dirty="0"/>
          </a:p>
        </p:txBody>
      </p:sp>
      <p:sp>
        <p:nvSpPr>
          <p:cNvPr id="10" name="Text 8"/>
          <p:cNvSpPr/>
          <p:nvPr/>
        </p:nvSpPr>
        <p:spPr>
          <a:xfrm>
            <a:off x="914400" y="2157984"/>
            <a:ext cx="6400800" cy="3630168"/>
          </a:xfrm>
          <a:prstGeom prst="rect">
            <a:avLst/>
          </a:prstGeom>
          <a:noFill/>
          <a:ln/>
        </p:spPr>
        <p:txBody>
          <a:bodyPr wrap="square" lIns="0" tIns="0" rIns="0" bIns="0" rtlCol="0" anchor="t">
            <a:normAutofit/>
          </a:bodyPr>
          <a:lstStyle/>
          <a:p>
            <a:pPr algn="l" indent="0" marL="0">
              <a:buNone/>
            </a:pPr>
            <a:r>
              <a:rPr lang="en-US" sz="1100" dirty="0">
                <a:solidFill>
                  <a:srgbClr val="F3EFF7"/>
                </a:solidFill>
                <a:latin typeface="Courier New" pitchFamily="34" charset="0"/>
                <a:ea typeface="Courier New" pitchFamily="34" charset="-122"/>
                <a:cs typeface="Courier New" pitchFamily="34" charset="-120"/>
              </a:rPr>
              <a:t>def parse(self, response):</a:t>
            </a:r>
            <a:endParaRPr lang="en-US" sz="1100" dirty="0"/>
          </a:p>
          <a:p>
            <a:pPr algn="l" indent="0" marL="0">
              <a:buNone/>
            </a:pPr>
            <a:r>
              <a:rPr lang="en-US" sz="1100" dirty="0">
                <a:solidFill>
                  <a:srgbClr val="F3EFF7"/>
                </a:solidFill>
                <a:latin typeface="Courier New" pitchFamily="34" charset="0"/>
                <a:ea typeface="Courier New" pitchFamily="34" charset="-122"/>
                <a:cs typeface="Courier New" pitchFamily="34" charset="-120"/>
              </a:rPr>
              <a:t>    for href in response.css("h3 a::attr(href)").getall():</a:t>
            </a:r>
            <a:endParaRPr lang="en-US" sz="1100" dirty="0"/>
          </a:p>
          <a:p>
            <a:pPr algn="l" indent="0" marL="0">
              <a:buNone/>
            </a:pPr>
            <a:r>
              <a:rPr lang="en-US" sz="1100" dirty="0">
                <a:solidFill>
                  <a:srgbClr val="F3EFF7"/>
                </a:solidFill>
                <a:latin typeface="Courier New" pitchFamily="34" charset="0"/>
                <a:ea typeface="Courier New" pitchFamily="34" charset="-122"/>
                <a:cs typeface="Courier New" pitchFamily="34" charset="-120"/>
              </a:rPr>
              <a:t>        yield response.follow(href, callback=self.parse_book)</a:t>
            </a:r>
            <a:endParaRPr lang="en-US" sz="1100" dirty="0"/>
          </a:p>
          <a:p>
            <a:pPr algn="l" indent="0" marL="0">
              <a:buNone/>
            </a:pPr>
            <a:endParaRPr lang="en-US" sz="1100" dirty="0"/>
          </a:p>
          <a:p>
            <a:pPr algn="l" indent="0" marL="0">
              <a:buNone/>
            </a:pPr>
            <a:r>
              <a:rPr lang="en-US" sz="1100" dirty="0">
                <a:solidFill>
                  <a:srgbClr val="F3EFF7"/>
                </a:solidFill>
                <a:latin typeface="Courier New" pitchFamily="34" charset="0"/>
                <a:ea typeface="Courier New" pitchFamily="34" charset="-122"/>
                <a:cs typeface="Courier New" pitchFamily="34" charset="-120"/>
              </a:rPr>
              <a:t>def parse_book(self, response):</a:t>
            </a:r>
            <a:endParaRPr lang="en-US" sz="1100" dirty="0"/>
          </a:p>
          <a:p>
            <a:pPr algn="l" indent="0" marL="0">
              <a:buNone/>
            </a:pPr>
            <a:r>
              <a:rPr lang="en-US" sz="1100" dirty="0">
                <a:solidFill>
                  <a:srgbClr val="F3EFF7"/>
                </a:solidFill>
                <a:latin typeface="Courier New" pitchFamily="34" charset="0"/>
                <a:ea typeface="Courier New" pitchFamily="34" charset="-122"/>
                <a:cs typeface="Courier New" pitchFamily="34" charset="-120"/>
              </a:rPr>
              <a:t>    yield {</a:t>
            </a:r>
            <a:endParaRPr lang="en-US" sz="1100" dirty="0"/>
          </a:p>
          <a:p>
            <a:pPr algn="l" indent="0" marL="0">
              <a:buNone/>
            </a:pPr>
            <a:r>
              <a:rPr lang="en-US" sz="1100" dirty="0">
                <a:solidFill>
                  <a:srgbClr val="F3EFF7"/>
                </a:solidFill>
                <a:latin typeface="Courier New" pitchFamily="34" charset="0"/>
                <a:ea typeface="Courier New" pitchFamily="34" charset="-122"/>
                <a:cs typeface="Courier New" pitchFamily="34" charset="-120"/>
              </a:rPr>
              <a:t>        "title": response.css("h1::text").get(),</a:t>
            </a:r>
            <a:endParaRPr lang="en-US" sz="1100" dirty="0"/>
          </a:p>
          <a:p>
            <a:pPr algn="l" indent="0" marL="0">
              <a:buNone/>
            </a:pPr>
            <a:r>
              <a:rPr lang="en-US" sz="1100" dirty="0">
                <a:solidFill>
                  <a:srgbClr val="F3EFF7"/>
                </a:solidFill>
                <a:latin typeface="Courier New" pitchFamily="34" charset="0"/>
                <a:ea typeface="Courier New" pitchFamily="34" charset="-122"/>
                <a:cs typeface="Courier New" pitchFamily="34" charset="-120"/>
              </a:rPr>
              <a:t>        "price": response.css("p.price_color::text").get(),</a:t>
            </a:r>
            <a:endParaRPr lang="en-US" sz="1100" dirty="0"/>
          </a:p>
          <a:p>
            <a:pPr algn="l" indent="0" marL="0">
              <a:buNone/>
            </a:pPr>
            <a:r>
              <a:rPr lang="en-US" sz="1100" dirty="0">
                <a:solidFill>
                  <a:srgbClr val="F3EFF7"/>
                </a:solidFill>
                <a:latin typeface="Courier New" pitchFamily="34" charset="0"/>
                <a:ea typeface="Courier New" pitchFamily="34" charset="-122"/>
                <a:cs typeface="Courier New" pitchFamily="34" charset="-120"/>
              </a:rPr>
              <a:t>        "description": response.css("#product_description + p::text").get(),</a:t>
            </a:r>
            <a:endParaRPr lang="en-US" sz="1100" dirty="0"/>
          </a:p>
          <a:p>
            <a:pPr algn="l" indent="0" marL="0">
              <a:buNone/>
            </a:pPr>
            <a:r>
              <a:rPr lang="en-US" sz="1100" dirty="0">
                <a:solidFill>
                  <a:srgbClr val="F3EFF7"/>
                </a:solidFill>
                <a:latin typeface="Courier New" pitchFamily="34" charset="0"/>
                <a:ea typeface="Courier New" pitchFamily="34" charset="-122"/>
                <a:cs typeface="Courier New" pitchFamily="34" charset="-120"/>
              </a:rPr>
              <a:t>    }</a:t>
            </a:r>
            <a:endParaRPr lang="en-US" sz="1100" dirty="0"/>
          </a:p>
        </p:txBody>
      </p:sp>
      <p:sp>
        <p:nvSpPr>
          <p:cNvPr id="11" name="Shape 9"/>
          <p:cNvSpPr/>
          <p:nvPr/>
        </p:nvSpPr>
        <p:spPr>
          <a:xfrm>
            <a:off x="7909560" y="1828800"/>
            <a:ext cx="3017520" cy="777240"/>
          </a:xfrm>
          <a:prstGeom prst="roundRect">
            <a:avLst>
              <a:gd name="adj" fmla="val 5882"/>
            </a:avLst>
          </a:prstGeom>
          <a:solidFill>
            <a:srgbClr val="FFFFFF"/>
          </a:solidFill>
          <a:ln w="16510">
            <a:solidFill>
              <a:srgbClr val="4F7FC4"/>
            </a:solidFill>
            <a:prstDash val="solid"/>
          </a:ln>
        </p:spPr>
      </p:sp>
      <p:sp>
        <p:nvSpPr>
          <p:cNvPr id="12" name="Text 10"/>
          <p:cNvSpPr/>
          <p:nvPr/>
        </p:nvSpPr>
        <p:spPr>
          <a:xfrm>
            <a:off x="8183880" y="2075688"/>
            <a:ext cx="2468880" cy="182880"/>
          </a:xfrm>
          <a:prstGeom prst="rect">
            <a:avLst/>
          </a:prstGeom>
          <a:noFill/>
          <a:ln/>
        </p:spPr>
        <p:txBody>
          <a:bodyPr wrap="square" lIns="0" tIns="0" rIns="0" bIns="0" rtlCol="0" anchor="ctr">
            <a:normAutofit/>
          </a:bodyPr>
          <a:lstStyle/>
          <a:p>
            <a:pPr algn="ctr" indent="0" marL="0">
              <a:buNone/>
            </a:pPr>
            <a:r>
              <a:rPr lang="en-US" sz="1400" b="1" dirty="0">
                <a:solidFill>
                  <a:srgbClr val="4F7FC4"/>
                </a:solidFill>
                <a:latin typeface="Aptos" pitchFamily="34" charset="0"/>
                <a:ea typeface="Aptos" pitchFamily="34" charset="-122"/>
                <a:cs typeface="Aptos" pitchFamily="34" charset="-120"/>
              </a:rPr>
              <a:t>PAGE LISTE</a:t>
            </a:r>
            <a:endParaRPr lang="en-US" sz="1400" dirty="0"/>
          </a:p>
        </p:txBody>
      </p:sp>
      <p:sp>
        <p:nvSpPr>
          <p:cNvPr id="13" name="Text 11"/>
          <p:cNvSpPr/>
          <p:nvPr/>
        </p:nvSpPr>
        <p:spPr>
          <a:xfrm>
            <a:off x="8503920" y="2743200"/>
            <a:ext cx="1828800" cy="228600"/>
          </a:xfrm>
          <a:prstGeom prst="rect">
            <a:avLst/>
          </a:prstGeom>
          <a:noFill/>
          <a:ln/>
        </p:spPr>
        <p:txBody>
          <a:bodyPr wrap="square" lIns="0" tIns="0" rIns="0" bIns="0" rtlCol="0" anchor="ctr">
            <a:normAutofit/>
          </a:bodyPr>
          <a:lstStyle/>
          <a:p>
            <a:pPr algn="ctr" indent="0" marL="0">
              <a:buNone/>
            </a:pPr>
            <a:r>
              <a:rPr lang="en-US" sz="1200" b="1" dirty="0">
                <a:solidFill>
                  <a:srgbClr val="6F7082"/>
                </a:solidFill>
                <a:latin typeface="Aptos" pitchFamily="34" charset="0"/>
                <a:ea typeface="Aptos" pitchFamily="34" charset="-122"/>
                <a:cs typeface="Aptos" pitchFamily="34" charset="-120"/>
              </a:rPr>
              <a:t>↓ URLs détail</a:t>
            </a:r>
            <a:endParaRPr lang="en-US" sz="1200" dirty="0"/>
          </a:p>
        </p:txBody>
      </p:sp>
      <p:sp>
        <p:nvSpPr>
          <p:cNvPr id="14" name="Shape 12"/>
          <p:cNvSpPr/>
          <p:nvPr/>
        </p:nvSpPr>
        <p:spPr>
          <a:xfrm>
            <a:off x="7909560" y="3154680"/>
            <a:ext cx="3017520" cy="777240"/>
          </a:xfrm>
          <a:prstGeom prst="roundRect">
            <a:avLst>
              <a:gd name="adj" fmla="val 5882"/>
            </a:avLst>
          </a:prstGeom>
          <a:solidFill>
            <a:srgbClr val="FFFFFF"/>
          </a:solidFill>
          <a:ln w="16510">
            <a:solidFill>
              <a:srgbClr val="7432A8"/>
            </a:solidFill>
            <a:prstDash val="solid"/>
          </a:ln>
        </p:spPr>
      </p:sp>
      <p:sp>
        <p:nvSpPr>
          <p:cNvPr id="15" name="Text 13"/>
          <p:cNvSpPr/>
          <p:nvPr/>
        </p:nvSpPr>
        <p:spPr>
          <a:xfrm>
            <a:off x="8183880" y="3401568"/>
            <a:ext cx="2468880" cy="182880"/>
          </a:xfrm>
          <a:prstGeom prst="rect">
            <a:avLst/>
          </a:prstGeom>
          <a:noFill/>
          <a:ln/>
        </p:spPr>
        <p:txBody>
          <a:bodyPr wrap="square" lIns="0" tIns="0" rIns="0" bIns="0" rtlCol="0" anchor="ctr">
            <a:normAutofit/>
          </a:bodyPr>
          <a:lstStyle/>
          <a:p>
            <a:pPr algn="ctr" indent="0" marL="0">
              <a:buNone/>
            </a:pPr>
            <a:r>
              <a:rPr lang="en-US" sz="1400" b="1" dirty="0">
                <a:solidFill>
                  <a:srgbClr val="7432A8"/>
                </a:solidFill>
                <a:latin typeface="Aptos" pitchFamily="34" charset="0"/>
                <a:ea typeface="Aptos" pitchFamily="34" charset="-122"/>
                <a:cs typeface="Aptos" pitchFamily="34" charset="-120"/>
              </a:rPr>
              <a:t>PAGE PRODUIT</a:t>
            </a:r>
            <a:endParaRPr lang="en-US" sz="1400" dirty="0"/>
          </a:p>
        </p:txBody>
      </p:sp>
      <p:sp>
        <p:nvSpPr>
          <p:cNvPr id="16" name="Text 14"/>
          <p:cNvSpPr/>
          <p:nvPr/>
        </p:nvSpPr>
        <p:spPr>
          <a:xfrm>
            <a:off x="8503920" y="4096512"/>
            <a:ext cx="1828800" cy="228600"/>
          </a:xfrm>
          <a:prstGeom prst="rect">
            <a:avLst/>
          </a:prstGeom>
          <a:noFill/>
          <a:ln/>
        </p:spPr>
        <p:txBody>
          <a:bodyPr wrap="square" lIns="0" tIns="0" rIns="0" bIns="0" rtlCol="0" anchor="ctr">
            <a:normAutofit/>
          </a:bodyPr>
          <a:lstStyle/>
          <a:p>
            <a:pPr algn="ctr" indent="0" marL="0">
              <a:buNone/>
            </a:pPr>
            <a:r>
              <a:rPr lang="en-US" sz="1200" b="1" dirty="0">
                <a:solidFill>
                  <a:srgbClr val="6F7082"/>
                </a:solidFill>
                <a:latin typeface="Aptos" pitchFamily="34" charset="0"/>
                <a:ea typeface="Aptos" pitchFamily="34" charset="-122"/>
                <a:cs typeface="Aptos" pitchFamily="34" charset="-120"/>
              </a:rPr>
              <a:t>↓ item complet</a:t>
            </a:r>
            <a:endParaRPr lang="en-US" sz="1200" dirty="0"/>
          </a:p>
        </p:txBody>
      </p:sp>
      <p:sp>
        <p:nvSpPr>
          <p:cNvPr id="17" name="Shape 15"/>
          <p:cNvSpPr/>
          <p:nvPr/>
        </p:nvSpPr>
        <p:spPr>
          <a:xfrm>
            <a:off x="7909560" y="4507992"/>
            <a:ext cx="3017520" cy="777240"/>
          </a:xfrm>
          <a:prstGeom prst="roundRect">
            <a:avLst>
              <a:gd name="adj" fmla="val 5882"/>
            </a:avLst>
          </a:prstGeom>
          <a:solidFill>
            <a:srgbClr val="FFFFFF"/>
          </a:solidFill>
          <a:ln w="16510">
            <a:solidFill>
              <a:srgbClr val="4EA27B"/>
            </a:solidFill>
            <a:prstDash val="solid"/>
          </a:ln>
        </p:spPr>
      </p:sp>
      <p:sp>
        <p:nvSpPr>
          <p:cNvPr id="18" name="Text 16"/>
          <p:cNvSpPr/>
          <p:nvPr/>
        </p:nvSpPr>
        <p:spPr>
          <a:xfrm>
            <a:off x="8183880" y="4754880"/>
            <a:ext cx="2468880" cy="182880"/>
          </a:xfrm>
          <a:prstGeom prst="rect">
            <a:avLst/>
          </a:prstGeom>
          <a:noFill/>
          <a:ln/>
        </p:spPr>
        <p:txBody>
          <a:bodyPr wrap="square" lIns="0" tIns="0" rIns="0" bIns="0" rtlCol="0" anchor="ctr">
            <a:normAutofit/>
          </a:bodyPr>
          <a:lstStyle/>
          <a:p>
            <a:pPr algn="ctr" indent="0" marL="0">
              <a:buNone/>
            </a:pPr>
            <a:r>
              <a:rPr lang="en-US" sz="1400" b="1" dirty="0">
                <a:solidFill>
                  <a:srgbClr val="4EA27B"/>
                </a:solidFill>
                <a:latin typeface="Aptos" pitchFamily="34" charset="0"/>
                <a:ea typeface="Aptos" pitchFamily="34" charset="-122"/>
                <a:cs typeface="Aptos" pitchFamily="34" charset="-120"/>
              </a:rPr>
              <a:t>PIPELINE</a:t>
            </a:r>
            <a:endParaRPr lang="en-US" sz="1400" dirty="0"/>
          </a:p>
        </p:txBody>
      </p:sp>
      <p:sp>
        <p:nvSpPr>
          <p:cNvPr id="25" name="Slide Number Placeholder 0"/>
          <p:cNvSpPr>
            <a:spLocks noGrp="1"/>
          </p:cNvSpPr>
          <p:nvPr>
            <p:ph type="sldNum" sz="quarter" idx="4294967295"/>
          </p:nvPr>
        </p:nvSpPr>
        <p:spPr>
          <a:xfrm>
            <a:off x="11750040" y="274320"/>
            <a:ext cx="228600" cy="164592"/>
          </a:xfrm>
          <a:prstGeom prst="rect">
            <a:avLst/>
          </a:prstGeom>
          <a:extLst>
            <a:ext uri="{C572A759-6A51-4108-AA02-DFA0A04FC94B}">
              <ma14:wrappingTextBoxFlag xmlns:ma14="http://schemas.microsoft.com/office/mac/drawingml/2011/main" val="0"/>
            </a:ext>
          </a:extLst>
        </p:spPr>
        <p:txBody>
          <a:bodyPr/>
          <a:lstStyle>
            <a:lvl1pPr>
              <a:defRPr sz="800">
                <a:solidFill>
                  <a:srgbClr val="858697"/>
                </a:solidFill>
                <a:latin typeface="Aptos"/>
                <a:ea typeface="Aptos"/>
                <a:cs typeface="Aptos"/>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566928" y="438912"/>
            <a:ext cx="5029200" cy="228600"/>
          </a:xfrm>
          <a:prstGeom prst="rect">
            <a:avLst/>
          </a:prstGeom>
          <a:noFill/>
          <a:ln/>
        </p:spPr>
        <p:txBody>
          <a:bodyPr wrap="square" lIns="0" tIns="0" rIns="0" bIns="0" rtlCol="0" anchor="ctr">
            <a:normAutofit/>
          </a:bodyPr>
          <a:lstStyle/>
          <a:p>
            <a:pPr algn="l" indent="0" marL="0">
              <a:buNone/>
            </a:pPr>
            <a:r>
              <a:rPr lang="en-US" sz="1050" b="1" spc="150" kern="0" dirty="0">
                <a:solidFill>
                  <a:srgbClr val="7432A8"/>
                </a:solidFill>
                <a:latin typeface="Aptos" pitchFamily="34" charset="0"/>
                <a:ea typeface="Aptos" pitchFamily="34" charset="-122"/>
                <a:cs typeface="Aptos" pitchFamily="34" charset="-120"/>
              </a:rPr>
              <a:t>CONCEPTION</a:t>
            </a:r>
            <a:endParaRPr lang="en-US" sz="1050" dirty="0"/>
          </a:p>
        </p:txBody>
      </p:sp>
      <p:sp>
        <p:nvSpPr>
          <p:cNvPr id="3" name="Text 1"/>
          <p:cNvSpPr/>
          <p:nvPr/>
        </p:nvSpPr>
        <p:spPr>
          <a:xfrm>
            <a:off x="566928" y="768096"/>
            <a:ext cx="10972800" cy="566928"/>
          </a:xfrm>
          <a:prstGeom prst="rect">
            <a:avLst/>
          </a:prstGeom>
          <a:noFill/>
          <a:ln/>
        </p:spPr>
        <p:txBody>
          <a:bodyPr wrap="square" lIns="0" tIns="0" rIns="0" bIns="0" rtlCol="0" anchor="t">
            <a:normAutofit/>
          </a:bodyPr>
          <a:lstStyle/>
          <a:p>
            <a:pPr algn="l" indent="0" marL="0">
              <a:buNone/>
            </a:pPr>
            <a:r>
              <a:rPr lang="en-US" sz="2800" b="1" dirty="0">
                <a:solidFill>
                  <a:srgbClr val="241337"/>
                </a:solidFill>
                <a:latin typeface="Aptos" pitchFamily="34" charset="0"/>
                <a:ea typeface="Aptos" pitchFamily="34" charset="-122"/>
                <a:cs typeface="Aptos" pitchFamily="34" charset="-120"/>
              </a:rPr>
              <a:t>Dessiner le graphe avant d’écrire le spider</a:t>
            </a:r>
            <a:endParaRPr lang="en-US" sz="2800" dirty="0"/>
          </a:p>
        </p:txBody>
      </p:sp>
      <p:sp>
        <p:nvSpPr>
          <p:cNvPr id="4" name="Shape 2"/>
          <p:cNvSpPr/>
          <p:nvPr/>
        </p:nvSpPr>
        <p:spPr>
          <a:xfrm>
            <a:off x="777240" y="2423160"/>
            <a:ext cx="1920240" cy="777240"/>
          </a:xfrm>
          <a:prstGeom prst="roundRect">
            <a:avLst>
              <a:gd name="adj" fmla="val 5882"/>
            </a:avLst>
          </a:prstGeom>
          <a:solidFill>
            <a:srgbClr val="FFFFFF"/>
          </a:solidFill>
          <a:ln w="16510">
            <a:solidFill>
              <a:srgbClr val="4F7FC4"/>
            </a:solidFill>
            <a:prstDash val="solid"/>
          </a:ln>
        </p:spPr>
      </p:sp>
      <p:sp>
        <p:nvSpPr>
          <p:cNvPr id="5" name="Text 3"/>
          <p:cNvSpPr/>
          <p:nvPr/>
        </p:nvSpPr>
        <p:spPr>
          <a:xfrm>
            <a:off x="914400" y="2670048"/>
            <a:ext cx="1645920" cy="182880"/>
          </a:xfrm>
          <a:prstGeom prst="rect">
            <a:avLst/>
          </a:prstGeom>
          <a:noFill/>
          <a:ln/>
        </p:spPr>
        <p:txBody>
          <a:bodyPr wrap="square" lIns="0" tIns="0" rIns="0" bIns="0" rtlCol="0" anchor="ctr">
            <a:normAutofit/>
          </a:bodyPr>
          <a:lstStyle/>
          <a:p>
            <a:pPr algn="ctr" indent="0" marL="0">
              <a:buNone/>
            </a:pPr>
            <a:r>
              <a:rPr lang="en-US" sz="1300" b="1" dirty="0">
                <a:solidFill>
                  <a:srgbClr val="4F7FC4"/>
                </a:solidFill>
                <a:latin typeface="Aptos" pitchFamily="34" charset="0"/>
                <a:ea typeface="Aptos" pitchFamily="34" charset="-122"/>
                <a:cs typeface="Aptos" pitchFamily="34" charset="-120"/>
              </a:rPr>
              <a:t>Accueil</a:t>
            </a:r>
            <a:endParaRPr lang="en-US" sz="1300" dirty="0"/>
          </a:p>
        </p:txBody>
      </p:sp>
      <p:sp>
        <p:nvSpPr>
          <p:cNvPr id="6" name="Shape 4"/>
          <p:cNvSpPr/>
          <p:nvPr/>
        </p:nvSpPr>
        <p:spPr>
          <a:xfrm>
            <a:off x="3383280" y="1508760"/>
            <a:ext cx="1920240" cy="777240"/>
          </a:xfrm>
          <a:prstGeom prst="roundRect">
            <a:avLst>
              <a:gd name="adj" fmla="val 5882"/>
            </a:avLst>
          </a:prstGeom>
          <a:solidFill>
            <a:srgbClr val="FFFFFF"/>
          </a:solidFill>
          <a:ln w="16510">
            <a:solidFill>
              <a:srgbClr val="7432A8"/>
            </a:solidFill>
            <a:prstDash val="solid"/>
          </a:ln>
        </p:spPr>
      </p:sp>
      <p:sp>
        <p:nvSpPr>
          <p:cNvPr id="7" name="Text 5"/>
          <p:cNvSpPr/>
          <p:nvPr/>
        </p:nvSpPr>
        <p:spPr>
          <a:xfrm>
            <a:off x="3520440" y="1755648"/>
            <a:ext cx="1645920" cy="182880"/>
          </a:xfrm>
          <a:prstGeom prst="rect">
            <a:avLst/>
          </a:prstGeom>
          <a:noFill/>
          <a:ln/>
        </p:spPr>
        <p:txBody>
          <a:bodyPr wrap="square" lIns="0" tIns="0" rIns="0" bIns="0" rtlCol="0" anchor="ctr">
            <a:normAutofit/>
          </a:bodyPr>
          <a:lstStyle/>
          <a:p>
            <a:pPr algn="ctr" indent="0" marL="0">
              <a:buNone/>
            </a:pPr>
            <a:r>
              <a:rPr lang="en-US" sz="1300" b="1" dirty="0">
                <a:solidFill>
                  <a:srgbClr val="7432A8"/>
                </a:solidFill>
                <a:latin typeface="Aptos" pitchFamily="34" charset="0"/>
                <a:ea typeface="Aptos" pitchFamily="34" charset="-122"/>
                <a:cs typeface="Aptos" pitchFamily="34" charset="-120"/>
              </a:rPr>
              <a:t>Catégorie A</a:t>
            </a:r>
            <a:endParaRPr lang="en-US" sz="1300" dirty="0"/>
          </a:p>
        </p:txBody>
      </p:sp>
      <p:sp>
        <p:nvSpPr>
          <p:cNvPr id="8" name="Shape 6"/>
          <p:cNvSpPr/>
          <p:nvPr/>
        </p:nvSpPr>
        <p:spPr>
          <a:xfrm>
            <a:off x="3383280" y="3337560"/>
            <a:ext cx="1920240" cy="777240"/>
          </a:xfrm>
          <a:prstGeom prst="roundRect">
            <a:avLst>
              <a:gd name="adj" fmla="val 5882"/>
            </a:avLst>
          </a:prstGeom>
          <a:solidFill>
            <a:srgbClr val="FFFFFF"/>
          </a:solidFill>
          <a:ln w="16510">
            <a:solidFill>
              <a:srgbClr val="7432A8"/>
            </a:solidFill>
            <a:prstDash val="solid"/>
          </a:ln>
        </p:spPr>
      </p:sp>
      <p:sp>
        <p:nvSpPr>
          <p:cNvPr id="9" name="Text 7"/>
          <p:cNvSpPr/>
          <p:nvPr/>
        </p:nvSpPr>
        <p:spPr>
          <a:xfrm>
            <a:off x="3520440" y="3584448"/>
            <a:ext cx="1645920" cy="182880"/>
          </a:xfrm>
          <a:prstGeom prst="rect">
            <a:avLst/>
          </a:prstGeom>
          <a:noFill/>
          <a:ln/>
        </p:spPr>
        <p:txBody>
          <a:bodyPr wrap="square" lIns="0" tIns="0" rIns="0" bIns="0" rtlCol="0" anchor="ctr">
            <a:normAutofit/>
          </a:bodyPr>
          <a:lstStyle/>
          <a:p>
            <a:pPr algn="ctr" indent="0" marL="0">
              <a:buNone/>
            </a:pPr>
            <a:r>
              <a:rPr lang="en-US" sz="1300" b="1" dirty="0">
                <a:solidFill>
                  <a:srgbClr val="7432A8"/>
                </a:solidFill>
                <a:latin typeface="Aptos" pitchFamily="34" charset="0"/>
                <a:ea typeface="Aptos" pitchFamily="34" charset="-122"/>
                <a:cs typeface="Aptos" pitchFamily="34" charset="-120"/>
              </a:rPr>
              <a:t>Catégorie B</a:t>
            </a:r>
            <a:endParaRPr lang="en-US" sz="1300" dirty="0"/>
          </a:p>
        </p:txBody>
      </p:sp>
      <p:sp>
        <p:nvSpPr>
          <p:cNvPr id="10" name="Shape 8"/>
          <p:cNvSpPr/>
          <p:nvPr/>
        </p:nvSpPr>
        <p:spPr>
          <a:xfrm>
            <a:off x="6400800" y="1508760"/>
            <a:ext cx="1920240" cy="777240"/>
          </a:xfrm>
          <a:prstGeom prst="roundRect">
            <a:avLst>
              <a:gd name="adj" fmla="val 5882"/>
            </a:avLst>
          </a:prstGeom>
          <a:solidFill>
            <a:srgbClr val="FFFFFF"/>
          </a:solidFill>
          <a:ln w="16510">
            <a:solidFill>
              <a:srgbClr val="DB8129"/>
            </a:solidFill>
            <a:prstDash val="solid"/>
          </a:ln>
        </p:spPr>
      </p:sp>
      <p:sp>
        <p:nvSpPr>
          <p:cNvPr id="11" name="Text 9"/>
          <p:cNvSpPr/>
          <p:nvPr/>
        </p:nvSpPr>
        <p:spPr>
          <a:xfrm>
            <a:off x="6537960" y="1755648"/>
            <a:ext cx="1645920" cy="182880"/>
          </a:xfrm>
          <a:prstGeom prst="rect">
            <a:avLst/>
          </a:prstGeom>
          <a:noFill/>
          <a:ln/>
        </p:spPr>
        <p:txBody>
          <a:bodyPr wrap="square" lIns="0" tIns="0" rIns="0" bIns="0" rtlCol="0" anchor="ctr">
            <a:normAutofit/>
          </a:bodyPr>
          <a:lstStyle/>
          <a:p>
            <a:pPr algn="ctr" indent="0" marL="0">
              <a:buNone/>
            </a:pPr>
            <a:r>
              <a:rPr lang="en-US" sz="1300" b="1" dirty="0">
                <a:solidFill>
                  <a:srgbClr val="DB8129"/>
                </a:solidFill>
                <a:latin typeface="Aptos" pitchFamily="34" charset="0"/>
                <a:ea typeface="Aptos" pitchFamily="34" charset="-122"/>
                <a:cs typeface="Aptos" pitchFamily="34" charset="-120"/>
              </a:rPr>
              <a:t>Liste / page N</a:t>
            </a:r>
            <a:endParaRPr lang="en-US" sz="1300" dirty="0"/>
          </a:p>
        </p:txBody>
      </p:sp>
      <p:sp>
        <p:nvSpPr>
          <p:cNvPr id="12" name="Shape 10"/>
          <p:cNvSpPr/>
          <p:nvPr/>
        </p:nvSpPr>
        <p:spPr>
          <a:xfrm>
            <a:off x="6400800" y="3337560"/>
            <a:ext cx="1920240" cy="777240"/>
          </a:xfrm>
          <a:prstGeom prst="roundRect">
            <a:avLst>
              <a:gd name="adj" fmla="val 5882"/>
            </a:avLst>
          </a:prstGeom>
          <a:solidFill>
            <a:srgbClr val="FFFFFF"/>
          </a:solidFill>
          <a:ln w="16510">
            <a:solidFill>
              <a:srgbClr val="DB8129"/>
            </a:solidFill>
            <a:prstDash val="solid"/>
          </a:ln>
        </p:spPr>
      </p:sp>
      <p:sp>
        <p:nvSpPr>
          <p:cNvPr id="13" name="Text 11"/>
          <p:cNvSpPr/>
          <p:nvPr/>
        </p:nvSpPr>
        <p:spPr>
          <a:xfrm>
            <a:off x="6537960" y="3584448"/>
            <a:ext cx="1645920" cy="182880"/>
          </a:xfrm>
          <a:prstGeom prst="rect">
            <a:avLst/>
          </a:prstGeom>
          <a:noFill/>
          <a:ln/>
        </p:spPr>
        <p:txBody>
          <a:bodyPr wrap="square" lIns="0" tIns="0" rIns="0" bIns="0" rtlCol="0" anchor="ctr">
            <a:normAutofit/>
          </a:bodyPr>
          <a:lstStyle/>
          <a:p>
            <a:pPr algn="ctr" indent="0" marL="0">
              <a:buNone/>
            </a:pPr>
            <a:r>
              <a:rPr lang="en-US" sz="1300" b="1" dirty="0">
                <a:solidFill>
                  <a:srgbClr val="DB8129"/>
                </a:solidFill>
                <a:latin typeface="Aptos" pitchFamily="34" charset="0"/>
                <a:ea typeface="Aptos" pitchFamily="34" charset="-122"/>
                <a:cs typeface="Aptos" pitchFamily="34" charset="-120"/>
              </a:rPr>
              <a:t>Liste / page N</a:t>
            </a:r>
            <a:endParaRPr lang="en-US" sz="1300" dirty="0"/>
          </a:p>
        </p:txBody>
      </p:sp>
      <p:sp>
        <p:nvSpPr>
          <p:cNvPr id="14" name="Shape 12"/>
          <p:cNvSpPr/>
          <p:nvPr/>
        </p:nvSpPr>
        <p:spPr>
          <a:xfrm>
            <a:off x="9464040" y="2423160"/>
            <a:ext cx="1920240" cy="777240"/>
          </a:xfrm>
          <a:prstGeom prst="roundRect">
            <a:avLst>
              <a:gd name="adj" fmla="val 5882"/>
            </a:avLst>
          </a:prstGeom>
          <a:solidFill>
            <a:srgbClr val="FFFFFF"/>
          </a:solidFill>
          <a:ln w="16510">
            <a:solidFill>
              <a:srgbClr val="4EA27B"/>
            </a:solidFill>
            <a:prstDash val="solid"/>
          </a:ln>
        </p:spPr>
      </p:sp>
      <p:sp>
        <p:nvSpPr>
          <p:cNvPr id="15" name="Text 13"/>
          <p:cNvSpPr/>
          <p:nvPr/>
        </p:nvSpPr>
        <p:spPr>
          <a:xfrm>
            <a:off x="9601200" y="2670048"/>
            <a:ext cx="1645920" cy="182880"/>
          </a:xfrm>
          <a:prstGeom prst="rect">
            <a:avLst/>
          </a:prstGeom>
          <a:noFill/>
          <a:ln/>
        </p:spPr>
        <p:txBody>
          <a:bodyPr wrap="square" lIns="0" tIns="0" rIns="0" bIns="0" rtlCol="0" anchor="ctr">
            <a:normAutofit/>
          </a:bodyPr>
          <a:lstStyle/>
          <a:p>
            <a:pPr algn="ctr" indent="0" marL="0">
              <a:buNone/>
            </a:pPr>
            <a:r>
              <a:rPr lang="en-US" sz="1300" b="1" dirty="0">
                <a:solidFill>
                  <a:srgbClr val="4EA27B"/>
                </a:solidFill>
                <a:latin typeface="Aptos" pitchFamily="34" charset="0"/>
                <a:ea typeface="Aptos" pitchFamily="34" charset="-122"/>
                <a:cs typeface="Aptos" pitchFamily="34" charset="-120"/>
              </a:rPr>
              <a:t>Produit</a:t>
            </a:r>
            <a:endParaRPr lang="en-US" sz="1300" dirty="0"/>
          </a:p>
        </p:txBody>
      </p:sp>
      <p:sp>
        <p:nvSpPr>
          <p:cNvPr id="16" name="Text 14"/>
          <p:cNvSpPr/>
          <p:nvPr/>
        </p:nvSpPr>
        <p:spPr>
          <a:xfrm>
            <a:off x="2743200" y="1810512"/>
            <a:ext cx="457200" cy="320040"/>
          </a:xfrm>
          <a:prstGeom prst="rect">
            <a:avLst/>
          </a:prstGeom>
          <a:noFill/>
          <a:ln/>
        </p:spPr>
        <p:txBody>
          <a:bodyPr wrap="square" lIns="0" tIns="0" rIns="0" bIns="0" rtlCol="0" anchor="ctr">
            <a:normAutofit/>
          </a:bodyPr>
          <a:lstStyle/>
          <a:p>
            <a:pPr algn="ctr" indent="0" marL="0">
              <a:buNone/>
            </a:pPr>
            <a:r>
              <a:rPr lang="en-US" sz="2200" b="1" dirty="0">
                <a:solidFill>
                  <a:srgbClr val="6F7082"/>
                </a:solidFill>
                <a:latin typeface="Aptos" pitchFamily="34" charset="0"/>
                <a:ea typeface="Aptos" pitchFamily="34" charset="-122"/>
                <a:cs typeface="Aptos" pitchFamily="34" charset="-120"/>
              </a:rPr>
              <a:t>↗</a:t>
            </a:r>
            <a:endParaRPr lang="en-US" sz="2200" dirty="0"/>
          </a:p>
        </p:txBody>
      </p:sp>
      <p:sp>
        <p:nvSpPr>
          <p:cNvPr id="17" name="Text 15"/>
          <p:cNvSpPr/>
          <p:nvPr/>
        </p:nvSpPr>
        <p:spPr>
          <a:xfrm>
            <a:off x="2743200" y="3090672"/>
            <a:ext cx="457200" cy="320040"/>
          </a:xfrm>
          <a:prstGeom prst="rect">
            <a:avLst/>
          </a:prstGeom>
          <a:noFill/>
          <a:ln/>
        </p:spPr>
        <p:txBody>
          <a:bodyPr wrap="square" lIns="0" tIns="0" rIns="0" bIns="0" rtlCol="0" anchor="ctr">
            <a:normAutofit/>
          </a:bodyPr>
          <a:lstStyle/>
          <a:p>
            <a:pPr algn="ctr" indent="0" marL="0">
              <a:buNone/>
            </a:pPr>
            <a:r>
              <a:rPr lang="en-US" sz="2200" b="1" dirty="0">
                <a:solidFill>
                  <a:srgbClr val="6F7082"/>
                </a:solidFill>
                <a:latin typeface="Aptos" pitchFamily="34" charset="0"/>
                <a:ea typeface="Aptos" pitchFamily="34" charset="-122"/>
                <a:cs typeface="Aptos" pitchFamily="34" charset="-120"/>
              </a:rPr>
              <a:t>↘</a:t>
            </a:r>
            <a:endParaRPr lang="en-US" sz="2200" dirty="0"/>
          </a:p>
        </p:txBody>
      </p:sp>
      <p:sp>
        <p:nvSpPr>
          <p:cNvPr id="18" name="Text 16"/>
          <p:cNvSpPr/>
          <p:nvPr/>
        </p:nvSpPr>
        <p:spPr>
          <a:xfrm>
            <a:off x="5532120" y="1737360"/>
            <a:ext cx="457200" cy="274320"/>
          </a:xfrm>
          <a:prstGeom prst="rect">
            <a:avLst/>
          </a:prstGeom>
          <a:noFill/>
          <a:ln/>
        </p:spPr>
        <p:txBody>
          <a:bodyPr wrap="square" lIns="0" tIns="0" rIns="0" bIns="0" rtlCol="0" anchor="ctr">
            <a:normAutofit/>
          </a:bodyPr>
          <a:lstStyle/>
          <a:p>
            <a:pPr algn="ctr" indent="0" marL="0">
              <a:buNone/>
            </a:pPr>
            <a:r>
              <a:rPr lang="en-US" sz="2200" b="1" dirty="0">
                <a:solidFill>
                  <a:srgbClr val="6F7082"/>
                </a:solidFill>
                <a:latin typeface="Aptos" pitchFamily="34" charset="0"/>
                <a:ea typeface="Aptos" pitchFamily="34" charset="-122"/>
                <a:cs typeface="Aptos" pitchFamily="34" charset="-120"/>
              </a:rPr>
              <a:t>→</a:t>
            </a:r>
            <a:endParaRPr lang="en-US" sz="2200" dirty="0"/>
          </a:p>
        </p:txBody>
      </p:sp>
      <p:sp>
        <p:nvSpPr>
          <p:cNvPr id="19" name="Text 17"/>
          <p:cNvSpPr/>
          <p:nvPr/>
        </p:nvSpPr>
        <p:spPr>
          <a:xfrm>
            <a:off x="5532120" y="3566160"/>
            <a:ext cx="457200" cy="274320"/>
          </a:xfrm>
          <a:prstGeom prst="rect">
            <a:avLst/>
          </a:prstGeom>
          <a:noFill/>
          <a:ln/>
        </p:spPr>
        <p:txBody>
          <a:bodyPr wrap="square" lIns="0" tIns="0" rIns="0" bIns="0" rtlCol="0" anchor="ctr">
            <a:normAutofit/>
          </a:bodyPr>
          <a:lstStyle/>
          <a:p>
            <a:pPr algn="ctr" indent="0" marL="0">
              <a:buNone/>
            </a:pPr>
            <a:r>
              <a:rPr lang="en-US" sz="2200" b="1" dirty="0">
                <a:solidFill>
                  <a:srgbClr val="6F7082"/>
                </a:solidFill>
                <a:latin typeface="Aptos" pitchFamily="34" charset="0"/>
                <a:ea typeface="Aptos" pitchFamily="34" charset="-122"/>
                <a:cs typeface="Aptos" pitchFamily="34" charset="-120"/>
              </a:rPr>
              <a:t>→</a:t>
            </a:r>
            <a:endParaRPr lang="en-US" sz="2200" dirty="0"/>
          </a:p>
        </p:txBody>
      </p:sp>
      <p:sp>
        <p:nvSpPr>
          <p:cNvPr id="20" name="Text 18"/>
          <p:cNvSpPr/>
          <p:nvPr/>
        </p:nvSpPr>
        <p:spPr>
          <a:xfrm>
            <a:off x="8732520" y="1801368"/>
            <a:ext cx="457200" cy="320040"/>
          </a:xfrm>
          <a:prstGeom prst="rect">
            <a:avLst/>
          </a:prstGeom>
          <a:noFill/>
          <a:ln/>
        </p:spPr>
        <p:txBody>
          <a:bodyPr wrap="square" lIns="0" tIns="0" rIns="0" bIns="0" rtlCol="0" anchor="ctr">
            <a:normAutofit/>
          </a:bodyPr>
          <a:lstStyle/>
          <a:p>
            <a:pPr algn="ctr" indent="0" marL="0">
              <a:buNone/>
            </a:pPr>
            <a:r>
              <a:rPr lang="en-US" sz="2200" b="1" dirty="0">
                <a:solidFill>
                  <a:srgbClr val="6F7082"/>
                </a:solidFill>
                <a:latin typeface="Aptos" pitchFamily="34" charset="0"/>
                <a:ea typeface="Aptos" pitchFamily="34" charset="-122"/>
                <a:cs typeface="Aptos" pitchFamily="34" charset="-120"/>
              </a:rPr>
              <a:t>↘</a:t>
            </a:r>
            <a:endParaRPr lang="en-US" sz="2200" dirty="0"/>
          </a:p>
        </p:txBody>
      </p:sp>
      <p:sp>
        <p:nvSpPr>
          <p:cNvPr id="21" name="Text 19"/>
          <p:cNvSpPr/>
          <p:nvPr/>
        </p:nvSpPr>
        <p:spPr>
          <a:xfrm>
            <a:off x="8732520" y="3108960"/>
            <a:ext cx="457200" cy="320040"/>
          </a:xfrm>
          <a:prstGeom prst="rect">
            <a:avLst/>
          </a:prstGeom>
          <a:noFill/>
          <a:ln/>
        </p:spPr>
        <p:txBody>
          <a:bodyPr wrap="square" lIns="0" tIns="0" rIns="0" bIns="0" rtlCol="0" anchor="ctr">
            <a:normAutofit/>
          </a:bodyPr>
          <a:lstStyle/>
          <a:p>
            <a:pPr algn="ctr" indent="0" marL="0">
              <a:buNone/>
            </a:pPr>
            <a:r>
              <a:rPr lang="en-US" sz="2200" b="1" dirty="0">
                <a:solidFill>
                  <a:srgbClr val="6F7082"/>
                </a:solidFill>
                <a:latin typeface="Aptos" pitchFamily="34" charset="0"/>
                <a:ea typeface="Aptos" pitchFamily="34" charset="-122"/>
                <a:cs typeface="Aptos" pitchFamily="34" charset="-120"/>
              </a:rPr>
              <a:t>↗</a:t>
            </a:r>
            <a:endParaRPr lang="en-US" sz="2200" dirty="0"/>
          </a:p>
        </p:txBody>
      </p:sp>
      <p:sp>
        <p:nvSpPr>
          <p:cNvPr id="22" name="Shape 20"/>
          <p:cNvSpPr/>
          <p:nvPr/>
        </p:nvSpPr>
        <p:spPr>
          <a:xfrm>
            <a:off x="1920240" y="4892040"/>
            <a:ext cx="8412480" cy="777240"/>
          </a:xfrm>
          <a:prstGeom prst="roundRect">
            <a:avLst>
              <a:gd name="adj" fmla="val 5882"/>
            </a:avLst>
          </a:prstGeom>
          <a:solidFill>
            <a:srgbClr val="F0ECF4"/>
          </a:solidFill>
          <a:ln w="12700">
            <a:solidFill>
              <a:srgbClr val="E1D7E8"/>
            </a:solidFill>
            <a:prstDash val="solid"/>
          </a:ln>
        </p:spPr>
      </p:sp>
      <p:sp>
        <p:nvSpPr>
          <p:cNvPr id="23" name="Text 21"/>
          <p:cNvSpPr/>
          <p:nvPr/>
        </p:nvSpPr>
        <p:spPr>
          <a:xfrm>
            <a:off x="2240280" y="5148072"/>
            <a:ext cx="7772400" cy="228600"/>
          </a:xfrm>
          <a:prstGeom prst="rect">
            <a:avLst/>
          </a:prstGeom>
          <a:noFill/>
          <a:ln/>
        </p:spPr>
        <p:txBody>
          <a:bodyPr wrap="square" lIns="0" tIns="0" rIns="0" bIns="0" rtlCol="0" anchor="ctr">
            <a:normAutofit/>
          </a:bodyPr>
          <a:lstStyle/>
          <a:p>
            <a:pPr algn="ctr" indent="0" marL="0">
              <a:buNone/>
            </a:pPr>
            <a:r>
              <a:rPr lang="en-US" sz="1550" b="1" dirty="0">
                <a:solidFill>
                  <a:srgbClr val="241337"/>
                </a:solidFill>
                <a:latin typeface="Aptos" pitchFamily="34" charset="0"/>
                <a:ea typeface="Aptos" pitchFamily="34" charset="-122"/>
                <a:cs typeface="Aptos" pitchFamily="34" charset="-120"/>
              </a:rPr>
              <a:t>Chaque type de page devient potentiellement un callback distinct.</a:t>
            </a:r>
            <a:endParaRPr lang="en-US" sz="1550" dirty="0"/>
          </a:p>
        </p:txBody>
      </p:sp>
      <p:sp>
        <p:nvSpPr>
          <p:cNvPr id="25" name="Slide Number Placeholder 0"/>
          <p:cNvSpPr>
            <a:spLocks noGrp="1"/>
          </p:cNvSpPr>
          <p:nvPr>
            <p:ph type="sldNum" sz="quarter" idx="4294967295"/>
          </p:nvPr>
        </p:nvSpPr>
        <p:spPr>
          <a:xfrm>
            <a:off x="11750040" y="274320"/>
            <a:ext cx="228600" cy="164592"/>
          </a:xfrm>
          <a:prstGeom prst="rect">
            <a:avLst/>
          </a:prstGeom>
          <a:extLst>
            <a:ext uri="{C572A759-6A51-4108-AA02-DFA0A04FC94B}">
              <ma14:wrappingTextBoxFlag xmlns:ma14="http://schemas.microsoft.com/office/mac/drawingml/2011/main" val="0"/>
            </a:ext>
          </a:extLst>
        </p:spPr>
        <p:txBody>
          <a:bodyPr/>
          <a:lstStyle>
            <a:lvl1pPr>
              <a:defRPr sz="800">
                <a:solidFill>
                  <a:srgbClr val="858697"/>
                </a:solidFill>
                <a:latin typeface="Aptos"/>
                <a:ea typeface="Aptos"/>
                <a:cs typeface="Aptos"/>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566928" y="438912"/>
            <a:ext cx="5029200" cy="228600"/>
          </a:xfrm>
          <a:prstGeom prst="rect">
            <a:avLst/>
          </a:prstGeom>
          <a:noFill/>
          <a:ln/>
        </p:spPr>
        <p:txBody>
          <a:bodyPr wrap="square" lIns="0" tIns="0" rIns="0" bIns="0" rtlCol="0" anchor="ctr">
            <a:normAutofit/>
          </a:bodyPr>
          <a:lstStyle/>
          <a:p>
            <a:pPr algn="l" indent="0" marL="0">
              <a:buNone/>
            </a:pPr>
            <a:r>
              <a:rPr lang="en-US" sz="1050" b="1" spc="150" kern="0" dirty="0">
                <a:solidFill>
                  <a:srgbClr val="7432A8"/>
                </a:solidFill>
                <a:latin typeface="Aptos" pitchFamily="34" charset="0"/>
                <a:ea typeface="Aptos" pitchFamily="34" charset="-122"/>
                <a:cs typeface="Aptos" pitchFamily="34" charset="-120"/>
              </a:rPr>
              <a:t>PIPELINE</a:t>
            </a:r>
            <a:endParaRPr lang="en-US" sz="1050" dirty="0"/>
          </a:p>
        </p:txBody>
      </p:sp>
      <p:sp>
        <p:nvSpPr>
          <p:cNvPr id="3" name="Text 1"/>
          <p:cNvSpPr/>
          <p:nvPr/>
        </p:nvSpPr>
        <p:spPr>
          <a:xfrm>
            <a:off x="566928" y="768096"/>
            <a:ext cx="10972800" cy="566928"/>
          </a:xfrm>
          <a:prstGeom prst="rect">
            <a:avLst/>
          </a:prstGeom>
          <a:noFill/>
          <a:ln/>
        </p:spPr>
        <p:txBody>
          <a:bodyPr wrap="square" lIns="0" tIns="0" rIns="0" bIns="0" rtlCol="0" anchor="t">
            <a:normAutofit/>
          </a:bodyPr>
          <a:lstStyle/>
          <a:p>
            <a:pPr algn="l" indent="0" marL="0">
              <a:buNone/>
            </a:pPr>
            <a:r>
              <a:rPr lang="en-US" sz="2800" b="1" dirty="0">
                <a:solidFill>
                  <a:srgbClr val="241337"/>
                </a:solidFill>
                <a:latin typeface="Aptos" pitchFamily="34" charset="0"/>
                <a:ea typeface="Aptos" pitchFamily="34" charset="-122"/>
                <a:cs typeface="Aptos" pitchFamily="34" charset="-120"/>
              </a:rPr>
              <a:t>Nettoyer après l’extraction</a:t>
            </a:r>
            <a:endParaRPr lang="en-US" sz="2800" dirty="0"/>
          </a:p>
        </p:txBody>
      </p:sp>
      <p:sp>
        <p:nvSpPr>
          <p:cNvPr id="4" name="Shape 2"/>
          <p:cNvSpPr/>
          <p:nvPr/>
        </p:nvSpPr>
        <p:spPr>
          <a:xfrm>
            <a:off x="685800" y="1691640"/>
            <a:ext cx="5852160" cy="3520440"/>
          </a:xfrm>
          <a:prstGeom prst="roundRect">
            <a:avLst>
              <a:gd name="adj" fmla="val 1039"/>
            </a:avLst>
          </a:prstGeom>
          <a:solidFill>
            <a:srgbClr val="17141E"/>
          </a:solidFill>
          <a:ln w="12700">
            <a:solidFill>
              <a:srgbClr val="17141E"/>
            </a:solidFill>
            <a:prstDash val="solid"/>
          </a:ln>
        </p:spPr>
      </p:sp>
      <p:sp>
        <p:nvSpPr>
          <p:cNvPr id="5" name="Shape 3"/>
          <p:cNvSpPr/>
          <p:nvPr/>
        </p:nvSpPr>
        <p:spPr>
          <a:xfrm>
            <a:off x="685800" y="1691640"/>
            <a:ext cx="5852160" cy="347472"/>
          </a:xfrm>
          <a:prstGeom prst="rect">
            <a:avLst/>
          </a:prstGeom>
          <a:solidFill>
            <a:srgbClr val="2B2633"/>
          </a:solidFill>
          <a:ln w="12700">
            <a:solidFill>
              <a:srgbClr val="2B2633"/>
            </a:solidFill>
            <a:prstDash val="solid"/>
          </a:ln>
        </p:spPr>
      </p:sp>
      <p:sp>
        <p:nvSpPr>
          <p:cNvPr id="6" name="Shape 4"/>
          <p:cNvSpPr/>
          <p:nvPr/>
        </p:nvSpPr>
        <p:spPr>
          <a:xfrm>
            <a:off x="868680" y="1810512"/>
            <a:ext cx="73152" cy="73152"/>
          </a:xfrm>
          <a:prstGeom prst="ellipse">
            <a:avLst/>
          </a:prstGeom>
          <a:solidFill>
            <a:srgbClr val="D55E5A"/>
          </a:solidFill>
          <a:ln w="12700">
            <a:solidFill>
              <a:srgbClr val="D55E5A"/>
            </a:solidFill>
            <a:prstDash val="solid"/>
          </a:ln>
        </p:spPr>
      </p:sp>
      <p:sp>
        <p:nvSpPr>
          <p:cNvPr id="7" name="Shape 5"/>
          <p:cNvSpPr/>
          <p:nvPr/>
        </p:nvSpPr>
        <p:spPr>
          <a:xfrm>
            <a:off x="1014984" y="1810512"/>
            <a:ext cx="73152" cy="73152"/>
          </a:xfrm>
          <a:prstGeom prst="ellipse">
            <a:avLst/>
          </a:prstGeom>
          <a:solidFill>
            <a:srgbClr val="E0B24A"/>
          </a:solidFill>
          <a:ln w="12700">
            <a:solidFill>
              <a:srgbClr val="E0B24A"/>
            </a:solidFill>
            <a:prstDash val="solid"/>
          </a:ln>
        </p:spPr>
      </p:sp>
      <p:sp>
        <p:nvSpPr>
          <p:cNvPr id="8" name="Shape 6"/>
          <p:cNvSpPr/>
          <p:nvPr/>
        </p:nvSpPr>
        <p:spPr>
          <a:xfrm>
            <a:off x="1161288" y="1810512"/>
            <a:ext cx="73152" cy="73152"/>
          </a:xfrm>
          <a:prstGeom prst="ellipse">
            <a:avLst/>
          </a:prstGeom>
          <a:solidFill>
            <a:srgbClr val="7EB465"/>
          </a:solidFill>
          <a:ln w="12700">
            <a:solidFill>
              <a:srgbClr val="7EB465"/>
            </a:solidFill>
            <a:prstDash val="solid"/>
          </a:ln>
        </p:spPr>
      </p:sp>
      <p:sp>
        <p:nvSpPr>
          <p:cNvPr id="9" name="Text 7"/>
          <p:cNvSpPr/>
          <p:nvPr/>
        </p:nvSpPr>
        <p:spPr>
          <a:xfrm>
            <a:off x="5440680" y="1764792"/>
            <a:ext cx="914400" cy="137160"/>
          </a:xfrm>
          <a:prstGeom prst="rect">
            <a:avLst/>
          </a:prstGeom>
          <a:noFill/>
          <a:ln/>
        </p:spPr>
        <p:txBody>
          <a:bodyPr wrap="square" lIns="0" tIns="0" rIns="0" bIns="0" rtlCol="0" anchor="ctr">
            <a:normAutofit/>
          </a:bodyPr>
          <a:lstStyle/>
          <a:p>
            <a:pPr algn="r" indent="0" marL="0">
              <a:buNone/>
            </a:pPr>
            <a:r>
              <a:rPr lang="en-US" sz="900" dirty="0">
                <a:solidFill>
                  <a:srgbClr val="B8B3C2"/>
                </a:solidFill>
                <a:latin typeface="Aptos" pitchFamily="34" charset="0"/>
                <a:ea typeface="Aptos" pitchFamily="34" charset="-122"/>
                <a:cs typeface="Aptos" pitchFamily="34" charset="-120"/>
              </a:rPr>
              <a:t>pipelines.py</a:t>
            </a:r>
            <a:endParaRPr lang="en-US" sz="900" dirty="0"/>
          </a:p>
        </p:txBody>
      </p:sp>
      <p:sp>
        <p:nvSpPr>
          <p:cNvPr id="10" name="Text 8"/>
          <p:cNvSpPr/>
          <p:nvPr/>
        </p:nvSpPr>
        <p:spPr>
          <a:xfrm>
            <a:off x="914400" y="2167128"/>
            <a:ext cx="5394960" cy="2898648"/>
          </a:xfrm>
          <a:prstGeom prst="rect">
            <a:avLst/>
          </a:prstGeom>
          <a:noFill/>
          <a:ln/>
        </p:spPr>
        <p:txBody>
          <a:bodyPr wrap="square" lIns="0" tIns="0" rIns="0" bIns="0" rtlCol="0" anchor="t">
            <a:normAutofit/>
          </a:bodyPr>
          <a:lstStyle/>
          <a:p>
            <a:pPr algn="l" indent="0" marL="0">
              <a:buNone/>
            </a:pPr>
            <a:r>
              <a:rPr lang="en-US" sz="1100" dirty="0">
                <a:solidFill>
                  <a:srgbClr val="F3EFF7"/>
                </a:solidFill>
                <a:latin typeface="Courier New" pitchFamily="34" charset="0"/>
                <a:ea typeface="Courier New" pitchFamily="34" charset="-122"/>
                <a:cs typeface="Courier New" pitchFamily="34" charset="-120"/>
              </a:rPr>
              <a:t>class CleanBookPipeline:</a:t>
            </a:r>
            <a:endParaRPr lang="en-US" sz="1100" dirty="0"/>
          </a:p>
          <a:p>
            <a:pPr algn="l" indent="0" marL="0">
              <a:buNone/>
            </a:pPr>
            <a:r>
              <a:rPr lang="en-US" sz="1100" dirty="0">
                <a:solidFill>
                  <a:srgbClr val="F3EFF7"/>
                </a:solidFill>
                <a:latin typeface="Courier New" pitchFamily="34" charset="0"/>
                <a:ea typeface="Courier New" pitchFamily="34" charset="-122"/>
                <a:cs typeface="Courier New" pitchFamily="34" charset="-120"/>
              </a:rPr>
              <a:t>    def process_item(self, item, spider):</a:t>
            </a:r>
            <a:endParaRPr lang="en-US" sz="1100" dirty="0"/>
          </a:p>
          <a:p>
            <a:pPr algn="l" indent="0" marL="0">
              <a:buNone/>
            </a:pPr>
            <a:r>
              <a:rPr lang="en-US" sz="1100" dirty="0">
                <a:solidFill>
                  <a:srgbClr val="F3EFF7"/>
                </a:solidFill>
                <a:latin typeface="Courier New" pitchFamily="34" charset="0"/>
                <a:ea typeface="Courier New" pitchFamily="34" charset="-122"/>
                <a:cs typeface="Courier New" pitchFamily="34" charset="-120"/>
              </a:rPr>
              <a:t>        item["title"] = item["title"].strip()</a:t>
            </a:r>
            <a:endParaRPr lang="en-US" sz="1100" dirty="0"/>
          </a:p>
          <a:p>
            <a:pPr algn="l" indent="0" marL="0">
              <a:buNone/>
            </a:pPr>
            <a:r>
              <a:rPr lang="en-US" sz="1100" dirty="0">
                <a:solidFill>
                  <a:srgbClr val="F3EFF7"/>
                </a:solidFill>
                <a:latin typeface="Courier New" pitchFamily="34" charset="0"/>
                <a:ea typeface="Courier New" pitchFamily="34" charset="-122"/>
                <a:cs typeface="Courier New" pitchFamily="34" charset="-120"/>
              </a:rPr>
              <a:t>        item["price"] = float(</a:t>
            </a:r>
            <a:endParaRPr lang="en-US" sz="1100" dirty="0"/>
          </a:p>
          <a:p>
            <a:pPr algn="l" indent="0" marL="0">
              <a:buNone/>
            </a:pPr>
            <a:r>
              <a:rPr lang="en-US" sz="1100" dirty="0">
                <a:solidFill>
                  <a:srgbClr val="F3EFF7"/>
                </a:solidFill>
                <a:latin typeface="Courier New" pitchFamily="34" charset="0"/>
                <a:ea typeface="Courier New" pitchFamily="34" charset="-122"/>
                <a:cs typeface="Courier New" pitchFamily="34" charset="-120"/>
              </a:rPr>
              <a:t>            item["price"].replace("£", "").strip()</a:t>
            </a:r>
            <a:endParaRPr lang="en-US" sz="1100" dirty="0"/>
          </a:p>
          <a:p>
            <a:pPr algn="l" indent="0" marL="0">
              <a:buNone/>
            </a:pPr>
            <a:r>
              <a:rPr lang="en-US" sz="1100" dirty="0">
                <a:solidFill>
                  <a:srgbClr val="F3EFF7"/>
                </a:solidFill>
                <a:latin typeface="Courier New" pitchFamily="34" charset="0"/>
                <a:ea typeface="Courier New" pitchFamily="34" charset="-122"/>
                <a:cs typeface="Courier New" pitchFamily="34" charset="-120"/>
              </a:rPr>
              <a:t>        )</a:t>
            </a:r>
            <a:endParaRPr lang="en-US" sz="1100" dirty="0"/>
          </a:p>
          <a:p>
            <a:pPr algn="l" indent="0" marL="0">
              <a:buNone/>
            </a:pPr>
            <a:r>
              <a:rPr lang="en-US" sz="1100" dirty="0">
                <a:solidFill>
                  <a:srgbClr val="F3EFF7"/>
                </a:solidFill>
                <a:latin typeface="Courier New" pitchFamily="34" charset="0"/>
                <a:ea typeface="Courier New" pitchFamily="34" charset="-122"/>
                <a:cs typeface="Courier New" pitchFamily="34" charset="-120"/>
              </a:rPr>
              <a:t>        return item</a:t>
            </a:r>
            <a:endParaRPr lang="en-US" sz="1100" dirty="0"/>
          </a:p>
        </p:txBody>
      </p:sp>
      <p:sp>
        <p:nvSpPr>
          <p:cNvPr id="11" name="Shape 9"/>
          <p:cNvSpPr/>
          <p:nvPr/>
        </p:nvSpPr>
        <p:spPr>
          <a:xfrm>
            <a:off x="6812280" y="1691640"/>
            <a:ext cx="4572000" cy="2103120"/>
          </a:xfrm>
          <a:prstGeom prst="roundRect">
            <a:avLst>
              <a:gd name="adj" fmla="val 1739"/>
            </a:avLst>
          </a:prstGeom>
          <a:solidFill>
            <a:srgbClr val="17141E"/>
          </a:solidFill>
          <a:ln w="12700">
            <a:solidFill>
              <a:srgbClr val="17141E"/>
            </a:solidFill>
            <a:prstDash val="solid"/>
          </a:ln>
        </p:spPr>
      </p:sp>
      <p:sp>
        <p:nvSpPr>
          <p:cNvPr id="12" name="Shape 10"/>
          <p:cNvSpPr/>
          <p:nvPr/>
        </p:nvSpPr>
        <p:spPr>
          <a:xfrm>
            <a:off x="6812280" y="1691640"/>
            <a:ext cx="4572000" cy="347472"/>
          </a:xfrm>
          <a:prstGeom prst="rect">
            <a:avLst/>
          </a:prstGeom>
          <a:solidFill>
            <a:srgbClr val="2B2633"/>
          </a:solidFill>
          <a:ln w="12700">
            <a:solidFill>
              <a:srgbClr val="2B2633"/>
            </a:solidFill>
            <a:prstDash val="solid"/>
          </a:ln>
        </p:spPr>
      </p:sp>
      <p:sp>
        <p:nvSpPr>
          <p:cNvPr id="13" name="Shape 11"/>
          <p:cNvSpPr/>
          <p:nvPr/>
        </p:nvSpPr>
        <p:spPr>
          <a:xfrm>
            <a:off x="6995160" y="1810512"/>
            <a:ext cx="73152" cy="73152"/>
          </a:xfrm>
          <a:prstGeom prst="ellipse">
            <a:avLst/>
          </a:prstGeom>
          <a:solidFill>
            <a:srgbClr val="D55E5A"/>
          </a:solidFill>
          <a:ln w="12700">
            <a:solidFill>
              <a:srgbClr val="D55E5A"/>
            </a:solidFill>
            <a:prstDash val="solid"/>
          </a:ln>
        </p:spPr>
      </p:sp>
      <p:sp>
        <p:nvSpPr>
          <p:cNvPr id="14" name="Shape 12"/>
          <p:cNvSpPr/>
          <p:nvPr/>
        </p:nvSpPr>
        <p:spPr>
          <a:xfrm>
            <a:off x="7141464" y="1810512"/>
            <a:ext cx="73152" cy="73152"/>
          </a:xfrm>
          <a:prstGeom prst="ellipse">
            <a:avLst/>
          </a:prstGeom>
          <a:solidFill>
            <a:srgbClr val="E0B24A"/>
          </a:solidFill>
          <a:ln w="12700">
            <a:solidFill>
              <a:srgbClr val="E0B24A"/>
            </a:solidFill>
            <a:prstDash val="solid"/>
          </a:ln>
        </p:spPr>
      </p:sp>
      <p:sp>
        <p:nvSpPr>
          <p:cNvPr id="15" name="Shape 13"/>
          <p:cNvSpPr/>
          <p:nvPr/>
        </p:nvSpPr>
        <p:spPr>
          <a:xfrm>
            <a:off x="7287768" y="1810512"/>
            <a:ext cx="73152" cy="73152"/>
          </a:xfrm>
          <a:prstGeom prst="ellipse">
            <a:avLst/>
          </a:prstGeom>
          <a:solidFill>
            <a:srgbClr val="7EB465"/>
          </a:solidFill>
          <a:ln w="12700">
            <a:solidFill>
              <a:srgbClr val="7EB465"/>
            </a:solidFill>
            <a:prstDash val="solid"/>
          </a:ln>
        </p:spPr>
      </p:sp>
      <p:sp>
        <p:nvSpPr>
          <p:cNvPr id="16" name="Text 14"/>
          <p:cNvSpPr/>
          <p:nvPr/>
        </p:nvSpPr>
        <p:spPr>
          <a:xfrm>
            <a:off x="10287000" y="1764792"/>
            <a:ext cx="914400" cy="137160"/>
          </a:xfrm>
          <a:prstGeom prst="rect">
            <a:avLst/>
          </a:prstGeom>
          <a:noFill/>
          <a:ln/>
        </p:spPr>
        <p:txBody>
          <a:bodyPr wrap="square" lIns="0" tIns="0" rIns="0" bIns="0" rtlCol="0" anchor="ctr">
            <a:normAutofit/>
          </a:bodyPr>
          <a:lstStyle/>
          <a:p>
            <a:pPr algn="r" indent="0" marL="0">
              <a:buNone/>
            </a:pPr>
            <a:r>
              <a:rPr lang="en-US" sz="900" dirty="0">
                <a:solidFill>
                  <a:srgbClr val="B8B3C2"/>
                </a:solidFill>
                <a:latin typeface="Aptos" pitchFamily="34" charset="0"/>
                <a:ea typeface="Aptos" pitchFamily="34" charset="-122"/>
                <a:cs typeface="Aptos" pitchFamily="34" charset="-120"/>
              </a:rPr>
              <a:t>settings.py</a:t>
            </a:r>
            <a:endParaRPr lang="en-US" sz="900" dirty="0"/>
          </a:p>
        </p:txBody>
      </p:sp>
      <p:sp>
        <p:nvSpPr>
          <p:cNvPr id="17" name="Text 15"/>
          <p:cNvSpPr/>
          <p:nvPr/>
        </p:nvSpPr>
        <p:spPr>
          <a:xfrm>
            <a:off x="7040880" y="2167128"/>
            <a:ext cx="4114800" cy="1481328"/>
          </a:xfrm>
          <a:prstGeom prst="rect">
            <a:avLst/>
          </a:prstGeom>
          <a:noFill/>
          <a:ln/>
        </p:spPr>
        <p:txBody>
          <a:bodyPr wrap="square" lIns="0" tIns="0" rIns="0" bIns="0" rtlCol="0" anchor="t">
            <a:normAutofit/>
          </a:bodyPr>
          <a:lstStyle/>
          <a:p>
            <a:pPr algn="l" indent="0" marL="0">
              <a:buNone/>
            </a:pPr>
            <a:r>
              <a:rPr lang="en-US" sz="1100" dirty="0">
                <a:solidFill>
                  <a:srgbClr val="F3EFF7"/>
                </a:solidFill>
                <a:latin typeface="Courier New" pitchFamily="34" charset="0"/>
                <a:ea typeface="Courier New" pitchFamily="34" charset="-122"/>
                <a:cs typeface="Courier New" pitchFamily="34" charset="-120"/>
              </a:rPr>
              <a:t>ITEM_PIPELINES = {</a:t>
            </a:r>
            <a:endParaRPr lang="en-US" sz="1100" dirty="0"/>
          </a:p>
          <a:p>
            <a:pPr algn="l" indent="0" marL="0">
              <a:buNone/>
            </a:pPr>
            <a:r>
              <a:rPr lang="en-US" sz="1100" dirty="0">
                <a:solidFill>
                  <a:srgbClr val="F3EFF7"/>
                </a:solidFill>
                <a:latin typeface="Courier New" pitchFamily="34" charset="0"/>
                <a:ea typeface="Courier New" pitchFamily="34" charset="-122"/>
                <a:cs typeface="Courier New" pitchFamily="34" charset="-120"/>
              </a:rPr>
              <a:t>    "catalog_scraper.pipelines.CleanBookPipeline": 300,</a:t>
            </a:r>
            <a:endParaRPr lang="en-US" sz="1100" dirty="0"/>
          </a:p>
          <a:p>
            <a:pPr algn="l" indent="0" marL="0">
              <a:buNone/>
            </a:pPr>
            <a:r>
              <a:rPr lang="en-US" sz="1100" dirty="0">
                <a:solidFill>
                  <a:srgbClr val="F3EFF7"/>
                </a:solidFill>
                <a:latin typeface="Courier New" pitchFamily="34" charset="0"/>
                <a:ea typeface="Courier New" pitchFamily="34" charset="-122"/>
                <a:cs typeface="Courier New" pitchFamily="34" charset="-120"/>
              </a:rPr>
              <a:t>}</a:t>
            </a:r>
            <a:endParaRPr lang="en-US" sz="1100" dirty="0"/>
          </a:p>
        </p:txBody>
      </p:sp>
      <p:sp>
        <p:nvSpPr>
          <p:cNvPr id="18" name="Shape 16"/>
          <p:cNvSpPr/>
          <p:nvPr/>
        </p:nvSpPr>
        <p:spPr>
          <a:xfrm>
            <a:off x="6812280" y="4005072"/>
            <a:ext cx="4572000" cy="1234440"/>
          </a:xfrm>
          <a:prstGeom prst="roundRect">
            <a:avLst>
              <a:gd name="adj" fmla="val 4444"/>
            </a:avLst>
          </a:prstGeom>
          <a:solidFill>
            <a:srgbClr val="FFFFFF"/>
          </a:solidFill>
          <a:ln w="12700">
            <a:solidFill>
              <a:srgbClr val="DDDCE6"/>
            </a:solidFill>
            <a:prstDash val="solid"/>
          </a:ln>
          <a:effectLst>
            <a:outerShdw sx="100000" sy="100000" kx="0" ky="0" algn="bl" rotWithShape="0" blurRad="19050" dist="50800" dir="2700000">
              <a:srgbClr val="D6D3DF">
                <a:alpha val="18000"/>
              </a:srgbClr>
            </a:outerShdw>
          </a:effectLst>
        </p:spPr>
      </p:sp>
      <p:sp>
        <p:nvSpPr>
          <p:cNvPr id="19" name="Shape 17"/>
          <p:cNvSpPr/>
          <p:nvPr/>
        </p:nvSpPr>
        <p:spPr>
          <a:xfrm>
            <a:off x="6812280" y="4005072"/>
            <a:ext cx="73152" cy="1234440"/>
          </a:xfrm>
          <a:prstGeom prst="rect">
            <a:avLst/>
          </a:prstGeom>
          <a:solidFill>
            <a:srgbClr val="4EA27B"/>
          </a:solidFill>
          <a:ln w="12700">
            <a:solidFill>
              <a:srgbClr val="4EA27B"/>
            </a:solidFill>
            <a:prstDash val="solid"/>
          </a:ln>
        </p:spPr>
      </p:sp>
      <p:sp>
        <p:nvSpPr>
          <p:cNvPr id="20" name="Text 18"/>
          <p:cNvSpPr/>
          <p:nvPr/>
        </p:nvSpPr>
        <p:spPr>
          <a:xfrm>
            <a:off x="7132320" y="4224528"/>
            <a:ext cx="4069080" cy="347472"/>
          </a:xfrm>
          <a:prstGeom prst="rect">
            <a:avLst/>
          </a:prstGeom>
          <a:noFill/>
          <a:ln/>
        </p:spPr>
        <p:txBody>
          <a:bodyPr wrap="square" lIns="0" tIns="0" rIns="0" bIns="0" rtlCol="0" anchor="t">
            <a:normAutofit/>
          </a:bodyPr>
          <a:lstStyle/>
          <a:p>
            <a:pPr algn="l" indent="0" marL="0">
              <a:buNone/>
            </a:pPr>
            <a:r>
              <a:rPr lang="en-US" sz="1630" b="1" dirty="0">
                <a:solidFill>
                  <a:srgbClr val="241337"/>
                </a:solidFill>
                <a:latin typeface="Aptos" pitchFamily="34" charset="0"/>
                <a:ea typeface="Aptos" pitchFamily="34" charset="-122"/>
                <a:cs typeface="Aptos" pitchFamily="34" charset="-120"/>
              </a:rPr>
              <a:t>Ordre des pipelines</a:t>
            </a:r>
            <a:endParaRPr lang="en-US" sz="1630" dirty="0"/>
          </a:p>
        </p:txBody>
      </p:sp>
      <p:sp>
        <p:nvSpPr>
          <p:cNvPr id="21" name="Text 19"/>
          <p:cNvSpPr/>
          <p:nvPr/>
        </p:nvSpPr>
        <p:spPr>
          <a:xfrm>
            <a:off x="7104888" y="4700016"/>
            <a:ext cx="4069080" cy="365760"/>
          </a:xfrm>
          <a:prstGeom prst="rect">
            <a:avLst/>
          </a:prstGeom>
          <a:noFill/>
          <a:ln/>
        </p:spPr>
        <p:txBody>
          <a:bodyPr wrap="square" lIns="0" tIns="0" rIns="0" bIns="0" rtlCol="0" anchor="t">
            <a:normAutofit/>
          </a:bodyPr>
          <a:lstStyle/>
          <a:p>
            <a:pPr algn="l" indent="0" marL="0">
              <a:buNone/>
            </a:pPr>
            <a:r>
              <a:rPr lang="en-US" sz="1230" dirty="0">
                <a:solidFill>
                  <a:srgbClr val="6F7082"/>
                </a:solidFill>
                <a:latin typeface="Aptos" pitchFamily="34" charset="0"/>
                <a:ea typeface="Aptos" pitchFamily="34" charset="-122"/>
                <a:cs typeface="Aptos" pitchFamily="34" charset="-120"/>
              </a:rPr>
              <a:t>Les nombres définissent l’ordre d’exécution : petit → grand.</a:t>
            </a:r>
            <a:endParaRPr lang="en-US" sz="1230" dirty="0"/>
          </a:p>
        </p:txBody>
      </p:sp>
      <p:sp>
        <p:nvSpPr>
          <p:cNvPr id="22" name="Text 20"/>
          <p:cNvSpPr/>
          <p:nvPr/>
        </p:nvSpPr>
        <p:spPr>
          <a:xfrm>
            <a:off x="1143000" y="5486400"/>
            <a:ext cx="9875520" cy="320040"/>
          </a:xfrm>
          <a:prstGeom prst="rect">
            <a:avLst/>
          </a:prstGeom>
          <a:noFill/>
          <a:ln/>
        </p:spPr>
        <p:txBody>
          <a:bodyPr wrap="square" lIns="0" tIns="0" rIns="0" bIns="0" rtlCol="0" anchor="ctr">
            <a:normAutofit/>
          </a:bodyPr>
          <a:lstStyle/>
          <a:p>
            <a:pPr algn="ctr" indent="0" marL="0">
              <a:buNone/>
            </a:pPr>
            <a:r>
              <a:rPr lang="en-US" sz="1600" b="1" dirty="0">
                <a:solidFill>
                  <a:srgbClr val="241337"/>
                </a:solidFill>
                <a:latin typeface="Aptos" pitchFamily="34" charset="0"/>
                <a:ea typeface="Aptos" pitchFamily="34" charset="-122"/>
                <a:cs typeface="Aptos" pitchFamily="34" charset="-120"/>
              </a:rPr>
              <a:t>Principe : le spider extrait ; le pipeline transforme.</a:t>
            </a:r>
            <a:endParaRPr lang="en-US" sz="1600" dirty="0"/>
          </a:p>
        </p:txBody>
      </p:sp>
      <p:sp>
        <p:nvSpPr>
          <p:cNvPr id="25" name="Slide Number Placeholder 0"/>
          <p:cNvSpPr>
            <a:spLocks noGrp="1"/>
          </p:cNvSpPr>
          <p:nvPr>
            <p:ph type="sldNum" sz="quarter" idx="4294967295"/>
          </p:nvPr>
        </p:nvSpPr>
        <p:spPr>
          <a:xfrm>
            <a:off x="11750040" y="274320"/>
            <a:ext cx="228600" cy="164592"/>
          </a:xfrm>
          <a:prstGeom prst="rect">
            <a:avLst/>
          </a:prstGeom>
          <a:extLst>
            <a:ext uri="{C572A759-6A51-4108-AA02-DFA0A04FC94B}">
              <ma14:wrappingTextBoxFlag xmlns:ma14="http://schemas.microsoft.com/office/mac/drawingml/2011/main" val="0"/>
            </a:ext>
          </a:extLst>
        </p:spPr>
        <p:txBody>
          <a:bodyPr/>
          <a:lstStyle>
            <a:lvl1pPr>
              <a:defRPr sz="800">
                <a:solidFill>
                  <a:srgbClr val="858697"/>
                </a:solidFill>
                <a:latin typeface="Aptos"/>
                <a:ea typeface="Aptos"/>
                <a:cs typeface="Aptos"/>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566928" y="438912"/>
            <a:ext cx="5029200" cy="228600"/>
          </a:xfrm>
          <a:prstGeom prst="rect">
            <a:avLst/>
          </a:prstGeom>
          <a:noFill/>
          <a:ln/>
        </p:spPr>
        <p:txBody>
          <a:bodyPr wrap="square" lIns="0" tIns="0" rIns="0" bIns="0" rtlCol="0" anchor="ctr">
            <a:normAutofit/>
          </a:bodyPr>
          <a:lstStyle/>
          <a:p>
            <a:pPr algn="l" indent="0" marL="0">
              <a:buNone/>
            </a:pPr>
            <a:r>
              <a:rPr lang="en-US" sz="1050" b="1" spc="150" kern="0" dirty="0">
                <a:solidFill>
                  <a:srgbClr val="7432A8"/>
                </a:solidFill>
                <a:latin typeface="Aptos" pitchFamily="34" charset="0"/>
                <a:ea typeface="Aptos" pitchFamily="34" charset="-122"/>
                <a:cs typeface="Aptos" pitchFamily="34" charset="-120"/>
              </a:rPr>
              <a:t>QUALITÉ</a:t>
            </a:r>
            <a:endParaRPr lang="en-US" sz="1050" dirty="0"/>
          </a:p>
        </p:txBody>
      </p:sp>
      <p:sp>
        <p:nvSpPr>
          <p:cNvPr id="3" name="Text 1"/>
          <p:cNvSpPr/>
          <p:nvPr/>
        </p:nvSpPr>
        <p:spPr>
          <a:xfrm>
            <a:off x="566928" y="768096"/>
            <a:ext cx="10972800" cy="566928"/>
          </a:xfrm>
          <a:prstGeom prst="rect">
            <a:avLst/>
          </a:prstGeom>
          <a:noFill/>
          <a:ln/>
        </p:spPr>
        <p:txBody>
          <a:bodyPr wrap="square" lIns="0" tIns="0" rIns="0" bIns="0" rtlCol="0" anchor="t">
            <a:normAutofit/>
          </a:bodyPr>
          <a:lstStyle/>
          <a:p>
            <a:pPr algn="l" indent="0" marL="0">
              <a:buNone/>
            </a:pPr>
            <a:r>
              <a:rPr lang="en-US" sz="2800" b="1" dirty="0">
                <a:solidFill>
                  <a:srgbClr val="241337"/>
                </a:solidFill>
                <a:latin typeface="Aptos" pitchFamily="34" charset="0"/>
                <a:ea typeface="Aptos" pitchFamily="34" charset="-122"/>
                <a:cs typeface="Aptos" pitchFamily="34" charset="-120"/>
              </a:rPr>
              <a:t>Valider et dédupliquer avant de livrer</a:t>
            </a:r>
            <a:endParaRPr lang="en-US" sz="2800" dirty="0"/>
          </a:p>
        </p:txBody>
      </p:sp>
      <p:sp>
        <p:nvSpPr>
          <p:cNvPr id="4" name="Shape 2"/>
          <p:cNvSpPr/>
          <p:nvPr/>
        </p:nvSpPr>
        <p:spPr>
          <a:xfrm>
            <a:off x="685800" y="1783080"/>
            <a:ext cx="3429000" cy="3246120"/>
          </a:xfrm>
          <a:prstGeom prst="roundRect">
            <a:avLst>
              <a:gd name="adj" fmla="val 1690"/>
            </a:avLst>
          </a:prstGeom>
          <a:solidFill>
            <a:srgbClr val="FFFFFF"/>
          </a:solidFill>
          <a:ln w="12700">
            <a:solidFill>
              <a:srgbClr val="DDDCE6"/>
            </a:solidFill>
            <a:prstDash val="solid"/>
          </a:ln>
          <a:effectLst>
            <a:outerShdw sx="100000" sy="100000" kx="0" ky="0" algn="bl" rotWithShape="0" blurRad="19050" dist="50800" dir="2700000">
              <a:srgbClr val="D6D3DF">
                <a:alpha val="18000"/>
              </a:srgbClr>
            </a:outerShdw>
          </a:effectLst>
        </p:spPr>
      </p:sp>
      <p:sp>
        <p:nvSpPr>
          <p:cNvPr id="5" name="Shape 3"/>
          <p:cNvSpPr/>
          <p:nvPr/>
        </p:nvSpPr>
        <p:spPr>
          <a:xfrm>
            <a:off x="685800" y="1783080"/>
            <a:ext cx="73152" cy="3246120"/>
          </a:xfrm>
          <a:prstGeom prst="rect">
            <a:avLst/>
          </a:prstGeom>
          <a:solidFill>
            <a:srgbClr val="D55E5A"/>
          </a:solidFill>
          <a:ln w="12700">
            <a:solidFill>
              <a:srgbClr val="D55E5A"/>
            </a:solidFill>
            <a:prstDash val="solid"/>
          </a:ln>
        </p:spPr>
      </p:sp>
      <p:sp>
        <p:nvSpPr>
          <p:cNvPr id="6" name="Text 4"/>
          <p:cNvSpPr/>
          <p:nvPr/>
        </p:nvSpPr>
        <p:spPr>
          <a:xfrm>
            <a:off x="1005840" y="2002536"/>
            <a:ext cx="2926080" cy="347472"/>
          </a:xfrm>
          <a:prstGeom prst="rect">
            <a:avLst/>
          </a:prstGeom>
          <a:noFill/>
          <a:ln/>
        </p:spPr>
        <p:txBody>
          <a:bodyPr wrap="square" lIns="0" tIns="0" rIns="0" bIns="0" rtlCol="0" anchor="t">
            <a:normAutofit/>
          </a:bodyPr>
          <a:lstStyle/>
          <a:p>
            <a:pPr algn="l" indent="0" marL="0">
              <a:buNone/>
            </a:pPr>
            <a:r>
              <a:rPr lang="en-US" sz="1630" b="1" dirty="0">
                <a:solidFill>
                  <a:srgbClr val="241337"/>
                </a:solidFill>
                <a:latin typeface="Aptos" pitchFamily="34" charset="0"/>
                <a:ea typeface="Aptos" pitchFamily="34" charset="-122"/>
                <a:cs typeface="Aptos" pitchFamily="34" charset="-120"/>
              </a:rPr>
              <a:t>Validation</a:t>
            </a:r>
            <a:endParaRPr lang="en-US" sz="1630" dirty="0"/>
          </a:p>
        </p:txBody>
      </p:sp>
      <p:sp>
        <p:nvSpPr>
          <p:cNvPr id="7" name="Text 5"/>
          <p:cNvSpPr/>
          <p:nvPr/>
        </p:nvSpPr>
        <p:spPr>
          <a:xfrm>
            <a:off x="978408" y="2478024"/>
            <a:ext cx="2926080" cy="2377440"/>
          </a:xfrm>
          <a:prstGeom prst="rect">
            <a:avLst/>
          </a:prstGeom>
          <a:noFill/>
          <a:ln/>
        </p:spPr>
        <p:txBody>
          <a:bodyPr wrap="square" lIns="0" tIns="0" rIns="0" bIns="0" rtlCol="0" anchor="t">
            <a:normAutofit/>
          </a:bodyPr>
          <a:lstStyle/>
          <a:p>
            <a:pPr algn="l" indent="0" marL="0">
              <a:buNone/>
            </a:pPr>
            <a:r>
              <a:rPr lang="en-US" sz="1230" dirty="0">
                <a:solidFill>
                  <a:srgbClr val="6F7082"/>
                </a:solidFill>
                <a:latin typeface="Aptos" pitchFamily="34" charset="0"/>
                <a:ea typeface="Aptos" pitchFamily="34" charset="-122"/>
                <a:cs typeface="Aptos" pitchFamily="34" charset="-120"/>
              </a:rPr>
              <a:t>Rejeter ou signaler :</a:t>
            </a:r>
            <a:endParaRPr lang="en-US" sz="1230" dirty="0"/>
          </a:p>
          <a:p>
            <a:pPr algn="l" indent="0" marL="0">
              <a:buNone/>
            </a:pPr>
            <a:endParaRPr lang="en-US" sz="1230" dirty="0"/>
          </a:p>
          <a:p>
            <a:pPr algn="l" indent="0" marL="0">
              <a:buNone/>
            </a:pPr>
            <a:r>
              <a:rPr lang="en-US" sz="1230" dirty="0">
                <a:solidFill>
                  <a:srgbClr val="6F7082"/>
                </a:solidFill>
                <a:latin typeface="Aptos" pitchFamily="34" charset="0"/>
                <a:ea typeface="Aptos" pitchFamily="34" charset="-122"/>
                <a:cs typeface="Aptos" pitchFamily="34" charset="-120"/>
              </a:rPr>
              <a:t>• prix absent</a:t>
            </a:r>
            <a:endParaRPr lang="en-US" sz="1230" dirty="0"/>
          </a:p>
          <a:p>
            <a:pPr algn="l" indent="0" marL="0">
              <a:buNone/>
            </a:pPr>
            <a:r>
              <a:rPr lang="en-US" sz="1230" dirty="0">
                <a:solidFill>
                  <a:srgbClr val="6F7082"/>
                </a:solidFill>
                <a:latin typeface="Aptos" pitchFamily="34" charset="0"/>
                <a:ea typeface="Aptos" pitchFamily="34" charset="-122"/>
                <a:cs typeface="Aptos" pitchFamily="34" charset="-120"/>
              </a:rPr>
              <a:t>• URL invalide</a:t>
            </a:r>
            <a:endParaRPr lang="en-US" sz="1230" dirty="0"/>
          </a:p>
          <a:p>
            <a:pPr algn="l" indent="0" marL="0">
              <a:buNone/>
            </a:pPr>
            <a:r>
              <a:rPr lang="en-US" sz="1230" dirty="0">
                <a:solidFill>
                  <a:srgbClr val="6F7082"/>
                </a:solidFill>
                <a:latin typeface="Aptos" pitchFamily="34" charset="0"/>
                <a:ea typeface="Aptos" pitchFamily="34" charset="-122"/>
                <a:cs typeface="Aptos" pitchFamily="34" charset="-120"/>
              </a:rPr>
              <a:t>• titre vide</a:t>
            </a:r>
            <a:endParaRPr lang="en-US" sz="1230" dirty="0"/>
          </a:p>
          <a:p>
            <a:pPr algn="l" indent="0" marL="0">
              <a:buNone/>
            </a:pPr>
            <a:r>
              <a:rPr lang="en-US" sz="1230" dirty="0">
                <a:solidFill>
                  <a:srgbClr val="6F7082"/>
                </a:solidFill>
                <a:latin typeface="Aptos" pitchFamily="34" charset="0"/>
                <a:ea typeface="Aptos" pitchFamily="34" charset="-122"/>
                <a:cs typeface="Aptos" pitchFamily="34" charset="-120"/>
              </a:rPr>
              <a:t>• valeur impossible</a:t>
            </a:r>
            <a:endParaRPr lang="en-US" sz="1230" dirty="0"/>
          </a:p>
          <a:p>
            <a:pPr algn="l" indent="0" marL="0">
              <a:buNone/>
            </a:pPr>
            <a:r>
              <a:rPr lang="en-US" sz="1230" dirty="0">
                <a:solidFill>
                  <a:srgbClr val="6F7082"/>
                </a:solidFill>
                <a:latin typeface="Aptos" pitchFamily="34" charset="0"/>
                <a:ea typeface="Aptos" pitchFamily="34" charset="-122"/>
                <a:cs typeface="Aptos" pitchFamily="34" charset="-120"/>
              </a:rPr>
              <a:t>• type inattendu</a:t>
            </a:r>
            <a:endParaRPr lang="en-US" sz="1230" dirty="0"/>
          </a:p>
        </p:txBody>
      </p:sp>
      <p:sp>
        <p:nvSpPr>
          <p:cNvPr id="8" name="Shape 6"/>
          <p:cNvSpPr/>
          <p:nvPr/>
        </p:nvSpPr>
        <p:spPr>
          <a:xfrm>
            <a:off x="4370832" y="1783080"/>
            <a:ext cx="3429000" cy="3246120"/>
          </a:xfrm>
          <a:prstGeom prst="roundRect">
            <a:avLst>
              <a:gd name="adj" fmla="val 1690"/>
            </a:avLst>
          </a:prstGeom>
          <a:solidFill>
            <a:srgbClr val="FFFFFF"/>
          </a:solidFill>
          <a:ln w="12700">
            <a:solidFill>
              <a:srgbClr val="DDDCE6"/>
            </a:solidFill>
            <a:prstDash val="solid"/>
          </a:ln>
          <a:effectLst>
            <a:outerShdw sx="100000" sy="100000" kx="0" ky="0" algn="bl" rotWithShape="0" blurRad="19050" dist="50800" dir="2700000">
              <a:srgbClr val="D6D3DF">
                <a:alpha val="18000"/>
              </a:srgbClr>
            </a:outerShdw>
          </a:effectLst>
        </p:spPr>
      </p:sp>
      <p:sp>
        <p:nvSpPr>
          <p:cNvPr id="9" name="Shape 7"/>
          <p:cNvSpPr/>
          <p:nvPr/>
        </p:nvSpPr>
        <p:spPr>
          <a:xfrm>
            <a:off x="4370832" y="1783080"/>
            <a:ext cx="73152" cy="3246120"/>
          </a:xfrm>
          <a:prstGeom prst="rect">
            <a:avLst/>
          </a:prstGeom>
          <a:solidFill>
            <a:srgbClr val="DB8129"/>
          </a:solidFill>
          <a:ln w="12700">
            <a:solidFill>
              <a:srgbClr val="DB8129"/>
            </a:solidFill>
            <a:prstDash val="solid"/>
          </a:ln>
        </p:spPr>
      </p:sp>
      <p:sp>
        <p:nvSpPr>
          <p:cNvPr id="10" name="Text 8"/>
          <p:cNvSpPr/>
          <p:nvPr/>
        </p:nvSpPr>
        <p:spPr>
          <a:xfrm>
            <a:off x="4690872" y="2002536"/>
            <a:ext cx="2926080" cy="347472"/>
          </a:xfrm>
          <a:prstGeom prst="rect">
            <a:avLst/>
          </a:prstGeom>
          <a:noFill/>
          <a:ln/>
        </p:spPr>
        <p:txBody>
          <a:bodyPr wrap="square" lIns="0" tIns="0" rIns="0" bIns="0" rtlCol="0" anchor="t">
            <a:normAutofit/>
          </a:bodyPr>
          <a:lstStyle/>
          <a:p>
            <a:pPr algn="l" indent="0" marL="0">
              <a:buNone/>
            </a:pPr>
            <a:r>
              <a:rPr lang="en-US" sz="1630" b="1" dirty="0">
                <a:solidFill>
                  <a:srgbClr val="241337"/>
                </a:solidFill>
                <a:latin typeface="Aptos" pitchFamily="34" charset="0"/>
                <a:ea typeface="Aptos" pitchFamily="34" charset="-122"/>
                <a:cs typeface="Aptos" pitchFamily="34" charset="-120"/>
              </a:rPr>
              <a:t>Déduplication</a:t>
            </a:r>
            <a:endParaRPr lang="en-US" sz="1630" dirty="0"/>
          </a:p>
        </p:txBody>
      </p:sp>
      <p:sp>
        <p:nvSpPr>
          <p:cNvPr id="11" name="Text 9"/>
          <p:cNvSpPr/>
          <p:nvPr/>
        </p:nvSpPr>
        <p:spPr>
          <a:xfrm>
            <a:off x="4663440" y="2478024"/>
            <a:ext cx="2926080" cy="2377440"/>
          </a:xfrm>
          <a:prstGeom prst="rect">
            <a:avLst/>
          </a:prstGeom>
          <a:noFill/>
          <a:ln/>
        </p:spPr>
        <p:txBody>
          <a:bodyPr wrap="square" lIns="0" tIns="0" rIns="0" bIns="0" rtlCol="0" anchor="t">
            <a:normAutofit/>
          </a:bodyPr>
          <a:lstStyle/>
          <a:p>
            <a:pPr algn="l" indent="0" marL="0">
              <a:buNone/>
            </a:pPr>
            <a:r>
              <a:rPr lang="en-US" sz="1230" dirty="0">
                <a:solidFill>
                  <a:srgbClr val="6F7082"/>
                </a:solidFill>
                <a:latin typeface="Aptos" pitchFamily="34" charset="0"/>
                <a:ea typeface="Aptos" pitchFamily="34" charset="-122"/>
                <a:cs typeface="Aptos" pitchFamily="34" charset="-120"/>
              </a:rPr>
              <a:t>Construire une clé stable :</a:t>
            </a:r>
            <a:endParaRPr lang="en-US" sz="1230" dirty="0"/>
          </a:p>
          <a:p>
            <a:pPr algn="l" indent="0" marL="0">
              <a:buNone/>
            </a:pPr>
            <a:endParaRPr lang="en-US" sz="1230" dirty="0"/>
          </a:p>
          <a:p>
            <a:pPr algn="l" indent="0" marL="0">
              <a:buNone/>
            </a:pPr>
            <a:r>
              <a:rPr lang="en-US" sz="1230" dirty="0">
                <a:solidFill>
                  <a:srgbClr val="6F7082"/>
                </a:solidFill>
                <a:latin typeface="Aptos" pitchFamily="34" charset="0"/>
                <a:ea typeface="Aptos" pitchFamily="34" charset="-122"/>
                <a:cs typeface="Aptos" pitchFamily="34" charset="-120"/>
              </a:rPr>
              <a:t>• SKU</a:t>
            </a:r>
            <a:endParaRPr lang="en-US" sz="1230" dirty="0"/>
          </a:p>
          <a:p>
            <a:pPr algn="l" indent="0" marL="0">
              <a:buNone/>
            </a:pPr>
            <a:r>
              <a:rPr lang="en-US" sz="1230" dirty="0">
                <a:solidFill>
                  <a:srgbClr val="6F7082"/>
                </a:solidFill>
                <a:latin typeface="Aptos" pitchFamily="34" charset="0"/>
                <a:ea typeface="Aptos" pitchFamily="34" charset="-122"/>
                <a:cs typeface="Aptos" pitchFamily="34" charset="-120"/>
              </a:rPr>
              <a:t>• URL canonique</a:t>
            </a:r>
            <a:endParaRPr lang="en-US" sz="1230" dirty="0"/>
          </a:p>
          <a:p>
            <a:pPr algn="l" indent="0" marL="0">
              <a:buNone/>
            </a:pPr>
            <a:r>
              <a:rPr lang="en-US" sz="1230" dirty="0">
                <a:solidFill>
                  <a:srgbClr val="6F7082"/>
                </a:solidFill>
                <a:latin typeface="Aptos" pitchFamily="34" charset="0"/>
                <a:ea typeface="Aptos" pitchFamily="34" charset="-122"/>
                <a:cs typeface="Aptos" pitchFamily="34" charset="-120"/>
              </a:rPr>
              <a:t>• identifiant source</a:t>
            </a:r>
            <a:endParaRPr lang="en-US" sz="1230" dirty="0"/>
          </a:p>
          <a:p>
            <a:pPr algn="l" indent="0" marL="0">
              <a:buNone/>
            </a:pPr>
            <a:r>
              <a:rPr lang="en-US" sz="1230" dirty="0">
                <a:solidFill>
                  <a:srgbClr val="6F7082"/>
                </a:solidFill>
                <a:latin typeface="Aptos" pitchFamily="34" charset="0"/>
                <a:ea typeface="Aptos" pitchFamily="34" charset="-122"/>
                <a:cs typeface="Aptos" pitchFamily="34" charset="-120"/>
              </a:rPr>
              <a:t>• hash de champs métier</a:t>
            </a:r>
            <a:endParaRPr lang="en-US" sz="1230" dirty="0"/>
          </a:p>
        </p:txBody>
      </p:sp>
      <p:sp>
        <p:nvSpPr>
          <p:cNvPr id="12" name="Shape 10"/>
          <p:cNvSpPr/>
          <p:nvPr/>
        </p:nvSpPr>
        <p:spPr>
          <a:xfrm>
            <a:off x="8046720" y="1783080"/>
            <a:ext cx="3429000" cy="3246120"/>
          </a:xfrm>
          <a:prstGeom prst="roundRect">
            <a:avLst>
              <a:gd name="adj" fmla="val 1690"/>
            </a:avLst>
          </a:prstGeom>
          <a:solidFill>
            <a:srgbClr val="FFFFFF"/>
          </a:solidFill>
          <a:ln w="12700">
            <a:solidFill>
              <a:srgbClr val="DDDCE6"/>
            </a:solidFill>
            <a:prstDash val="solid"/>
          </a:ln>
          <a:effectLst>
            <a:outerShdw sx="100000" sy="100000" kx="0" ky="0" algn="bl" rotWithShape="0" blurRad="19050" dist="50800" dir="2700000">
              <a:srgbClr val="D6D3DF">
                <a:alpha val="18000"/>
              </a:srgbClr>
            </a:outerShdw>
          </a:effectLst>
        </p:spPr>
      </p:sp>
      <p:sp>
        <p:nvSpPr>
          <p:cNvPr id="13" name="Shape 11"/>
          <p:cNvSpPr/>
          <p:nvPr/>
        </p:nvSpPr>
        <p:spPr>
          <a:xfrm>
            <a:off x="8046720" y="1783080"/>
            <a:ext cx="73152" cy="3246120"/>
          </a:xfrm>
          <a:prstGeom prst="rect">
            <a:avLst/>
          </a:prstGeom>
          <a:solidFill>
            <a:srgbClr val="4EA27B"/>
          </a:solidFill>
          <a:ln w="12700">
            <a:solidFill>
              <a:srgbClr val="4EA27B"/>
            </a:solidFill>
            <a:prstDash val="solid"/>
          </a:ln>
        </p:spPr>
      </p:sp>
      <p:sp>
        <p:nvSpPr>
          <p:cNvPr id="14" name="Text 12"/>
          <p:cNvSpPr/>
          <p:nvPr/>
        </p:nvSpPr>
        <p:spPr>
          <a:xfrm>
            <a:off x="8366760" y="2002536"/>
            <a:ext cx="2926080" cy="347472"/>
          </a:xfrm>
          <a:prstGeom prst="rect">
            <a:avLst/>
          </a:prstGeom>
          <a:noFill/>
          <a:ln/>
        </p:spPr>
        <p:txBody>
          <a:bodyPr wrap="square" lIns="0" tIns="0" rIns="0" bIns="0" rtlCol="0" anchor="t">
            <a:normAutofit/>
          </a:bodyPr>
          <a:lstStyle/>
          <a:p>
            <a:pPr algn="l" indent="0" marL="0">
              <a:buNone/>
            </a:pPr>
            <a:r>
              <a:rPr lang="en-US" sz="1630" b="1" dirty="0">
                <a:solidFill>
                  <a:srgbClr val="241337"/>
                </a:solidFill>
                <a:latin typeface="Aptos" pitchFamily="34" charset="0"/>
                <a:ea typeface="Aptos" pitchFamily="34" charset="-122"/>
                <a:cs typeface="Aptos" pitchFamily="34" charset="-120"/>
              </a:rPr>
              <a:t>Traçabilité</a:t>
            </a:r>
            <a:endParaRPr lang="en-US" sz="1630" dirty="0"/>
          </a:p>
        </p:txBody>
      </p:sp>
      <p:sp>
        <p:nvSpPr>
          <p:cNvPr id="15" name="Text 13"/>
          <p:cNvSpPr/>
          <p:nvPr/>
        </p:nvSpPr>
        <p:spPr>
          <a:xfrm>
            <a:off x="8339328" y="2478024"/>
            <a:ext cx="2926080" cy="2377440"/>
          </a:xfrm>
          <a:prstGeom prst="rect">
            <a:avLst/>
          </a:prstGeom>
          <a:noFill/>
          <a:ln/>
        </p:spPr>
        <p:txBody>
          <a:bodyPr wrap="square" lIns="0" tIns="0" rIns="0" bIns="0" rtlCol="0" anchor="t">
            <a:normAutofit/>
          </a:bodyPr>
          <a:lstStyle/>
          <a:p>
            <a:pPr algn="l" indent="0" marL="0">
              <a:buNone/>
            </a:pPr>
            <a:r>
              <a:rPr lang="en-US" sz="1230" dirty="0">
                <a:solidFill>
                  <a:srgbClr val="6F7082"/>
                </a:solidFill>
                <a:latin typeface="Aptos" pitchFamily="34" charset="0"/>
                <a:ea typeface="Aptos" pitchFamily="34" charset="-122"/>
                <a:cs typeface="Aptos" pitchFamily="34" charset="-120"/>
              </a:rPr>
              <a:t>Conserver si utile :</a:t>
            </a:r>
            <a:endParaRPr lang="en-US" sz="1230" dirty="0"/>
          </a:p>
          <a:p>
            <a:pPr algn="l" indent="0" marL="0">
              <a:buNone/>
            </a:pPr>
            <a:endParaRPr lang="en-US" sz="1230" dirty="0"/>
          </a:p>
          <a:p>
            <a:pPr algn="l" indent="0" marL="0">
              <a:buNone/>
            </a:pPr>
            <a:r>
              <a:rPr lang="en-US" sz="1230" dirty="0">
                <a:solidFill>
                  <a:srgbClr val="6F7082"/>
                </a:solidFill>
                <a:latin typeface="Aptos" pitchFamily="34" charset="0"/>
                <a:ea typeface="Aptos" pitchFamily="34" charset="-122"/>
                <a:cs typeface="Aptos" pitchFamily="34" charset="-120"/>
              </a:rPr>
              <a:t>• source_url</a:t>
            </a:r>
            <a:endParaRPr lang="en-US" sz="1230" dirty="0"/>
          </a:p>
          <a:p>
            <a:pPr algn="l" indent="0" marL="0">
              <a:buNone/>
            </a:pPr>
            <a:r>
              <a:rPr lang="en-US" sz="1230" dirty="0">
                <a:solidFill>
                  <a:srgbClr val="6F7082"/>
                </a:solidFill>
                <a:latin typeface="Aptos" pitchFamily="34" charset="0"/>
                <a:ea typeface="Aptos" pitchFamily="34" charset="-122"/>
                <a:cs typeface="Aptos" pitchFamily="34" charset="-120"/>
              </a:rPr>
              <a:t>• scraped_at</a:t>
            </a:r>
            <a:endParaRPr lang="en-US" sz="1230" dirty="0"/>
          </a:p>
          <a:p>
            <a:pPr algn="l" indent="0" marL="0">
              <a:buNone/>
            </a:pPr>
            <a:r>
              <a:rPr lang="en-US" sz="1230" dirty="0">
                <a:solidFill>
                  <a:srgbClr val="6F7082"/>
                </a:solidFill>
                <a:latin typeface="Aptos" pitchFamily="34" charset="0"/>
                <a:ea typeface="Aptos" pitchFamily="34" charset="-122"/>
                <a:cs typeface="Aptos" pitchFamily="34" charset="-120"/>
              </a:rPr>
              <a:t>• spider/version</a:t>
            </a:r>
            <a:endParaRPr lang="en-US" sz="1230" dirty="0"/>
          </a:p>
          <a:p>
            <a:pPr algn="l" indent="0" marL="0">
              <a:buNone/>
            </a:pPr>
            <a:r>
              <a:rPr lang="en-US" sz="1230" dirty="0">
                <a:solidFill>
                  <a:srgbClr val="6F7082"/>
                </a:solidFill>
                <a:latin typeface="Aptos" pitchFamily="34" charset="0"/>
                <a:ea typeface="Aptos" pitchFamily="34" charset="-122"/>
                <a:cs typeface="Aptos" pitchFamily="34" charset="-120"/>
              </a:rPr>
              <a:t>• statut / erreur de parsing</a:t>
            </a:r>
            <a:endParaRPr lang="en-US" sz="1230" dirty="0"/>
          </a:p>
        </p:txBody>
      </p:sp>
      <p:sp>
        <p:nvSpPr>
          <p:cNvPr id="16" name="Text 14"/>
          <p:cNvSpPr/>
          <p:nvPr/>
        </p:nvSpPr>
        <p:spPr>
          <a:xfrm>
            <a:off x="1508760" y="5440680"/>
            <a:ext cx="9235440" cy="320040"/>
          </a:xfrm>
          <a:prstGeom prst="rect">
            <a:avLst/>
          </a:prstGeom>
          <a:noFill/>
          <a:ln/>
        </p:spPr>
        <p:txBody>
          <a:bodyPr wrap="square" lIns="0" tIns="0" rIns="0" bIns="0" rtlCol="0" anchor="ctr">
            <a:normAutofit/>
          </a:bodyPr>
          <a:lstStyle/>
          <a:p>
            <a:pPr algn="ctr" indent="0" marL="0">
              <a:buNone/>
            </a:pPr>
            <a:r>
              <a:rPr lang="en-US" sz="1600" b="1" dirty="0">
                <a:solidFill>
                  <a:srgbClr val="241337"/>
                </a:solidFill>
                <a:latin typeface="Aptos" pitchFamily="34" charset="0"/>
                <a:ea typeface="Aptos" pitchFamily="34" charset="-122"/>
                <a:cs typeface="Aptos" pitchFamily="34" charset="-120"/>
              </a:rPr>
              <a:t>Un dataset “rempli” n’est pas forcément un dataset exploitable.</a:t>
            </a:r>
            <a:endParaRPr lang="en-US" sz="1600" dirty="0"/>
          </a:p>
        </p:txBody>
      </p:sp>
      <p:sp>
        <p:nvSpPr>
          <p:cNvPr id="25" name="Slide Number Placeholder 0"/>
          <p:cNvSpPr>
            <a:spLocks noGrp="1"/>
          </p:cNvSpPr>
          <p:nvPr>
            <p:ph type="sldNum" sz="quarter" idx="4294967295"/>
          </p:nvPr>
        </p:nvSpPr>
        <p:spPr>
          <a:xfrm>
            <a:off x="11750040" y="274320"/>
            <a:ext cx="228600" cy="164592"/>
          </a:xfrm>
          <a:prstGeom prst="rect">
            <a:avLst/>
          </a:prstGeom>
          <a:extLst>
            <a:ext uri="{C572A759-6A51-4108-AA02-DFA0A04FC94B}">
              <ma14:wrappingTextBoxFlag xmlns:ma14="http://schemas.microsoft.com/office/mac/drawingml/2011/main" val="0"/>
            </a:ext>
          </a:extLst>
        </p:spPr>
        <p:txBody>
          <a:bodyPr/>
          <a:lstStyle>
            <a:lvl1pPr>
              <a:defRPr sz="800">
                <a:solidFill>
                  <a:srgbClr val="858697"/>
                </a:solidFill>
                <a:latin typeface="Aptos"/>
                <a:ea typeface="Aptos"/>
                <a:cs typeface="Aptos"/>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566928" y="438912"/>
            <a:ext cx="5029200" cy="228600"/>
          </a:xfrm>
          <a:prstGeom prst="rect">
            <a:avLst/>
          </a:prstGeom>
          <a:noFill/>
          <a:ln/>
        </p:spPr>
        <p:txBody>
          <a:bodyPr wrap="square" lIns="0" tIns="0" rIns="0" bIns="0" rtlCol="0" anchor="ctr">
            <a:normAutofit/>
          </a:bodyPr>
          <a:lstStyle/>
          <a:p>
            <a:pPr algn="l" indent="0" marL="0">
              <a:buNone/>
            </a:pPr>
            <a:r>
              <a:rPr lang="en-US" sz="1050" b="1" spc="150" kern="0" dirty="0">
                <a:solidFill>
                  <a:srgbClr val="7432A8"/>
                </a:solidFill>
                <a:latin typeface="Aptos" pitchFamily="34" charset="0"/>
                <a:ea typeface="Aptos" pitchFamily="34" charset="-122"/>
                <a:cs typeface="Aptos" pitchFamily="34" charset="-120"/>
              </a:rPr>
              <a:t>LIVRAISON</a:t>
            </a:r>
            <a:endParaRPr lang="en-US" sz="1050" dirty="0"/>
          </a:p>
        </p:txBody>
      </p:sp>
      <p:sp>
        <p:nvSpPr>
          <p:cNvPr id="3" name="Text 1"/>
          <p:cNvSpPr/>
          <p:nvPr/>
        </p:nvSpPr>
        <p:spPr>
          <a:xfrm>
            <a:off x="566928" y="768096"/>
            <a:ext cx="10972800" cy="566928"/>
          </a:xfrm>
          <a:prstGeom prst="rect">
            <a:avLst/>
          </a:prstGeom>
          <a:noFill/>
          <a:ln/>
        </p:spPr>
        <p:txBody>
          <a:bodyPr wrap="square" lIns="0" tIns="0" rIns="0" bIns="0" rtlCol="0" anchor="t">
            <a:normAutofit/>
          </a:bodyPr>
          <a:lstStyle/>
          <a:p>
            <a:pPr algn="l" indent="0" marL="0">
              <a:buNone/>
            </a:pPr>
            <a:r>
              <a:rPr lang="en-US" sz="2800" b="1" dirty="0">
                <a:solidFill>
                  <a:srgbClr val="241337"/>
                </a:solidFill>
                <a:latin typeface="Aptos" pitchFamily="34" charset="0"/>
                <a:ea typeface="Aptos" pitchFamily="34" charset="-122"/>
                <a:cs typeface="Aptos" pitchFamily="34" charset="-120"/>
              </a:rPr>
              <a:t>Feed exports : JSON / CSV sans pipeline dédié</a:t>
            </a:r>
            <a:endParaRPr lang="en-US" sz="2800" dirty="0"/>
          </a:p>
        </p:txBody>
      </p:sp>
      <p:sp>
        <p:nvSpPr>
          <p:cNvPr id="4" name="Shape 2"/>
          <p:cNvSpPr/>
          <p:nvPr/>
        </p:nvSpPr>
        <p:spPr>
          <a:xfrm>
            <a:off x="685800" y="1691640"/>
            <a:ext cx="5486400" cy="3017520"/>
          </a:xfrm>
          <a:prstGeom prst="roundRect">
            <a:avLst>
              <a:gd name="adj" fmla="val 1212"/>
            </a:avLst>
          </a:prstGeom>
          <a:solidFill>
            <a:srgbClr val="17141E"/>
          </a:solidFill>
          <a:ln w="12700">
            <a:solidFill>
              <a:srgbClr val="17141E"/>
            </a:solidFill>
            <a:prstDash val="solid"/>
          </a:ln>
        </p:spPr>
      </p:sp>
      <p:sp>
        <p:nvSpPr>
          <p:cNvPr id="5" name="Shape 3"/>
          <p:cNvSpPr/>
          <p:nvPr/>
        </p:nvSpPr>
        <p:spPr>
          <a:xfrm>
            <a:off x="685800" y="1691640"/>
            <a:ext cx="5486400" cy="347472"/>
          </a:xfrm>
          <a:prstGeom prst="rect">
            <a:avLst/>
          </a:prstGeom>
          <a:solidFill>
            <a:srgbClr val="2B2633"/>
          </a:solidFill>
          <a:ln w="12700">
            <a:solidFill>
              <a:srgbClr val="2B2633"/>
            </a:solidFill>
            <a:prstDash val="solid"/>
          </a:ln>
        </p:spPr>
      </p:sp>
      <p:sp>
        <p:nvSpPr>
          <p:cNvPr id="6" name="Shape 4"/>
          <p:cNvSpPr/>
          <p:nvPr/>
        </p:nvSpPr>
        <p:spPr>
          <a:xfrm>
            <a:off x="868680" y="1810512"/>
            <a:ext cx="73152" cy="73152"/>
          </a:xfrm>
          <a:prstGeom prst="ellipse">
            <a:avLst/>
          </a:prstGeom>
          <a:solidFill>
            <a:srgbClr val="D55E5A"/>
          </a:solidFill>
          <a:ln w="12700">
            <a:solidFill>
              <a:srgbClr val="D55E5A"/>
            </a:solidFill>
            <a:prstDash val="solid"/>
          </a:ln>
        </p:spPr>
      </p:sp>
      <p:sp>
        <p:nvSpPr>
          <p:cNvPr id="7" name="Shape 5"/>
          <p:cNvSpPr/>
          <p:nvPr/>
        </p:nvSpPr>
        <p:spPr>
          <a:xfrm>
            <a:off x="1014984" y="1810512"/>
            <a:ext cx="73152" cy="73152"/>
          </a:xfrm>
          <a:prstGeom prst="ellipse">
            <a:avLst/>
          </a:prstGeom>
          <a:solidFill>
            <a:srgbClr val="E0B24A"/>
          </a:solidFill>
          <a:ln w="12700">
            <a:solidFill>
              <a:srgbClr val="E0B24A"/>
            </a:solidFill>
            <a:prstDash val="solid"/>
          </a:ln>
        </p:spPr>
      </p:sp>
      <p:sp>
        <p:nvSpPr>
          <p:cNvPr id="8" name="Shape 6"/>
          <p:cNvSpPr/>
          <p:nvPr/>
        </p:nvSpPr>
        <p:spPr>
          <a:xfrm>
            <a:off x="1161288" y="1810512"/>
            <a:ext cx="73152" cy="73152"/>
          </a:xfrm>
          <a:prstGeom prst="ellipse">
            <a:avLst/>
          </a:prstGeom>
          <a:solidFill>
            <a:srgbClr val="7EB465"/>
          </a:solidFill>
          <a:ln w="12700">
            <a:solidFill>
              <a:srgbClr val="7EB465"/>
            </a:solidFill>
            <a:prstDash val="solid"/>
          </a:ln>
        </p:spPr>
      </p:sp>
      <p:sp>
        <p:nvSpPr>
          <p:cNvPr id="9" name="Text 7"/>
          <p:cNvSpPr/>
          <p:nvPr/>
        </p:nvSpPr>
        <p:spPr>
          <a:xfrm>
            <a:off x="5074920" y="1764792"/>
            <a:ext cx="914400" cy="137160"/>
          </a:xfrm>
          <a:prstGeom prst="rect">
            <a:avLst/>
          </a:prstGeom>
          <a:noFill/>
          <a:ln/>
        </p:spPr>
        <p:txBody>
          <a:bodyPr wrap="square" lIns="0" tIns="0" rIns="0" bIns="0" rtlCol="0" anchor="ctr">
            <a:normAutofit/>
          </a:bodyPr>
          <a:lstStyle/>
          <a:p>
            <a:pPr algn="r" indent="0" marL="0">
              <a:buNone/>
            </a:pPr>
            <a:r>
              <a:rPr lang="en-US" sz="900" dirty="0">
                <a:solidFill>
                  <a:srgbClr val="B8B3C2"/>
                </a:solidFill>
                <a:latin typeface="Aptos" pitchFamily="34" charset="0"/>
                <a:ea typeface="Aptos" pitchFamily="34" charset="-122"/>
                <a:cs typeface="Aptos" pitchFamily="34" charset="-120"/>
              </a:rPr>
              <a:t>TERMINAL</a:t>
            </a:r>
            <a:endParaRPr lang="en-US" sz="900" dirty="0"/>
          </a:p>
        </p:txBody>
      </p:sp>
      <p:sp>
        <p:nvSpPr>
          <p:cNvPr id="10" name="Text 8"/>
          <p:cNvSpPr/>
          <p:nvPr/>
        </p:nvSpPr>
        <p:spPr>
          <a:xfrm>
            <a:off x="914400" y="2167128"/>
            <a:ext cx="5029200" cy="2395728"/>
          </a:xfrm>
          <a:prstGeom prst="rect">
            <a:avLst/>
          </a:prstGeom>
          <a:noFill/>
          <a:ln/>
        </p:spPr>
        <p:txBody>
          <a:bodyPr wrap="square" lIns="0" tIns="0" rIns="0" bIns="0" rtlCol="0" anchor="t">
            <a:normAutofit/>
          </a:bodyPr>
          <a:lstStyle/>
          <a:p>
            <a:pPr algn="l" indent="0" marL="0">
              <a:buNone/>
            </a:pPr>
            <a:r>
              <a:rPr lang="en-US" sz="1100" dirty="0">
                <a:solidFill>
                  <a:srgbClr val="F3EFF7"/>
                </a:solidFill>
                <a:latin typeface="Courier New" pitchFamily="34" charset="0"/>
                <a:ea typeface="Courier New" pitchFamily="34" charset="-122"/>
                <a:cs typeface="Courier New" pitchFamily="34" charset="-120"/>
              </a:rPr>
              <a:t># Remplace le fichier</a:t>
            </a:r>
            <a:endParaRPr lang="en-US" sz="1100" dirty="0"/>
          </a:p>
          <a:p>
            <a:pPr algn="l" indent="0" marL="0">
              <a:buNone/>
            </a:pPr>
            <a:r>
              <a:rPr lang="en-US" sz="1100" dirty="0">
                <a:solidFill>
                  <a:srgbClr val="F3EFF7"/>
                </a:solidFill>
                <a:latin typeface="Courier New" pitchFamily="34" charset="0"/>
                <a:ea typeface="Courier New" pitchFamily="34" charset="-122"/>
                <a:cs typeface="Courier New" pitchFamily="34" charset="-120"/>
              </a:rPr>
              <a:t>scrapy crawl books -O books.json</a:t>
            </a:r>
            <a:endParaRPr lang="en-US" sz="1100" dirty="0"/>
          </a:p>
          <a:p>
            <a:pPr algn="l" indent="0" marL="0">
              <a:buNone/>
            </a:pPr>
            <a:endParaRPr lang="en-US" sz="1100" dirty="0"/>
          </a:p>
          <a:p>
            <a:pPr algn="l" indent="0" marL="0">
              <a:buNone/>
            </a:pPr>
            <a:r>
              <a:rPr lang="en-US" sz="1100" dirty="0">
                <a:solidFill>
                  <a:srgbClr val="F3EFF7"/>
                </a:solidFill>
                <a:latin typeface="Courier New" pitchFamily="34" charset="0"/>
                <a:ea typeface="Courier New" pitchFamily="34" charset="-122"/>
                <a:cs typeface="Courier New" pitchFamily="34" charset="-120"/>
              </a:rPr>
              <a:t># CSV</a:t>
            </a:r>
            <a:endParaRPr lang="en-US" sz="1100" dirty="0"/>
          </a:p>
          <a:p>
            <a:pPr algn="l" indent="0" marL="0">
              <a:buNone/>
            </a:pPr>
            <a:r>
              <a:rPr lang="en-US" sz="1100" dirty="0">
                <a:solidFill>
                  <a:srgbClr val="F3EFF7"/>
                </a:solidFill>
                <a:latin typeface="Courier New" pitchFamily="34" charset="0"/>
                <a:ea typeface="Courier New" pitchFamily="34" charset="-122"/>
                <a:cs typeface="Courier New" pitchFamily="34" charset="-120"/>
              </a:rPr>
              <a:t>scrapy crawl books -O books.csv</a:t>
            </a:r>
            <a:endParaRPr lang="en-US" sz="1100" dirty="0"/>
          </a:p>
          <a:p>
            <a:pPr algn="l" indent="0" marL="0">
              <a:buNone/>
            </a:pPr>
            <a:endParaRPr lang="en-US" sz="1100" dirty="0"/>
          </a:p>
          <a:p>
            <a:pPr algn="l" indent="0" marL="0">
              <a:buNone/>
            </a:pPr>
            <a:r>
              <a:rPr lang="en-US" sz="1100" dirty="0">
                <a:solidFill>
                  <a:srgbClr val="F3EFF7"/>
                </a:solidFill>
                <a:latin typeface="Courier New" pitchFamily="34" charset="0"/>
                <a:ea typeface="Courier New" pitchFamily="34" charset="-122"/>
                <a:cs typeface="Courier New" pitchFamily="34" charset="-120"/>
              </a:rPr>
              <a:t># JSON Lines</a:t>
            </a:r>
            <a:endParaRPr lang="en-US" sz="1100" dirty="0"/>
          </a:p>
          <a:p>
            <a:pPr algn="l" indent="0" marL="0">
              <a:buNone/>
            </a:pPr>
            <a:r>
              <a:rPr lang="en-US" sz="1100" dirty="0">
                <a:solidFill>
                  <a:srgbClr val="F3EFF7"/>
                </a:solidFill>
                <a:latin typeface="Courier New" pitchFamily="34" charset="0"/>
                <a:ea typeface="Courier New" pitchFamily="34" charset="-122"/>
                <a:cs typeface="Courier New" pitchFamily="34" charset="-120"/>
              </a:rPr>
              <a:t>scrapy crawl books -O books.jsonl</a:t>
            </a:r>
            <a:endParaRPr lang="en-US" sz="1100" dirty="0"/>
          </a:p>
        </p:txBody>
      </p:sp>
      <p:sp>
        <p:nvSpPr>
          <p:cNvPr id="11" name="Shape 9"/>
          <p:cNvSpPr/>
          <p:nvPr/>
        </p:nvSpPr>
        <p:spPr>
          <a:xfrm>
            <a:off x="6446520" y="1737360"/>
            <a:ext cx="4892040" cy="987552"/>
          </a:xfrm>
          <a:prstGeom prst="roundRect">
            <a:avLst>
              <a:gd name="adj" fmla="val 5556"/>
            </a:avLst>
          </a:prstGeom>
          <a:solidFill>
            <a:srgbClr val="FFFFFF"/>
          </a:solidFill>
          <a:ln w="12700">
            <a:solidFill>
              <a:srgbClr val="DDDCE6"/>
            </a:solidFill>
            <a:prstDash val="solid"/>
          </a:ln>
          <a:effectLst>
            <a:outerShdw sx="100000" sy="100000" kx="0" ky="0" algn="bl" rotWithShape="0" blurRad="19050" dist="50800" dir="2700000">
              <a:srgbClr val="D6D3DF">
                <a:alpha val="18000"/>
              </a:srgbClr>
            </a:outerShdw>
          </a:effectLst>
        </p:spPr>
      </p:sp>
      <p:sp>
        <p:nvSpPr>
          <p:cNvPr id="12" name="Shape 10"/>
          <p:cNvSpPr/>
          <p:nvPr/>
        </p:nvSpPr>
        <p:spPr>
          <a:xfrm>
            <a:off x="6446520" y="1737360"/>
            <a:ext cx="73152" cy="987552"/>
          </a:xfrm>
          <a:prstGeom prst="rect">
            <a:avLst/>
          </a:prstGeom>
          <a:solidFill>
            <a:srgbClr val="4F7FC4"/>
          </a:solidFill>
          <a:ln w="12700">
            <a:solidFill>
              <a:srgbClr val="4F7FC4"/>
            </a:solidFill>
            <a:prstDash val="solid"/>
          </a:ln>
        </p:spPr>
      </p:sp>
      <p:sp>
        <p:nvSpPr>
          <p:cNvPr id="13" name="Text 11"/>
          <p:cNvSpPr/>
          <p:nvPr/>
        </p:nvSpPr>
        <p:spPr>
          <a:xfrm>
            <a:off x="6766560" y="1956816"/>
            <a:ext cx="4389120" cy="347472"/>
          </a:xfrm>
          <a:prstGeom prst="rect">
            <a:avLst/>
          </a:prstGeom>
          <a:noFill/>
          <a:ln/>
        </p:spPr>
        <p:txBody>
          <a:bodyPr wrap="square" lIns="0" tIns="0" rIns="0" bIns="0" rtlCol="0" anchor="t">
            <a:normAutofit/>
          </a:bodyPr>
          <a:lstStyle/>
          <a:p>
            <a:pPr algn="l" indent="0" marL="0">
              <a:buNone/>
            </a:pPr>
            <a:r>
              <a:rPr lang="en-US" sz="1630" b="1" dirty="0">
                <a:solidFill>
                  <a:srgbClr val="241337"/>
                </a:solidFill>
                <a:latin typeface="Aptos" pitchFamily="34" charset="0"/>
                <a:ea typeface="Aptos" pitchFamily="34" charset="-122"/>
                <a:cs typeface="Aptos" pitchFamily="34" charset="-120"/>
              </a:rPr>
              <a:t>CSV</a:t>
            </a:r>
            <a:endParaRPr lang="en-US" sz="1630" dirty="0"/>
          </a:p>
        </p:txBody>
      </p:sp>
      <p:sp>
        <p:nvSpPr>
          <p:cNvPr id="14" name="Text 12"/>
          <p:cNvSpPr/>
          <p:nvPr/>
        </p:nvSpPr>
        <p:spPr>
          <a:xfrm>
            <a:off x="6739128" y="2432304"/>
            <a:ext cx="4389120" cy="118872"/>
          </a:xfrm>
          <a:prstGeom prst="rect">
            <a:avLst/>
          </a:prstGeom>
          <a:noFill/>
          <a:ln/>
        </p:spPr>
        <p:txBody>
          <a:bodyPr wrap="square" lIns="0" tIns="0" rIns="0" bIns="0" rtlCol="0" anchor="t">
            <a:normAutofit/>
          </a:bodyPr>
          <a:lstStyle/>
          <a:p>
            <a:pPr algn="l" indent="0" marL="0">
              <a:buNone/>
            </a:pPr>
            <a:r>
              <a:rPr lang="en-US" sz="1230" dirty="0">
                <a:solidFill>
                  <a:srgbClr val="6F7082"/>
                </a:solidFill>
                <a:latin typeface="Aptos" pitchFamily="34" charset="0"/>
                <a:ea typeface="Aptos" pitchFamily="34" charset="-122"/>
                <a:cs typeface="Aptos" pitchFamily="34" charset="-120"/>
              </a:rPr>
              <a:t>Pratique pour tableur / BI, schéma tabulaire.</a:t>
            </a:r>
            <a:endParaRPr lang="en-US" sz="1230" dirty="0"/>
          </a:p>
        </p:txBody>
      </p:sp>
      <p:sp>
        <p:nvSpPr>
          <p:cNvPr id="15" name="Shape 13"/>
          <p:cNvSpPr/>
          <p:nvPr/>
        </p:nvSpPr>
        <p:spPr>
          <a:xfrm>
            <a:off x="6446520" y="2852928"/>
            <a:ext cx="4892040" cy="987552"/>
          </a:xfrm>
          <a:prstGeom prst="roundRect">
            <a:avLst>
              <a:gd name="adj" fmla="val 5556"/>
            </a:avLst>
          </a:prstGeom>
          <a:solidFill>
            <a:srgbClr val="FFFFFF"/>
          </a:solidFill>
          <a:ln w="12700">
            <a:solidFill>
              <a:srgbClr val="DDDCE6"/>
            </a:solidFill>
            <a:prstDash val="solid"/>
          </a:ln>
          <a:effectLst>
            <a:outerShdw sx="100000" sy="100000" kx="0" ky="0" algn="bl" rotWithShape="0" blurRad="19050" dist="50800" dir="2700000">
              <a:srgbClr val="D6D3DF">
                <a:alpha val="18000"/>
              </a:srgbClr>
            </a:outerShdw>
          </a:effectLst>
        </p:spPr>
      </p:sp>
      <p:sp>
        <p:nvSpPr>
          <p:cNvPr id="16" name="Shape 14"/>
          <p:cNvSpPr/>
          <p:nvPr/>
        </p:nvSpPr>
        <p:spPr>
          <a:xfrm>
            <a:off x="6446520" y="2852928"/>
            <a:ext cx="73152" cy="987552"/>
          </a:xfrm>
          <a:prstGeom prst="rect">
            <a:avLst/>
          </a:prstGeom>
          <a:solidFill>
            <a:srgbClr val="7432A8"/>
          </a:solidFill>
          <a:ln w="12700">
            <a:solidFill>
              <a:srgbClr val="7432A8"/>
            </a:solidFill>
            <a:prstDash val="solid"/>
          </a:ln>
        </p:spPr>
      </p:sp>
      <p:sp>
        <p:nvSpPr>
          <p:cNvPr id="17" name="Text 15"/>
          <p:cNvSpPr/>
          <p:nvPr/>
        </p:nvSpPr>
        <p:spPr>
          <a:xfrm>
            <a:off x="6766560" y="3072384"/>
            <a:ext cx="4389120" cy="347472"/>
          </a:xfrm>
          <a:prstGeom prst="rect">
            <a:avLst/>
          </a:prstGeom>
          <a:noFill/>
          <a:ln/>
        </p:spPr>
        <p:txBody>
          <a:bodyPr wrap="square" lIns="0" tIns="0" rIns="0" bIns="0" rtlCol="0" anchor="t">
            <a:normAutofit/>
          </a:bodyPr>
          <a:lstStyle/>
          <a:p>
            <a:pPr algn="l" indent="0" marL="0">
              <a:buNone/>
            </a:pPr>
            <a:r>
              <a:rPr lang="en-US" sz="1630" b="1" dirty="0">
                <a:solidFill>
                  <a:srgbClr val="241337"/>
                </a:solidFill>
                <a:latin typeface="Aptos" pitchFamily="34" charset="0"/>
                <a:ea typeface="Aptos" pitchFamily="34" charset="-122"/>
                <a:cs typeface="Aptos" pitchFamily="34" charset="-120"/>
              </a:rPr>
              <a:t>JSON / JSONL</a:t>
            </a:r>
            <a:endParaRPr lang="en-US" sz="1630" dirty="0"/>
          </a:p>
        </p:txBody>
      </p:sp>
      <p:sp>
        <p:nvSpPr>
          <p:cNvPr id="18" name="Text 16"/>
          <p:cNvSpPr/>
          <p:nvPr/>
        </p:nvSpPr>
        <p:spPr>
          <a:xfrm>
            <a:off x="6739128" y="3547872"/>
            <a:ext cx="4389120" cy="118872"/>
          </a:xfrm>
          <a:prstGeom prst="rect">
            <a:avLst/>
          </a:prstGeom>
          <a:noFill/>
          <a:ln/>
        </p:spPr>
        <p:txBody>
          <a:bodyPr wrap="square" lIns="0" tIns="0" rIns="0" bIns="0" rtlCol="0" anchor="t">
            <a:normAutofit/>
          </a:bodyPr>
          <a:lstStyle/>
          <a:p>
            <a:pPr algn="l" indent="0" marL="0">
              <a:buNone/>
            </a:pPr>
            <a:r>
              <a:rPr lang="en-US" sz="1230" dirty="0">
                <a:solidFill>
                  <a:srgbClr val="6F7082"/>
                </a:solidFill>
                <a:latin typeface="Aptos" pitchFamily="34" charset="0"/>
                <a:ea typeface="Aptos" pitchFamily="34" charset="-122"/>
                <a:cs typeface="Aptos" pitchFamily="34" charset="-120"/>
              </a:rPr>
              <a:t>Pratique pour objets, pipelines data et ingestion.</a:t>
            </a:r>
            <a:endParaRPr lang="en-US" sz="1230" dirty="0"/>
          </a:p>
        </p:txBody>
      </p:sp>
      <p:sp>
        <p:nvSpPr>
          <p:cNvPr id="19" name="Shape 17"/>
          <p:cNvSpPr/>
          <p:nvPr/>
        </p:nvSpPr>
        <p:spPr>
          <a:xfrm>
            <a:off x="6446520" y="3968496"/>
            <a:ext cx="4892040" cy="987552"/>
          </a:xfrm>
          <a:prstGeom prst="roundRect">
            <a:avLst>
              <a:gd name="adj" fmla="val 5556"/>
            </a:avLst>
          </a:prstGeom>
          <a:solidFill>
            <a:srgbClr val="FFFFFF"/>
          </a:solidFill>
          <a:ln w="12700">
            <a:solidFill>
              <a:srgbClr val="DDDCE6"/>
            </a:solidFill>
            <a:prstDash val="solid"/>
          </a:ln>
          <a:effectLst>
            <a:outerShdw sx="100000" sy="100000" kx="0" ky="0" algn="bl" rotWithShape="0" blurRad="19050" dist="50800" dir="2700000">
              <a:srgbClr val="D6D3DF">
                <a:alpha val="18000"/>
              </a:srgbClr>
            </a:outerShdw>
          </a:effectLst>
        </p:spPr>
      </p:sp>
      <p:sp>
        <p:nvSpPr>
          <p:cNvPr id="20" name="Shape 18"/>
          <p:cNvSpPr/>
          <p:nvPr/>
        </p:nvSpPr>
        <p:spPr>
          <a:xfrm>
            <a:off x="6446520" y="3968496"/>
            <a:ext cx="73152" cy="987552"/>
          </a:xfrm>
          <a:prstGeom prst="rect">
            <a:avLst/>
          </a:prstGeom>
          <a:solidFill>
            <a:srgbClr val="4EA27B"/>
          </a:solidFill>
          <a:ln w="12700">
            <a:solidFill>
              <a:srgbClr val="4EA27B"/>
            </a:solidFill>
            <a:prstDash val="solid"/>
          </a:ln>
        </p:spPr>
      </p:sp>
      <p:sp>
        <p:nvSpPr>
          <p:cNvPr id="21" name="Text 19"/>
          <p:cNvSpPr/>
          <p:nvPr/>
        </p:nvSpPr>
        <p:spPr>
          <a:xfrm>
            <a:off x="6766560" y="4187952"/>
            <a:ext cx="4389120" cy="347472"/>
          </a:xfrm>
          <a:prstGeom prst="rect">
            <a:avLst/>
          </a:prstGeom>
          <a:noFill/>
          <a:ln/>
        </p:spPr>
        <p:txBody>
          <a:bodyPr wrap="square" lIns="0" tIns="0" rIns="0" bIns="0" rtlCol="0" anchor="t">
            <a:normAutofit/>
          </a:bodyPr>
          <a:lstStyle/>
          <a:p>
            <a:pPr algn="l" indent="0" marL="0">
              <a:buNone/>
            </a:pPr>
            <a:r>
              <a:rPr lang="en-US" sz="1630" b="1" dirty="0">
                <a:solidFill>
                  <a:srgbClr val="241337"/>
                </a:solidFill>
                <a:latin typeface="Aptos" pitchFamily="34" charset="0"/>
                <a:ea typeface="Aptos" pitchFamily="34" charset="-122"/>
                <a:cs typeface="Aptos" pitchFamily="34" charset="-120"/>
              </a:rPr>
              <a:t>Pipeline DB</a:t>
            </a:r>
            <a:endParaRPr lang="en-US" sz="1630" dirty="0"/>
          </a:p>
        </p:txBody>
      </p:sp>
      <p:sp>
        <p:nvSpPr>
          <p:cNvPr id="22" name="Text 20"/>
          <p:cNvSpPr/>
          <p:nvPr/>
        </p:nvSpPr>
        <p:spPr>
          <a:xfrm>
            <a:off x="6739128" y="4663440"/>
            <a:ext cx="4389120" cy="118872"/>
          </a:xfrm>
          <a:prstGeom prst="rect">
            <a:avLst/>
          </a:prstGeom>
          <a:noFill/>
          <a:ln/>
        </p:spPr>
        <p:txBody>
          <a:bodyPr wrap="square" lIns="0" tIns="0" rIns="0" bIns="0" rtlCol="0" anchor="t">
            <a:normAutofit/>
          </a:bodyPr>
          <a:lstStyle/>
          <a:p>
            <a:pPr algn="l" indent="0" marL="0">
              <a:buNone/>
            </a:pPr>
            <a:r>
              <a:rPr lang="en-US" sz="1230" dirty="0">
                <a:solidFill>
                  <a:srgbClr val="6F7082"/>
                </a:solidFill>
                <a:latin typeface="Aptos" pitchFamily="34" charset="0"/>
                <a:ea typeface="Aptos" pitchFamily="34" charset="-122"/>
                <a:cs typeface="Aptos" pitchFamily="34" charset="-120"/>
              </a:rPr>
              <a:t>À privilégier quand on écrit vers SQLite/PostgreSQL/etc.</a:t>
            </a:r>
            <a:endParaRPr lang="en-US" sz="1230" dirty="0"/>
          </a:p>
        </p:txBody>
      </p:sp>
      <p:sp>
        <p:nvSpPr>
          <p:cNvPr id="23" name="Text 21"/>
          <p:cNvSpPr/>
          <p:nvPr/>
        </p:nvSpPr>
        <p:spPr>
          <a:xfrm>
            <a:off x="1508760" y="5440680"/>
            <a:ext cx="9235440" cy="320040"/>
          </a:xfrm>
          <a:prstGeom prst="rect">
            <a:avLst/>
          </a:prstGeom>
          <a:noFill/>
          <a:ln/>
        </p:spPr>
        <p:txBody>
          <a:bodyPr wrap="square" lIns="0" tIns="0" rIns="0" bIns="0" rtlCol="0" anchor="ctr">
            <a:normAutofit/>
          </a:bodyPr>
          <a:lstStyle/>
          <a:p>
            <a:pPr algn="ctr" indent="0" marL="0">
              <a:buNone/>
            </a:pPr>
            <a:r>
              <a:rPr lang="en-US" sz="1600" b="1" dirty="0">
                <a:solidFill>
                  <a:srgbClr val="241337"/>
                </a:solidFill>
                <a:latin typeface="Aptos" pitchFamily="34" charset="0"/>
                <a:ea typeface="Aptos" pitchFamily="34" charset="-122"/>
                <a:cs typeface="Aptos" pitchFamily="34" charset="-120"/>
              </a:rPr>
              <a:t>Exporter rapidement ≠ remplacer la validation métier.</a:t>
            </a:r>
            <a:endParaRPr lang="en-US" sz="1600" dirty="0"/>
          </a:p>
        </p:txBody>
      </p:sp>
      <p:sp>
        <p:nvSpPr>
          <p:cNvPr id="25" name="Slide Number Placeholder 0"/>
          <p:cNvSpPr>
            <a:spLocks noGrp="1"/>
          </p:cNvSpPr>
          <p:nvPr>
            <p:ph type="sldNum" sz="quarter" idx="4294967295"/>
          </p:nvPr>
        </p:nvSpPr>
        <p:spPr>
          <a:xfrm>
            <a:off x="11750040" y="274320"/>
            <a:ext cx="228600" cy="164592"/>
          </a:xfrm>
          <a:prstGeom prst="rect">
            <a:avLst/>
          </a:prstGeom>
          <a:extLst>
            <a:ext uri="{C572A759-6A51-4108-AA02-DFA0A04FC94B}">
              <ma14:wrappingTextBoxFlag xmlns:ma14="http://schemas.microsoft.com/office/mac/drawingml/2011/main" val="0"/>
            </a:ext>
          </a:extLst>
        </p:spPr>
        <p:txBody>
          <a:bodyPr/>
          <a:lstStyle>
            <a:lvl1pPr>
              <a:defRPr sz="800">
                <a:solidFill>
                  <a:srgbClr val="858697"/>
                </a:solidFill>
                <a:latin typeface="Aptos"/>
                <a:ea typeface="Aptos"/>
                <a:cs typeface="Aptos"/>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566928" y="438912"/>
            <a:ext cx="5029200" cy="228600"/>
          </a:xfrm>
          <a:prstGeom prst="rect">
            <a:avLst/>
          </a:prstGeom>
          <a:noFill/>
          <a:ln/>
        </p:spPr>
        <p:txBody>
          <a:bodyPr wrap="square" lIns="0" tIns="0" rIns="0" bIns="0" rtlCol="0" anchor="ctr">
            <a:normAutofit/>
          </a:bodyPr>
          <a:lstStyle/>
          <a:p>
            <a:pPr algn="l" indent="0" marL="0">
              <a:buNone/>
            </a:pPr>
            <a:r>
              <a:rPr lang="en-US" sz="1050" b="1" spc="150" kern="0" dirty="0">
                <a:solidFill>
                  <a:srgbClr val="7432A8"/>
                </a:solidFill>
                <a:latin typeface="Aptos" pitchFamily="34" charset="0"/>
                <a:ea typeface="Aptos" pitchFamily="34" charset="-122"/>
                <a:cs typeface="Aptos" pitchFamily="34" charset="-120"/>
              </a:rPr>
              <a:t>PERSISTANCE</a:t>
            </a:r>
            <a:endParaRPr lang="en-US" sz="1050" dirty="0"/>
          </a:p>
        </p:txBody>
      </p:sp>
      <p:sp>
        <p:nvSpPr>
          <p:cNvPr id="3" name="Text 1"/>
          <p:cNvSpPr/>
          <p:nvPr/>
        </p:nvSpPr>
        <p:spPr>
          <a:xfrm>
            <a:off x="566928" y="768096"/>
            <a:ext cx="10972800" cy="566928"/>
          </a:xfrm>
          <a:prstGeom prst="rect">
            <a:avLst/>
          </a:prstGeom>
          <a:noFill/>
          <a:ln/>
        </p:spPr>
        <p:txBody>
          <a:bodyPr wrap="square" lIns="0" tIns="0" rIns="0" bIns="0" rtlCol="0" anchor="t">
            <a:normAutofit/>
          </a:bodyPr>
          <a:lstStyle/>
          <a:p>
            <a:pPr algn="l" indent="0" marL="0">
              <a:buNone/>
            </a:pPr>
            <a:r>
              <a:rPr lang="en-US" sz="2800" b="1" dirty="0">
                <a:solidFill>
                  <a:srgbClr val="241337"/>
                </a:solidFill>
                <a:latin typeface="Aptos" pitchFamily="34" charset="0"/>
                <a:ea typeface="Aptos" pitchFamily="34" charset="-122"/>
                <a:cs typeface="Aptos" pitchFamily="34" charset="-120"/>
              </a:rPr>
              <a:t>Exemple : pipeline SQLite</a:t>
            </a:r>
            <a:endParaRPr lang="en-US" sz="2800" dirty="0"/>
          </a:p>
        </p:txBody>
      </p:sp>
      <p:sp>
        <p:nvSpPr>
          <p:cNvPr id="4" name="Shape 2"/>
          <p:cNvSpPr/>
          <p:nvPr/>
        </p:nvSpPr>
        <p:spPr>
          <a:xfrm>
            <a:off x="685800" y="1508760"/>
            <a:ext cx="7315200" cy="4526280"/>
          </a:xfrm>
          <a:prstGeom prst="roundRect">
            <a:avLst>
              <a:gd name="adj" fmla="val 808"/>
            </a:avLst>
          </a:prstGeom>
          <a:solidFill>
            <a:srgbClr val="17141E"/>
          </a:solidFill>
          <a:ln w="12700">
            <a:solidFill>
              <a:srgbClr val="17141E"/>
            </a:solidFill>
            <a:prstDash val="solid"/>
          </a:ln>
        </p:spPr>
      </p:sp>
      <p:sp>
        <p:nvSpPr>
          <p:cNvPr id="5" name="Shape 3"/>
          <p:cNvSpPr/>
          <p:nvPr/>
        </p:nvSpPr>
        <p:spPr>
          <a:xfrm>
            <a:off x="685800" y="1508760"/>
            <a:ext cx="7315200" cy="347472"/>
          </a:xfrm>
          <a:prstGeom prst="rect">
            <a:avLst/>
          </a:prstGeom>
          <a:solidFill>
            <a:srgbClr val="2B2633"/>
          </a:solidFill>
          <a:ln w="12700">
            <a:solidFill>
              <a:srgbClr val="2B2633"/>
            </a:solidFill>
            <a:prstDash val="solid"/>
          </a:ln>
        </p:spPr>
      </p:sp>
      <p:sp>
        <p:nvSpPr>
          <p:cNvPr id="6" name="Shape 4"/>
          <p:cNvSpPr/>
          <p:nvPr/>
        </p:nvSpPr>
        <p:spPr>
          <a:xfrm>
            <a:off x="868680" y="1627632"/>
            <a:ext cx="73152" cy="73152"/>
          </a:xfrm>
          <a:prstGeom prst="ellipse">
            <a:avLst/>
          </a:prstGeom>
          <a:solidFill>
            <a:srgbClr val="D55E5A"/>
          </a:solidFill>
          <a:ln w="12700">
            <a:solidFill>
              <a:srgbClr val="D55E5A"/>
            </a:solidFill>
            <a:prstDash val="solid"/>
          </a:ln>
        </p:spPr>
      </p:sp>
      <p:sp>
        <p:nvSpPr>
          <p:cNvPr id="7" name="Shape 5"/>
          <p:cNvSpPr/>
          <p:nvPr/>
        </p:nvSpPr>
        <p:spPr>
          <a:xfrm>
            <a:off x="1014984" y="1627632"/>
            <a:ext cx="73152" cy="73152"/>
          </a:xfrm>
          <a:prstGeom prst="ellipse">
            <a:avLst/>
          </a:prstGeom>
          <a:solidFill>
            <a:srgbClr val="E0B24A"/>
          </a:solidFill>
          <a:ln w="12700">
            <a:solidFill>
              <a:srgbClr val="E0B24A"/>
            </a:solidFill>
            <a:prstDash val="solid"/>
          </a:ln>
        </p:spPr>
      </p:sp>
      <p:sp>
        <p:nvSpPr>
          <p:cNvPr id="8" name="Shape 6"/>
          <p:cNvSpPr/>
          <p:nvPr/>
        </p:nvSpPr>
        <p:spPr>
          <a:xfrm>
            <a:off x="1161288" y="1627632"/>
            <a:ext cx="73152" cy="73152"/>
          </a:xfrm>
          <a:prstGeom prst="ellipse">
            <a:avLst/>
          </a:prstGeom>
          <a:solidFill>
            <a:srgbClr val="7EB465"/>
          </a:solidFill>
          <a:ln w="12700">
            <a:solidFill>
              <a:srgbClr val="7EB465"/>
            </a:solidFill>
            <a:prstDash val="solid"/>
          </a:ln>
        </p:spPr>
      </p:sp>
      <p:sp>
        <p:nvSpPr>
          <p:cNvPr id="9" name="Text 7"/>
          <p:cNvSpPr/>
          <p:nvPr/>
        </p:nvSpPr>
        <p:spPr>
          <a:xfrm>
            <a:off x="6903720" y="1581912"/>
            <a:ext cx="914400" cy="137160"/>
          </a:xfrm>
          <a:prstGeom prst="rect">
            <a:avLst/>
          </a:prstGeom>
          <a:noFill/>
          <a:ln/>
        </p:spPr>
        <p:txBody>
          <a:bodyPr wrap="square" lIns="0" tIns="0" rIns="0" bIns="0" rtlCol="0" anchor="ctr">
            <a:normAutofit/>
          </a:bodyPr>
          <a:lstStyle/>
          <a:p>
            <a:pPr algn="r" indent="0" marL="0">
              <a:buNone/>
            </a:pPr>
            <a:r>
              <a:rPr lang="en-US" sz="900" dirty="0">
                <a:solidFill>
                  <a:srgbClr val="B8B3C2"/>
                </a:solidFill>
                <a:latin typeface="Aptos" pitchFamily="34" charset="0"/>
                <a:ea typeface="Aptos" pitchFamily="34" charset="-122"/>
                <a:cs typeface="Aptos" pitchFamily="34" charset="-120"/>
              </a:rPr>
              <a:t>PYTHON</a:t>
            </a:r>
            <a:endParaRPr lang="en-US" sz="900" dirty="0"/>
          </a:p>
        </p:txBody>
      </p:sp>
      <p:sp>
        <p:nvSpPr>
          <p:cNvPr id="10" name="Text 8"/>
          <p:cNvSpPr/>
          <p:nvPr/>
        </p:nvSpPr>
        <p:spPr>
          <a:xfrm>
            <a:off x="914400" y="1984248"/>
            <a:ext cx="6858000" cy="3904488"/>
          </a:xfrm>
          <a:prstGeom prst="rect">
            <a:avLst/>
          </a:prstGeom>
          <a:noFill/>
          <a:ln/>
        </p:spPr>
        <p:txBody>
          <a:bodyPr wrap="square" lIns="0" tIns="0" rIns="0" bIns="0" rtlCol="0" anchor="t">
            <a:normAutofit/>
          </a:bodyPr>
          <a:lstStyle/>
          <a:p>
            <a:pPr algn="l" indent="0" marL="0">
              <a:buNone/>
            </a:pPr>
            <a:r>
              <a:rPr lang="en-US" sz="1100" dirty="0">
                <a:solidFill>
                  <a:srgbClr val="F3EFF7"/>
                </a:solidFill>
                <a:latin typeface="Courier New" pitchFamily="34" charset="0"/>
                <a:ea typeface="Courier New" pitchFamily="34" charset="-122"/>
                <a:cs typeface="Courier New" pitchFamily="34" charset="-120"/>
              </a:rPr>
              <a:t>import sqlite3</a:t>
            </a:r>
            <a:endParaRPr lang="en-US" sz="1100" dirty="0"/>
          </a:p>
          <a:p>
            <a:pPr algn="l" indent="0" marL="0">
              <a:buNone/>
            </a:pPr>
            <a:endParaRPr lang="en-US" sz="1100" dirty="0"/>
          </a:p>
          <a:p>
            <a:pPr algn="l" indent="0" marL="0">
              <a:buNone/>
            </a:pPr>
            <a:r>
              <a:rPr lang="en-US" sz="1100" dirty="0">
                <a:solidFill>
                  <a:srgbClr val="F3EFF7"/>
                </a:solidFill>
                <a:latin typeface="Courier New" pitchFamily="34" charset="0"/>
                <a:ea typeface="Courier New" pitchFamily="34" charset="-122"/>
                <a:cs typeface="Courier New" pitchFamily="34" charset="-120"/>
              </a:rPr>
              <a:t>class SQLitePipeline:</a:t>
            </a:r>
            <a:endParaRPr lang="en-US" sz="1100" dirty="0"/>
          </a:p>
          <a:p>
            <a:pPr algn="l" indent="0" marL="0">
              <a:buNone/>
            </a:pPr>
            <a:r>
              <a:rPr lang="en-US" sz="1100" dirty="0">
                <a:solidFill>
                  <a:srgbClr val="F3EFF7"/>
                </a:solidFill>
                <a:latin typeface="Courier New" pitchFamily="34" charset="0"/>
                <a:ea typeface="Courier New" pitchFamily="34" charset="-122"/>
                <a:cs typeface="Courier New" pitchFamily="34" charset="-120"/>
              </a:rPr>
              <a:t>    def open_spider(self, spider):</a:t>
            </a:r>
            <a:endParaRPr lang="en-US" sz="1100" dirty="0"/>
          </a:p>
          <a:p>
            <a:pPr algn="l" indent="0" marL="0">
              <a:buNone/>
            </a:pPr>
            <a:r>
              <a:rPr lang="en-US" sz="1100" dirty="0">
                <a:solidFill>
                  <a:srgbClr val="F3EFF7"/>
                </a:solidFill>
                <a:latin typeface="Courier New" pitchFamily="34" charset="0"/>
                <a:ea typeface="Courier New" pitchFamily="34" charset="-122"/>
                <a:cs typeface="Courier New" pitchFamily="34" charset="-120"/>
              </a:rPr>
              <a:t>        self.db = sqlite3.connect("books.db")</a:t>
            </a:r>
            <a:endParaRPr lang="en-US" sz="1100" dirty="0"/>
          </a:p>
          <a:p>
            <a:pPr algn="l" indent="0" marL="0">
              <a:buNone/>
            </a:pPr>
            <a:r>
              <a:rPr lang="en-US" sz="1100" dirty="0">
                <a:solidFill>
                  <a:srgbClr val="F3EFF7"/>
                </a:solidFill>
                <a:latin typeface="Courier New" pitchFamily="34" charset="0"/>
                <a:ea typeface="Courier New" pitchFamily="34" charset="-122"/>
                <a:cs typeface="Courier New" pitchFamily="34" charset="-120"/>
              </a:rPr>
              <a:t>        self.db.execute("""</a:t>
            </a:r>
            <a:endParaRPr lang="en-US" sz="1100" dirty="0"/>
          </a:p>
          <a:p>
            <a:pPr algn="l" indent="0" marL="0">
              <a:buNone/>
            </a:pPr>
            <a:r>
              <a:rPr lang="en-US" sz="1100" dirty="0">
                <a:solidFill>
                  <a:srgbClr val="F3EFF7"/>
                </a:solidFill>
                <a:latin typeface="Courier New" pitchFamily="34" charset="0"/>
                <a:ea typeface="Courier New" pitchFamily="34" charset="-122"/>
                <a:cs typeface="Courier New" pitchFamily="34" charset="-120"/>
              </a:rPr>
              <a:t>            CREATE TABLE IF NOT EXISTS books (</a:t>
            </a:r>
            <a:endParaRPr lang="en-US" sz="1100" dirty="0"/>
          </a:p>
          <a:p>
            <a:pPr algn="l" indent="0" marL="0">
              <a:buNone/>
            </a:pPr>
            <a:r>
              <a:rPr lang="en-US" sz="1100" dirty="0">
                <a:solidFill>
                  <a:srgbClr val="F3EFF7"/>
                </a:solidFill>
                <a:latin typeface="Courier New" pitchFamily="34" charset="0"/>
                <a:ea typeface="Courier New" pitchFamily="34" charset="-122"/>
                <a:cs typeface="Courier New" pitchFamily="34" charset="-120"/>
              </a:rPr>
              <a:t>              url TEXT PRIMARY KEY,</a:t>
            </a:r>
            <a:endParaRPr lang="en-US" sz="1100" dirty="0"/>
          </a:p>
          <a:p>
            <a:pPr algn="l" indent="0" marL="0">
              <a:buNone/>
            </a:pPr>
            <a:r>
              <a:rPr lang="en-US" sz="1100" dirty="0">
                <a:solidFill>
                  <a:srgbClr val="F3EFF7"/>
                </a:solidFill>
                <a:latin typeface="Courier New" pitchFamily="34" charset="0"/>
                <a:ea typeface="Courier New" pitchFamily="34" charset="-122"/>
                <a:cs typeface="Courier New" pitchFamily="34" charset="-120"/>
              </a:rPr>
              <a:t>              title TEXT,</a:t>
            </a:r>
            <a:endParaRPr lang="en-US" sz="1100" dirty="0"/>
          </a:p>
          <a:p>
            <a:pPr algn="l" indent="0" marL="0">
              <a:buNone/>
            </a:pPr>
            <a:r>
              <a:rPr lang="en-US" sz="1100" dirty="0">
                <a:solidFill>
                  <a:srgbClr val="F3EFF7"/>
                </a:solidFill>
                <a:latin typeface="Courier New" pitchFamily="34" charset="0"/>
                <a:ea typeface="Courier New" pitchFamily="34" charset="-122"/>
                <a:cs typeface="Courier New" pitchFamily="34" charset="-120"/>
              </a:rPr>
              <a:t>              price REAL</a:t>
            </a:r>
            <a:endParaRPr lang="en-US" sz="1100" dirty="0"/>
          </a:p>
          <a:p>
            <a:pPr algn="l" indent="0" marL="0">
              <a:buNone/>
            </a:pPr>
            <a:r>
              <a:rPr lang="en-US" sz="1100" dirty="0">
                <a:solidFill>
                  <a:srgbClr val="F3EFF7"/>
                </a:solidFill>
                <a:latin typeface="Courier New" pitchFamily="34" charset="0"/>
                <a:ea typeface="Courier New" pitchFamily="34" charset="-122"/>
                <a:cs typeface="Courier New" pitchFamily="34" charset="-120"/>
              </a:rPr>
              <a:t>            )</a:t>
            </a:r>
            <a:endParaRPr lang="en-US" sz="1100" dirty="0"/>
          </a:p>
          <a:p>
            <a:pPr algn="l" indent="0" marL="0">
              <a:buNone/>
            </a:pPr>
            <a:r>
              <a:rPr lang="en-US" sz="1100" dirty="0">
                <a:solidFill>
                  <a:srgbClr val="F3EFF7"/>
                </a:solidFill>
                <a:latin typeface="Courier New" pitchFamily="34" charset="0"/>
                <a:ea typeface="Courier New" pitchFamily="34" charset="-122"/>
                <a:cs typeface="Courier New" pitchFamily="34" charset="-120"/>
              </a:rPr>
              <a:t>        """)</a:t>
            </a:r>
            <a:endParaRPr lang="en-US" sz="1100" dirty="0"/>
          </a:p>
          <a:p>
            <a:pPr algn="l" indent="0" marL="0">
              <a:buNone/>
            </a:pPr>
            <a:endParaRPr lang="en-US" sz="1100" dirty="0"/>
          </a:p>
          <a:p>
            <a:pPr algn="l" indent="0" marL="0">
              <a:buNone/>
            </a:pPr>
            <a:r>
              <a:rPr lang="en-US" sz="1100" dirty="0">
                <a:solidFill>
                  <a:srgbClr val="F3EFF7"/>
                </a:solidFill>
                <a:latin typeface="Courier New" pitchFamily="34" charset="0"/>
                <a:ea typeface="Courier New" pitchFamily="34" charset="-122"/>
                <a:cs typeface="Courier New" pitchFamily="34" charset="-120"/>
              </a:rPr>
              <a:t>    def process_item(self, item, spider):</a:t>
            </a:r>
            <a:endParaRPr lang="en-US" sz="1100" dirty="0"/>
          </a:p>
          <a:p>
            <a:pPr algn="l" indent="0" marL="0">
              <a:buNone/>
            </a:pPr>
            <a:r>
              <a:rPr lang="en-US" sz="1100" dirty="0">
                <a:solidFill>
                  <a:srgbClr val="F3EFF7"/>
                </a:solidFill>
                <a:latin typeface="Courier New" pitchFamily="34" charset="0"/>
                <a:ea typeface="Courier New" pitchFamily="34" charset="-122"/>
                <a:cs typeface="Courier New" pitchFamily="34" charset="-120"/>
              </a:rPr>
              <a:t>        self.db.execute(</a:t>
            </a:r>
            <a:endParaRPr lang="en-US" sz="1100" dirty="0"/>
          </a:p>
          <a:p>
            <a:pPr algn="l" indent="0" marL="0">
              <a:buNone/>
            </a:pPr>
            <a:r>
              <a:rPr lang="en-US" sz="1100" dirty="0">
                <a:solidFill>
                  <a:srgbClr val="F3EFF7"/>
                </a:solidFill>
                <a:latin typeface="Courier New" pitchFamily="34" charset="0"/>
                <a:ea typeface="Courier New" pitchFamily="34" charset="-122"/>
                <a:cs typeface="Courier New" pitchFamily="34" charset="-120"/>
              </a:rPr>
              <a:t>            "INSERT OR REPLACE INTO books VALUES (?, ?, ?)",</a:t>
            </a:r>
            <a:endParaRPr lang="en-US" sz="1100" dirty="0"/>
          </a:p>
          <a:p>
            <a:pPr algn="l" indent="0" marL="0">
              <a:buNone/>
            </a:pPr>
            <a:r>
              <a:rPr lang="en-US" sz="1100" dirty="0">
                <a:solidFill>
                  <a:srgbClr val="F3EFF7"/>
                </a:solidFill>
                <a:latin typeface="Courier New" pitchFamily="34" charset="0"/>
                <a:ea typeface="Courier New" pitchFamily="34" charset="-122"/>
                <a:cs typeface="Courier New" pitchFamily="34" charset="-120"/>
              </a:rPr>
              <a:t>            (item["url"], item["title"], item["price"])</a:t>
            </a:r>
            <a:endParaRPr lang="en-US" sz="1100" dirty="0"/>
          </a:p>
          <a:p>
            <a:pPr algn="l" indent="0" marL="0">
              <a:buNone/>
            </a:pPr>
            <a:r>
              <a:rPr lang="en-US" sz="1100" dirty="0">
                <a:solidFill>
                  <a:srgbClr val="F3EFF7"/>
                </a:solidFill>
                <a:latin typeface="Courier New" pitchFamily="34" charset="0"/>
                <a:ea typeface="Courier New" pitchFamily="34" charset="-122"/>
                <a:cs typeface="Courier New" pitchFamily="34" charset="-120"/>
              </a:rPr>
              <a:t>        )</a:t>
            </a:r>
            <a:endParaRPr lang="en-US" sz="1100" dirty="0"/>
          </a:p>
          <a:p>
            <a:pPr algn="l" indent="0" marL="0">
              <a:buNone/>
            </a:pPr>
            <a:r>
              <a:rPr lang="en-US" sz="1100" dirty="0">
                <a:solidFill>
                  <a:srgbClr val="F3EFF7"/>
                </a:solidFill>
                <a:latin typeface="Courier New" pitchFamily="34" charset="0"/>
                <a:ea typeface="Courier New" pitchFamily="34" charset="-122"/>
                <a:cs typeface="Courier New" pitchFamily="34" charset="-120"/>
              </a:rPr>
              <a:t>        self.db.commit()</a:t>
            </a:r>
            <a:endParaRPr lang="en-US" sz="1100" dirty="0"/>
          </a:p>
          <a:p>
            <a:pPr algn="l" indent="0" marL="0">
              <a:buNone/>
            </a:pPr>
            <a:r>
              <a:rPr lang="en-US" sz="1100" dirty="0">
                <a:solidFill>
                  <a:srgbClr val="F3EFF7"/>
                </a:solidFill>
                <a:latin typeface="Courier New" pitchFamily="34" charset="0"/>
                <a:ea typeface="Courier New" pitchFamily="34" charset="-122"/>
                <a:cs typeface="Courier New" pitchFamily="34" charset="-120"/>
              </a:rPr>
              <a:t>        return item</a:t>
            </a:r>
            <a:endParaRPr lang="en-US" sz="1100" dirty="0"/>
          </a:p>
          <a:p>
            <a:pPr algn="l" indent="0" marL="0">
              <a:buNone/>
            </a:pPr>
            <a:endParaRPr lang="en-US" sz="1100" dirty="0"/>
          </a:p>
          <a:p>
            <a:pPr algn="l" indent="0" marL="0">
              <a:buNone/>
            </a:pPr>
            <a:r>
              <a:rPr lang="en-US" sz="1100" dirty="0">
                <a:solidFill>
                  <a:srgbClr val="F3EFF7"/>
                </a:solidFill>
                <a:latin typeface="Courier New" pitchFamily="34" charset="0"/>
                <a:ea typeface="Courier New" pitchFamily="34" charset="-122"/>
                <a:cs typeface="Courier New" pitchFamily="34" charset="-120"/>
              </a:rPr>
              <a:t>    def close_spider(self, spider):</a:t>
            </a:r>
            <a:endParaRPr lang="en-US" sz="1100" dirty="0"/>
          </a:p>
          <a:p>
            <a:pPr algn="l" indent="0" marL="0">
              <a:buNone/>
            </a:pPr>
            <a:r>
              <a:rPr lang="en-US" sz="1100" dirty="0">
                <a:solidFill>
                  <a:srgbClr val="F3EFF7"/>
                </a:solidFill>
                <a:latin typeface="Courier New" pitchFamily="34" charset="0"/>
                <a:ea typeface="Courier New" pitchFamily="34" charset="-122"/>
                <a:cs typeface="Courier New" pitchFamily="34" charset="-120"/>
              </a:rPr>
              <a:t>        self.db.close()</a:t>
            </a:r>
            <a:endParaRPr lang="en-US" sz="1100" dirty="0"/>
          </a:p>
        </p:txBody>
      </p:sp>
      <p:sp>
        <p:nvSpPr>
          <p:cNvPr id="11" name="Shape 9"/>
          <p:cNvSpPr/>
          <p:nvPr/>
        </p:nvSpPr>
        <p:spPr>
          <a:xfrm>
            <a:off x="8275320" y="1783080"/>
            <a:ext cx="3108960" cy="1005840"/>
          </a:xfrm>
          <a:prstGeom prst="roundRect">
            <a:avLst>
              <a:gd name="adj" fmla="val 5455"/>
            </a:avLst>
          </a:prstGeom>
          <a:solidFill>
            <a:srgbClr val="FFFFFF"/>
          </a:solidFill>
          <a:ln w="12700">
            <a:solidFill>
              <a:srgbClr val="DDDCE6"/>
            </a:solidFill>
            <a:prstDash val="solid"/>
          </a:ln>
          <a:effectLst>
            <a:outerShdw sx="100000" sy="100000" kx="0" ky="0" algn="bl" rotWithShape="0" blurRad="19050" dist="50800" dir="2700000">
              <a:srgbClr val="D6D3DF">
                <a:alpha val="18000"/>
              </a:srgbClr>
            </a:outerShdw>
          </a:effectLst>
        </p:spPr>
      </p:sp>
      <p:sp>
        <p:nvSpPr>
          <p:cNvPr id="12" name="Shape 10"/>
          <p:cNvSpPr/>
          <p:nvPr/>
        </p:nvSpPr>
        <p:spPr>
          <a:xfrm>
            <a:off x="8275320" y="1783080"/>
            <a:ext cx="73152" cy="1005840"/>
          </a:xfrm>
          <a:prstGeom prst="rect">
            <a:avLst/>
          </a:prstGeom>
          <a:solidFill>
            <a:srgbClr val="4F7FC4"/>
          </a:solidFill>
          <a:ln w="12700">
            <a:solidFill>
              <a:srgbClr val="4F7FC4"/>
            </a:solidFill>
            <a:prstDash val="solid"/>
          </a:ln>
        </p:spPr>
      </p:sp>
      <p:sp>
        <p:nvSpPr>
          <p:cNvPr id="13" name="Text 11"/>
          <p:cNvSpPr/>
          <p:nvPr/>
        </p:nvSpPr>
        <p:spPr>
          <a:xfrm>
            <a:off x="8595360" y="2002536"/>
            <a:ext cx="2606040" cy="347472"/>
          </a:xfrm>
          <a:prstGeom prst="rect">
            <a:avLst/>
          </a:prstGeom>
          <a:noFill/>
          <a:ln/>
        </p:spPr>
        <p:txBody>
          <a:bodyPr wrap="square" lIns="0" tIns="0" rIns="0" bIns="0" rtlCol="0" anchor="t">
            <a:normAutofit/>
          </a:bodyPr>
          <a:lstStyle/>
          <a:p>
            <a:pPr algn="l" indent="0" marL="0">
              <a:buNone/>
            </a:pPr>
            <a:r>
              <a:rPr lang="en-US" sz="1630" b="1" dirty="0">
                <a:solidFill>
                  <a:srgbClr val="241337"/>
                </a:solidFill>
                <a:latin typeface="Aptos" pitchFamily="34" charset="0"/>
                <a:ea typeface="Aptos" pitchFamily="34" charset="-122"/>
                <a:cs typeface="Aptos" pitchFamily="34" charset="-120"/>
              </a:rPr>
              <a:t>open_spider</a:t>
            </a:r>
            <a:endParaRPr lang="en-US" sz="1630" dirty="0"/>
          </a:p>
        </p:txBody>
      </p:sp>
      <p:sp>
        <p:nvSpPr>
          <p:cNvPr id="14" name="Text 12"/>
          <p:cNvSpPr/>
          <p:nvPr/>
        </p:nvSpPr>
        <p:spPr>
          <a:xfrm>
            <a:off x="8567928" y="2478024"/>
            <a:ext cx="2606040" cy="137160"/>
          </a:xfrm>
          <a:prstGeom prst="rect">
            <a:avLst/>
          </a:prstGeom>
          <a:noFill/>
          <a:ln/>
        </p:spPr>
        <p:txBody>
          <a:bodyPr wrap="square" lIns="0" tIns="0" rIns="0" bIns="0" rtlCol="0" anchor="t">
            <a:normAutofit/>
          </a:bodyPr>
          <a:lstStyle/>
          <a:p>
            <a:pPr algn="l" indent="0" marL="0">
              <a:buNone/>
            </a:pPr>
            <a:r>
              <a:rPr lang="en-US" sz="1230" dirty="0">
                <a:solidFill>
                  <a:srgbClr val="6F7082"/>
                </a:solidFill>
                <a:latin typeface="Aptos" pitchFamily="34" charset="0"/>
                <a:ea typeface="Aptos" pitchFamily="34" charset="-122"/>
                <a:cs typeface="Aptos" pitchFamily="34" charset="-120"/>
              </a:rPr>
              <a:t>Initialiser connexion / ressources.</a:t>
            </a:r>
            <a:endParaRPr lang="en-US" sz="1230" dirty="0"/>
          </a:p>
        </p:txBody>
      </p:sp>
      <p:sp>
        <p:nvSpPr>
          <p:cNvPr id="15" name="Shape 13"/>
          <p:cNvSpPr/>
          <p:nvPr/>
        </p:nvSpPr>
        <p:spPr>
          <a:xfrm>
            <a:off x="8275320" y="2971800"/>
            <a:ext cx="3108960" cy="1005840"/>
          </a:xfrm>
          <a:prstGeom prst="roundRect">
            <a:avLst>
              <a:gd name="adj" fmla="val 5455"/>
            </a:avLst>
          </a:prstGeom>
          <a:solidFill>
            <a:srgbClr val="FFFFFF"/>
          </a:solidFill>
          <a:ln w="12700">
            <a:solidFill>
              <a:srgbClr val="DDDCE6"/>
            </a:solidFill>
            <a:prstDash val="solid"/>
          </a:ln>
          <a:effectLst>
            <a:outerShdw sx="100000" sy="100000" kx="0" ky="0" algn="bl" rotWithShape="0" blurRad="19050" dist="50800" dir="2700000">
              <a:srgbClr val="D6D3DF">
                <a:alpha val="18000"/>
              </a:srgbClr>
            </a:outerShdw>
          </a:effectLst>
        </p:spPr>
      </p:sp>
      <p:sp>
        <p:nvSpPr>
          <p:cNvPr id="16" name="Shape 14"/>
          <p:cNvSpPr/>
          <p:nvPr/>
        </p:nvSpPr>
        <p:spPr>
          <a:xfrm>
            <a:off x="8275320" y="2971800"/>
            <a:ext cx="73152" cy="1005840"/>
          </a:xfrm>
          <a:prstGeom prst="rect">
            <a:avLst/>
          </a:prstGeom>
          <a:solidFill>
            <a:srgbClr val="4EA27B"/>
          </a:solidFill>
          <a:ln w="12700">
            <a:solidFill>
              <a:srgbClr val="4EA27B"/>
            </a:solidFill>
            <a:prstDash val="solid"/>
          </a:ln>
        </p:spPr>
      </p:sp>
      <p:sp>
        <p:nvSpPr>
          <p:cNvPr id="17" name="Text 15"/>
          <p:cNvSpPr/>
          <p:nvPr/>
        </p:nvSpPr>
        <p:spPr>
          <a:xfrm>
            <a:off x="8595360" y="3191256"/>
            <a:ext cx="2606040" cy="347472"/>
          </a:xfrm>
          <a:prstGeom prst="rect">
            <a:avLst/>
          </a:prstGeom>
          <a:noFill/>
          <a:ln/>
        </p:spPr>
        <p:txBody>
          <a:bodyPr wrap="square" lIns="0" tIns="0" rIns="0" bIns="0" rtlCol="0" anchor="t">
            <a:normAutofit/>
          </a:bodyPr>
          <a:lstStyle/>
          <a:p>
            <a:pPr algn="l" indent="0" marL="0">
              <a:buNone/>
            </a:pPr>
            <a:r>
              <a:rPr lang="en-US" sz="1630" b="1" dirty="0">
                <a:solidFill>
                  <a:srgbClr val="241337"/>
                </a:solidFill>
                <a:latin typeface="Aptos" pitchFamily="34" charset="0"/>
                <a:ea typeface="Aptos" pitchFamily="34" charset="-122"/>
                <a:cs typeface="Aptos" pitchFamily="34" charset="-120"/>
              </a:rPr>
              <a:t>process_item</a:t>
            </a:r>
            <a:endParaRPr lang="en-US" sz="1630" dirty="0"/>
          </a:p>
        </p:txBody>
      </p:sp>
      <p:sp>
        <p:nvSpPr>
          <p:cNvPr id="18" name="Text 16"/>
          <p:cNvSpPr/>
          <p:nvPr/>
        </p:nvSpPr>
        <p:spPr>
          <a:xfrm>
            <a:off x="8567928" y="3666744"/>
            <a:ext cx="2606040" cy="137160"/>
          </a:xfrm>
          <a:prstGeom prst="rect">
            <a:avLst/>
          </a:prstGeom>
          <a:noFill/>
          <a:ln/>
        </p:spPr>
        <p:txBody>
          <a:bodyPr wrap="square" lIns="0" tIns="0" rIns="0" bIns="0" rtlCol="0" anchor="t">
            <a:normAutofit/>
          </a:bodyPr>
          <a:lstStyle/>
          <a:p>
            <a:pPr algn="l" indent="0" marL="0">
              <a:buNone/>
            </a:pPr>
            <a:r>
              <a:rPr lang="en-US" sz="1230" dirty="0">
                <a:solidFill>
                  <a:srgbClr val="6F7082"/>
                </a:solidFill>
                <a:latin typeface="Aptos" pitchFamily="34" charset="0"/>
                <a:ea typeface="Aptos" pitchFamily="34" charset="-122"/>
                <a:cs typeface="Aptos" pitchFamily="34" charset="-120"/>
              </a:rPr>
              <a:t>Traiter chaque item.</a:t>
            </a:r>
            <a:endParaRPr lang="en-US" sz="1230" dirty="0"/>
          </a:p>
        </p:txBody>
      </p:sp>
      <p:sp>
        <p:nvSpPr>
          <p:cNvPr id="19" name="Shape 17"/>
          <p:cNvSpPr/>
          <p:nvPr/>
        </p:nvSpPr>
        <p:spPr>
          <a:xfrm>
            <a:off x="8275320" y="4160520"/>
            <a:ext cx="3108960" cy="1005840"/>
          </a:xfrm>
          <a:prstGeom prst="roundRect">
            <a:avLst>
              <a:gd name="adj" fmla="val 5455"/>
            </a:avLst>
          </a:prstGeom>
          <a:solidFill>
            <a:srgbClr val="FFFFFF"/>
          </a:solidFill>
          <a:ln w="12700">
            <a:solidFill>
              <a:srgbClr val="DDDCE6"/>
            </a:solidFill>
            <a:prstDash val="solid"/>
          </a:ln>
          <a:effectLst>
            <a:outerShdw sx="100000" sy="100000" kx="0" ky="0" algn="bl" rotWithShape="0" blurRad="19050" dist="50800" dir="2700000">
              <a:srgbClr val="D6D3DF">
                <a:alpha val="18000"/>
              </a:srgbClr>
            </a:outerShdw>
          </a:effectLst>
        </p:spPr>
      </p:sp>
      <p:sp>
        <p:nvSpPr>
          <p:cNvPr id="20" name="Shape 18"/>
          <p:cNvSpPr/>
          <p:nvPr/>
        </p:nvSpPr>
        <p:spPr>
          <a:xfrm>
            <a:off x="8275320" y="4160520"/>
            <a:ext cx="73152" cy="1005840"/>
          </a:xfrm>
          <a:prstGeom prst="rect">
            <a:avLst/>
          </a:prstGeom>
          <a:solidFill>
            <a:srgbClr val="DB8129"/>
          </a:solidFill>
          <a:ln w="12700">
            <a:solidFill>
              <a:srgbClr val="DB8129"/>
            </a:solidFill>
            <a:prstDash val="solid"/>
          </a:ln>
        </p:spPr>
      </p:sp>
      <p:sp>
        <p:nvSpPr>
          <p:cNvPr id="21" name="Text 19"/>
          <p:cNvSpPr/>
          <p:nvPr/>
        </p:nvSpPr>
        <p:spPr>
          <a:xfrm>
            <a:off x="8595360" y="4379976"/>
            <a:ext cx="2606040" cy="347472"/>
          </a:xfrm>
          <a:prstGeom prst="rect">
            <a:avLst/>
          </a:prstGeom>
          <a:noFill/>
          <a:ln/>
        </p:spPr>
        <p:txBody>
          <a:bodyPr wrap="square" lIns="0" tIns="0" rIns="0" bIns="0" rtlCol="0" anchor="t">
            <a:normAutofit/>
          </a:bodyPr>
          <a:lstStyle/>
          <a:p>
            <a:pPr algn="l" indent="0" marL="0">
              <a:buNone/>
            </a:pPr>
            <a:r>
              <a:rPr lang="en-US" sz="1630" b="1" dirty="0">
                <a:solidFill>
                  <a:srgbClr val="241337"/>
                </a:solidFill>
                <a:latin typeface="Aptos" pitchFamily="34" charset="0"/>
                <a:ea typeface="Aptos" pitchFamily="34" charset="-122"/>
                <a:cs typeface="Aptos" pitchFamily="34" charset="-120"/>
              </a:rPr>
              <a:t>close_spider</a:t>
            </a:r>
            <a:endParaRPr lang="en-US" sz="1630" dirty="0"/>
          </a:p>
        </p:txBody>
      </p:sp>
      <p:sp>
        <p:nvSpPr>
          <p:cNvPr id="22" name="Text 20"/>
          <p:cNvSpPr/>
          <p:nvPr/>
        </p:nvSpPr>
        <p:spPr>
          <a:xfrm>
            <a:off x="8567928" y="4855464"/>
            <a:ext cx="2606040" cy="137160"/>
          </a:xfrm>
          <a:prstGeom prst="rect">
            <a:avLst/>
          </a:prstGeom>
          <a:noFill/>
          <a:ln/>
        </p:spPr>
        <p:txBody>
          <a:bodyPr wrap="square" lIns="0" tIns="0" rIns="0" bIns="0" rtlCol="0" anchor="t">
            <a:normAutofit/>
          </a:bodyPr>
          <a:lstStyle/>
          <a:p>
            <a:pPr algn="l" indent="0" marL="0">
              <a:buNone/>
            </a:pPr>
            <a:r>
              <a:rPr lang="en-US" sz="1230" dirty="0">
                <a:solidFill>
                  <a:srgbClr val="6F7082"/>
                </a:solidFill>
                <a:latin typeface="Aptos" pitchFamily="34" charset="0"/>
                <a:ea typeface="Aptos" pitchFamily="34" charset="-122"/>
                <a:cs typeface="Aptos" pitchFamily="34" charset="-120"/>
              </a:rPr>
              <a:t>Libérer proprement les ressources.</a:t>
            </a:r>
            <a:endParaRPr lang="en-US" sz="1230" dirty="0"/>
          </a:p>
        </p:txBody>
      </p:sp>
      <p:sp>
        <p:nvSpPr>
          <p:cNvPr id="25" name="Slide Number Placeholder 0"/>
          <p:cNvSpPr>
            <a:spLocks noGrp="1"/>
          </p:cNvSpPr>
          <p:nvPr>
            <p:ph type="sldNum" sz="quarter" idx="4294967295"/>
          </p:nvPr>
        </p:nvSpPr>
        <p:spPr>
          <a:xfrm>
            <a:off x="11750040" y="274320"/>
            <a:ext cx="228600" cy="164592"/>
          </a:xfrm>
          <a:prstGeom prst="rect">
            <a:avLst/>
          </a:prstGeom>
          <a:extLst>
            <a:ext uri="{C572A759-6A51-4108-AA02-DFA0A04FC94B}">
              <ma14:wrappingTextBoxFlag xmlns:ma14="http://schemas.microsoft.com/office/mac/drawingml/2011/main" val="0"/>
            </a:ext>
          </a:extLst>
        </p:spPr>
        <p:txBody>
          <a:bodyPr/>
          <a:lstStyle>
            <a:lvl1pPr>
              <a:defRPr sz="800">
                <a:solidFill>
                  <a:srgbClr val="858697"/>
                </a:solidFill>
                <a:latin typeface="Aptos"/>
                <a:ea typeface="Aptos"/>
                <a:cs typeface="Aptos"/>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566928" y="438912"/>
            <a:ext cx="5029200" cy="228600"/>
          </a:xfrm>
          <a:prstGeom prst="rect">
            <a:avLst/>
          </a:prstGeom>
          <a:noFill/>
          <a:ln/>
        </p:spPr>
        <p:txBody>
          <a:bodyPr wrap="square" lIns="0" tIns="0" rIns="0" bIns="0" rtlCol="0" anchor="ctr">
            <a:normAutofit/>
          </a:bodyPr>
          <a:lstStyle/>
          <a:p>
            <a:pPr algn="l" indent="0" marL="0">
              <a:buNone/>
            </a:pPr>
            <a:r>
              <a:rPr lang="en-US" sz="1050" b="1" spc="150" kern="0" dirty="0">
                <a:solidFill>
                  <a:srgbClr val="7432A8"/>
                </a:solidFill>
                <a:latin typeface="Aptos" pitchFamily="34" charset="0"/>
                <a:ea typeface="Aptos" pitchFamily="34" charset="-122"/>
                <a:cs typeface="Aptos" pitchFamily="34" charset="-120"/>
              </a:rPr>
              <a:t>SETTINGS</a:t>
            </a:r>
            <a:endParaRPr lang="en-US" sz="1050" dirty="0"/>
          </a:p>
        </p:txBody>
      </p:sp>
      <p:sp>
        <p:nvSpPr>
          <p:cNvPr id="3" name="Text 1"/>
          <p:cNvSpPr/>
          <p:nvPr/>
        </p:nvSpPr>
        <p:spPr>
          <a:xfrm>
            <a:off x="566928" y="768096"/>
            <a:ext cx="10972800" cy="566928"/>
          </a:xfrm>
          <a:prstGeom prst="rect">
            <a:avLst/>
          </a:prstGeom>
          <a:noFill/>
          <a:ln/>
        </p:spPr>
        <p:txBody>
          <a:bodyPr wrap="square" lIns="0" tIns="0" rIns="0" bIns="0" rtlCol="0" anchor="t">
            <a:normAutofit/>
          </a:bodyPr>
          <a:lstStyle/>
          <a:p>
            <a:pPr algn="l" indent="0" marL="0">
              <a:buNone/>
            </a:pPr>
            <a:r>
              <a:rPr lang="en-US" sz="2800" b="1" dirty="0">
                <a:solidFill>
                  <a:srgbClr val="241337"/>
                </a:solidFill>
                <a:latin typeface="Aptos" pitchFamily="34" charset="0"/>
                <a:ea typeface="Aptos" pitchFamily="34" charset="-122"/>
                <a:cs typeface="Aptos" pitchFamily="34" charset="-120"/>
              </a:rPr>
              <a:t>Rendre le crawl observable et raisonnable</a:t>
            </a:r>
            <a:endParaRPr lang="en-US" sz="2800" dirty="0"/>
          </a:p>
        </p:txBody>
      </p:sp>
      <p:sp>
        <p:nvSpPr>
          <p:cNvPr id="4" name="Shape 2"/>
          <p:cNvSpPr/>
          <p:nvPr/>
        </p:nvSpPr>
        <p:spPr>
          <a:xfrm>
            <a:off x="685800" y="1691640"/>
            <a:ext cx="5303520" cy="3429000"/>
          </a:xfrm>
          <a:prstGeom prst="roundRect">
            <a:avLst>
              <a:gd name="adj" fmla="val 1067"/>
            </a:avLst>
          </a:prstGeom>
          <a:solidFill>
            <a:srgbClr val="17141E"/>
          </a:solidFill>
          <a:ln w="12700">
            <a:solidFill>
              <a:srgbClr val="17141E"/>
            </a:solidFill>
            <a:prstDash val="solid"/>
          </a:ln>
        </p:spPr>
      </p:sp>
      <p:sp>
        <p:nvSpPr>
          <p:cNvPr id="5" name="Shape 3"/>
          <p:cNvSpPr/>
          <p:nvPr/>
        </p:nvSpPr>
        <p:spPr>
          <a:xfrm>
            <a:off x="685800" y="1691640"/>
            <a:ext cx="5303520" cy="347472"/>
          </a:xfrm>
          <a:prstGeom prst="rect">
            <a:avLst/>
          </a:prstGeom>
          <a:solidFill>
            <a:srgbClr val="2B2633"/>
          </a:solidFill>
          <a:ln w="12700">
            <a:solidFill>
              <a:srgbClr val="2B2633"/>
            </a:solidFill>
            <a:prstDash val="solid"/>
          </a:ln>
        </p:spPr>
      </p:sp>
      <p:sp>
        <p:nvSpPr>
          <p:cNvPr id="6" name="Shape 4"/>
          <p:cNvSpPr/>
          <p:nvPr/>
        </p:nvSpPr>
        <p:spPr>
          <a:xfrm>
            <a:off x="868680" y="1810512"/>
            <a:ext cx="73152" cy="73152"/>
          </a:xfrm>
          <a:prstGeom prst="ellipse">
            <a:avLst/>
          </a:prstGeom>
          <a:solidFill>
            <a:srgbClr val="D55E5A"/>
          </a:solidFill>
          <a:ln w="12700">
            <a:solidFill>
              <a:srgbClr val="D55E5A"/>
            </a:solidFill>
            <a:prstDash val="solid"/>
          </a:ln>
        </p:spPr>
      </p:sp>
      <p:sp>
        <p:nvSpPr>
          <p:cNvPr id="7" name="Shape 5"/>
          <p:cNvSpPr/>
          <p:nvPr/>
        </p:nvSpPr>
        <p:spPr>
          <a:xfrm>
            <a:off x="1014984" y="1810512"/>
            <a:ext cx="73152" cy="73152"/>
          </a:xfrm>
          <a:prstGeom prst="ellipse">
            <a:avLst/>
          </a:prstGeom>
          <a:solidFill>
            <a:srgbClr val="E0B24A"/>
          </a:solidFill>
          <a:ln w="12700">
            <a:solidFill>
              <a:srgbClr val="E0B24A"/>
            </a:solidFill>
            <a:prstDash val="solid"/>
          </a:ln>
        </p:spPr>
      </p:sp>
      <p:sp>
        <p:nvSpPr>
          <p:cNvPr id="8" name="Shape 6"/>
          <p:cNvSpPr/>
          <p:nvPr/>
        </p:nvSpPr>
        <p:spPr>
          <a:xfrm>
            <a:off x="1161288" y="1810512"/>
            <a:ext cx="73152" cy="73152"/>
          </a:xfrm>
          <a:prstGeom prst="ellipse">
            <a:avLst/>
          </a:prstGeom>
          <a:solidFill>
            <a:srgbClr val="7EB465"/>
          </a:solidFill>
          <a:ln w="12700">
            <a:solidFill>
              <a:srgbClr val="7EB465"/>
            </a:solidFill>
            <a:prstDash val="solid"/>
          </a:ln>
        </p:spPr>
      </p:sp>
      <p:sp>
        <p:nvSpPr>
          <p:cNvPr id="9" name="Text 7"/>
          <p:cNvSpPr/>
          <p:nvPr/>
        </p:nvSpPr>
        <p:spPr>
          <a:xfrm>
            <a:off x="4892040" y="1764792"/>
            <a:ext cx="914400" cy="137160"/>
          </a:xfrm>
          <a:prstGeom prst="rect">
            <a:avLst/>
          </a:prstGeom>
          <a:noFill/>
          <a:ln/>
        </p:spPr>
        <p:txBody>
          <a:bodyPr wrap="square" lIns="0" tIns="0" rIns="0" bIns="0" rtlCol="0" anchor="ctr">
            <a:normAutofit/>
          </a:bodyPr>
          <a:lstStyle/>
          <a:p>
            <a:pPr algn="r" indent="0" marL="0">
              <a:buNone/>
            </a:pPr>
            <a:r>
              <a:rPr lang="en-US" sz="900" dirty="0">
                <a:solidFill>
                  <a:srgbClr val="B8B3C2"/>
                </a:solidFill>
                <a:latin typeface="Aptos" pitchFamily="34" charset="0"/>
                <a:ea typeface="Aptos" pitchFamily="34" charset="-122"/>
                <a:cs typeface="Aptos" pitchFamily="34" charset="-120"/>
              </a:rPr>
              <a:t>settings.py</a:t>
            </a:r>
            <a:endParaRPr lang="en-US" sz="900" dirty="0"/>
          </a:p>
        </p:txBody>
      </p:sp>
      <p:sp>
        <p:nvSpPr>
          <p:cNvPr id="10" name="Text 8"/>
          <p:cNvSpPr/>
          <p:nvPr/>
        </p:nvSpPr>
        <p:spPr>
          <a:xfrm>
            <a:off x="914400" y="2167128"/>
            <a:ext cx="4846320" cy="2807208"/>
          </a:xfrm>
          <a:prstGeom prst="rect">
            <a:avLst/>
          </a:prstGeom>
          <a:noFill/>
          <a:ln/>
        </p:spPr>
        <p:txBody>
          <a:bodyPr wrap="square" lIns="0" tIns="0" rIns="0" bIns="0" rtlCol="0" anchor="t">
            <a:normAutofit/>
          </a:bodyPr>
          <a:lstStyle/>
          <a:p>
            <a:pPr algn="l" indent="0" marL="0">
              <a:buNone/>
            </a:pPr>
            <a:r>
              <a:rPr lang="en-US" sz="1100" dirty="0">
                <a:solidFill>
                  <a:srgbClr val="F3EFF7"/>
                </a:solidFill>
                <a:latin typeface="Courier New" pitchFamily="34" charset="0"/>
                <a:ea typeface="Courier New" pitchFamily="34" charset="-122"/>
                <a:cs typeface="Courier New" pitchFamily="34" charset="-120"/>
              </a:rPr>
              <a:t>ROBOTSTXT_OBEY = True</a:t>
            </a:r>
            <a:endParaRPr lang="en-US" sz="1100" dirty="0"/>
          </a:p>
          <a:p>
            <a:pPr algn="l" indent="0" marL="0">
              <a:buNone/>
            </a:pPr>
            <a:endParaRPr lang="en-US" sz="1100" dirty="0"/>
          </a:p>
          <a:p>
            <a:pPr algn="l" indent="0" marL="0">
              <a:buNone/>
            </a:pPr>
            <a:r>
              <a:rPr lang="en-US" sz="1100" dirty="0">
                <a:solidFill>
                  <a:srgbClr val="F3EFF7"/>
                </a:solidFill>
                <a:latin typeface="Courier New" pitchFamily="34" charset="0"/>
                <a:ea typeface="Courier New" pitchFamily="34" charset="-122"/>
                <a:cs typeface="Courier New" pitchFamily="34" charset="-120"/>
              </a:rPr>
              <a:t>DOWNLOAD_DELAY = 1.0</a:t>
            </a:r>
            <a:endParaRPr lang="en-US" sz="1100" dirty="0"/>
          </a:p>
          <a:p>
            <a:pPr algn="l" indent="0" marL="0">
              <a:buNone/>
            </a:pPr>
            <a:r>
              <a:rPr lang="en-US" sz="1100" dirty="0">
                <a:solidFill>
                  <a:srgbClr val="F3EFF7"/>
                </a:solidFill>
                <a:latin typeface="Courier New" pitchFamily="34" charset="0"/>
                <a:ea typeface="Courier New" pitchFamily="34" charset="-122"/>
                <a:cs typeface="Courier New" pitchFamily="34" charset="-120"/>
              </a:rPr>
              <a:t>CONCURRENT_REQUESTS_PER_DOMAIN = 4</a:t>
            </a:r>
            <a:endParaRPr lang="en-US" sz="1100" dirty="0"/>
          </a:p>
          <a:p>
            <a:pPr algn="l" indent="0" marL="0">
              <a:buNone/>
            </a:pPr>
            <a:endParaRPr lang="en-US" sz="1100" dirty="0"/>
          </a:p>
          <a:p>
            <a:pPr algn="l" indent="0" marL="0">
              <a:buNone/>
            </a:pPr>
            <a:r>
              <a:rPr lang="en-US" sz="1100" dirty="0">
                <a:solidFill>
                  <a:srgbClr val="F3EFF7"/>
                </a:solidFill>
                <a:latin typeface="Courier New" pitchFamily="34" charset="0"/>
                <a:ea typeface="Courier New" pitchFamily="34" charset="-122"/>
                <a:cs typeface="Courier New" pitchFamily="34" charset="-120"/>
              </a:rPr>
              <a:t>DOWNLOAD_TIMEOUT = 20</a:t>
            </a:r>
            <a:endParaRPr lang="en-US" sz="1100" dirty="0"/>
          </a:p>
          <a:p>
            <a:pPr algn="l" indent="0" marL="0">
              <a:buNone/>
            </a:pPr>
            <a:r>
              <a:rPr lang="en-US" sz="1100" dirty="0">
                <a:solidFill>
                  <a:srgbClr val="F3EFF7"/>
                </a:solidFill>
                <a:latin typeface="Courier New" pitchFamily="34" charset="0"/>
                <a:ea typeface="Courier New" pitchFamily="34" charset="-122"/>
                <a:cs typeface="Courier New" pitchFamily="34" charset="-120"/>
              </a:rPr>
              <a:t>RETRY_TIMES = 2</a:t>
            </a:r>
            <a:endParaRPr lang="en-US" sz="1100" dirty="0"/>
          </a:p>
          <a:p>
            <a:pPr algn="l" indent="0" marL="0">
              <a:buNone/>
            </a:pPr>
            <a:endParaRPr lang="en-US" sz="1100" dirty="0"/>
          </a:p>
          <a:p>
            <a:pPr algn="l" indent="0" marL="0">
              <a:buNone/>
            </a:pPr>
            <a:r>
              <a:rPr lang="en-US" sz="1100" dirty="0">
                <a:solidFill>
                  <a:srgbClr val="F3EFF7"/>
                </a:solidFill>
                <a:latin typeface="Courier New" pitchFamily="34" charset="0"/>
                <a:ea typeface="Courier New" pitchFamily="34" charset="-122"/>
                <a:cs typeface="Courier New" pitchFamily="34" charset="-120"/>
              </a:rPr>
              <a:t>LOG_LEVEL = "INFO"</a:t>
            </a:r>
            <a:endParaRPr lang="en-US" sz="1100" dirty="0"/>
          </a:p>
        </p:txBody>
      </p:sp>
      <p:sp>
        <p:nvSpPr>
          <p:cNvPr id="11" name="Shape 9"/>
          <p:cNvSpPr/>
          <p:nvPr/>
        </p:nvSpPr>
        <p:spPr>
          <a:xfrm>
            <a:off x="6309360" y="1737360"/>
            <a:ext cx="2468880" cy="1325880"/>
          </a:xfrm>
          <a:prstGeom prst="roundRect">
            <a:avLst>
              <a:gd name="adj" fmla="val 4138"/>
            </a:avLst>
          </a:prstGeom>
          <a:solidFill>
            <a:srgbClr val="FFFFFF"/>
          </a:solidFill>
          <a:ln w="12700">
            <a:solidFill>
              <a:srgbClr val="DDDCE6"/>
            </a:solidFill>
            <a:prstDash val="solid"/>
          </a:ln>
          <a:effectLst>
            <a:outerShdw sx="100000" sy="100000" kx="0" ky="0" algn="bl" rotWithShape="0" blurRad="19050" dist="50800" dir="2700000">
              <a:srgbClr val="D6D3DF">
                <a:alpha val="18000"/>
              </a:srgbClr>
            </a:outerShdw>
          </a:effectLst>
        </p:spPr>
      </p:sp>
      <p:sp>
        <p:nvSpPr>
          <p:cNvPr id="12" name="Shape 10"/>
          <p:cNvSpPr/>
          <p:nvPr/>
        </p:nvSpPr>
        <p:spPr>
          <a:xfrm>
            <a:off x="6309360" y="1737360"/>
            <a:ext cx="73152" cy="1325880"/>
          </a:xfrm>
          <a:prstGeom prst="rect">
            <a:avLst/>
          </a:prstGeom>
          <a:solidFill>
            <a:srgbClr val="4EA27B"/>
          </a:solidFill>
          <a:ln w="12700">
            <a:solidFill>
              <a:srgbClr val="4EA27B"/>
            </a:solidFill>
            <a:prstDash val="solid"/>
          </a:ln>
        </p:spPr>
      </p:sp>
      <p:sp>
        <p:nvSpPr>
          <p:cNvPr id="13" name="Text 11"/>
          <p:cNvSpPr/>
          <p:nvPr/>
        </p:nvSpPr>
        <p:spPr>
          <a:xfrm>
            <a:off x="6629400" y="1956816"/>
            <a:ext cx="1965960" cy="347472"/>
          </a:xfrm>
          <a:prstGeom prst="rect">
            <a:avLst/>
          </a:prstGeom>
          <a:noFill/>
          <a:ln/>
        </p:spPr>
        <p:txBody>
          <a:bodyPr wrap="square" lIns="0" tIns="0" rIns="0" bIns="0" rtlCol="0" anchor="t">
            <a:normAutofit/>
          </a:bodyPr>
          <a:lstStyle/>
          <a:p>
            <a:pPr algn="l" indent="0" marL="0">
              <a:buNone/>
            </a:pPr>
            <a:r>
              <a:rPr lang="en-US" sz="1630" b="1" dirty="0">
                <a:solidFill>
                  <a:srgbClr val="241337"/>
                </a:solidFill>
                <a:latin typeface="Aptos" pitchFamily="34" charset="0"/>
                <a:ea typeface="Aptos" pitchFamily="34" charset="-122"/>
                <a:cs typeface="Aptos" pitchFamily="34" charset="-120"/>
              </a:rPr>
              <a:t>Politesse</a:t>
            </a:r>
            <a:endParaRPr lang="en-US" sz="1630" dirty="0"/>
          </a:p>
        </p:txBody>
      </p:sp>
      <p:sp>
        <p:nvSpPr>
          <p:cNvPr id="14" name="Text 12"/>
          <p:cNvSpPr/>
          <p:nvPr/>
        </p:nvSpPr>
        <p:spPr>
          <a:xfrm>
            <a:off x="6601968" y="2432304"/>
            <a:ext cx="1965960" cy="457200"/>
          </a:xfrm>
          <a:prstGeom prst="rect">
            <a:avLst/>
          </a:prstGeom>
          <a:noFill/>
          <a:ln/>
        </p:spPr>
        <p:txBody>
          <a:bodyPr wrap="square" lIns="0" tIns="0" rIns="0" bIns="0" rtlCol="0" anchor="t">
            <a:normAutofit/>
          </a:bodyPr>
          <a:lstStyle/>
          <a:p>
            <a:pPr algn="l" indent="0" marL="0">
              <a:buNone/>
            </a:pPr>
            <a:r>
              <a:rPr lang="en-US" sz="1230" dirty="0">
                <a:solidFill>
                  <a:srgbClr val="6F7082"/>
                </a:solidFill>
                <a:latin typeface="Aptos" pitchFamily="34" charset="0"/>
                <a:ea typeface="Aptos" pitchFamily="34" charset="-122"/>
                <a:cs typeface="Aptos" pitchFamily="34" charset="-120"/>
              </a:rPr>
              <a:t>Limiter fréquence et concurrence selon le contexte.</a:t>
            </a:r>
            <a:endParaRPr lang="en-US" sz="1230" dirty="0"/>
          </a:p>
        </p:txBody>
      </p:sp>
      <p:sp>
        <p:nvSpPr>
          <p:cNvPr id="15" name="Shape 13"/>
          <p:cNvSpPr/>
          <p:nvPr/>
        </p:nvSpPr>
        <p:spPr>
          <a:xfrm>
            <a:off x="9006840" y="1737360"/>
            <a:ext cx="2468880" cy="1325880"/>
          </a:xfrm>
          <a:prstGeom prst="roundRect">
            <a:avLst>
              <a:gd name="adj" fmla="val 4138"/>
            </a:avLst>
          </a:prstGeom>
          <a:solidFill>
            <a:srgbClr val="FFFFFF"/>
          </a:solidFill>
          <a:ln w="12700">
            <a:solidFill>
              <a:srgbClr val="DDDCE6"/>
            </a:solidFill>
            <a:prstDash val="solid"/>
          </a:ln>
          <a:effectLst>
            <a:outerShdw sx="100000" sy="100000" kx="0" ky="0" algn="bl" rotWithShape="0" blurRad="19050" dist="50800" dir="2700000">
              <a:srgbClr val="D6D3DF">
                <a:alpha val="18000"/>
              </a:srgbClr>
            </a:outerShdw>
          </a:effectLst>
        </p:spPr>
      </p:sp>
      <p:sp>
        <p:nvSpPr>
          <p:cNvPr id="16" name="Shape 14"/>
          <p:cNvSpPr/>
          <p:nvPr/>
        </p:nvSpPr>
        <p:spPr>
          <a:xfrm>
            <a:off x="9006840" y="1737360"/>
            <a:ext cx="73152" cy="1325880"/>
          </a:xfrm>
          <a:prstGeom prst="rect">
            <a:avLst/>
          </a:prstGeom>
          <a:solidFill>
            <a:srgbClr val="4F7FC4"/>
          </a:solidFill>
          <a:ln w="12700">
            <a:solidFill>
              <a:srgbClr val="4F7FC4"/>
            </a:solidFill>
            <a:prstDash val="solid"/>
          </a:ln>
        </p:spPr>
      </p:sp>
      <p:sp>
        <p:nvSpPr>
          <p:cNvPr id="17" name="Text 15"/>
          <p:cNvSpPr/>
          <p:nvPr/>
        </p:nvSpPr>
        <p:spPr>
          <a:xfrm>
            <a:off x="9326880" y="1956816"/>
            <a:ext cx="1965960" cy="347472"/>
          </a:xfrm>
          <a:prstGeom prst="rect">
            <a:avLst/>
          </a:prstGeom>
          <a:noFill/>
          <a:ln/>
        </p:spPr>
        <p:txBody>
          <a:bodyPr wrap="square" lIns="0" tIns="0" rIns="0" bIns="0" rtlCol="0" anchor="t">
            <a:normAutofit/>
          </a:bodyPr>
          <a:lstStyle/>
          <a:p>
            <a:pPr algn="l" indent="0" marL="0">
              <a:buNone/>
            </a:pPr>
            <a:r>
              <a:rPr lang="en-US" sz="1630" b="1" dirty="0">
                <a:solidFill>
                  <a:srgbClr val="241337"/>
                </a:solidFill>
                <a:latin typeface="Aptos" pitchFamily="34" charset="0"/>
                <a:ea typeface="Aptos" pitchFamily="34" charset="-122"/>
                <a:cs typeface="Aptos" pitchFamily="34" charset="-120"/>
              </a:rPr>
              <a:t>Robustesse</a:t>
            </a:r>
            <a:endParaRPr lang="en-US" sz="1630" dirty="0"/>
          </a:p>
        </p:txBody>
      </p:sp>
      <p:sp>
        <p:nvSpPr>
          <p:cNvPr id="18" name="Text 16"/>
          <p:cNvSpPr/>
          <p:nvPr/>
        </p:nvSpPr>
        <p:spPr>
          <a:xfrm>
            <a:off x="9299448" y="2432304"/>
            <a:ext cx="1965960" cy="457200"/>
          </a:xfrm>
          <a:prstGeom prst="rect">
            <a:avLst/>
          </a:prstGeom>
          <a:noFill/>
          <a:ln/>
        </p:spPr>
        <p:txBody>
          <a:bodyPr wrap="square" lIns="0" tIns="0" rIns="0" bIns="0" rtlCol="0" anchor="t">
            <a:normAutofit/>
          </a:bodyPr>
          <a:lstStyle/>
          <a:p>
            <a:pPr algn="l" indent="0" marL="0">
              <a:buNone/>
            </a:pPr>
            <a:r>
              <a:rPr lang="en-US" sz="1230" dirty="0">
                <a:solidFill>
                  <a:srgbClr val="6F7082"/>
                </a:solidFill>
                <a:latin typeface="Aptos" pitchFamily="34" charset="0"/>
                <a:ea typeface="Aptos" pitchFamily="34" charset="-122"/>
                <a:cs typeface="Aptos" pitchFamily="34" charset="-120"/>
              </a:rPr>
              <a:t>Timeouts et retries pour les erreurs temporaires.</a:t>
            </a:r>
            <a:endParaRPr lang="en-US" sz="1230" dirty="0"/>
          </a:p>
        </p:txBody>
      </p:sp>
      <p:sp>
        <p:nvSpPr>
          <p:cNvPr id="19" name="Shape 17"/>
          <p:cNvSpPr/>
          <p:nvPr/>
        </p:nvSpPr>
        <p:spPr>
          <a:xfrm>
            <a:off x="6309360" y="3291840"/>
            <a:ext cx="2468880" cy="1325880"/>
          </a:xfrm>
          <a:prstGeom prst="roundRect">
            <a:avLst>
              <a:gd name="adj" fmla="val 4138"/>
            </a:avLst>
          </a:prstGeom>
          <a:solidFill>
            <a:srgbClr val="FFFFFF"/>
          </a:solidFill>
          <a:ln w="12700">
            <a:solidFill>
              <a:srgbClr val="DDDCE6"/>
            </a:solidFill>
            <a:prstDash val="solid"/>
          </a:ln>
          <a:effectLst>
            <a:outerShdw sx="100000" sy="100000" kx="0" ky="0" algn="bl" rotWithShape="0" blurRad="19050" dist="50800" dir="2700000">
              <a:srgbClr val="D6D3DF">
                <a:alpha val="18000"/>
              </a:srgbClr>
            </a:outerShdw>
          </a:effectLst>
        </p:spPr>
      </p:sp>
      <p:sp>
        <p:nvSpPr>
          <p:cNvPr id="20" name="Shape 18"/>
          <p:cNvSpPr/>
          <p:nvPr/>
        </p:nvSpPr>
        <p:spPr>
          <a:xfrm>
            <a:off x="6309360" y="3291840"/>
            <a:ext cx="73152" cy="1325880"/>
          </a:xfrm>
          <a:prstGeom prst="rect">
            <a:avLst/>
          </a:prstGeom>
          <a:solidFill>
            <a:srgbClr val="7432A8"/>
          </a:solidFill>
          <a:ln w="12700">
            <a:solidFill>
              <a:srgbClr val="7432A8"/>
            </a:solidFill>
            <a:prstDash val="solid"/>
          </a:ln>
        </p:spPr>
      </p:sp>
      <p:sp>
        <p:nvSpPr>
          <p:cNvPr id="21" name="Text 19"/>
          <p:cNvSpPr/>
          <p:nvPr/>
        </p:nvSpPr>
        <p:spPr>
          <a:xfrm>
            <a:off x="6629400" y="3511296"/>
            <a:ext cx="1965960" cy="347472"/>
          </a:xfrm>
          <a:prstGeom prst="rect">
            <a:avLst/>
          </a:prstGeom>
          <a:noFill/>
          <a:ln/>
        </p:spPr>
        <p:txBody>
          <a:bodyPr wrap="square" lIns="0" tIns="0" rIns="0" bIns="0" rtlCol="0" anchor="t">
            <a:normAutofit/>
          </a:bodyPr>
          <a:lstStyle/>
          <a:p>
            <a:pPr algn="l" indent="0" marL="0">
              <a:buNone/>
            </a:pPr>
            <a:r>
              <a:rPr lang="en-US" sz="1630" b="1" dirty="0">
                <a:solidFill>
                  <a:srgbClr val="241337"/>
                </a:solidFill>
                <a:latin typeface="Aptos" pitchFamily="34" charset="0"/>
                <a:ea typeface="Aptos" pitchFamily="34" charset="-122"/>
                <a:cs typeface="Aptos" pitchFamily="34" charset="-120"/>
              </a:rPr>
              <a:t>Observabilité</a:t>
            </a:r>
            <a:endParaRPr lang="en-US" sz="1630" dirty="0"/>
          </a:p>
        </p:txBody>
      </p:sp>
      <p:sp>
        <p:nvSpPr>
          <p:cNvPr id="22" name="Text 20"/>
          <p:cNvSpPr/>
          <p:nvPr/>
        </p:nvSpPr>
        <p:spPr>
          <a:xfrm>
            <a:off x="6601968" y="3986784"/>
            <a:ext cx="1965960" cy="457200"/>
          </a:xfrm>
          <a:prstGeom prst="rect">
            <a:avLst/>
          </a:prstGeom>
          <a:noFill/>
          <a:ln/>
        </p:spPr>
        <p:txBody>
          <a:bodyPr wrap="square" lIns="0" tIns="0" rIns="0" bIns="0" rtlCol="0" anchor="t">
            <a:normAutofit/>
          </a:bodyPr>
          <a:lstStyle/>
          <a:p>
            <a:pPr algn="l" indent="0" marL="0">
              <a:buNone/>
            </a:pPr>
            <a:r>
              <a:rPr lang="en-US" sz="1230" dirty="0">
                <a:solidFill>
                  <a:srgbClr val="6F7082"/>
                </a:solidFill>
                <a:latin typeface="Aptos" pitchFamily="34" charset="0"/>
                <a:ea typeface="Aptos" pitchFamily="34" charset="-122"/>
                <a:cs typeface="Aptos" pitchFamily="34" charset="-120"/>
              </a:rPr>
              <a:t>Logs, stats et erreurs visibles.</a:t>
            </a:r>
            <a:endParaRPr lang="en-US" sz="1230" dirty="0"/>
          </a:p>
        </p:txBody>
      </p:sp>
      <p:sp>
        <p:nvSpPr>
          <p:cNvPr id="23" name="Shape 21"/>
          <p:cNvSpPr/>
          <p:nvPr/>
        </p:nvSpPr>
        <p:spPr>
          <a:xfrm>
            <a:off x="9006840" y="3291840"/>
            <a:ext cx="2468880" cy="1325880"/>
          </a:xfrm>
          <a:prstGeom prst="roundRect">
            <a:avLst>
              <a:gd name="adj" fmla="val 4138"/>
            </a:avLst>
          </a:prstGeom>
          <a:solidFill>
            <a:srgbClr val="FFFFFF"/>
          </a:solidFill>
          <a:ln w="12700">
            <a:solidFill>
              <a:srgbClr val="DDDCE6"/>
            </a:solidFill>
            <a:prstDash val="solid"/>
          </a:ln>
          <a:effectLst>
            <a:outerShdw sx="100000" sy="100000" kx="0" ky="0" algn="bl" rotWithShape="0" blurRad="19050" dist="50800" dir="2700000">
              <a:srgbClr val="D6D3DF">
                <a:alpha val="18000"/>
              </a:srgbClr>
            </a:outerShdw>
          </a:effectLst>
        </p:spPr>
      </p:sp>
      <p:sp>
        <p:nvSpPr>
          <p:cNvPr id="24" name="Shape 22"/>
          <p:cNvSpPr/>
          <p:nvPr/>
        </p:nvSpPr>
        <p:spPr>
          <a:xfrm>
            <a:off x="9006840" y="3291840"/>
            <a:ext cx="73152" cy="1325880"/>
          </a:xfrm>
          <a:prstGeom prst="rect">
            <a:avLst/>
          </a:prstGeom>
          <a:solidFill>
            <a:srgbClr val="DB8129"/>
          </a:solidFill>
          <a:ln w="12700">
            <a:solidFill>
              <a:srgbClr val="DB8129"/>
            </a:solidFill>
            <a:prstDash val="solid"/>
          </a:ln>
        </p:spPr>
      </p:sp>
      <p:sp>
        <p:nvSpPr>
          <p:cNvPr id="25" name="Text 23"/>
          <p:cNvSpPr/>
          <p:nvPr/>
        </p:nvSpPr>
        <p:spPr>
          <a:xfrm>
            <a:off x="9326880" y="3511296"/>
            <a:ext cx="1965960" cy="347472"/>
          </a:xfrm>
          <a:prstGeom prst="rect">
            <a:avLst/>
          </a:prstGeom>
          <a:noFill/>
          <a:ln/>
        </p:spPr>
        <p:txBody>
          <a:bodyPr wrap="square" lIns="0" tIns="0" rIns="0" bIns="0" rtlCol="0" anchor="t">
            <a:normAutofit/>
          </a:bodyPr>
          <a:lstStyle/>
          <a:p>
            <a:pPr algn="l" indent="0" marL="0">
              <a:buNone/>
            </a:pPr>
            <a:r>
              <a:rPr lang="en-US" sz="1630" b="1" dirty="0">
                <a:solidFill>
                  <a:srgbClr val="241337"/>
                </a:solidFill>
                <a:latin typeface="Aptos" pitchFamily="34" charset="0"/>
                <a:ea typeface="Aptos" pitchFamily="34" charset="-122"/>
                <a:cs typeface="Aptos" pitchFamily="34" charset="-120"/>
              </a:rPr>
              <a:t>Règles source</a:t>
            </a:r>
            <a:endParaRPr lang="en-US" sz="1630" dirty="0"/>
          </a:p>
        </p:txBody>
      </p:sp>
      <p:sp>
        <p:nvSpPr>
          <p:cNvPr id="26" name="Text 24"/>
          <p:cNvSpPr/>
          <p:nvPr/>
        </p:nvSpPr>
        <p:spPr>
          <a:xfrm>
            <a:off x="9299448" y="3986784"/>
            <a:ext cx="1965960" cy="457200"/>
          </a:xfrm>
          <a:prstGeom prst="rect">
            <a:avLst/>
          </a:prstGeom>
          <a:noFill/>
          <a:ln/>
        </p:spPr>
        <p:txBody>
          <a:bodyPr wrap="square" lIns="0" tIns="0" rIns="0" bIns="0" rtlCol="0" anchor="t">
            <a:normAutofit/>
          </a:bodyPr>
          <a:lstStyle/>
          <a:p>
            <a:pPr algn="l" indent="0" marL="0">
              <a:buNone/>
            </a:pPr>
            <a:r>
              <a:rPr lang="en-US" sz="1230" dirty="0">
                <a:solidFill>
                  <a:srgbClr val="6F7082"/>
                </a:solidFill>
                <a:latin typeface="Aptos" pitchFamily="34" charset="0"/>
                <a:ea typeface="Aptos" pitchFamily="34" charset="-122"/>
                <a:cs typeface="Aptos" pitchFamily="34" charset="-120"/>
              </a:rPr>
              <a:t>Prendre en compte robots, CGU et contraintes explicites.</a:t>
            </a:r>
            <a:endParaRPr lang="en-US" sz="1230" dirty="0"/>
          </a:p>
        </p:txBody>
      </p:sp>
      <p:sp>
        <p:nvSpPr>
          <p:cNvPr id="27" name="Text 25"/>
          <p:cNvSpPr/>
          <p:nvPr/>
        </p:nvSpPr>
        <p:spPr>
          <a:xfrm>
            <a:off x="1051560" y="5440680"/>
            <a:ext cx="10058400" cy="320040"/>
          </a:xfrm>
          <a:prstGeom prst="rect">
            <a:avLst/>
          </a:prstGeom>
          <a:noFill/>
          <a:ln/>
        </p:spPr>
        <p:txBody>
          <a:bodyPr wrap="square" lIns="0" tIns="0" rIns="0" bIns="0" rtlCol="0" anchor="ctr">
            <a:normAutofit/>
          </a:bodyPr>
          <a:lstStyle/>
          <a:p>
            <a:pPr algn="ctr" indent="0" marL="0">
              <a:buNone/>
            </a:pPr>
            <a:r>
              <a:rPr lang="en-US" sz="1550" b="1" dirty="0">
                <a:solidFill>
                  <a:srgbClr val="241337"/>
                </a:solidFill>
                <a:latin typeface="Aptos" pitchFamily="34" charset="0"/>
                <a:ea typeface="Aptos" pitchFamily="34" charset="-122"/>
                <a:cs typeface="Aptos" pitchFamily="34" charset="-120"/>
              </a:rPr>
              <a:t>Ne pas “optimiser” le débit avant d’avoir défini ce qui est acceptable pour la source.</a:t>
            </a:r>
            <a:endParaRPr lang="en-US" sz="1550" dirty="0"/>
          </a:p>
        </p:txBody>
      </p:sp>
      <p:sp>
        <p:nvSpPr>
          <p:cNvPr id="25" name="Slide Number Placeholder 0"/>
          <p:cNvSpPr>
            <a:spLocks noGrp="1"/>
          </p:cNvSpPr>
          <p:nvPr>
            <p:ph type="sldNum" sz="quarter" idx="4294967295"/>
          </p:nvPr>
        </p:nvSpPr>
        <p:spPr>
          <a:xfrm>
            <a:off x="11750040" y="274320"/>
            <a:ext cx="228600" cy="164592"/>
          </a:xfrm>
          <a:prstGeom prst="rect">
            <a:avLst/>
          </a:prstGeom>
          <a:extLst>
            <a:ext uri="{C572A759-6A51-4108-AA02-DFA0A04FC94B}">
              <ma14:wrappingTextBoxFlag xmlns:ma14="http://schemas.microsoft.com/office/mac/drawingml/2011/main" val="0"/>
            </a:ext>
          </a:extLst>
        </p:spPr>
        <p:txBody>
          <a:bodyPr/>
          <a:lstStyle>
            <a:lvl1pPr>
              <a:defRPr sz="800">
                <a:solidFill>
                  <a:srgbClr val="858697"/>
                </a:solidFill>
                <a:latin typeface="Aptos"/>
                <a:ea typeface="Aptos"/>
                <a:cs typeface="Aptos"/>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566928" y="438912"/>
            <a:ext cx="5029200" cy="228600"/>
          </a:xfrm>
          <a:prstGeom prst="rect">
            <a:avLst/>
          </a:prstGeom>
          <a:noFill/>
          <a:ln/>
        </p:spPr>
        <p:txBody>
          <a:bodyPr wrap="square" lIns="0" tIns="0" rIns="0" bIns="0" rtlCol="0" anchor="ctr">
            <a:normAutofit/>
          </a:bodyPr>
          <a:lstStyle/>
          <a:p>
            <a:pPr algn="l" indent="0" marL="0">
              <a:buNone/>
            </a:pPr>
            <a:r>
              <a:rPr lang="en-US" sz="1050" b="1" spc="150" kern="0" dirty="0">
                <a:solidFill>
                  <a:srgbClr val="7432A8"/>
                </a:solidFill>
                <a:latin typeface="Aptos" pitchFamily="34" charset="0"/>
                <a:ea typeface="Aptos" pitchFamily="34" charset="-122"/>
                <a:cs typeface="Aptos" pitchFamily="34" charset="-120"/>
              </a:rPr>
              <a:t>ROBUSTESSE</a:t>
            </a:r>
            <a:endParaRPr lang="en-US" sz="1050" dirty="0"/>
          </a:p>
        </p:txBody>
      </p:sp>
      <p:sp>
        <p:nvSpPr>
          <p:cNvPr id="3" name="Text 1"/>
          <p:cNvSpPr/>
          <p:nvPr/>
        </p:nvSpPr>
        <p:spPr>
          <a:xfrm>
            <a:off x="566928" y="768096"/>
            <a:ext cx="10972800" cy="566928"/>
          </a:xfrm>
          <a:prstGeom prst="rect">
            <a:avLst/>
          </a:prstGeom>
          <a:noFill/>
          <a:ln/>
        </p:spPr>
        <p:txBody>
          <a:bodyPr wrap="square" lIns="0" tIns="0" rIns="0" bIns="0" rtlCol="0" anchor="t">
            <a:normAutofit/>
          </a:bodyPr>
          <a:lstStyle/>
          <a:p>
            <a:pPr algn="l" indent="0" marL="0">
              <a:buNone/>
            </a:pPr>
            <a:r>
              <a:rPr lang="en-US" sz="2800" b="1" dirty="0">
                <a:solidFill>
                  <a:srgbClr val="241337"/>
                </a:solidFill>
                <a:latin typeface="Aptos" pitchFamily="34" charset="0"/>
                <a:ea typeface="Aptos" pitchFamily="34" charset="-122"/>
                <a:cs typeface="Aptos" pitchFamily="34" charset="-120"/>
              </a:rPr>
              <a:t>Lire les échecs plutôt que les masquer</a:t>
            </a:r>
            <a:endParaRPr lang="en-US" sz="2800" dirty="0"/>
          </a:p>
        </p:txBody>
      </p:sp>
      <p:sp>
        <p:nvSpPr>
          <p:cNvPr id="4" name="Shape 2"/>
          <p:cNvSpPr/>
          <p:nvPr/>
        </p:nvSpPr>
        <p:spPr>
          <a:xfrm>
            <a:off x="685800" y="1737360"/>
            <a:ext cx="3429000" cy="3429000"/>
          </a:xfrm>
          <a:prstGeom prst="roundRect">
            <a:avLst>
              <a:gd name="adj" fmla="val 1600"/>
            </a:avLst>
          </a:prstGeom>
          <a:solidFill>
            <a:srgbClr val="FFFFFF"/>
          </a:solidFill>
          <a:ln w="12700">
            <a:solidFill>
              <a:srgbClr val="DDDCE6"/>
            </a:solidFill>
            <a:prstDash val="solid"/>
          </a:ln>
          <a:effectLst>
            <a:outerShdw sx="100000" sy="100000" kx="0" ky="0" algn="bl" rotWithShape="0" blurRad="19050" dist="50800" dir="2700000">
              <a:srgbClr val="D6D3DF">
                <a:alpha val="18000"/>
              </a:srgbClr>
            </a:outerShdw>
          </a:effectLst>
        </p:spPr>
      </p:sp>
      <p:sp>
        <p:nvSpPr>
          <p:cNvPr id="5" name="Shape 3"/>
          <p:cNvSpPr/>
          <p:nvPr/>
        </p:nvSpPr>
        <p:spPr>
          <a:xfrm>
            <a:off x="685800" y="1737360"/>
            <a:ext cx="73152" cy="3429000"/>
          </a:xfrm>
          <a:prstGeom prst="rect">
            <a:avLst/>
          </a:prstGeom>
          <a:solidFill>
            <a:srgbClr val="D55E5A"/>
          </a:solidFill>
          <a:ln w="12700">
            <a:solidFill>
              <a:srgbClr val="D55E5A"/>
            </a:solidFill>
            <a:prstDash val="solid"/>
          </a:ln>
        </p:spPr>
      </p:sp>
      <p:sp>
        <p:nvSpPr>
          <p:cNvPr id="6" name="Text 4"/>
          <p:cNvSpPr/>
          <p:nvPr/>
        </p:nvSpPr>
        <p:spPr>
          <a:xfrm>
            <a:off x="1005840" y="1956816"/>
            <a:ext cx="2926080" cy="347472"/>
          </a:xfrm>
          <a:prstGeom prst="rect">
            <a:avLst/>
          </a:prstGeom>
          <a:noFill/>
          <a:ln/>
        </p:spPr>
        <p:txBody>
          <a:bodyPr wrap="square" lIns="0" tIns="0" rIns="0" bIns="0" rtlCol="0" anchor="t">
            <a:normAutofit/>
          </a:bodyPr>
          <a:lstStyle/>
          <a:p>
            <a:pPr algn="l" indent="0" marL="0">
              <a:buNone/>
            </a:pPr>
            <a:r>
              <a:rPr lang="en-US" sz="1630" b="1" dirty="0">
                <a:solidFill>
                  <a:srgbClr val="241337"/>
                </a:solidFill>
                <a:latin typeface="Aptos" pitchFamily="34" charset="0"/>
                <a:ea typeface="Aptos" pitchFamily="34" charset="-122"/>
                <a:cs typeface="Aptos" pitchFamily="34" charset="-120"/>
              </a:rPr>
              <a:t>HTTP / réseau</a:t>
            </a:r>
            <a:endParaRPr lang="en-US" sz="1630" dirty="0"/>
          </a:p>
        </p:txBody>
      </p:sp>
      <p:sp>
        <p:nvSpPr>
          <p:cNvPr id="7" name="Text 5"/>
          <p:cNvSpPr/>
          <p:nvPr/>
        </p:nvSpPr>
        <p:spPr>
          <a:xfrm>
            <a:off x="978408" y="2432304"/>
            <a:ext cx="2926080" cy="2560320"/>
          </a:xfrm>
          <a:prstGeom prst="rect">
            <a:avLst/>
          </a:prstGeom>
          <a:noFill/>
          <a:ln/>
        </p:spPr>
        <p:txBody>
          <a:bodyPr wrap="square" lIns="0" tIns="0" rIns="0" bIns="0" rtlCol="0" anchor="t">
            <a:normAutofit/>
          </a:bodyPr>
          <a:lstStyle/>
          <a:p>
            <a:pPr algn="l" indent="0" marL="0">
              <a:buNone/>
            </a:pPr>
            <a:r>
              <a:rPr lang="en-US" sz="1230" dirty="0">
                <a:solidFill>
                  <a:srgbClr val="6F7082"/>
                </a:solidFill>
                <a:latin typeface="Aptos" pitchFamily="34" charset="0"/>
                <a:ea typeface="Aptos" pitchFamily="34" charset="-122"/>
                <a:cs typeface="Aptos" pitchFamily="34" charset="-120"/>
              </a:rPr>
              <a:t>Exemples :</a:t>
            </a:r>
            <a:endParaRPr lang="en-US" sz="1230" dirty="0"/>
          </a:p>
          <a:p>
            <a:pPr algn="l" indent="0" marL="0">
              <a:buNone/>
            </a:pPr>
            <a:r>
              <a:rPr lang="en-US" sz="1230" dirty="0">
                <a:solidFill>
                  <a:srgbClr val="6F7082"/>
                </a:solidFill>
                <a:latin typeface="Aptos" pitchFamily="34" charset="0"/>
                <a:ea typeface="Aptos" pitchFamily="34" charset="-122"/>
                <a:cs typeface="Aptos" pitchFamily="34" charset="-120"/>
              </a:rPr>
              <a:t>• 429</a:t>
            </a:r>
            <a:endParaRPr lang="en-US" sz="1230" dirty="0"/>
          </a:p>
          <a:p>
            <a:pPr algn="l" indent="0" marL="0">
              <a:buNone/>
            </a:pPr>
            <a:r>
              <a:rPr lang="en-US" sz="1230" dirty="0">
                <a:solidFill>
                  <a:srgbClr val="6F7082"/>
                </a:solidFill>
                <a:latin typeface="Aptos" pitchFamily="34" charset="0"/>
                <a:ea typeface="Aptos" pitchFamily="34" charset="-122"/>
                <a:cs typeface="Aptos" pitchFamily="34" charset="-120"/>
              </a:rPr>
              <a:t>• 5xx</a:t>
            </a:r>
            <a:endParaRPr lang="en-US" sz="1230" dirty="0"/>
          </a:p>
          <a:p>
            <a:pPr algn="l" indent="0" marL="0">
              <a:buNone/>
            </a:pPr>
            <a:r>
              <a:rPr lang="en-US" sz="1230" dirty="0">
                <a:solidFill>
                  <a:srgbClr val="6F7082"/>
                </a:solidFill>
                <a:latin typeface="Aptos" pitchFamily="34" charset="0"/>
                <a:ea typeface="Aptos" pitchFamily="34" charset="-122"/>
                <a:cs typeface="Aptos" pitchFamily="34" charset="-120"/>
              </a:rPr>
              <a:t>• timeout</a:t>
            </a:r>
            <a:endParaRPr lang="en-US" sz="1230" dirty="0"/>
          </a:p>
          <a:p>
            <a:pPr algn="l" indent="0" marL="0">
              <a:buNone/>
            </a:pPr>
            <a:r>
              <a:rPr lang="en-US" sz="1230" dirty="0">
                <a:solidFill>
                  <a:srgbClr val="6F7082"/>
                </a:solidFill>
                <a:latin typeface="Aptos" pitchFamily="34" charset="0"/>
                <a:ea typeface="Aptos" pitchFamily="34" charset="-122"/>
                <a:cs typeface="Aptos" pitchFamily="34" charset="-120"/>
              </a:rPr>
              <a:t>• DNS / connexion</a:t>
            </a:r>
            <a:endParaRPr lang="en-US" sz="1230" dirty="0"/>
          </a:p>
          <a:p>
            <a:pPr algn="l" indent="0" marL="0">
              <a:buNone/>
            </a:pPr>
            <a:endParaRPr lang="en-US" sz="1230" dirty="0"/>
          </a:p>
          <a:p>
            <a:pPr algn="l" indent="0" marL="0">
              <a:buNone/>
            </a:pPr>
            <a:r>
              <a:rPr lang="en-US" sz="1230" dirty="0">
                <a:solidFill>
                  <a:srgbClr val="6F7082"/>
                </a:solidFill>
                <a:latin typeface="Aptos" pitchFamily="34" charset="0"/>
                <a:ea typeface="Aptos" pitchFamily="34" charset="-122"/>
                <a:cs typeface="Aptos" pitchFamily="34" charset="-120"/>
              </a:rPr>
              <a:t>Question : erreur temporaire ou règle d’accès ?</a:t>
            </a:r>
            <a:endParaRPr lang="en-US" sz="1230" dirty="0"/>
          </a:p>
        </p:txBody>
      </p:sp>
      <p:sp>
        <p:nvSpPr>
          <p:cNvPr id="8" name="Shape 6"/>
          <p:cNvSpPr/>
          <p:nvPr/>
        </p:nvSpPr>
        <p:spPr>
          <a:xfrm>
            <a:off x="4370832" y="1737360"/>
            <a:ext cx="3429000" cy="3429000"/>
          </a:xfrm>
          <a:prstGeom prst="roundRect">
            <a:avLst>
              <a:gd name="adj" fmla="val 1600"/>
            </a:avLst>
          </a:prstGeom>
          <a:solidFill>
            <a:srgbClr val="FFFFFF"/>
          </a:solidFill>
          <a:ln w="12700">
            <a:solidFill>
              <a:srgbClr val="DDDCE6"/>
            </a:solidFill>
            <a:prstDash val="solid"/>
          </a:ln>
          <a:effectLst>
            <a:outerShdw sx="100000" sy="100000" kx="0" ky="0" algn="bl" rotWithShape="0" blurRad="19050" dist="50800" dir="2700000">
              <a:srgbClr val="D6D3DF">
                <a:alpha val="18000"/>
              </a:srgbClr>
            </a:outerShdw>
          </a:effectLst>
        </p:spPr>
      </p:sp>
      <p:sp>
        <p:nvSpPr>
          <p:cNvPr id="9" name="Shape 7"/>
          <p:cNvSpPr/>
          <p:nvPr/>
        </p:nvSpPr>
        <p:spPr>
          <a:xfrm>
            <a:off x="4370832" y="1737360"/>
            <a:ext cx="73152" cy="3429000"/>
          </a:xfrm>
          <a:prstGeom prst="rect">
            <a:avLst/>
          </a:prstGeom>
          <a:solidFill>
            <a:srgbClr val="DB8129"/>
          </a:solidFill>
          <a:ln w="12700">
            <a:solidFill>
              <a:srgbClr val="DB8129"/>
            </a:solidFill>
            <a:prstDash val="solid"/>
          </a:ln>
        </p:spPr>
      </p:sp>
      <p:sp>
        <p:nvSpPr>
          <p:cNvPr id="10" name="Text 8"/>
          <p:cNvSpPr/>
          <p:nvPr/>
        </p:nvSpPr>
        <p:spPr>
          <a:xfrm>
            <a:off x="4690872" y="1956816"/>
            <a:ext cx="2926080" cy="347472"/>
          </a:xfrm>
          <a:prstGeom prst="rect">
            <a:avLst/>
          </a:prstGeom>
          <a:noFill/>
          <a:ln/>
        </p:spPr>
        <p:txBody>
          <a:bodyPr wrap="square" lIns="0" tIns="0" rIns="0" bIns="0" rtlCol="0" anchor="t">
            <a:normAutofit/>
          </a:bodyPr>
          <a:lstStyle/>
          <a:p>
            <a:pPr algn="l" indent="0" marL="0">
              <a:buNone/>
            </a:pPr>
            <a:r>
              <a:rPr lang="en-US" sz="1630" b="1" dirty="0">
                <a:solidFill>
                  <a:srgbClr val="241337"/>
                </a:solidFill>
                <a:latin typeface="Aptos" pitchFamily="34" charset="0"/>
                <a:ea typeface="Aptos" pitchFamily="34" charset="-122"/>
                <a:cs typeface="Aptos" pitchFamily="34" charset="-120"/>
              </a:rPr>
              <a:t>Parsing</a:t>
            </a:r>
            <a:endParaRPr lang="en-US" sz="1630" dirty="0"/>
          </a:p>
        </p:txBody>
      </p:sp>
      <p:sp>
        <p:nvSpPr>
          <p:cNvPr id="11" name="Text 9"/>
          <p:cNvSpPr/>
          <p:nvPr/>
        </p:nvSpPr>
        <p:spPr>
          <a:xfrm>
            <a:off x="4663440" y="2432304"/>
            <a:ext cx="2926080" cy="2560320"/>
          </a:xfrm>
          <a:prstGeom prst="rect">
            <a:avLst/>
          </a:prstGeom>
          <a:noFill/>
          <a:ln/>
        </p:spPr>
        <p:txBody>
          <a:bodyPr wrap="square" lIns="0" tIns="0" rIns="0" bIns="0" rtlCol="0" anchor="t">
            <a:normAutofit/>
          </a:bodyPr>
          <a:lstStyle/>
          <a:p>
            <a:pPr algn="l" indent="0" marL="0">
              <a:buNone/>
            </a:pPr>
            <a:r>
              <a:rPr lang="en-US" sz="1230" dirty="0">
                <a:solidFill>
                  <a:srgbClr val="6F7082"/>
                </a:solidFill>
                <a:latin typeface="Aptos" pitchFamily="34" charset="0"/>
                <a:ea typeface="Aptos" pitchFamily="34" charset="-122"/>
                <a:cs typeface="Aptos" pitchFamily="34" charset="-120"/>
              </a:rPr>
              <a:t>Exemples :</a:t>
            </a:r>
            <a:endParaRPr lang="en-US" sz="1230" dirty="0"/>
          </a:p>
          <a:p>
            <a:pPr algn="l" indent="0" marL="0">
              <a:buNone/>
            </a:pPr>
            <a:r>
              <a:rPr lang="en-US" sz="1230" dirty="0">
                <a:solidFill>
                  <a:srgbClr val="6F7082"/>
                </a:solidFill>
                <a:latin typeface="Aptos" pitchFamily="34" charset="0"/>
                <a:ea typeface="Aptos" pitchFamily="34" charset="-122"/>
                <a:cs typeface="Aptos" pitchFamily="34" charset="-120"/>
              </a:rPr>
              <a:t>• sélecteur vide</a:t>
            </a:r>
            <a:endParaRPr lang="en-US" sz="1230" dirty="0"/>
          </a:p>
          <a:p>
            <a:pPr algn="l" indent="0" marL="0">
              <a:buNone/>
            </a:pPr>
            <a:r>
              <a:rPr lang="en-US" sz="1230" dirty="0">
                <a:solidFill>
                  <a:srgbClr val="6F7082"/>
                </a:solidFill>
                <a:latin typeface="Aptos" pitchFamily="34" charset="0"/>
                <a:ea typeface="Aptos" pitchFamily="34" charset="-122"/>
                <a:cs typeface="Aptos" pitchFamily="34" charset="-120"/>
              </a:rPr>
              <a:t>• HTML modifié</a:t>
            </a:r>
            <a:endParaRPr lang="en-US" sz="1230" dirty="0"/>
          </a:p>
          <a:p>
            <a:pPr algn="l" indent="0" marL="0">
              <a:buNone/>
            </a:pPr>
            <a:r>
              <a:rPr lang="en-US" sz="1230" dirty="0">
                <a:solidFill>
                  <a:srgbClr val="6F7082"/>
                </a:solidFill>
                <a:latin typeface="Aptos" pitchFamily="34" charset="0"/>
                <a:ea typeface="Aptos" pitchFamily="34" charset="-122"/>
                <a:cs typeface="Aptos" pitchFamily="34" charset="-120"/>
              </a:rPr>
              <a:t>• champ déplacé</a:t>
            </a:r>
            <a:endParaRPr lang="en-US" sz="1230" dirty="0"/>
          </a:p>
          <a:p>
            <a:pPr algn="l" indent="0" marL="0">
              <a:buNone/>
            </a:pPr>
            <a:endParaRPr lang="en-US" sz="1230" dirty="0"/>
          </a:p>
          <a:p>
            <a:pPr algn="l" indent="0" marL="0">
              <a:buNone/>
            </a:pPr>
            <a:r>
              <a:rPr lang="en-US" sz="1230" dirty="0">
                <a:solidFill>
                  <a:srgbClr val="6F7082"/>
                </a:solidFill>
                <a:latin typeface="Aptos" pitchFamily="34" charset="0"/>
                <a:ea typeface="Aptos" pitchFamily="34" charset="-122"/>
                <a:cs typeface="Aptos" pitchFamily="34" charset="-120"/>
              </a:rPr>
              <a:t>Question : faut-il ignorer, loguer ou bloquer le pipeline ?</a:t>
            </a:r>
            <a:endParaRPr lang="en-US" sz="1230" dirty="0"/>
          </a:p>
        </p:txBody>
      </p:sp>
      <p:sp>
        <p:nvSpPr>
          <p:cNvPr id="12" name="Shape 10"/>
          <p:cNvSpPr/>
          <p:nvPr/>
        </p:nvSpPr>
        <p:spPr>
          <a:xfrm>
            <a:off x="8046720" y="1737360"/>
            <a:ext cx="3429000" cy="3429000"/>
          </a:xfrm>
          <a:prstGeom prst="roundRect">
            <a:avLst>
              <a:gd name="adj" fmla="val 1600"/>
            </a:avLst>
          </a:prstGeom>
          <a:solidFill>
            <a:srgbClr val="FFFFFF"/>
          </a:solidFill>
          <a:ln w="12700">
            <a:solidFill>
              <a:srgbClr val="DDDCE6"/>
            </a:solidFill>
            <a:prstDash val="solid"/>
          </a:ln>
          <a:effectLst>
            <a:outerShdw sx="100000" sy="100000" kx="0" ky="0" algn="bl" rotWithShape="0" blurRad="19050" dist="50800" dir="2700000">
              <a:srgbClr val="D6D3DF">
                <a:alpha val="18000"/>
              </a:srgbClr>
            </a:outerShdw>
          </a:effectLst>
        </p:spPr>
      </p:sp>
      <p:sp>
        <p:nvSpPr>
          <p:cNvPr id="13" name="Shape 11"/>
          <p:cNvSpPr/>
          <p:nvPr/>
        </p:nvSpPr>
        <p:spPr>
          <a:xfrm>
            <a:off x="8046720" y="1737360"/>
            <a:ext cx="73152" cy="3429000"/>
          </a:xfrm>
          <a:prstGeom prst="rect">
            <a:avLst/>
          </a:prstGeom>
          <a:solidFill>
            <a:srgbClr val="4F7FC4"/>
          </a:solidFill>
          <a:ln w="12700">
            <a:solidFill>
              <a:srgbClr val="4F7FC4"/>
            </a:solidFill>
            <a:prstDash val="solid"/>
          </a:ln>
        </p:spPr>
      </p:sp>
      <p:sp>
        <p:nvSpPr>
          <p:cNvPr id="14" name="Text 12"/>
          <p:cNvSpPr/>
          <p:nvPr/>
        </p:nvSpPr>
        <p:spPr>
          <a:xfrm>
            <a:off x="8366760" y="1956816"/>
            <a:ext cx="2926080" cy="347472"/>
          </a:xfrm>
          <a:prstGeom prst="rect">
            <a:avLst/>
          </a:prstGeom>
          <a:noFill/>
          <a:ln/>
        </p:spPr>
        <p:txBody>
          <a:bodyPr wrap="square" lIns="0" tIns="0" rIns="0" bIns="0" rtlCol="0" anchor="t">
            <a:normAutofit/>
          </a:bodyPr>
          <a:lstStyle/>
          <a:p>
            <a:pPr algn="l" indent="0" marL="0">
              <a:buNone/>
            </a:pPr>
            <a:r>
              <a:rPr lang="en-US" sz="1630" b="1" dirty="0">
                <a:solidFill>
                  <a:srgbClr val="241337"/>
                </a:solidFill>
                <a:latin typeface="Aptos" pitchFamily="34" charset="0"/>
                <a:ea typeface="Aptos" pitchFamily="34" charset="-122"/>
                <a:cs typeface="Aptos" pitchFamily="34" charset="-120"/>
              </a:rPr>
              <a:t>Statistiques</a:t>
            </a:r>
            <a:endParaRPr lang="en-US" sz="1630" dirty="0"/>
          </a:p>
        </p:txBody>
      </p:sp>
      <p:sp>
        <p:nvSpPr>
          <p:cNvPr id="15" name="Text 13"/>
          <p:cNvSpPr/>
          <p:nvPr/>
        </p:nvSpPr>
        <p:spPr>
          <a:xfrm>
            <a:off x="8339328" y="2432304"/>
            <a:ext cx="2926080" cy="2560320"/>
          </a:xfrm>
          <a:prstGeom prst="rect">
            <a:avLst/>
          </a:prstGeom>
          <a:noFill/>
          <a:ln/>
        </p:spPr>
        <p:txBody>
          <a:bodyPr wrap="square" lIns="0" tIns="0" rIns="0" bIns="0" rtlCol="0" anchor="t">
            <a:normAutofit/>
          </a:bodyPr>
          <a:lstStyle/>
          <a:p>
            <a:pPr algn="l" indent="0" marL="0">
              <a:buNone/>
            </a:pPr>
            <a:r>
              <a:rPr lang="en-US" sz="1230" dirty="0">
                <a:solidFill>
                  <a:srgbClr val="6F7082"/>
                </a:solidFill>
                <a:latin typeface="Aptos" pitchFamily="34" charset="0"/>
                <a:ea typeface="Aptos" pitchFamily="34" charset="-122"/>
                <a:cs typeface="Aptos" pitchFamily="34" charset="-120"/>
              </a:rPr>
              <a:t>Suivre :</a:t>
            </a:r>
            <a:endParaRPr lang="en-US" sz="1230" dirty="0"/>
          </a:p>
          <a:p>
            <a:pPr algn="l" indent="0" marL="0">
              <a:buNone/>
            </a:pPr>
            <a:r>
              <a:rPr lang="en-US" sz="1230" dirty="0">
                <a:solidFill>
                  <a:srgbClr val="6F7082"/>
                </a:solidFill>
                <a:latin typeface="Aptos" pitchFamily="34" charset="0"/>
                <a:ea typeface="Aptos" pitchFamily="34" charset="-122"/>
                <a:cs typeface="Aptos" pitchFamily="34" charset="-120"/>
              </a:rPr>
              <a:t>• pages réussies</a:t>
            </a:r>
            <a:endParaRPr lang="en-US" sz="1230" dirty="0"/>
          </a:p>
          <a:p>
            <a:pPr algn="l" indent="0" marL="0">
              <a:buNone/>
            </a:pPr>
            <a:r>
              <a:rPr lang="en-US" sz="1230" dirty="0">
                <a:solidFill>
                  <a:srgbClr val="6F7082"/>
                </a:solidFill>
                <a:latin typeface="Aptos" pitchFamily="34" charset="0"/>
                <a:ea typeface="Aptos" pitchFamily="34" charset="-122"/>
                <a:cs typeface="Aptos" pitchFamily="34" charset="-120"/>
              </a:rPr>
              <a:t>• erreurs</a:t>
            </a:r>
            <a:endParaRPr lang="en-US" sz="1230" dirty="0"/>
          </a:p>
          <a:p>
            <a:pPr algn="l" indent="0" marL="0">
              <a:buNone/>
            </a:pPr>
            <a:r>
              <a:rPr lang="en-US" sz="1230" dirty="0">
                <a:solidFill>
                  <a:srgbClr val="6F7082"/>
                </a:solidFill>
                <a:latin typeface="Aptos" pitchFamily="34" charset="0"/>
                <a:ea typeface="Aptos" pitchFamily="34" charset="-122"/>
                <a:cs typeface="Aptos" pitchFamily="34" charset="-120"/>
              </a:rPr>
              <a:t>• items extraits</a:t>
            </a:r>
            <a:endParaRPr lang="en-US" sz="1230" dirty="0"/>
          </a:p>
          <a:p>
            <a:pPr algn="l" indent="0" marL="0">
              <a:buNone/>
            </a:pPr>
            <a:r>
              <a:rPr lang="en-US" sz="1230" dirty="0">
                <a:solidFill>
                  <a:srgbClr val="6F7082"/>
                </a:solidFill>
                <a:latin typeface="Aptos" pitchFamily="34" charset="0"/>
                <a:ea typeface="Aptos" pitchFamily="34" charset="-122"/>
                <a:cs typeface="Aptos" pitchFamily="34" charset="-120"/>
              </a:rPr>
              <a:t>• doublons</a:t>
            </a:r>
            <a:endParaRPr lang="en-US" sz="1230" dirty="0"/>
          </a:p>
          <a:p>
            <a:pPr algn="l" indent="0" marL="0">
              <a:buNone/>
            </a:pPr>
            <a:r>
              <a:rPr lang="en-US" sz="1230" dirty="0">
                <a:solidFill>
                  <a:srgbClr val="6F7082"/>
                </a:solidFill>
                <a:latin typeface="Aptos" pitchFamily="34" charset="0"/>
                <a:ea typeface="Aptos" pitchFamily="34" charset="-122"/>
                <a:cs typeface="Aptos" pitchFamily="34" charset="-120"/>
              </a:rPr>
              <a:t>• champs manquants</a:t>
            </a:r>
            <a:endParaRPr lang="en-US" sz="1230" dirty="0"/>
          </a:p>
        </p:txBody>
      </p:sp>
      <p:sp>
        <p:nvSpPr>
          <p:cNvPr id="16" name="Text 14"/>
          <p:cNvSpPr/>
          <p:nvPr/>
        </p:nvSpPr>
        <p:spPr>
          <a:xfrm>
            <a:off x="1463040" y="5468112"/>
            <a:ext cx="9326880" cy="320040"/>
          </a:xfrm>
          <a:prstGeom prst="rect">
            <a:avLst/>
          </a:prstGeom>
          <a:noFill/>
          <a:ln/>
        </p:spPr>
        <p:txBody>
          <a:bodyPr wrap="square" lIns="0" tIns="0" rIns="0" bIns="0" rtlCol="0" anchor="ctr">
            <a:normAutofit/>
          </a:bodyPr>
          <a:lstStyle/>
          <a:p>
            <a:pPr algn="ctr" indent="0" marL="0">
              <a:buNone/>
            </a:pPr>
            <a:r>
              <a:rPr lang="en-US" sz="1600" b="1" dirty="0">
                <a:solidFill>
                  <a:srgbClr val="241337"/>
                </a:solidFill>
                <a:latin typeface="Aptos" pitchFamily="34" charset="0"/>
                <a:ea typeface="Aptos" pitchFamily="34" charset="-122"/>
                <a:cs typeface="Aptos" pitchFamily="34" charset="-120"/>
              </a:rPr>
              <a:t>Un bon crawler échoue de façon compréhensible.</a:t>
            </a:r>
            <a:endParaRPr lang="en-US" sz="1600" dirty="0"/>
          </a:p>
        </p:txBody>
      </p:sp>
      <p:sp>
        <p:nvSpPr>
          <p:cNvPr id="25" name="Slide Number Placeholder 0"/>
          <p:cNvSpPr>
            <a:spLocks noGrp="1"/>
          </p:cNvSpPr>
          <p:nvPr>
            <p:ph type="sldNum" sz="quarter" idx="4294967295"/>
          </p:nvPr>
        </p:nvSpPr>
        <p:spPr>
          <a:xfrm>
            <a:off x="11750040" y="274320"/>
            <a:ext cx="228600" cy="164592"/>
          </a:xfrm>
          <a:prstGeom prst="rect">
            <a:avLst/>
          </a:prstGeom>
          <a:extLst>
            <a:ext uri="{C572A759-6A51-4108-AA02-DFA0A04FC94B}">
              <ma14:wrappingTextBoxFlag xmlns:ma14="http://schemas.microsoft.com/office/mac/drawingml/2011/main" val="0"/>
            </a:ext>
          </a:extLst>
        </p:spPr>
        <p:txBody>
          <a:bodyPr/>
          <a:lstStyle>
            <a:lvl1pPr>
              <a:defRPr sz="800">
                <a:solidFill>
                  <a:srgbClr val="858697"/>
                </a:solidFill>
                <a:latin typeface="Aptos"/>
                <a:ea typeface="Aptos"/>
                <a:cs typeface="Aptos"/>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566928" y="438912"/>
            <a:ext cx="5029200" cy="228600"/>
          </a:xfrm>
          <a:prstGeom prst="rect">
            <a:avLst/>
          </a:prstGeom>
          <a:noFill/>
          <a:ln/>
        </p:spPr>
        <p:txBody>
          <a:bodyPr wrap="square" lIns="0" tIns="0" rIns="0" bIns="0" rtlCol="0" anchor="ctr">
            <a:normAutofit/>
          </a:bodyPr>
          <a:lstStyle/>
          <a:p>
            <a:pPr algn="l" indent="0" marL="0">
              <a:buNone/>
            </a:pPr>
            <a:r>
              <a:rPr lang="en-US" sz="1050" b="1" spc="150" kern="0" dirty="0">
                <a:solidFill>
                  <a:srgbClr val="7432A8"/>
                </a:solidFill>
                <a:latin typeface="Aptos" pitchFamily="34" charset="0"/>
                <a:ea typeface="Aptos" pitchFamily="34" charset="-122"/>
                <a:cs typeface="Aptos" pitchFamily="34" charset="-120"/>
              </a:rPr>
              <a:t>ROBOTS.TXT</a:t>
            </a:r>
            <a:endParaRPr lang="en-US" sz="1050" dirty="0"/>
          </a:p>
        </p:txBody>
      </p:sp>
      <p:sp>
        <p:nvSpPr>
          <p:cNvPr id="3" name="Text 1"/>
          <p:cNvSpPr/>
          <p:nvPr/>
        </p:nvSpPr>
        <p:spPr>
          <a:xfrm>
            <a:off x="566928" y="768096"/>
            <a:ext cx="10972800" cy="566928"/>
          </a:xfrm>
          <a:prstGeom prst="rect">
            <a:avLst/>
          </a:prstGeom>
          <a:noFill/>
          <a:ln/>
        </p:spPr>
        <p:txBody>
          <a:bodyPr wrap="square" lIns="0" tIns="0" rIns="0" bIns="0" rtlCol="0" anchor="t">
            <a:normAutofit/>
          </a:bodyPr>
          <a:lstStyle/>
          <a:p>
            <a:pPr algn="l" indent="0" marL="0">
              <a:buNone/>
            </a:pPr>
            <a:r>
              <a:rPr lang="en-US" sz="2800" b="1" dirty="0">
                <a:solidFill>
                  <a:srgbClr val="241337"/>
                </a:solidFill>
                <a:latin typeface="Aptos" pitchFamily="34" charset="0"/>
                <a:ea typeface="Aptos" pitchFamily="34" charset="-122"/>
                <a:cs typeface="Aptos" pitchFamily="34" charset="-120"/>
              </a:rPr>
              <a:t>Un signal technique à comprendre</a:t>
            </a:r>
            <a:endParaRPr lang="en-US" sz="2800" dirty="0"/>
          </a:p>
        </p:txBody>
      </p:sp>
      <p:sp>
        <p:nvSpPr>
          <p:cNvPr id="4" name="Shape 2"/>
          <p:cNvSpPr/>
          <p:nvPr/>
        </p:nvSpPr>
        <p:spPr>
          <a:xfrm>
            <a:off x="777240" y="1828800"/>
            <a:ext cx="4206240" cy="2377440"/>
          </a:xfrm>
          <a:prstGeom prst="roundRect">
            <a:avLst>
              <a:gd name="adj" fmla="val 1538"/>
            </a:avLst>
          </a:prstGeom>
          <a:solidFill>
            <a:srgbClr val="17141E"/>
          </a:solidFill>
          <a:ln w="12700">
            <a:solidFill>
              <a:srgbClr val="17141E"/>
            </a:solidFill>
            <a:prstDash val="solid"/>
          </a:ln>
        </p:spPr>
      </p:sp>
      <p:sp>
        <p:nvSpPr>
          <p:cNvPr id="5" name="Shape 3"/>
          <p:cNvSpPr/>
          <p:nvPr/>
        </p:nvSpPr>
        <p:spPr>
          <a:xfrm>
            <a:off x="777240" y="1828800"/>
            <a:ext cx="4206240" cy="347472"/>
          </a:xfrm>
          <a:prstGeom prst="rect">
            <a:avLst/>
          </a:prstGeom>
          <a:solidFill>
            <a:srgbClr val="2B2633"/>
          </a:solidFill>
          <a:ln w="12700">
            <a:solidFill>
              <a:srgbClr val="2B2633"/>
            </a:solidFill>
            <a:prstDash val="solid"/>
          </a:ln>
        </p:spPr>
      </p:sp>
      <p:sp>
        <p:nvSpPr>
          <p:cNvPr id="6" name="Shape 4"/>
          <p:cNvSpPr/>
          <p:nvPr/>
        </p:nvSpPr>
        <p:spPr>
          <a:xfrm>
            <a:off x="960120" y="1947672"/>
            <a:ext cx="73152" cy="73152"/>
          </a:xfrm>
          <a:prstGeom prst="ellipse">
            <a:avLst/>
          </a:prstGeom>
          <a:solidFill>
            <a:srgbClr val="D55E5A"/>
          </a:solidFill>
          <a:ln w="12700">
            <a:solidFill>
              <a:srgbClr val="D55E5A"/>
            </a:solidFill>
            <a:prstDash val="solid"/>
          </a:ln>
        </p:spPr>
      </p:sp>
      <p:sp>
        <p:nvSpPr>
          <p:cNvPr id="7" name="Shape 5"/>
          <p:cNvSpPr/>
          <p:nvPr/>
        </p:nvSpPr>
        <p:spPr>
          <a:xfrm>
            <a:off x="1106424" y="1947672"/>
            <a:ext cx="73152" cy="73152"/>
          </a:xfrm>
          <a:prstGeom prst="ellipse">
            <a:avLst/>
          </a:prstGeom>
          <a:solidFill>
            <a:srgbClr val="E0B24A"/>
          </a:solidFill>
          <a:ln w="12700">
            <a:solidFill>
              <a:srgbClr val="E0B24A"/>
            </a:solidFill>
            <a:prstDash val="solid"/>
          </a:ln>
        </p:spPr>
      </p:sp>
      <p:sp>
        <p:nvSpPr>
          <p:cNvPr id="8" name="Shape 6"/>
          <p:cNvSpPr/>
          <p:nvPr/>
        </p:nvSpPr>
        <p:spPr>
          <a:xfrm>
            <a:off x="1252728" y="1947672"/>
            <a:ext cx="73152" cy="73152"/>
          </a:xfrm>
          <a:prstGeom prst="ellipse">
            <a:avLst/>
          </a:prstGeom>
          <a:solidFill>
            <a:srgbClr val="7EB465"/>
          </a:solidFill>
          <a:ln w="12700">
            <a:solidFill>
              <a:srgbClr val="7EB465"/>
            </a:solidFill>
            <a:prstDash val="solid"/>
          </a:ln>
        </p:spPr>
      </p:sp>
      <p:sp>
        <p:nvSpPr>
          <p:cNvPr id="9" name="Text 7"/>
          <p:cNvSpPr/>
          <p:nvPr/>
        </p:nvSpPr>
        <p:spPr>
          <a:xfrm>
            <a:off x="3886200" y="1901952"/>
            <a:ext cx="914400" cy="137160"/>
          </a:xfrm>
          <a:prstGeom prst="rect">
            <a:avLst/>
          </a:prstGeom>
          <a:noFill/>
          <a:ln/>
        </p:spPr>
        <p:txBody>
          <a:bodyPr wrap="square" lIns="0" tIns="0" rIns="0" bIns="0" rtlCol="0" anchor="ctr">
            <a:normAutofit/>
          </a:bodyPr>
          <a:lstStyle/>
          <a:p>
            <a:pPr algn="r" indent="0" marL="0">
              <a:buNone/>
            </a:pPr>
            <a:r>
              <a:rPr lang="en-US" sz="900" dirty="0">
                <a:solidFill>
                  <a:srgbClr val="B8B3C2"/>
                </a:solidFill>
                <a:latin typeface="Aptos" pitchFamily="34" charset="0"/>
                <a:ea typeface="Aptos" pitchFamily="34" charset="-122"/>
                <a:cs typeface="Aptos" pitchFamily="34" charset="-120"/>
              </a:rPr>
              <a:t>robots.txt</a:t>
            </a:r>
            <a:endParaRPr lang="en-US" sz="900" dirty="0"/>
          </a:p>
        </p:txBody>
      </p:sp>
      <p:sp>
        <p:nvSpPr>
          <p:cNvPr id="10" name="Text 8"/>
          <p:cNvSpPr/>
          <p:nvPr/>
        </p:nvSpPr>
        <p:spPr>
          <a:xfrm>
            <a:off x="1005840" y="2304288"/>
            <a:ext cx="3749040" cy="1755648"/>
          </a:xfrm>
          <a:prstGeom prst="rect">
            <a:avLst/>
          </a:prstGeom>
          <a:noFill/>
          <a:ln/>
        </p:spPr>
        <p:txBody>
          <a:bodyPr wrap="square" lIns="0" tIns="0" rIns="0" bIns="0" rtlCol="0" anchor="t">
            <a:normAutofit/>
          </a:bodyPr>
          <a:lstStyle/>
          <a:p>
            <a:pPr algn="l" indent="0" marL="0">
              <a:buNone/>
            </a:pPr>
            <a:r>
              <a:rPr lang="en-US" sz="1100" dirty="0">
                <a:solidFill>
                  <a:srgbClr val="F3EFF7"/>
                </a:solidFill>
                <a:latin typeface="Courier New" pitchFamily="34" charset="0"/>
                <a:ea typeface="Courier New" pitchFamily="34" charset="-122"/>
                <a:cs typeface="Courier New" pitchFamily="34" charset="-120"/>
              </a:rPr>
              <a:t>User-agent: *</a:t>
            </a:r>
            <a:endParaRPr lang="en-US" sz="1100" dirty="0"/>
          </a:p>
          <a:p>
            <a:pPr algn="l" indent="0" marL="0">
              <a:buNone/>
            </a:pPr>
            <a:r>
              <a:rPr lang="en-US" sz="1100" dirty="0">
                <a:solidFill>
                  <a:srgbClr val="F3EFF7"/>
                </a:solidFill>
                <a:latin typeface="Courier New" pitchFamily="34" charset="0"/>
                <a:ea typeface="Courier New" pitchFamily="34" charset="-122"/>
                <a:cs typeface="Courier New" pitchFamily="34" charset="-120"/>
              </a:rPr>
              <a:t>Disallow: /private/</a:t>
            </a:r>
            <a:endParaRPr lang="en-US" sz="1100" dirty="0"/>
          </a:p>
          <a:p>
            <a:pPr algn="l" indent="0" marL="0">
              <a:buNone/>
            </a:pPr>
            <a:r>
              <a:rPr lang="en-US" sz="1100" dirty="0">
                <a:solidFill>
                  <a:srgbClr val="F3EFF7"/>
                </a:solidFill>
                <a:latin typeface="Courier New" pitchFamily="34" charset="0"/>
                <a:ea typeface="Courier New" pitchFamily="34" charset="-122"/>
                <a:cs typeface="Courier New" pitchFamily="34" charset="-120"/>
              </a:rPr>
              <a:t>Disallow: /account/</a:t>
            </a:r>
            <a:endParaRPr lang="en-US" sz="1100" dirty="0"/>
          </a:p>
          <a:p>
            <a:pPr algn="l" indent="0" marL="0">
              <a:buNone/>
            </a:pPr>
            <a:r>
              <a:rPr lang="en-US" sz="1100" dirty="0">
                <a:solidFill>
                  <a:srgbClr val="F3EFF7"/>
                </a:solidFill>
                <a:latin typeface="Courier New" pitchFamily="34" charset="0"/>
                <a:ea typeface="Courier New" pitchFamily="34" charset="-122"/>
                <a:cs typeface="Courier New" pitchFamily="34" charset="-120"/>
              </a:rPr>
              <a:t>Allow: /catalogue/</a:t>
            </a:r>
            <a:endParaRPr lang="en-US" sz="1100" dirty="0"/>
          </a:p>
        </p:txBody>
      </p:sp>
      <p:sp>
        <p:nvSpPr>
          <p:cNvPr id="11" name="Shape 9"/>
          <p:cNvSpPr/>
          <p:nvPr/>
        </p:nvSpPr>
        <p:spPr>
          <a:xfrm>
            <a:off x="5303520" y="1783080"/>
            <a:ext cx="2743200" cy="2834640"/>
          </a:xfrm>
          <a:prstGeom prst="roundRect">
            <a:avLst>
              <a:gd name="adj" fmla="val 2000"/>
            </a:avLst>
          </a:prstGeom>
          <a:solidFill>
            <a:srgbClr val="FFFFFF"/>
          </a:solidFill>
          <a:ln w="12700">
            <a:solidFill>
              <a:srgbClr val="DDDCE6"/>
            </a:solidFill>
            <a:prstDash val="solid"/>
          </a:ln>
          <a:effectLst>
            <a:outerShdw sx="100000" sy="100000" kx="0" ky="0" algn="bl" rotWithShape="0" blurRad="19050" dist="50800" dir="2700000">
              <a:srgbClr val="D6D3DF">
                <a:alpha val="18000"/>
              </a:srgbClr>
            </a:outerShdw>
          </a:effectLst>
        </p:spPr>
      </p:sp>
      <p:sp>
        <p:nvSpPr>
          <p:cNvPr id="12" name="Shape 10"/>
          <p:cNvSpPr/>
          <p:nvPr/>
        </p:nvSpPr>
        <p:spPr>
          <a:xfrm>
            <a:off x="5303520" y="1783080"/>
            <a:ext cx="73152" cy="2834640"/>
          </a:xfrm>
          <a:prstGeom prst="rect">
            <a:avLst/>
          </a:prstGeom>
          <a:solidFill>
            <a:srgbClr val="4EA27B"/>
          </a:solidFill>
          <a:ln w="12700">
            <a:solidFill>
              <a:srgbClr val="4EA27B"/>
            </a:solidFill>
            <a:prstDash val="solid"/>
          </a:ln>
        </p:spPr>
      </p:sp>
      <p:sp>
        <p:nvSpPr>
          <p:cNvPr id="13" name="Text 11"/>
          <p:cNvSpPr/>
          <p:nvPr/>
        </p:nvSpPr>
        <p:spPr>
          <a:xfrm>
            <a:off x="5623560" y="2002536"/>
            <a:ext cx="2240280" cy="347472"/>
          </a:xfrm>
          <a:prstGeom prst="rect">
            <a:avLst/>
          </a:prstGeom>
          <a:noFill/>
          <a:ln/>
        </p:spPr>
        <p:txBody>
          <a:bodyPr wrap="square" lIns="0" tIns="0" rIns="0" bIns="0" rtlCol="0" anchor="t">
            <a:normAutofit/>
          </a:bodyPr>
          <a:lstStyle/>
          <a:p>
            <a:pPr algn="l" indent="0" marL="0">
              <a:buNone/>
            </a:pPr>
            <a:r>
              <a:rPr lang="en-US" sz="1630" b="1" dirty="0">
                <a:solidFill>
                  <a:srgbClr val="241337"/>
                </a:solidFill>
                <a:latin typeface="Aptos" pitchFamily="34" charset="0"/>
                <a:ea typeface="Aptos" pitchFamily="34" charset="-122"/>
                <a:cs typeface="Aptos" pitchFamily="34" charset="-120"/>
              </a:rPr>
              <a:t>Ce que c’est</a:t>
            </a:r>
            <a:endParaRPr lang="en-US" sz="1630" dirty="0"/>
          </a:p>
        </p:txBody>
      </p:sp>
      <p:sp>
        <p:nvSpPr>
          <p:cNvPr id="14" name="Text 12"/>
          <p:cNvSpPr/>
          <p:nvPr/>
        </p:nvSpPr>
        <p:spPr>
          <a:xfrm>
            <a:off x="5596128" y="2478024"/>
            <a:ext cx="2240280" cy="1965960"/>
          </a:xfrm>
          <a:prstGeom prst="rect">
            <a:avLst/>
          </a:prstGeom>
          <a:noFill/>
          <a:ln/>
        </p:spPr>
        <p:txBody>
          <a:bodyPr wrap="square" lIns="0" tIns="0" rIns="0" bIns="0" rtlCol="0" anchor="t">
            <a:normAutofit/>
          </a:bodyPr>
          <a:lstStyle/>
          <a:p>
            <a:pPr algn="l" indent="0" marL="0">
              <a:buNone/>
            </a:pPr>
            <a:r>
              <a:rPr lang="en-US" sz="1230" dirty="0">
                <a:solidFill>
                  <a:srgbClr val="6F7082"/>
                </a:solidFill>
                <a:latin typeface="Aptos" pitchFamily="34" charset="0"/>
                <a:ea typeface="Aptos" pitchFamily="34" charset="-122"/>
                <a:cs typeface="Aptos" pitchFamily="34" charset="-120"/>
              </a:rPr>
              <a:t>Un mécanisme qui indique aux robots des règles de crawl pour des chemins.</a:t>
            </a:r>
            <a:endParaRPr lang="en-US" sz="1230" dirty="0"/>
          </a:p>
        </p:txBody>
      </p:sp>
      <p:sp>
        <p:nvSpPr>
          <p:cNvPr id="15" name="Shape 13"/>
          <p:cNvSpPr/>
          <p:nvPr/>
        </p:nvSpPr>
        <p:spPr>
          <a:xfrm>
            <a:off x="8275320" y="1783080"/>
            <a:ext cx="2743200" cy="2834640"/>
          </a:xfrm>
          <a:prstGeom prst="roundRect">
            <a:avLst>
              <a:gd name="adj" fmla="val 2000"/>
            </a:avLst>
          </a:prstGeom>
          <a:solidFill>
            <a:srgbClr val="FFFFFF"/>
          </a:solidFill>
          <a:ln w="12700">
            <a:solidFill>
              <a:srgbClr val="DDDCE6"/>
            </a:solidFill>
            <a:prstDash val="solid"/>
          </a:ln>
          <a:effectLst>
            <a:outerShdw sx="100000" sy="100000" kx="0" ky="0" algn="bl" rotWithShape="0" blurRad="19050" dist="50800" dir="2700000">
              <a:srgbClr val="D6D3DF">
                <a:alpha val="18000"/>
              </a:srgbClr>
            </a:outerShdw>
          </a:effectLst>
        </p:spPr>
      </p:sp>
      <p:sp>
        <p:nvSpPr>
          <p:cNvPr id="16" name="Shape 14"/>
          <p:cNvSpPr/>
          <p:nvPr/>
        </p:nvSpPr>
        <p:spPr>
          <a:xfrm>
            <a:off x="8275320" y="1783080"/>
            <a:ext cx="73152" cy="2834640"/>
          </a:xfrm>
          <a:prstGeom prst="rect">
            <a:avLst/>
          </a:prstGeom>
          <a:solidFill>
            <a:srgbClr val="DB8129"/>
          </a:solidFill>
          <a:ln w="12700">
            <a:solidFill>
              <a:srgbClr val="DB8129"/>
            </a:solidFill>
            <a:prstDash val="solid"/>
          </a:ln>
        </p:spPr>
      </p:sp>
      <p:sp>
        <p:nvSpPr>
          <p:cNvPr id="17" name="Text 15"/>
          <p:cNvSpPr/>
          <p:nvPr/>
        </p:nvSpPr>
        <p:spPr>
          <a:xfrm>
            <a:off x="8595360" y="2002536"/>
            <a:ext cx="2240280" cy="347472"/>
          </a:xfrm>
          <a:prstGeom prst="rect">
            <a:avLst/>
          </a:prstGeom>
          <a:noFill/>
          <a:ln/>
        </p:spPr>
        <p:txBody>
          <a:bodyPr wrap="square" lIns="0" tIns="0" rIns="0" bIns="0" rtlCol="0" anchor="t">
            <a:normAutofit/>
          </a:bodyPr>
          <a:lstStyle/>
          <a:p>
            <a:pPr algn="l" indent="0" marL="0">
              <a:buNone/>
            </a:pPr>
            <a:r>
              <a:rPr lang="en-US" sz="1630" b="1" dirty="0">
                <a:solidFill>
                  <a:srgbClr val="241337"/>
                </a:solidFill>
                <a:latin typeface="Aptos" pitchFamily="34" charset="0"/>
                <a:ea typeface="Aptos" pitchFamily="34" charset="-122"/>
                <a:cs typeface="Aptos" pitchFamily="34" charset="-120"/>
              </a:rPr>
              <a:t>Ce que ce n’est pas</a:t>
            </a:r>
            <a:endParaRPr lang="en-US" sz="1630" dirty="0"/>
          </a:p>
        </p:txBody>
      </p:sp>
      <p:sp>
        <p:nvSpPr>
          <p:cNvPr id="18" name="Text 16"/>
          <p:cNvSpPr/>
          <p:nvPr/>
        </p:nvSpPr>
        <p:spPr>
          <a:xfrm>
            <a:off x="8567928" y="2478024"/>
            <a:ext cx="2240280" cy="1965960"/>
          </a:xfrm>
          <a:prstGeom prst="rect">
            <a:avLst/>
          </a:prstGeom>
          <a:noFill/>
          <a:ln/>
        </p:spPr>
        <p:txBody>
          <a:bodyPr wrap="square" lIns="0" tIns="0" rIns="0" bIns="0" rtlCol="0" anchor="t">
            <a:normAutofit/>
          </a:bodyPr>
          <a:lstStyle/>
          <a:p>
            <a:pPr algn="l" indent="0" marL="0">
              <a:buNone/>
            </a:pPr>
            <a:r>
              <a:rPr lang="en-US" sz="1230" dirty="0">
                <a:solidFill>
                  <a:srgbClr val="6F7082"/>
                </a:solidFill>
                <a:latin typeface="Aptos" pitchFamily="34" charset="0"/>
                <a:ea typeface="Aptos" pitchFamily="34" charset="-122"/>
                <a:cs typeface="Aptos" pitchFamily="34" charset="-120"/>
              </a:rPr>
              <a:t>Ce n’est ni une licence de réutilisation, ni une analyse RGPD, ni une autorisation universelle.</a:t>
            </a:r>
            <a:endParaRPr lang="en-US" sz="1230" dirty="0"/>
          </a:p>
        </p:txBody>
      </p:sp>
      <p:sp>
        <p:nvSpPr>
          <p:cNvPr id="19" name="Text 17"/>
          <p:cNvSpPr/>
          <p:nvPr/>
        </p:nvSpPr>
        <p:spPr>
          <a:xfrm>
            <a:off x="2606040" y="5257800"/>
            <a:ext cx="6949440" cy="320040"/>
          </a:xfrm>
          <a:prstGeom prst="rect">
            <a:avLst/>
          </a:prstGeom>
          <a:noFill/>
          <a:ln/>
        </p:spPr>
        <p:txBody>
          <a:bodyPr wrap="square" lIns="0" tIns="0" rIns="0" bIns="0" rtlCol="0" anchor="ctr">
            <a:normAutofit/>
          </a:bodyPr>
          <a:lstStyle/>
          <a:p>
            <a:pPr algn="ctr" indent="0" marL="0">
              <a:buNone/>
            </a:pPr>
            <a:r>
              <a:rPr lang="en-US" sz="1700" b="1" dirty="0">
                <a:solidFill>
                  <a:srgbClr val="7432A8"/>
                </a:solidFill>
                <a:latin typeface="Aptos" pitchFamily="34" charset="0"/>
                <a:ea typeface="Aptos" pitchFamily="34" charset="-122"/>
                <a:cs typeface="Aptos" pitchFamily="34" charset="-120"/>
              </a:rPr>
              <a:t>Dans Scrapy : ROBOTSTXT_OBEY = True</a:t>
            </a:r>
            <a:endParaRPr lang="en-US" sz="1700" dirty="0"/>
          </a:p>
        </p:txBody>
      </p:sp>
      <p:sp>
        <p:nvSpPr>
          <p:cNvPr id="25" name="Slide Number Placeholder 0"/>
          <p:cNvSpPr>
            <a:spLocks noGrp="1"/>
          </p:cNvSpPr>
          <p:nvPr>
            <p:ph type="sldNum" sz="quarter" idx="4294967295"/>
          </p:nvPr>
        </p:nvSpPr>
        <p:spPr>
          <a:xfrm>
            <a:off x="11750040" y="274320"/>
            <a:ext cx="228600" cy="164592"/>
          </a:xfrm>
          <a:prstGeom prst="rect">
            <a:avLst/>
          </a:prstGeom>
          <a:extLst>
            <a:ext uri="{C572A759-6A51-4108-AA02-DFA0A04FC94B}">
              <ma14:wrappingTextBoxFlag xmlns:ma14="http://schemas.microsoft.com/office/mac/drawingml/2011/main" val="0"/>
            </a:ext>
          </a:extLst>
        </p:spPr>
        <p:txBody>
          <a:bodyPr/>
          <a:lstStyle>
            <a:lvl1pPr>
              <a:defRPr sz="800">
                <a:solidFill>
                  <a:srgbClr val="858697"/>
                </a:solidFill>
                <a:latin typeface="Aptos"/>
                <a:ea typeface="Aptos"/>
                <a:cs typeface="Aptos"/>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566928" y="438912"/>
            <a:ext cx="5029200" cy="228600"/>
          </a:xfrm>
          <a:prstGeom prst="rect">
            <a:avLst/>
          </a:prstGeom>
          <a:noFill/>
          <a:ln/>
        </p:spPr>
        <p:txBody>
          <a:bodyPr wrap="square" lIns="0" tIns="0" rIns="0" bIns="0" rtlCol="0" anchor="ctr">
            <a:normAutofit/>
          </a:bodyPr>
          <a:lstStyle/>
          <a:p>
            <a:pPr algn="l" indent="0" marL="0">
              <a:buNone/>
            </a:pPr>
            <a:r>
              <a:rPr lang="en-US" sz="1050" b="1" spc="150" kern="0" dirty="0">
                <a:solidFill>
                  <a:srgbClr val="7432A8"/>
                </a:solidFill>
                <a:latin typeface="Aptos" pitchFamily="34" charset="0"/>
                <a:ea typeface="Aptos" pitchFamily="34" charset="-122"/>
                <a:cs typeface="Aptos" pitchFamily="34" charset="-120"/>
              </a:rPr>
              <a:t>EXERCICE 2</a:t>
            </a:r>
            <a:endParaRPr lang="en-US" sz="1050" dirty="0"/>
          </a:p>
        </p:txBody>
      </p:sp>
      <p:sp>
        <p:nvSpPr>
          <p:cNvPr id="3" name="Text 1"/>
          <p:cNvSpPr/>
          <p:nvPr/>
        </p:nvSpPr>
        <p:spPr>
          <a:xfrm>
            <a:off x="566928" y="768096"/>
            <a:ext cx="10972800" cy="566928"/>
          </a:xfrm>
          <a:prstGeom prst="rect">
            <a:avLst/>
          </a:prstGeom>
          <a:noFill/>
          <a:ln/>
        </p:spPr>
        <p:txBody>
          <a:bodyPr wrap="square" lIns="0" tIns="0" rIns="0" bIns="0" rtlCol="0" anchor="t">
            <a:normAutofit/>
          </a:bodyPr>
          <a:lstStyle/>
          <a:p>
            <a:pPr algn="l" indent="0" marL="0">
              <a:buNone/>
            </a:pPr>
            <a:r>
              <a:rPr lang="en-US" sz="2800" b="1" dirty="0">
                <a:solidFill>
                  <a:srgbClr val="241337"/>
                </a:solidFill>
                <a:latin typeface="Aptos" pitchFamily="34" charset="0"/>
                <a:ea typeface="Aptos" pitchFamily="34" charset="-122"/>
                <a:cs typeface="Aptos" pitchFamily="34" charset="-120"/>
              </a:rPr>
              <a:t>Construire un spider multipages</a:t>
            </a:r>
            <a:endParaRPr lang="en-US" sz="2800" dirty="0"/>
          </a:p>
        </p:txBody>
      </p:sp>
      <p:sp>
        <p:nvSpPr>
          <p:cNvPr id="4" name="Text 2"/>
          <p:cNvSpPr/>
          <p:nvPr/>
        </p:nvSpPr>
        <p:spPr>
          <a:xfrm>
            <a:off x="566928" y="1344168"/>
            <a:ext cx="10698480" cy="384048"/>
          </a:xfrm>
          <a:prstGeom prst="rect">
            <a:avLst/>
          </a:prstGeom>
          <a:noFill/>
          <a:ln/>
        </p:spPr>
        <p:txBody>
          <a:bodyPr wrap="square" lIns="0" tIns="0" rIns="0" bIns="0" rtlCol="0" anchor="t">
            <a:normAutofit/>
          </a:bodyPr>
          <a:lstStyle/>
          <a:p>
            <a:pPr algn="l" indent="0" marL="0">
              <a:buNone/>
            </a:pPr>
            <a:r>
              <a:rPr lang="en-US" sz="1350" dirty="0">
                <a:solidFill>
                  <a:srgbClr val="6F7082"/>
                </a:solidFill>
                <a:latin typeface="Aptos" pitchFamily="34" charset="0"/>
                <a:ea typeface="Aptos" pitchFamily="34" charset="-122"/>
                <a:cs typeface="Aptos" pitchFamily="34" charset="-120"/>
              </a:rPr>
              <a:t>Objectif : passer du shell à un crawler structuré.</a:t>
            </a:r>
            <a:endParaRPr lang="en-US" sz="1350" dirty="0"/>
          </a:p>
        </p:txBody>
      </p:sp>
      <p:sp>
        <p:nvSpPr>
          <p:cNvPr id="5" name="Shape 3"/>
          <p:cNvSpPr/>
          <p:nvPr/>
        </p:nvSpPr>
        <p:spPr>
          <a:xfrm>
            <a:off x="685800" y="1783080"/>
            <a:ext cx="2194560" cy="3520440"/>
          </a:xfrm>
          <a:prstGeom prst="roundRect">
            <a:avLst>
              <a:gd name="adj" fmla="val 2500"/>
            </a:avLst>
          </a:prstGeom>
          <a:solidFill>
            <a:srgbClr val="FFFFFF"/>
          </a:solidFill>
          <a:ln w="12700">
            <a:solidFill>
              <a:srgbClr val="DDDCE6"/>
            </a:solidFill>
            <a:prstDash val="solid"/>
          </a:ln>
          <a:effectLst>
            <a:outerShdw sx="100000" sy="100000" kx="0" ky="0" algn="bl" rotWithShape="0" blurRad="19050" dist="50800" dir="2700000">
              <a:srgbClr val="D6D3DF">
                <a:alpha val="18000"/>
              </a:srgbClr>
            </a:outerShdw>
          </a:effectLst>
        </p:spPr>
      </p:sp>
      <p:sp>
        <p:nvSpPr>
          <p:cNvPr id="6" name="Shape 4"/>
          <p:cNvSpPr/>
          <p:nvPr/>
        </p:nvSpPr>
        <p:spPr>
          <a:xfrm>
            <a:off x="685800" y="1783080"/>
            <a:ext cx="73152" cy="3520440"/>
          </a:xfrm>
          <a:prstGeom prst="rect">
            <a:avLst/>
          </a:prstGeom>
          <a:solidFill>
            <a:srgbClr val="2E899E"/>
          </a:solidFill>
          <a:ln w="12700">
            <a:solidFill>
              <a:srgbClr val="2E899E"/>
            </a:solidFill>
            <a:prstDash val="solid"/>
          </a:ln>
        </p:spPr>
      </p:sp>
      <p:sp>
        <p:nvSpPr>
          <p:cNvPr id="7" name="Text 5"/>
          <p:cNvSpPr/>
          <p:nvPr/>
        </p:nvSpPr>
        <p:spPr>
          <a:xfrm>
            <a:off x="1005840" y="2002536"/>
            <a:ext cx="1691640" cy="347472"/>
          </a:xfrm>
          <a:prstGeom prst="rect">
            <a:avLst/>
          </a:prstGeom>
          <a:noFill/>
          <a:ln/>
        </p:spPr>
        <p:txBody>
          <a:bodyPr wrap="square" lIns="0" tIns="0" rIns="0" bIns="0" rtlCol="0" anchor="t">
            <a:normAutofit/>
          </a:bodyPr>
          <a:lstStyle/>
          <a:p>
            <a:pPr algn="l" indent="0" marL="0">
              <a:buNone/>
            </a:pPr>
            <a:r>
              <a:rPr lang="en-US" sz="1630" b="1" dirty="0">
                <a:solidFill>
                  <a:srgbClr val="241337"/>
                </a:solidFill>
                <a:latin typeface="Aptos" pitchFamily="34" charset="0"/>
                <a:ea typeface="Aptos" pitchFamily="34" charset="-122"/>
                <a:cs typeface="Aptos" pitchFamily="34" charset="-120"/>
              </a:rPr>
              <a:t>Mission</a:t>
            </a:r>
            <a:endParaRPr lang="en-US" sz="1630" dirty="0"/>
          </a:p>
        </p:txBody>
      </p:sp>
      <p:sp>
        <p:nvSpPr>
          <p:cNvPr id="8" name="Text 6"/>
          <p:cNvSpPr/>
          <p:nvPr/>
        </p:nvSpPr>
        <p:spPr>
          <a:xfrm>
            <a:off x="978408" y="2478024"/>
            <a:ext cx="1691640" cy="2651760"/>
          </a:xfrm>
          <a:prstGeom prst="rect">
            <a:avLst/>
          </a:prstGeom>
          <a:noFill/>
          <a:ln/>
        </p:spPr>
        <p:txBody>
          <a:bodyPr wrap="square" lIns="0" tIns="0" rIns="0" bIns="0" rtlCol="0" anchor="t">
            <a:normAutofit/>
          </a:bodyPr>
          <a:lstStyle/>
          <a:p>
            <a:pPr algn="l" indent="0" marL="0">
              <a:buNone/>
            </a:pPr>
            <a:r>
              <a:rPr lang="en-US" sz="1230" dirty="0">
                <a:solidFill>
                  <a:srgbClr val="6F7082"/>
                </a:solidFill>
                <a:latin typeface="Aptos" pitchFamily="34" charset="0"/>
                <a:ea typeface="Aptos" pitchFamily="34" charset="-122"/>
                <a:cs typeface="Aptos" pitchFamily="34" charset="-120"/>
              </a:rPr>
              <a:t>Scraper un catalogue d’entraînement sur plusieurs pages, avec pages détail.</a:t>
            </a:r>
            <a:endParaRPr lang="en-US" sz="1230" dirty="0"/>
          </a:p>
        </p:txBody>
      </p:sp>
      <p:sp>
        <p:nvSpPr>
          <p:cNvPr id="9" name="Shape 7"/>
          <p:cNvSpPr/>
          <p:nvPr/>
        </p:nvSpPr>
        <p:spPr>
          <a:xfrm>
            <a:off x="3127248" y="1783080"/>
            <a:ext cx="5669280" cy="3520440"/>
          </a:xfrm>
          <a:prstGeom prst="roundRect">
            <a:avLst>
              <a:gd name="adj" fmla="val 1558"/>
            </a:avLst>
          </a:prstGeom>
          <a:solidFill>
            <a:srgbClr val="FFFFFF"/>
          </a:solidFill>
          <a:ln w="12700">
            <a:solidFill>
              <a:srgbClr val="DDDCE6"/>
            </a:solidFill>
            <a:prstDash val="solid"/>
          </a:ln>
          <a:effectLst>
            <a:outerShdw sx="100000" sy="100000" kx="0" ky="0" algn="bl" rotWithShape="0" blurRad="19050" dist="50800" dir="2700000">
              <a:srgbClr val="D6D3DF">
                <a:alpha val="18000"/>
              </a:srgbClr>
            </a:outerShdw>
          </a:effectLst>
        </p:spPr>
      </p:sp>
      <p:sp>
        <p:nvSpPr>
          <p:cNvPr id="10" name="Shape 8"/>
          <p:cNvSpPr/>
          <p:nvPr/>
        </p:nvSpPr>
        <p:spPr>
          <a:xfrm>
            <a:off x="3127248" y="1783080"/>
            <a:ext cx="73152" cy="3520440"/>
          </a:xfrm>
          <a:prstGeom prst="rect">
            <a:avLst/>
          </a:prstGeom>
          <a:solidFill>
            <a:srgbClr val="7432A8"/>
          </a:solidFill>
          <a:ln w="12700">
            <a:solidFill>
              <a:srgbClr val="7432A8"/>
            </a:solidFill>
            <a:prstDash val="solid"/>
          </a:ln>
        </p:spPr>
      </p:sp>
      <p:sp>
        <p:nvSpPr>
          <p:cNvPr id="11" name="Text 9"/>
          <p:cNvSpPr/>
          <p:nvPr/>
        </p:nvSpPr>
        <p:spPr>
          <a:xfrm>
            <a:off x="3447288" y="2002536"/>
            <a:ext cx="5166360" cy="347472"/>
          </a:xfrm>
          <a:prstGeom prst="rect">
            <a:avLst/>
          </a:prstGeom>
          <a:noFill/>
          <a:ln/>
        </p:spPr>
        <p:txBody>
          <a:bodyPr wrap="square" lIns="0" tIns="0" rIns="0" bIns="0" rtlCol="0" anchor="t">
            <a:normAutofit/>
          </a:bodyPr>
          <a:lstStyle/>
          <a:p>
            <a:pPr algn="l" indent="0" marL="0">
              <a:buNone/>
            </a:pPr>
            <a:r>
              <a:rPr lang="en-US" sz="1630" b="1" dirty="0">
                <a:solidFill>
                  <a:srgbClr val="241337"/>
                </a:solidFill>
                <a:latin typeface="Aptos" pitchFamily="34" charset="0"/>
                <a:ea typeface="Aptos" pitchFamily="34" charset="-122"/>
                <a:cs typeface="Aptos" pitchFamily="34" charset="-120"/>
              </a:rPr>
              <a:t>Attendus</a:t>
            </a:r>
            <a:endParaRPr lang="en-US" sz="1630" dirty="0"/>
          </a:p>
        </p:txBody>
      </p:sp>
      <p:sp>
        <p:nvSpPr>
          <p:cNvPr id="12" name="Text 10"/>
          <p:cNvSpPr/>
          <p:nvPr/>
        </p:nvSpPr>
        <p:spPr>
          <a:xfrm>
            <a:off x="3419856" y="2478024"/>
            <a:ext cx="5166360" cy="2651760"/>
          </a:xfrm>
          <a:prstGeom prst="rect">
            <a:avLst/>
          </a:prstGeom>
          <a:noFill/>
          <a:ln/>
        </p:spPr>
        <p:txBody>
          <a:bodyPr wrap="square" lIns="0" tIns="0" rIns="0" bIns="0" rtlCol="0" anchor="t">
            <a:normAutofit/>
          </a:bodyPr>
          <a:lstStyle/>
          <a:p>
            <a:pPr algn="l" indent="0" marL="0">
              <a:buNone/>
            </a:pPr>
            <a:r>
              <a:rPr lang="en-US" sz="1230" dirty="0">
                <a:solidFill>
                  <a:srgbClr val="6F7082"/>
                </a:solidFill>
                <a:latin typeface="Aptos" pitchFamily="34" charset="0"/>
                <a:ea typeface="Aptos" pitchFamily="34" charset="-122"/>
                <a:cs typeface="Aptos" pitchFamily="34" charset="-120"/>
              </a:rPr>
              <a:t>• spider fonctionnel</a:t>
            </a:r>
            <a:endParaRPr lang="en-US" sz="1230" dirty="0"/>
          </a:p>
          <a:p>
            <a:pPr algn="l" indent="0" marL="0">
              <a:buNone/>
            </a:pPr>
            <a:r>
              <a:rPr lang="en-US" sz="1230" dirty="0">
                <a:solidFill>
                  <a:srgbClr val="6F7082"/>
                </a:solidFill>
                <a:latin typeface="Aptos" pitchFamily="34" charset="0"/>
                <a:ea typeface="Aptos" pitchFamily="34" charset="-122"/>
                <a:cs typeface="Aptos" pitchFamily="34" charset="-120"/>
              </a:rPr>
              <a:t>• pagination</a:t>
            </a:r>
            <a:endParaRPr lang="en-US" sz="1230" dirty="0"/>
          </a:p>
          <a:p>
            <a:pPr algn="l" indent="0" marL="0">
              <a:buNone/>
            </a:pPr>
            <a:r>
              <a:rPr lang="en-US" sz="1230" dirty="0">
                <a:solidFill>
                  <a:srgbClr val="6F7082"/>
                </a:solidFill>
                <a:latin typeface="Aptos" pitchFamily="34" charset="0"/>
                <a:ea typeface="Aptos" pitchFamily="34" charset="-122"/>
                <a:cs typeface="Aptos" pitchFamily="34" charset="-120"/>
              </a:rPr>
              <a:t>• callback page détail</a:t>
            </a:r>
            <a:endParaRPr lang="en-US" sz="1230" dirty="0"/>
          </a:p>
          <a:p>
            <a:pPr algn="l" indent="0" marL="0">
              <a:buNone/>
            </a:pPr>
            <a:r>
              <a:rPr lang="en-US" sz="1230" dirty="0">
                <a:solidFill>
                  <a:srgbClr val="6F7082"/>
                </a:solidFill>
                <a:latin typeface="Aptos" pitchFamily="34" charset="0"/>
                <a:ea typeface="Aptos" pitchFamily="34" charset="-122"/>
                <a:cs typeface="Aptos" pitchFamily="34" charset="-120"/>
              </a:rPr>
              <a:t>• Item avec 5 champs minimum</a:t>
            </a:r>
            <a:endParaRPr lang="en-US" sz="1230" dirty="0"/>
          </a:p>
          <a:p>
            <a:pPr algn="l" indent="0" marL="0">
              <a:buNone/>
            </a:pPr>
            <a:r>
              <a:rPr lang="en-US" sz="1230" dirty="0">
                <a:solidFill>
                  <a:srgbClr val="6F7082"/>
                </a:solidFill>
                <a:latin typeface="Aptos" pitchFamily="34" charset="0"/>
                <a:ea typeface="Aptos" pitchFamily="34" charset="-122"/>
                <a:cs typeface="Aptos" pitchFamily="34" charset="-120"/>
              </a:rPr>
              <a:t>• nettoyage du prix</a:t>
            </a:r>
            <a:endParaRPr lang="en-US" sz="1230" dirty="0"/>
          </a:p>
          <a:p>
            <a:pPr algn="l" indent="0" marL="0">
              <a:buNone/>
            </a:pPr>
            <a:r>
              <a:rPr lang="en-US" sz="1230" dirty="0">
                <a:solidFill>
                  <a:srgbClr val="6F7082"/>
                </a:solidFill>
                <a:latin typeface="Aptos" pitchFamily="34" charset="0"/>
                <a:ea typeface="Aptos" pitchFamily="34" charset="-122"/>
                <a:cs typeface="Aptos" pitchFamily="34" charset="-120"/>
              </a:rPr>
              <a:t>• export JSON ou CSV</a:t>
            </a:r>
            <a:endParaRPr lang="en-US" sz="1230" dirty="0"/>
          </a:p>
          <a:p>
            <a:pPr algn="l" indent="0" marL="0">
              <a:buNone/>
            </a:pPr>
            <a:r>
              <a:rPr lang="en-US" sz="1230" dirty="0">
                <a:solidFill>
                  <a:srgbClr val="6F7082"/>
                </a:solidFill>
                <a:latin typeface="Aptos" pitchFamily="34" charset="0"/>
                <a:ea typeface="Aptos" pitchFamily="34" charset="-122"/>
                <a:cs typeface="Aptos" pitchFamily="34" charset="-120"/>
              </a:rPr>
              <a:t>• logs sans erreurs répétées</a:t>
            </a:r>
            <a:endParaRPr lang="en-US" sz="1230" dirty="0"/>
          </a:p>
        </p:txBody>
      </p:sp>
      <p:sp>
        <p:nvSpPr>
          <p:cNvPr id="13" name="Shape 11"/>
          <p:cNvSpPr/>
          <p:nvPr/>
        </p:nvSpPr>
        <p:spPr>
          <a:xfrm>
            <a:off x="9052560" y="1783080"/>
            <a:ext cx="2194560" cy="3520440"/>
          </a:xfrm>
          <a:prstGeom prst="roundRect">
            <a:avLst>
              <a:gd name="adj" fmla="val 2500"/>
            </a:avLst>
          </a:prstGeom>
          <a:solidFill>
            <a:srgbClr val="FFFFFF"/>
          </a:solidFill>
          <a:ln w="12700">
            <a:solidFill>
              <a:srgbClr val="DDDCE6"/>
            </a:solidFill>
            <a:prstDash val="solid"/>
          </a:ln>
          <a:effectLst>
            <a:outerShdw sx="100000" sy="100000" kx="0" ky="0" algn="bl" rotWithShape="0" blurRad="19050" dist="50800" dir="2700000">
              <a:srgbClr val="D6D3DF">
                <a:alpha val="18000"/>
              </a:srgbClr>
            </a:outerShdw>
          </a:effectLst>
        </p:spPr>
      </p:sp>
      <p:sp>
        <p:nvSpPr>
          <p:cNvPr id="14" name="Shape 12"/>
          <p:cNvSpPr/>
          <p:nvPr/>
        </p:nvSpPr>
        <p:spPr>
          <a:xfrm>
            <a:off x="9052560" y="1783080"/>
            <a:ext cx="73152" cy="3520440"/>
          </a:xfrm>
          <a:prstGeom prst="rect">
            <a:avLst/>
          </a:prstGeom>
          <a:solidFill>
            <a:srgbClr val="DB8129"/>
          </a:solidFill>
          <a:ln w="12700">
            <a:solidFill>
              <a:srgbClr val="DB8129"/>
            </a:solidFill>
            <a:prstDash val="solid"/>
          </a:ln>
        </p:spPr>
      </p:sp>
      <p:sp>
        <p:nvSpPr>
          <p:cNvPr id="15" name="Text 13"/>
          <p:cNvSpPr/>
          <p:nvPr/>
        </p:nvSpPr>
        <p:spPr>
          <a:xfrm>
            <a:off x="9372600" y="2002536"/>
            <a:ext cx="1691640" cy="347472"/>
          </a:xfrm>
          <a:prstGeom prst="rect">
            <a:avLst/>
          </a:prstGeom>
          <a:noFill/>
          <a:ln/>
        </p:spPr>
        <p:txBody>
          <a:bodyPr wrap="square" lIns="0" tIns="0" rIns="0" bIns="0" rtlCol="0" anchor="t">
            <a:normAutofit/>
          </a:bodyPr>
          <a:lstStyle/>
          <a:p>
            <a:pPr algn="l" indent="0" marL="0">
              <a:buNone/>
            </a:pPr>
            <a:r>
              <a:rPr lang="en-US" sz="1630" b="1" dirty="0">
                <a:solidFill>
                  <a:srgbClr val="241337"/>
                </a:solidFill>
                <a:latin typeface="Aptos" pitchFamily="34" charset="0"/>
                <a:ea typeface="Aptos" pitchFamily="34" charset="-122"/>
                <a:cs typeface="Aptos" pitchFamily="34" charset="-120"/>
              </a:rPr>
              <a:t>Bonus</a:t>
            </a:r>
            <a:endParaRPr lang="en-US" sz="1630" dirty="0"/>
          </a:p>
        </p:txBody>
      </p:sp>
      <p:sp>
        <p:nvSpPr>
          <p:cNvPr id="16" name="Text 14"/>
          <p:cNvSpPr/>
          <p:nvPr/>
        </p:nvSpPr>
        <p:spPr>
          <a:xfrm>
            <a:off x="9345168" y="2478024"/>
            <a:ext cx="1691640" cy="2651760"/>
          </a:xfrm>
          <a:prstGeom prst="rect">
            <a:avLst/>
          </a:prstGeom>
          <a:noFill/>
          <a:ln/>
        </p:spPr>
        <p:txBody>
          <a:bodyPr wrap="square" lIns="0" tIns="0" rIns="0" bIns="0" rtlCol="0" anchor="t">
            <a:normAutofit/>
          </a:bodyPr>
          <a:lstStyle/>
          <a:p>
            <a:pPr algn="l" indent="0" marL="0">
              <a:buNone/>
            </a:pPr>
            <a:r>
              <a:rPr lang="en-US" sz="1230" dirty="0">
                <a:solidFill>
                  <a:srgbClr val="6F7082"/>
                </a:solidFill>
                <a:latin typeface="Aptos" pitchFamily="34" charset="0"/>
                <a:ea typeface="Aptos" pitchFamily="34" charset="-122"/>
                <a:cs typeface="Aptos" pitchFamily="34" charset="-120"/>
              </a:rPr>
              <a:t>Ajouter SQLite + clé de déduplication + scraped_at.</a:t>
            </a:r>
            <a:endParaRPr lang="en-US" sz="1230" dirty="0"/>
          </a:p>
        </p:txBody>
      </p:sp>
      <p:sp>
        <p:nvSpPr>
          <p:cNvPr id="17" name="Shape 15"/>
          <p:cNvSpPr/>
          <p:nvPr/>
        </p:nvSpPr>
        <p:spPr>
          <a:xfrm>
            <a:off x="9646920" y="1261872"/>
            <a:ext cx="1097280" cy="320040"/>
          </a:xfrm>
          <a:prstGeom prst="roundRect">
            <a:avLst>
              <a:gd name="adj" fmla="val 17143"/>
            </a:avLst>
          </a:prstGeom>
          <a:solidFill>
            <a:srgbClr val="F0E7F6"/>
          </a:solidFill>
          <a:ln w="12700">
            <a:solidFill>
              <a:srgbClr val="F0E7F6"/>
            </a:solidFill>
            <a:prstDash val="solid"/>
          </a:ln>
        </p:spPr>
      </p:sp>
      <p:sp>
        <p:nvSpPr>
          <p:cNvPr id="18" name="Text 16"/>
          <p:cNvSpPr/>
          <p:nvPr/>
        </p:nvSpPr>
        <p:spPr>
          <a:xfrm>
            <a:off x="9720072" y="1307592"/>
            <a:ext cx="950976" cy="201168"/>
          </a:xfrm>
          <a:prstGeom prst="rect">
            <a:avLst/>
          </a:prstGeom>
          <a:noFill/>
          <a:ln/>
        </p:spPr>
        <p:txBody>
          <a:bodyPr wrap="square" lIns="0" tIns="0" rIns="0" bIns="0" rtlCol="0" anchor="ctr">
            <a:normAutofit/>
          </a:bodyPr>
          <a:lstStyle/>
          <a:p>
            <a:pPr algn="ctr" indent="0" marL="0">
              <a:buNone/>
            </a:pPr>
            <a:r>
              <a:rPr lang="en-US" sz="1020" b="1" dirty="0">
                <a:solidFill>
                  <a:srgbClr val="7432A8"/>
                </a:solidFill>
                <a:latin typeface="Aptos" pitchFamily="34" charset="0"/>
                <a:ea typeface="Aptos" pitchFamily="34" charset="-122"/>
                <a:cs typeface="Aptos" pitchFamily="34" charset="-120"/>
              </a:rPr>
              <a:t>45 min</a:t>
            </a:r>
            <a:endParaRPr lang="en-US" sz="1020" dirty="0"/>
          </a:p>
        </p:txBody>
      </p:sp>
      <p:sp>
        <p:nvSpPr>
          <p:cNvPr id="25" name="Slide Number Placeholder 0"/>
          <p:cNvSpPr>
            <a:spLocks noGrp="1"/>
          </p:cNvSpPr>
          <p:nvPr>
            <p:ph type="sldNum" sz="quarter" idx="4294967295"/>
          </p:nvPr>
        </p:nvSpPr>
        <p:spPr>
          <a:xfrm>
            <a:off x="11750040" y="274320"/>
            <a:ext cx="228600" cy="164592"/>
          </a:xfrm>
          <a:prstGeom prst="rect">
            <a:avLst/>
          </a:prstGeom>
          <a:extLst>
            <a:ext uri="{C572A759-6A51-4108-AA02-DFA0A04FC94B}">
              <ma14:wrappingTextBoxFlag xmlns:ma14="http://schemas.microsoft.com/office/mac/drawingml/2011/main" val="0"/>
            </a:ext>
          </a:extLst>
        </p:spPr>
        <p:txBody>
          <a:bodyPr/>
          <a:lstStyle>
            <a:lvl1pPr>
              <a:defRPr sz="800">
                <a:solidFill>
                  <a:srgbClr val="858697"/>
                </a:solidFill>
                <a:latin typeface="Aptos"/>
                <a:ea typeface="Aptos"/>
                <a:cs typeface="Aptos"/>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566928" y="438912"/>
            <a:ext cx="5029200" cy="228600"/>
          </a:xfrm>
          <a:prstGeom prst="rect">
            <a:avLst/>
          </a:prstGeom>
          <a:noFill/>
          <a:ln/>
        </p:spPr>
        <p:txBody>
          <a:bodyPr wrap="square" lIns="0" tIns="0" rIns="0" bIns="0" rtlCol="0" anchor="ctr">
            <a:normAutofit/>
          </a:bodyPr>
          <a:lstStyle/>
          <a:p>
            <a:pPr algn="l" indent="0" marL="0">
              <a:buNone/>
            </a:pPr>
            <a:r>
              <a:rPr lang="en-US" sz="1050" b="1" spc="150" kern="0" dirty="0">
                <a:solidFill>
                  <a:srgbClr val="7432A8"/>
                </a:solidFill>
                <a:latin typeface="Aptos" pitchFamily="34" charset="0"/>
                <a:ea typeface="Aptos" pitchFamily="34" charset="-122"/>
                <a:cs typeface="Aptos" pitchFamily="34" charset="-120"/>
              </a:rPr>
              <a:t>CHECKPOINT</a:t>
            </a:r>
            <a:endParaRPr lang="en-US" sz="1050" dirty="0"/>
          </a:p>
        </p:txBody>
      </p:sp>
      <p:sp>
        <p:nvSpPr>
          <p:cNvPr id="3" name="Text 1"/>
          <p:cNvSpPr/>
          <p:nvPr/>
        </p:nvSpPr>
        <p:spPr>
          <a:xfrm>
            <a:off x="566928" y="768096"/>
            <a:ext cx="10972800" cy="566928"/>
          </a:xfrm>
          <a:prstGeom prst="rect">
            <a:avLst/>
          </a:prstGeom>
          <a:noFill/>
          <a:ln/>
        </p:spPr>
        <p:txBody>
          <a:bodyPr wrap="square" lIns="0" tIns="0" rIns="0" bIns="0" rtlCol="0" anchor="t">
            <a:normAutofit/>
          </a:bodyPr>
          <a:lstStyle/>
          <a:p>
            <a:pPr algn="l" indent="0" marL="0">
              <a:buNone/>
            </a:pPr>
            <a:r>
              <a:rPr lang="en-US" sz="2800" b="1" dirty="0">
                <a:solidFill>
                  <a:srgbClr val="241337"/>
                </a:solidFill>
                <a:latin typeface="Aptos" pitchFamily="34" charset="0"/>
                <a:ea typeface="Aptos" pitchFamily="34" charset="-122"/>
                <a:cs typeface="Aptos" pitchFamily="34" charset="-120"/>
              </a:rPr>
              <a:t>Ce que vous devez maîtriser avant la pause déjeuner</a:t>
            </a:r>
            <a:endParaRPr lang="en-US" sz="2800" dirty="0"/>
          </a:p>
        </p:txBody>
      </p:sp>
      <p:sp>
        <p:nvSpPr>
          <p:cNvPr id="4" name="Shape 2"/>
          <p:cNvSpPr/>
          <p:nvPr/>
        </p:nvSpPr>
        <p:spPr>
          <a:xfrm>
            <a:off x="685800" y="1828800"/>
            <a:ext cx="2487168" cy="1143000"/>
          </a:xfrm>
          <a:prstGeom prst="roundRect">
            <a:avLst>
              <a:gd name="adj" fmla="val 4800"/>
            </a:avLst>
          </a:prstGeom>
          <a:solidFill>
            <a:srgbClr val="FFFFFF"/>
          </a:solidFill>
          <a:ln w="12700">
            <a:solidFill>
              <a:srgbClr val="DDDCE6"/>
            </a:solidFill>
            <a:prstDash val="solid"/>
          </a:ln>
          <a:effectLst>
            <a:outerShdw sx="100000" sy="100000" kx="0" ky="0" algn="bl" rotWithShape="0" blurRad="19050" dist="50800" dir="2700000">
              <a:srgbClr val="D6D3DF">
                <a:alpha val="18000"/>
              </a:srgbClr>
            </a:outerShdw>
          </a:effectLst>
        </p:spPr>
      </p:sp>
      <p:sp>
        <p:nvSpPr>
          <p:cNvPr id="5" name="Shape 3"/>
          <p:cNvSpPr/>
          <p:nvPr/>
        </p:nvSpPr>
        <p:spPr>
          <a:xfrm>
            <a:off x="685800" y="1828800"/>
            <a:ext cx="73152" cy="1143000"/>
          </a:xfrm>
          <a:prstGeom prst="rect">
            <a:avLst/>
          </a:prstGeom>
          <a:solidFill>
            <a:srgbClr val="4F7FC4"/>
          </a:solidFill>
          <a:ln w="12700">
            <a:solidFill>
              <a:srgbClr val="4F7FC4"/>
            </a:solidFill>
            <a:prstDash val="solid"/>
          </a:ln>
        </p:spPr>
      </p:sp>
      <p:sp>
        <p:nvSpPr>
          <p:cNvPr id="6" name="Text 4"/>
          <p:cNvSpPr/>
          <p:nvPr/>
        </p:nvSpPr>
        <p:spPr>
          <a:xfrm>
            <a:off x="1033272" y="2084832"/>
            <a:ext cx="320040" cy="256032"/>
          </a:xfrm>
          <a:prstGeom prst="rect">
            <a:avLst/>
          </a:prstGeom>
          <a:noFill/>
          <a:ln/>
        </p:spPr>
        <p:txBody>
          <a:bodyPr wrap="square" lIns="0" tIns="0" rIns="0" bIns="0" rtlCol="0" anchor="ctr">
            <a:normAutofit/>
          </a:bodyPr>
          <a:lstStyle/>
          <a:p>
            <a:pPr algn="l" indent="0" marL="0">
              <a:buNone/>
            </a:pPr>
            <a:r>
              <a:rPr lang="en-US" sz="1900" b="1" dirty="0">
                <a:solidFill>
                  <a:srgbClr val="4F7FC4"/>
                </a:solidFill>
                <a:latin typeface="Aptos" pitchFamily="34" charset="0"/>
                <a:ea typeface="Aptos" pitchFamily="34" charset="-122"/>
                <a:cs typeface="Aptos" pitchFamily="34" charset="-120"/>
              </a:rPr>
              <a:t>1</a:t>
            </a:r>
            <a:endParaRPr lang="en-US" sz="1900" dirty="0"/>
          </a:p>
        </p:txBody>
      </p:sp>
      <p:sp>
        <p:nvSpPr>
          <p:cNvPr id="7" name="Text 5"/>
          <p:cNvSpPr/>
          <p:nvPr/>
        </p:nvSpPr>
        <p:spPr>
          <a:xfrm>
            <a:off x="1399032" y="2048256"/>
            <a:ext cx="1572768" cy="347472"/>
          </a:xfrm>
          <a:prstGeom prst="rect">
            <a:avLst/>
          </a:prstGeom>
          <a:noFill/>
          <a:ln/>
        </p:spPr>
        <p:txBody>
          <a:bodyPr wrap="square" lIns="0" tIns="0" rIns="0" bIns="0" rtlCol="0" anchor="t">
            <a:normAutofit/>
          </a:bodyPr>
          <a:lstStyle/>
          <a:p>
            <a:pPr algn="l" indent="0" marL="0">
              <a:buNone/>
            </a:pPr>
            <a:r>
              <a:rPr lang="en-US" sz="1630" b="1" dirty="0">
                <a:solidFill>
                  <a:srgbClr val="241337"/>
                </a:solidFill>
                <a:latin typeface="Aptos" pitchFamily="34" charset="0"/>
                <a:ea typeface="Aptos" pitchFamily="34" charset="-122"/>
                <a:cs typeface="Aptos" pitchFamily="34" charset="-120"/>
              </a:rPr>
              <a:t>Créer un projet Scrapy</a:t>
            </a:r>
            <a:endParaRPr lang="en-US" sz="1630" dirty="0"/>
          </a:p>
        </p:txBody>
      </p:sp>
      <p:sp>
        <p:nvSpPr>
          <p:cNvPr id="8" name="Shape 6"/>
          <p:cNvSpPr/>
          <p:nvPr/>
        </p:nvSpPr>
        <p:spPr>
          <a:xfrm>
            <a:off x="3474720" y="1828800"/>
            <a:ext cx="2487168" cy="1143000"/>
          </a:xfrm>
          <a:prstGeom prst="roundRect">
            <a:avLst>
              <a:gd name="adj" fmla="val 4800"/>
            </a:avLst>
          </a:prstGeom>
          <a:solidFill>
            <a:srgbClr val="FFFFFF"/>
          </a:solidFill>
          <a:ln w="12700">
            <a:solidFill>
              <a:srgbClr val="DDDCE6"/>
            </a:solidFill>
            <a:prstDash val="solid"/>
          </a:ln>
          <a:effectLst>
            <a:outerShdw sx="100000" sy="100000" kx="0" ky="0" algn="bl" rotWithShape="0" blurRad="19050" dist="50800" dir="2700000">
              <a:srgbClr val="D6D3DF">
                <a:alpha val="18000"/>
              </a:srgbClr>
            </a:outerShdw>
          </a:effectLst>
        </p:spPr>
      </p:sp>
      <p:sp>
        <p:nvSpPr>
          <p:cNvPr id="9" name="Shape 7"/>
          <p:cNvSpPr/>
          <p:nvPr/>
        </p:nvSpPr>
        <p:spPr>
          <a:xfrm>
            <a:off x="3474720" y="1828800"/>
            <a:ext cx="73152" cy="1143000"/>
          </a:xfrm>
          <a:prstGeom prst="rect">
            <a:avLst/>
          </a:prstGeom>
          <a:solidFill>
            <a:srgbClr val="7432A8"/>
          </a:solidFill>
          <a:ln w="12700">
            <a:solidFill>
              <a:srgbClr val="7432A8"/>
            </a:solidFill>
            <a:prstDash val="solid"/>
          </a:ln>
        </p:spPr>
      </p:sp>
      <p:sp>
        <p:nvSpPr>
          <p:cNvPr id="10" name="Text 8"/>
          <p:cNvSpPr/>
          <p:nvPr/>
        </p:nvSpPr>
        <p:spPr>
          <a:xfrm>
            <a:off x="3822192" y="2084832"/>
            <a:ext cx="320040" cy="256032"/>
          </a:xfrm>
          <a:prstGeom prst="rect">
            <a:avLst/>
          </a:prstGeom>
          <a:noFill/>
          <a:ln/>
        </p:spPr>
        <p:txBody>
          <a:bodyPr wrap="square" lIns="0" tIns="0" rIns="0" bIns="0" rtlCol="0" anchor="ctr">
            <a:normAutofit/>
          </a:bodyPr>
          <a:lstStyle/>
          <a:p>
            <a:pPr algn="l" indent="0" marL="0">
              <a:buNone/>
            </a:pPr>
            <a:r>
              <a:rPr lang="en-US" sz="1900" b="1" dirty="0">
                <a:solidFill>
                  <a:srgbClr val="7432A8"/>
                </a:solidFill>
                <a:latin typeface="Aptos" pitchFamily="34" charset="0"/>
                <a:ea typeface="Aptos" pitchFamily="34" charset="-122"/>
                <a:cs typeface="Aptos" pitchFamily="34" charset="-120"/>
              </a:rPr>
              <a:t>2</a:t>
            </a:r>
            <a:endParaRPr lang="en-US" sz="1900" dirty="0"/>
          </a:p>
        </p:txBody>
      </p:sp>
      <p:sp>
        <p:nvSpPr>
          <p:cNvPr id="11" name="Text 9"/>
          <p:cNvSpPr/>
          <p:nvPr/>
        </p:nvSpPr>
        <p:spPr>
          <a:xfrm>
            <a:off x="4187952" y="2048256"/>
            <a:ext cx="1572768" cy="347472"/>
          </a:xfrm>
          <a:prstGeom prst="rect">
            <a:avLst/>
          </a:prstGeom>
          <a:noFill/>
          <a:ln/>
        </p:spPr>
        <p:txBody>
          <a:bodyPr wrap="square" lIns="0" tIns="0" rIns="0" bIns="0" rtlCol="0" anchor="t">
            <a:normAutofit/>
          </a:bodyPr>
          <a:lstStyle/>
          <a:p>
            <a:pPr algn="l" indent="0" marL="0">
              <a:buNone/>
            </a:pPr>
            <a:r>
              <a:rPr lang="en-US" sz="1630" b="1" dirty="0">
                <a:solidFill>
                  <a:srgbClr val="241337"/>
                </a:solidFill>
                <a:latin typeface="Aptos" pitchFamily="34" charset="0"/>
                <a:ea typeface="Aptos" pitchFamily="34" charset="-122"/>
                <a:cs typeface="Aptos" pitchFamily="34" charset="-120"/>
              </a:rPr>
              <a:t>Tester un sélecteur dans le shell</a:t>
            </a:r>
            <a:endParaRPr lang="en-US" sz="1630" dirty="0"/>
          </a:p>
        </p:txBody>
      </p:sp>
      <p:sp>
        <p:nvSpPr>
          <p:cNvPr id="12" name="Shape 10"/>
          <p:cNvSpPr/>
          <p:nvPr/>
        </p:nvSpPr>
        <p:spPr>
          <a:xfrm>
            <a:off x="6263640" y="1828800"/>
            <a:ext cx="2487168" cy="1143000"/>
          </a:xfrm>
          <a:prstGeom prst="roundRect">
            <a:avLst>
              <a:gd name="adj" fmla="val 4800"/>
            </a:avLst>
          </a:prstGeom>
          <a:solidFill>
            <a:srgbClr val="FFFFFF"/>
          </a:solidFill>
          <a:ln w="12700">
            <a:solidFill>
              <a:srgbClr val="DDDCE6"/>
            </a:solidFill>
            <a:prstDash val="solid"/>
          </a:ln>
          <a:effectLst>
            <a:outerShdw sx="100000" sy="100000" kx="0" ky="0" algn="bl" rotWithShape="0" blurRad="19050" dist="50800" dir="2700000">
              <a:srgbClr val="D6D3DF">
                <a:alpha val="18000"/>
              </a:srgbClr>
            </a:outerShdw>
          </a:effectLst>
        </p:spPr>
      </p:sp>
      <p:sp>
        <p:nvSpPr>
          <p:cNvPr id="13" name="Shape 11"/>
          <p:cNvSpPr/>
          <p:nvPr/>
        </p:nvSpPr>
        <p:spPr>
          <a:xfrm>
            <a:off x="6263640" y="1828800"/>
            <a:ext cx="73152" cy="1143000"/>
          </a:xfrm>
          <a:prstGeom prst="rect">
            <a:avLst/>
          </a:prstGeom>
          <a:solidFill>
            <a:srgbClr val="4EA27B"/>
          </a:solidFill>
          <a:ln w="12700">
            <a:solidFill>
              <a:srgbClr val="4EA27B"/>
            </a:solidFill>
            <a:prstDash val="solid"/>
          </a:ln>
        </p:spPr>
      </p:sp>
      <p:sp>
        <p:nvSpPr>
          <p:cNvPr id="14" name="Text 12"/>
          <p:cNvSpPr/>
          <p:nvPr/>
        </p:nvSpPr>
        <p:spPr>
          <a:xfrm>
            <a:off x="6611112" y="2084832"/>
            <a:ext cx="320040" cy="256032"/>
          </a:xfrm>
          <a:prstGeom prst="rect">
            <a:avLst/>
          </a:prstGeom>
          <a:noFill/>
          <a:ln/>
        </p:spPr>
        <p:txBody>
          <a:bodyPr wrap="square" lIns="0" tIns="0" rIns="0" bIns="0" rtlCol="0" anchor="ctr">
            <a:normAutofit/>
          </a:bodyPr>
          <a:lstStyle/>
          <a:p>
            <a:pPr algn="l" indent="0" marL="0">
              <a:buNone/>
            </a:pPr>
            <a:r>
              <a:rPr lang="en-US" sz="1900" b="1" dirty="0">
                <a:solidFill>
                  <a:srgbClr val="4EA27B"/>
                </a:solidFill>
                <a:latin typeface="Aptos" pitchFamily="34" charset="0"/>
                <a:ea typeface="Aptos" pitchFamily="34" charset="-122"/>
                <a:cs typeface="Aptos" pitchFamily="34" charset="-120"/>
              </a:rPr>
              <a:t>3</a:t>
            </a:r>
            <a:endParaRPr lang="en-US" sz="1900" dirty="0"/>
          </a:p>
        </p:txBody>
      </p:sp>
      <p:sp>
        <p:nvSpPr>
          <p:cNvPr id="15" name="Text 13"/>
          <p:cNvSpPr/>
          <p:nvPr/>
        </p:nvSpPr>
        <p:spPr>
          <a:xfrm>
            <a:off x="6976872" y="2048256"/>
            <a:ext cx="1572768" cy="347472"/>
          </a:xfrm>
          <a:prstGeom prst="rect">
            <a:avLst/>
          </a:prstGeom>
          <a:noFill/>
          <a:ln/>
        </p:spPr>
        <p:txBody>
          <a:bodyPr wrap="square" lIns="0" tIns="0" rIns="0" bIns="0" rtlCol="0" anchor="t">
            <a:normAutofit/>
          </a:bodyPr>
          <a:lstStyle/>
          <a:p>
            <a:pPr algn="l" indent="0" marL="0">
              <a:buNone/>
            </a:pPr>
            <a:r>
              <a:rPr lang="en-US" sz="1630" b="1" dirty="0">
                <a:solidFill>
                  <a:srgbClr val="241337"/>
                </a:solidFill>
                <a:latin typeface="Aptos" pitchFamily="34" charset="0"/>
                <a:ea typeface="Aptos" pitchFamily="34" charset="-122"/>
                <a:cs typeface="Aptos" pitchFamily="34" charset="-120"/>
              </a:rPr>
              <a:t>Écrire un spider et un callback</a:t>
            </a:r>
            <a:endParaRPr lang="en-US" sz="1630" dirty="0"/>
          </a:p>
        </p:txBody>
      </p:sp>
      <p:sp>
        <p:nvSpPr>
          <p:cNvPr id="16" name="Shape 14"/>
          <p:cNvSpPr/>
          <p:nvPr/>
        </p:nvSpPr>
        <p:spPr>
          <a:xfrm>
            <a:off x="9052560" y="1828800"/>
            <a:ext cx="2487168" cy="1143000"/>
          </a:xfrm>
          <a:prstGeom prst="roundRect">
            <a:avLst>
              <a:gd name="adj" fmla="val 4800"/>
            </a:avLst>
          </a:prstGeom>
          <a:solidFill>
            <a:srgbClr val="FFFFFF"/>
          </a:solidFill>
          <a:ln w="12700">
            <a:solidFill>
              <a:srgbClr val="DDDCE6"/>
            </a:solidFill>
            <a:prstDash val="solid"/>
          </a:ln>
          <a:effectLst>
            <a:outerShdw sx="100000" sy="100000" kx="0" ky="0" algn="bl" rotWithShape="0" blurRad="19050" dist="50800" dir="2700000">
              <a:srgbClr val="D6D3DF">
                <a:alpha val="18000"/>
              </a:srgbClr>
            </a:outerShdw>
          </a:effectLst>
        </p:spPr>
      </p:sp>
      <p:sp>
        <p:nvSpPr>
          <p:cNvPr id="17" name="Shape 15"/>
          <p:cNvSpPr/>
          <p:nvPr/>
        </p:nvSpPr>
        <p:spPr>
          <a:xfrm>
            <a:off x="9052560" y="1828800"/>
            <a:ext cx="73152" cy="1143000"/>
          </a:xfrm>
          <a:prstGeom prst="rect">
            <a:avLst/>
          </a:prstGeom>
          <a:solidFill>
            <a:srgbClr val="DB8129"/>
          </a:solidFill>
          <a:ln w="12700">
            <a:solidFill>
              <a:srgbClr val="DB8129"/>
            </a:solidFill>
            <a:prstDash val="solid"/>
          </a:ln>
        </p:spPr>
      </p:sp>
      <p:sp>
        <p:nvSpPr>
          <p:cNvPr id="18" name="Text 16"/>
          <p:cNvSpPr/>
          <p:nvPr/>
        </p:nvSpPr>
        <p:spPr>
          <a:xfrm>
            <a:off x="9400032" y="2084832"/>
            <a:ext cx="320040" cy="256032"/>
          </a:xfrm>
          <a:prstGeom prst="rect">
            <a:avLst/>
          </a:prstGeom>
          <a:noFill/>
          <a:ln/>
        </p:spPr>
        <p:txBody>
          <a:bodyPr wrap="square" lIns="0" tIns="0" rIns="0" bIns="0" rtlCol="0" anchor="ctr">
            <a:normAutofit/>
          </a:bodyPr>
          <a:lstStyle/>
          <a:p>
            <a:pPr algn="l" indent="0" marL="0">
              <a:buNone/>
            </a:pPr>
            <a:r>
              <a:rPr lang="en-US" sz="1900" b="1" dirty="0">
                <a:solidFill>
                  <a:srgbClr val="DB8129"/>
                </a:solidFill>
                <a:latin typeface="Aptos" pitchFamily="34" charset="0"/>
                <a:ea typeface="Aptos" pitchFamily="34" charset="-122"/>
                <a:cs typeface="Aptos" pitchFamily="34" charset="-120"/>
              </a:rPr>
              <a:t>4</a:t>
            </a:r>
            <a:endParaRPr lang="en-US" sz="1900" dirty="0"/>
          </a:p>
        </p:txBody>
      </p:sp>
      <p:sp>
        <p:nvSpPr>
          <p:cNvPr id="19" name="Text 17"/>
          <p:cNvSpPr/>
          <p:nvPr/>
        </p:nvSpPr>
        <p:spPr>
          <a:xfrm>
            <a:off x="9765792" y="2048256"/>
            <a:ext cx="1572768" cy="347472"/>
          </a:xfrm>
          <a:prstGeom prst="rect">
            <a:avLst/>
          </a:prstGeom>
          <a:noFill/>
          <a:ln/>
        </p:spPr>
        <p:txBody>
          <a:bodyPr wrap="square" lIns="0" tIns="0" rIns="0" bIns="0" rtlCol="0" anchor="t">
            <a:normAutofit/>
          </a:bodyPr>
          <a:lstStyle/>
          <a:p>
            <a:pPr algn="l" indent="0" marL="0">
              <a:buNone/>
            </a:pPr>
            <a:r>
              <a:rPr lang="en-US" sz="1630" b="1" dirty="0">
                <a:solidFill>
                  <a:srgbClr val="241337"/>
                </a:solidFill>
                <a:latin typeface="Aptos" pitchFamily="34" charset="0"/>
                <a:ea typeface="Aptos" pitchFamily="34" charset="-122"/>
                <a:cs typeface="Aptos" pitchFamily="34" charset="-120"/>
              </a:rPr>
              <a:t>Suivre une pagination</a:t>
            </a:r>
            <a:endParaRPr lang="en-US" sz="1630" dirty="0"/>
          </a:p>
        </p:txBody>
      </p:sp>
      <p:sp>
        <p:nvSpPr>
          <p:cNvPr id="20" name="Shape 18"/>
          <p:cNvSpPr/>
          <p:nvPr/>
        </p:nvSpPr>
        <p:spPr>
          <a:xfrm>
            <a:off x="685800" y="3337560"/>
            <a:ext cx="2487168" cy="1143000"/>
          </a:xfrm>
          <a:prstGeom prst="roundRect">
            <a:avLst>
              <a:gd name="adj" fmla="val 4800"/>
            </a:avLst>
          </a:prstGeom>
          <a:solidFill>
            <a:srgbClr val="FFFFFF"/>
          </a:solidFill>
          <a:ln w="12700">
            <a:solidFill>
              <a:srgbClr val="DDDCE6"/>
            </a:solidFill>
            <a:prstDash val="solid"/>
          </a:ln>
          <a:effectLst>
            <a:outerShdw sx="100000" sy="100000" kx="0" ky="0" algn="bl" rotWithShape="0" blurRad="19050" dist="50800" dir="2700000">
              <a:srgbClr val="D6D3DF">
                <a:alpha val="18000"/>
              </a:srgbClr>
            </a:outerShdw>
          </a:effectLst>
        </p:spPr>
      </p:sp>
      <p:sp>
        <p:nvSpPr>
          <p:cNvPr id="21" name="Shape 19"/>
          <p:cNvSpPr/>
          <p:nvPr/>
        </p:nvSpPr>
        <p:spPr>
          <a:xfrm>
            <a:off x="685800" y="3337560"/>
            <a:ext cx="73152" cy="1143000"/>
          </a:xfrm>
          <a:prstGeom prst="rect">
            <a:avLst/>
          </a:prstGeom>
          <a:solidFill>
            <a:srgbClr val="4F7FC4"/>
          </a:solidFill>
          <a:ln w="12700">
            <a:solidFill>
              <a:srgbClr val="4F7FC4"/>
            </a:solidFill>
            <a:prstDash val="solid"/>
          </a:ln>
        </p:spPr>
      </p:sp>
      <p:sp>
        <p:nvSpPr>
          <p:cNvPr id="22" name="Text 20"/>
          <p:cNvSpPr/>
          <p:nvPr/>
        </p:nvSpPr>
        <p:spPr>
          <a:xfrm>
            <a:off x="1033272" y="3593592"/>
            <a:ext cx="320040" cy="256032"/>
          </a:xfrm>
          <a:prstGeom prst="rect">
            <a:avLst/>
          </a:prstGeom>
          <a:noFill/>
          <a:ln/>
        </p:spPr>
        <p:txBody>
          <a:bodyPr wrap="square" lIns="0" tIns="0" rIns="0" bIns="0" rtlCol="0" anchor="ctr">
            <a:normAutofit/>
          </a:bodyPr>
          <a:lstStyle/>
          <a:p>
            <a:pPr algn="l" indent="0" marL="0">
              <a:buNone/>
            </a:pPr>
            <a:r>
              <a:rPr lang="en-US" sz="1900" b="1" dirty="0">
                <a:solidFill>
                  <a:srgbClr val="4F7FC4"/>
                </a:solidFill>
                <a:latin typeface="Aptos" pitchFamily="34" charset="0"/>
                <a:ea typeface="Aptos" pitchFamily="34" charset="-122"/>
                <a:cs typeface="Aptos" pitchFamily="34" charset="-120"/>
              </a:rPr>
              <a:t>5</a:t>
            </a:r>
            <a:endParaRPr lang="en-US" sz="1900" dirty="0"/>
          </a:p>
        </p:txBody>
      </p:sp>
      <p:sp>
        <p:nvSpPr>
          <p:cNvPr id="23" name="Text 21"/>
          <p:cNvSpPr/>
          <p:nvPr/>
        </p:nvSpPr>
        <p:spPr>
          <a:xfrm>
            <a:off x="1399032" y="3557016"/>
            <a:ext cx="1572768" cy="347472"/>
          </a:xfrm>
          <a:prstGeom prst="rect">
            <a:avLst/>
          </a:prstGeom>
          <a:noFill/>
          <a:ln/>
        </p:spPr>
        <p:txBody>
          <a:bodyPr wrap="square" lIns="0" tIns="0" rIns="0" bIns="0" rtlCol="0" anchor="t">
            <a:normAutofit/>
          </a:bodyPr>
          <a:lstStyle/>
          <a:p>
            <a:pPr algn="l" indent="0" marL="0">
              <a:buNone/>
            </a:pPr>
            <a:r>
              <a:rPr lang="en-US" sz="1630" b="1" dirty="0">
                <a:solidFill>
                  <a:srgbClr val="241337"/>
                </a:solidFill>
                <a:latin typeface="Aptos" pitchFamily="34" charset="0"/>
                <a:ea typeface="Aptos" pitchFamily="34" charset="-122"/>
                <a:cs typeface="Aptos" pitchFamily="34" charset="-120"/>
              </a:rPr>
              <a:t>Visiter une page détail</a:t>
            </a:r>
            <a:endParaRPr lang="en-US" sz="1630" dirty="0"/>
          </a:p>
        </p:txBody>
      </p:sp>
      <p:sp>
        <p:nvSpPr>
          <p:cNvPr id="24" name="Shape 22"/>
          <p:cNvSpPr/>
          <p:nvPr/>
        </p:nvSpPr>
        <p:spPr>
          <a:xfrm>
            <a:off x="3474720" y="3337560"/>
            <a:ext cx="2487168" cy="1143000"/>
          </a:xfrm>
          <a:prstGeom prst="roundRect">
            <a:avLst>
              <a:gd name="adj" fmla="val 4800"/>
            </a:avLst>
          </a:prstGeom>
          <a:solidFill>
            <a:srgbClr val="FFFFFF"/>
          </a:solidFill>
          <a:ln w="12700">
            <a:solidFill>
              <a:srgbClr val="DDDCE6"/>
            </a:solidFill>
            <a:prstDash val="solid"/>
          </a:ln>
          <a:effectLst>
            <a:outerShdw sx="100000" sy="100000" kx="0" ky="0" algn="bl" rotWithShape="0" blurRad="19050" dist="50800" dir="2700000">
              <a:srgbClr val="D6D3DF">
                <a:alpha val="18000"/>
              </a:srgbClr>
            </a:outerShdw>
          </a:effectLst>
        </p:spPr>
      </p:sp>
      <p:sp>
        <p:nvSpPr>
          <p:cNvPr id="25" name="Shape 23"/>
          <p:cNvSpPr/>
          <p:nvPr/>
        </p:nvSpPr>
        <p:spPr>
          <a:xfrm>
            <a:off x="3474720" y="3337560"/>
            <a:ext cx="73152" cy="1143000"/>
          </a:xfrm>
          <a:prstGeom prst="rect">
            <a:avLst/>
          </a:prstGeom>
          <a:solidFill>
            <a:srgbClr val="7432A8"/>
          </a:solidFill>
          <a:ln w="12700">
            <a:solidFill>
              <a:srgbClr val="7432A8"/>
            </a:solidFill>
            <a:prstDash val="solid"/>
          </a:ln>
        </p:spPr>
      </p:sp>
      <p:sp>
        <p:nvSpPr>
          <p:cNvPr id="26" name="Text 24"/>
          <p:cNvSpPr/>
          <p:nvPr/>
        </p:nvSpPr>
        <p:spPr>
          <a:xfrm>
            <a:off x="3822192" y="3593592"/>
            <a:ext cx="320040" cy="256032"/>
          </a:xfrm>
          <a:prstGeom prst="rect">
            <a:avLst/>
          </a:prstGeom>
          <a:noFill/>
          <a:ln/>
        </p:spPr>
        <p:txBody>
          <a:bodyPr wrap="square" lIns="0" tIns="0" rIns="0" bIns="0" rtlCol="0" anchor="ctr">
            <a:normAutofit/>
          </a:bodyPr>
          <a:lstStyle/>
          <a:p>
            <a:pPr algn="l" indent="0" marL="0">
              <a:buNone/>
            </a:pPr>
            <a:r>
              <a:rPr lang="en-US" sz="1900" b="1" dirty="0">
                <a:solidFill>
                  <a:srgbClr val="7432A8"/>
                </a:solidFill>
                <a:latin typeface="Aptos" pitchFamily="34" charset="0"/>
                <a:ea typeface="Aptos" pitchFamily="34" charset="-122"/>
                <a:cs typeface="Aptos" pitchFamily="34" charset="-120"/>
              </a:rPr>
              <a:t>6</a:t>
            </a:r>
            <a:endParaRPr lang="en-US" sz="1900" dirty="0"/>
          </a:p>
        </p:txBody>
      </p:sp>
      <p:sp>
        <p:nvSpPr>
          <p:cNvPr id="27" name="Text 25"/>
          <p:cNvSpPr/>
          <p:nvPr/>
        </p:nvSpPr>
        <p:spPr>
          <a:xfrm>
            <a:off x="4187952" y="3557016"/>
            <a:ext cx="1572768" cy="347472"/>
          </a:xfrm>
          <a:prstGeom prst="rect">
            <a:avLst/>
          </a:prstGeom>
          <a:noFill/>
          <a:ln/>
        </p:spPr>
        <p:txBody>
          <a:bodyPr wrap="square" lIns="0" tIns="0" rIns="0" bIns="0" rtlCol="0" anchor="t">
            <a:normAutofit/>
          </a:bodyPr>
          <a:lstStyle/>
          <a:p>
            <a:pPr algn="l" indent="0" marL="0">
              <a:buNone/>
            </a:pPr>
            <a:r>
              <a:rPr lang="en-US" sz="1630" b="1" dirty="0">
                <a:solidFill>
                  <a:srgbClr val="241337"/>
                </a:solidFill>
                <a:latin typeface="Aptos" pitchFamily="34" charset="0"/>
                <a:ea typeface="Aptos" pitchFamily="34" charset="-122"/>
                <a:cs typeface="Aptos" pitchFamily="34" charset="-120"/>
              </a:rPr>
              <a:t>Créer un Item</a:t>
            </a:r>
            <a:endParaRPr lang="en-US" sz="1630" dirty="0"/>
          </a:p>
        </p:txBody>
      </p:sp>
      <p:sp>
        <p:nvSpPr>
          <p:cNvPr id="28" name="Shape 26"/>
          <p:cNvSpPr/>
          <p:nvPr/>
        </p:nvSpPr>
        <p:spPr>
          <a:xfrm>
            <a:off x="6263640" y="3337560"/>
            <a:ext cx="2487168" cy="1143000"/>
          </a:xfrm>
          <a:prstGeom prst="roundRect">
            <a:avLst>
              <a:gd name="adj" fmla="val 4800"/>
            </a:avLst>
          </a:prstGeom>
          <a:solidFill>
            <a:srgbClr val="FFFFFF"/>
          </a:solidFill>
          <a:ln w="12700">
            <a:solidFill>
              <a:srgbClr val="DDDCE6"/>
            </a:solidFill>
            <a:prstDash val="solid"/>
          </a:ln>
          <a:effectLst>
            <a:outerShdw sx="100000" sy="100000" kx="0" ky="0" algn="bl" rotWithShape="0" blurRad="19050" dist="50800" dir="2700000">
              <a:srgbClr val="D6D3DF">
                <a:alpha val="18000"/>
              </a:srgbClr>
            </a:outerShdw>
          </a:effectLst>
        </p:spPr>
      </p:sp>
      <p:sp>
        <p:nvSpPr>
          <p:cNvPr id="29" name="Shape 27"/>
          <p:cNvSpPr/>
          <p:nvPr/>
        </p:nvSpPr>
        <p:spPr>
          <a:xfrm>
            <a:off x="6263640" y="3337560"/>
            <a:ext cx="73152" cy="1143000"/>
          </a:xfrm>
          <a:prstGeom prst="rect">
            <a:avLst/>
          </a:prstGeom>
          <a:solidFill>
            <a:srgbClr val="4EA27B"/>
          </a:solidFill>
          <a:ln w="12700">
            <a:solidFill>
              <a:srgbClr val="4EA27B"/>
            </a:solidFill>
            <a:prstDash val="solid"/>
          </a:ln>
        </p:spPr>
      </p:sp>
      <p:sp>
        <p:nvSpPr>
          <p:cNvPr id="30" name="Text 28"/>
          <p:cNvSpPr/>
          <p:nvPr/>
        </p:nvSpPr>
        <p:spPr>
          <a:xfrm>
            <a:off x="6611112" y="3593592"/>
            <a:ext cx="320040" cy="256032"/>
          </a:xfrm>
          <a:prstGeom prst="rect">
            <a:avLst/>
          </a:prstGeom>
          <a:noFill/>
          <a:ln/>
        </p:spPr>
        <p:txBody>
          <a:bodyPr wrap="square" lIns="0" tIns="0" rIns="0" bIns="0" rtlCol="0" anchor="ctr">
            <a:normAutofit/>
          </a:bodyPr>
          <a:lstStyle/>
          <a:p>
            <a:pPr algn="l" indent="0" marL="0">
              <a:buNone/>
            </a:pPr>
            <a:r>
              <a:rPr lang="en-US" sz="1900" b="1" dirty="0">
                <a:solidFill>
                  <a:srgbClr val="4EA27B"/>
                </a:solidFill>
                <a:latin typeface="Aptos" pitchFamily="34" charset="0"/>
                <a:ea typeface="Aptos" pitchFamily="34" charset="-122"/>
                <a:cs typeface="Aptos" pitchFamily="34" charset="-120"/>
              </a:rPr>
              <a:t>7</a:t>
            </a:r>
            <a:endParaRPr lang="en-US" sz="1900" dirty="0"/>
          </a:p>
        </p:txBody>
      </p:sp>
      <p:sp>
        <p:nvSpPr>
          <p:cNvPr id="31" name="Text 29"/>
          <p:cNvSpPr/>
          <p:nvPr/>
        </p:nvSpPr>
        <p:spPr>
          <a:xfrm>
            <a:off x="6976872" y="3557016"/>
            <a:ext cx="1572768" cy="347472"/>
          </a:xfrm>
          <a:prstGeom prst="rect">
            <a:avLst/>
          </a:prstGeom>
          <a:noFill/>
          <a:ln/>
        </p:spPr>
        <p:txBody>
          <a:bodyPr wrap="square" lIns="0" tIns="0" rIns="0" bIns="0" rtlCol="0" anchor="t">
            <a:normAutofit/>
          </a:bodyPr>
          <a:lstStyle/>
          <a:p>
            <a:pPr algn="l" indent="0" marL="0">
              <a:buNone/>
            </a:pPr>
            <a:r>
              <a:rPr lang="en-US" sz="1630" b="1" dirty="0">
                <a:solidFill>
                  <a:srgbClr val="241337"/>
                </a:solidFill>
                <a:latin typeface="Aptos" pitchFamily="34" charset="0"/>
                <a:ea typeface="Aptos" pitchFamily="34" charset="-122"/>
                <a:cs typeface="Aptos" pitchFamily="34" charset="-120"/>
              </a:rPr>
              <a:t>Nettoyer via Pipeline</a:t>
            </a:r>
            <a:endParaRPr lang="en-US" sz="1630" dirty="0"/>
          </a:p>
        </p:txBody>
      </p:sp>
      <p:sp>
        <p:nvSpPr>
          <p:cNvPr id="32" name="Shape 30"/>
          <p:cNvSpPr/>
          <p:nvPr/>
        </p:nvSpPr>
        <p:spPr>
          <a:xfrm>
            <a:off x="9052560" y="3337560"/>
            <a:ext cx="2487168" cy="1143000"/>
          </a:xfrm>
          <a:prstGeom prst="roundRect">
            <a:avLst>
              <a:gd name="adj" fmla="val 4800"/>
            </a:avLst>
          </a:prstGeom>
          <a:solidFill>
            <a:srgbClr val="FFFFFF"/>
          </a:solidFill>
          <a:ln w="12700">
            <a:solidFill>
              <a:srgbClr val="DDDCE6"/>
            </a:solidFill>
            <a:prstDash val="solid"/>
          </a:ln>
          <a:effectLst>
            <a:outerShdw sx="100000" sy="100000" kx="0" ky="0" algn="bl" rotWithShape="0" blurRad="19050" dist="50800" dir="2700000">
              <a:srgbClr val="D6D3DF">
                <a:alpha val="18000"/>
              </a:srgbClr>
            </a:outerShdw>
          </a:effectLst>
        </p:spPr>
      </p:sp>
      <p:sp>
        <p:nvSpPr>
          <p:cNvPr id="33" name="Shape 31"/>
          <p:cNvSpPr/>
          <p:nvPr/>
        </p:nvSpPr>
        <p:spPr>
          <a:xfrm>
            <a:off x="9052560" y="3337560"/>
            <a:ext cx="73152" cy="1143000"/>
          </a:xfrm>
          <a:prstGeom prst="rect">
            <a:avLst/>
          </a:prstGeom>
          <a:solidFill>
            <a:srgbClr val="DB8129"/>
          </a:solidFill>
          <a:ln w="12700">
            <a:solidFill>
              <a:srgbClr val="DB8129"/>
            </a:solidFill>
            <a:prstDash val="solid"/>
          </a:ln>
        </p:spPr>
      </p:sp>
      <p:sp>
        <p:nvSpPr>
          <p:cNvPr id="34" name="Text 32"/>
          <p:cNvSpPr/>
          <p:nvPr/>
        </p:nvSpPr>
        <p:spPr>
          <a:xfrm>
            <a:off x="9400032" y="3593592"/>
            <a:ext cx="320040" cy="256032"/>
          </a:xfrm>
          <a:prstGeom prst="rect">
            <a:avLst/>
          </a:prstGeom>
          <a:noFill/>
          <a:ln/>
        </p:spPr>
        <p:txBody>
          <a:bodyPr wrap="square" lIns="0" tIns="0" rIns="0" bIns="0" rtlCol="0" anchor="ctr">
            <a:normAutofit/>
          </a:bodyPr>
          <a:lstStyle/>
          <a:p>
            <a:pPr algn="l" indent="0" marL="0">
              <a:buNone/>
            </a:pPr>
            <a:r>
              <a:rPr lang="en-US" sz="1900" b="1" dirty="0">
                <a:solidFill>
                  <a:srgbClr val="DB8129"/>
                </a:solidFill>
                <a:latin typeface="Aptos" pitchFamily="34" charset="0"/>
                <a:ea typeface="Aptos" pitchFamily="34" charset="-122"/>
                <a:cs typeface="Aptos" pitchFamily="34" charset="-120"/>
              </a:rPr>
              <a:t>8</a:t>
            </a:r>
            <a:endParaRPr lang="en-US" sz="1900" dirty="0"/>
          </a:p>
        </p:txBody>
      </p:sp>
      <p:sp>
        <p:nvSpPr>
          <p:cNvPr id="35" name="Text 33"/>
          <p:cNvSpPr/>
          <p:nvPr/>
        </p:nvSpPr>
        <p:spPr>
          <a:xfrm>
            <a:off x="9765792" y="3557016"/>
            <a:ext cx="1572768" cy="347472"/>
          </a:xfrm>
          <a:prstGeom prst="rect">
            <a:avLst/>
          </a:prstGeom>
          <a:noFill/>
          <a:ln/>
        </p:spPr>
        <p:txBody>
          <a:bodyPr wrap="square" lIns="0" tIns="0" rIns="0" bIns="0" rtlCol="0" anchor="t">
            <a:normAutofit/>
          </a:bodyPr>
          <a:lstStyle/>
          <a:p>
            <a:pPr algn="l" indent="0" marL="0">
              <a:buNone/>
            </a:pPr>
            <a:r>
              <a:rPr lang="en-US" sz="1630" b="1" dirty="0">
                <a:solidFill>
                  <a:srgbClr val="241337"/>
                </a:solidFill>
                <a:latin typeface="Aptos" pitchFamily="34" charset="0"/>
                <a:ea typeface="Aptos" pitchFamily="34" charset="-122"/>
                <a:cs typeface="Aptos" pitchFamily="34" charset="-120"/>
              </a:rPr>
              <a:t>Exporter CSV / JSON / DB</a:t>
            </a:r>
            <a:endParaRPr lang="en-US" sz="1630" dirty="0"/>
          </a:p>
        </p:txBody>
      </p:sp>
      <p:sp>
        <p:nvSpPr>
          <p:cNvPr id="36" name="Text 34"/>
          <p:cNvSpPr/>
          <p:nvPr/>
        </p:nvSpPr>
        <p:spPr>
          <a:xfrm>
            <a:off x="1051560" y="5349240"/>
            <a:ext cx="10058400" cy="411480"/>
          </a:xfrm>
          <a:prstGeom prst="rect">
            <a:avLst/>
          </a:prstGeom>
          <a:noFill/>
          <a:ln/>
        </p:spPr>
        <p:txBody>
          <a:bodyPr wrap="square" lIns="0" tIns="0" rIns="0" bIns="0" rtlCol="0" anchor="ctr">
            <a:normAutofit/>
          </a:bodyPr>
          <a:lstStyle/>
          <a:p>
            <a:pPr algn="ctr" indent="0" marL="0">
              <a:buNone/>
            </a:pPr>
            <a:r>
              <a:rPr lang="en-US" sz="1600" b="1" dirty="0">
                <a:solidFill>
                  <a:srgbClr val="241337"/>
                </a:solidFill>
                <a:latin typeface="Aptos" pitchFamily="34" charset="0"/>
                <a:ea typeface="Aptos" pitchFamily="34" charset="-122"/>
                <a:cs typeface="Aptos" pitchFamily="34" charset="-120"/>
              </a:rPr>
              <a:t>Après-midi : décider quand la collecte est justifiable — pas seulement techniquement possible.</a:t>
            </a:r>
            <a:endParaRPr lang="en-US" sz="1600" dirty="0"/>
          </a:p>
        </p:txBody>
      </p:sp>
      <p:sp>
        <p:nvSpPr>
          <p:cNvPr id="25" name="Slide Number Placeholder 0"/>
          <p:cNvSpPr>
            <a:spLocks noGrp="1"/>
          </p:cNvSpPr>
          <p:nvPr>
            <p:ph type="sldNum" sz="quarter" idx="4294967295"/>
          </p:nvPr>
        </p:nvSpPr>
        <p:spPr>
          <a:xfrm>
            <a:off x="11750040" y="274320"/>
            <a:ext cx="228600" cy="164592"/>
          </a:xfrm>
          <a:prstGeom prst="rect">
            <a:avLst/>
          </a:prstGeom>
          <a:extLst>
            <a:ext uri="{C572A759-6A51-4108-AA02-DFA0A04FC94B}">
              <ma14:wrappingTextBoxFlag xmlns:ma14="http://schemas.microsoft.com/office/mac/drawingml/2011/main" val="0"/>
            </a:ext>
          </a:extLst>
        </p:spPr>
        <p:txBody>
          <a:bodyPr/>
          <a:lstStyle>
            <a:lvl1pPr>
              <a:defRPr sz="800">
                <a:solidFill>
                  <a:srgbClr val="858697"/>
                </a:solidFill>
                <a:latin typeface="Aptos"/>
                <a:ea typeface="Aptos"/>
                <a:cs typeface="Aptos"/>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241337"/>
        </a:solidFill>
      </p:bgPr>
    </p:bg>
    <p:spTree>
      <p:nvGrpSpPr>
        <p:cNvPr id="1" name=""/>
        <p:cNvGrpSpPr/>
        <p:nvPr/>
      </p:nvGrpSpPr>
      <p:grpSpPr>
        <a:xfrm>
          <a:off x="0" y="0"/>
          <a:ext cx="0" cy="0"/>
          <a:chOff x="0" y="0"/>
          <a:chExt cx="0" cy="0"/>
        </a:xfrm>
      </p:grpSpPr>
      <p:sp>
        <p:nvSpPr>
          <p:cNvPr id="2" name="Shape 0"/>
          <p:cNvSpPr/>
          <p:nvPr/>
        </p:nvSpPr>
        <p:spPr>
          <a:xfrm>
            <a:off x="0" y="0"/>
            <a:ext cx="201168" cy="6858000"/>
          </a:xfrm>
          <a:prstGeom prst="rect">
            <a:avLst/>
          </a:prstGeom>
          <a:solidFill>
            <a:srgbClr val="7432A8"/>
          </a:solidFill>
          <a:ln w="12700">
            <a:solidFill>
              <a:srgbClr val="7432A8"/>
            </a:solidFill>
            <a:prstDash val="solid"/>
          </a:ln>
        </p:spPr>
      </p:sp>
      <p:sp>
        <p:nvSpPr>
          <p:cNvPr id="3" name="Shape 1"/>
          <p:cNvSpPr/>
          <p:nvPr/>
        </p:nvSpPr>
        <p:spPr>
          <a:xfrm rot="1500000">
            <a:off x="10716768" y="-109728"/>
            <a:ext cx="1097280" cy="1188720"/>
          </a:xfrm>
          <a:prstGeom prst="arc">
            <a:avLst/>
          </a:prstGeom>
          <a:solidFill>
            <a:srgbClr val="7432A8"/>
          </a:solidFill>
          <a:ln w="12700">
            <a:solidFill>
              <a:srgbClr val="7432A8"/>
            </a:solidFill>
            <a:prstDash val="solid"/>
          </a:ln>
        </p:spPr>
      </p:sp>
      <p:sp>
        <p:nvSpPr>
          <p:cNvPr id="4" name="Text 2"/>
          <p:cNvSpPr/>
          <p:nvPr/>
        </p:nvSpPr>
        <p:spPr>
          <a:xfrm>
            <a:off x="658368" y="594360"/>
            <a:ext cx="914400" cy="320040"/>
          </a:xfrm>
          <a:prstGeom prst="rect">
            <a:avLst/>
          </a:prstGeom>
          <a:noFill/>
          <a:ln/>
        </p:spPr>
        <p:txBody>
          <a:bodyPr wrap="square" lIns="0" tIns="0" rIns="0" bIns="0" rtlCol="0" anchor="ctr">
            <a:normAutofit/>
          </a:bodyPr>
          <a:lstStyle/>
          <a:p>
            <a:pPr algn="l" indent="0" marL="0">
              <a:buNone/>
            </a:pPr>
            <a:r>
              <a:rPr lang="en-US" sz="1900" b="1" dirty="0">
                <a:solidFill>
                  <a:srgbClr val="8B49BA"/>
                </a:solidFill>
                <a:latin typeface="Aptos" pitchFamily="34" charset="0"/>
                <a:ea typeface="Aptos" pitchFamily="34" charset="-122"/>
                <a:cs typeface="Aptos" pitchFamily="34" charset="-120"/>
              </a:rPr>
              <a:t>02</a:t>
            </a:r>
            <a:endParaRPr lang="en-US" sz="1900" dirty="0"/>
          </a:p>
        </p:txBody>
      </p:sp>
      <p:sp>
        <p:nvSpPr>
          <p:cNvPr id="5" name="Text 3"/>
          <p:cNvSpPr/>
          <p:nvPr/>
        </p:nvSpPr>
        <p:spPr>
          <a:xfrm>
            <a:off x="658368" y="1234440"/>
            <a:ext cx="8046720" cy="658368"/>
          </a:xfrm>
          <a:prstGeom prst="rect">
            <a:avLst/>
          </a:prstGeom>
          <a:noFill/>
          <a:ln/>
        </p:spPr>
        <p:txBody>
          <a:bodyPr wrap="square" lIns="0" tIns="0" rIns="0" bIns="0" rtlCol="0" anchor="t">
            <a:normAutofit/>
          </a:bodyPr>
          <a:lstStyle/>
          <a:p>
            <a:pPr algn="l" indent="0" marL="0">
              <a:buNone/>
            </a:pPr>
            <a:r>
              <a:rPr lang="en-US" sz="2800" b="1" dirty="0">
                <a:solidFill>
                  <a:srgbClr val="FFFFFF"/>
                </a:solidFill>
                <a:latin typeface="Aptos" pitchFamily="34" charset="0"/>
                <a:ea typeface="Aptos" pitchFamily="34" charset="-122"/>
                <a:cs typeface="Aptos" pitchFamily="34" charset="-120"/>
              </a:rPr>
              <a:t>Droit, éthique &amp; limites techniques</a:t>
            </a:r>
            <a:endParaRPr lang="en-US" sz="2800" dirty="0"/>
          </a:p>
        </p:txBody>
      </p:sp>
      <p:sp>
        <p:nvSpPr>
          <p:cNvPr id="6" name="Text 4"/>
          <p:cNvSpPr/>
          <p:nvPr/>
        </p:nvSpPr>
        <p:spPr>
          <a:xfrm>
            <a:off x="658368" y="2084832"/>
            <a:ext cx="8595360" cy="777240"/>
          </a:xfrm>
          <a:prstGeom prst="rect">
            <a:avLst/>
          </a:prstGeom>
          <a:noFill/>
          <a:ln/>
        </p:spPr>
        <p:txBody>
          <a:bodyPr wrap="square" lIns="0" tIns="0" rIns="0" bIns="0" rtlCol="0" anchor="t">
            <a:normAutofit/>
          </a:bodyPr>
          <a:lstStyle/>
          <a:p>
            <a:pPr algn="l" indent="0" marL="0">
              <a:buNone/>
            </a:pPr>
            <a:r>
              <a:rPr lang="en-US" sz="1520" dirty="0">
                <a:solidFill>
                  <a:srgbClr val="D8CFDF"/>
                </a:solidFill>
                <a:latin typeface="Aptos" pitchFamily="34" charset="0"/>
                <a:ea typeface="Aptos" pitchFamily="34" charset="-122"/>
                <a:cs typeface="Aptos" pitchFamily="34" charset="-120"/>
              </a:rPr>
              <a:t>Une page accessible n’est pas automatiquement une donnée librement réutilisable.</a:t>
            </a:r>
            <a:endParaRPr lang="en-US" sz="1520" dirty="0"/>
          </a:p>
        </p:txBody>
      </p:sp>
      <p:sp>
        <p:nvSpPr>
          <p:cNvPr id="7" name="Shape 5"/>
          <p:cNvSpPr/>
          <p:nvPr/>
        </p:nvSpPr>
        <p:spPr>
          <a:xfrm>
            <a:off x="9464040" y="4434840"/>
            <a:ext cx="1965960" cy="1143000"/>
          </a:xfrm>
          <a:prstGeom prst="roundRect">
            <a:avLst>
              <a:gd name="adj" fmla="val 4800"/>
            </a:avLst>
          </a:prstGeom>
          <a:solidFill>
            <a:srgbClr val="2E1B43"/>
          </a:solidFill>
          <a:ln w="12700">
            <a:solidFill>
              <a:srgbClr val="4A2F63"/>
            </a:solidFill>
            <a:prstDash val="solid"/>
          </a:ln>
        </p:spPr>
      </p:sp>
      <p:sp>
        <p:nvSpPr>
          <p:cNvPr id="8" name="Text 6"/>
          <p:cNvSpPr/>
          <p:nvPr/>
        </p:nvSpPr>
        <p:spPr>
          <a:xfrm>
            <a:off x="9802368" y="4626864"/>
            <a:ext cx="1280160" cy="228600"/>
          </a:xfrm>
          <a:prstGeom prst="rect">
            <a:avLst/>
          </a:prstGeom>
          <a:noFill/>
          <a:ln/>
        </p:spPr>
        <p:txBody>
          <a:bodyPr wrap="square" lIns="0" tIns="0" rIns="0" bIns="0" rtlCol="0" anchor="ctr">
            <a:normAutofit/>
          </a:bodyPr>
          <a:lstStyle/>
          <a:p>
            <a:pPr algn="ctr" indent="0" marL="0">
              <a:buNone/>
            </a:pPr>
            <a:r>
              <a:rPr lang="en-US" sz="1050" b="1" dirty="0">
                <a:solidFill>
                  <a:srgbClr val="C7A7DD"/>
                </a:solidFill>
                <a:latin typeface="Aptos" pitchFamily="34" charset="0"/>
                <a:ea typeface="Aptos" pitchFamily="34" charset="-122"/>
                <a:cs typeface="Aptos" pitchFamily="34" charset="-120"/>
              </a:rPr>
              <a:t>À retenir</a:t>
            </a:r>
            <a:endParaRPr lang="en-US" sz="1050" dirty="0"/>
          </a:p>
        </p:txBody>
      </p:sp>
      <p:sp>
        <p:nvSpPr>
          <p:cNvPr id="9" name="Text 7"/>
          <p:cNvSpPr/>
          <p:nvPr/>
        </p:nvSpPr>
        <p:spPr>
          <a:xfrm>
            <a:off x="9646920" y="4956048"/>
            <a:ext cx="1600200" cy="411480"/>
          </a:xfrm>
          <a:prstGeom prst="rect">
            <a:avLst/>
          </a:prstGeom>
          <a:noFill/>
          <a:ln/>
        </p:spPr>
        <p:txBody>
          <a:bodyPr wrap="square" lIns="0" tIns="0" rIns="0" bIns="0" rtlCol="0" anchor="ctr">
            <a:normAutofit/>
          </a:bodyPr>
          <a:lstStyle/>
          <a:p>
            <a:pPr algn="ctr" indent="0" marL="0">
              <a:buNone/>
            </a:pPr>
            <a:r>
              <a:rPr lang="en-US" sz="1200" dirty="0">
                <a:solidFill>
                  <a:srgbClr val="FFFFFF"/>
                </a:solidFill>
                <a:latin typeface="Aptos" pitchFamily="34" charset="0"/>
                <a:ea typeface="Aptos" pitchFamily="34" charset="-122"/>
                <a:cs typeface="Aptos" pitchFamily="34" charset="-120"/>
              </a:rPr>
              <a:t>Public ≠ libre de tout usage</a:t>
            </a:r>
            <a:endParaRPr lang="en-US" sz="1200" dirty="0"/>
          </a:p>
        </p:txBody>
      </p:sp>
      <p:sp>
        <p:nvSpPr>
          <p:cNvPr id="10" name="Text 8"/>
          <p:cNvSpPr/>
          <p:nvPr/>
        </p:nvSpPr>
        <p:spPr>
          <a:xfrm>
            <a:off x="658368" y="6190488"/>
            <a:ext cx="914400" cy="201168"/>
          </a:xfrm>
          <a:prstGeom prst="rect">
            <a:avLst/>
          </a:prstGeom>
          <a:noFill/>
          <a:ln/>
        </p:spPr>
        <p:txBody>
          <a:bodyPr wrap="square" lIns="0" tIns="0" rIns="0" bIns="0" rtlCol="0" anchor="ctr">
            <a:normAutofit/>
          </a:bodyPr>
          <a:lstStyle/>
          <a:p>
            <a:pPr algn="l" indent="0" marL="0">
              <a:buNone/>
            </a:pPr>
            <a:r>
              <a:rPr lang="en-US" sz="900" b="1" dirty="0">
                <a:solidFill>
                  <a:srgbClr val="9A87AA"/>
                </a:solidFill>
                <a:latin typeface="Aptos" pitchFamily="34" charset="0"/>
                <a:ea typeface="Aptos" pitchFamily="34" charset="-122"/>
                <a:cs typeface="Aptos" pitchFamily="34" charset="-120"/>
              </a:rPr>
              <a:t>JOUR 2</a:t>
            </a:r>
            <a:endParaRPr lang="en-US" sz="9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566928" y="438912"/>
            <a:ext cx="5029200" cy="228600"/>
          </a:xfrm>
          <a:prstGeom prst="rect">
            <a:avLst/>
          </a:prstGeom>
          <a:noFill/>
          <a:ln/>
        </p:spPr>
        <p:txBody>
          <a:bodyPr wrap="square" lIns="0" tIns="0" rIns="0" bIns="0" rtlCol="0" anchor="ctr">
            <a:normAutofit/>
          </a:bodyPr>
          <a:lstStyle/>
          <a:p>
            <a:pPr algn="l" indent="0" marL="0">
              <a:buNone/>
            </a:pPr>
            <a:r>
              <a:rPr lang="en-US" sz="1050" b="1" spc="150" kern="0" dirty="0">
                <a:solidFill>
                  <a:srgbClr val="7432A8"/>
                </a:solidFill>
                <a:latin typeface="Aptos" pitchFamily="34" charset="0"/>
                <a:ea typeface="Aptos" pitchFamily="34" charset="-122"/>
                <a:cs typeface="Aptos" pitchFamily="34" charset="-120"/>
              </a:rPr>
              <a:t>RÉFLEXE PROFESSIONNEL</a:t>
            </a:r>
            <a:endParaRPr lang="en-US" sz="1050" dirty="0"/>
          </a:p>
        </p:txBody>
      </p:sp>
      <p:sp>
        <p:nvSpPr>
          <p:cNvPr id="3" name="Text 1"/>
          <p:cNvSpPr/>
          <p:nvPr/>
        </p:nvSpPr>
        <p:spPr>
          <a:xfrm>
            <a:off x="566928" y="768096"/>
            <a:ext cx="10972800" cy="566928"/>
          </a:xfrm>
          <a:prstGeom prst="rect">
            <a:avLst/>
          </a:prstGeom>
          <a:noFill/>
          <a:ln/>
        </p:spPr>
        <p:txBody>
          <a:bodyPr wrap="square" lIns="0" tIns="0" rIns="0" bIns="0" rtlCol="0" anchor="t">
            <a:normAutofit/>
          </a:bodyPr>
          <a:lstStyle/>
          <a:p>
            <a:pPr algn="l" indent="0" marL="0">
              <a:buNone/>
            </a:pPr>
            <a:r>
              <a:rPr lang="en-US" sz="2800" b="1" dirty="0">
                <a:solidFill>
                  <a:srgbClr val="241337"/>
                </a:solidFill>
                <a:latin typeface="Aptos" pitchFamily="34" charset="0"/>
                <a:ea typeface="Aptos" pitchFamily="34" charset="-122"/>
                <a:cs typeface="Aptos" pitchFamily="34" charset="-120"/>
              </a:rPr>
              <a:t>“Visible en ligne” ne répond pas à toutes les questions</a:t>
            </a:r>
            <a:endParaRPr lang="en-US" sz="2800" dirty="0"/>
          </a:p>
        </p:txBody>
      </p:sp>
      <p:sp>
        <p:nvSpPr>
          <p:cNvPr id="4" name="Shape 2"/>
          <p:cNvSpPr/>
          <p:nvPr/>
        </p:nvSpPr>
        <p:spPr>
          <a:xfrm>
            <a:off x="685800" y="1783080"/>
            <a:ext cx="2487168" cy="3383280"/>
          </a:xfrm>
          <a:prstGeom prst="roundRect">
            <a:avLst>
              <a:gd name="adj" fmla="val 2206"/>
            </a:avLst>
          </a:prstGeom>
          <a:solidFill>
            <a:srgbClr val="FFFFFF"/>
          </a:solidFill>
          <a:ln w="12700">
            <a:solidFill>
              <a:srgbClr val="DDDCE6"/>
            </a:solidFill>
            <a:prstDash val="solid"/>
          </a:ln>
          <a:effectLst>
            <a:outerShdw sx="100000" sy="100000" kx="0" ky="0" algn="bl" rotWithShape="0" blurRad="19050" dist="50800" dir="2700000">
              <a:srgbClr val="D6D3DF">
                <a:alpha val="18000"/>
              </a:srgbClr>
            </a:outerShdw>
          </a:effectLst>
        </p:spPr>
      </p:sp>
      <p:sp>
        <p:nvSpPr>
          <p:cNvPr id="5" name="Shape 3"/>
          <p:cNvSpPr/>
          <p:nvPr/>
        </p:nvSpPr>
        <p:spPr>
          <a:xfrm>
            <a:off x="685800" y="1783080"/>
            <a:ext cx="73152" cy="3383280"/>
          </a:xfrm>
          <a:prstGeom prst="rect">
            <a:avLst/>
          </a:prstGeom>
          <a:solidFill>
            <a:srgbClr val="4F7FC4"/>
          </a:solidFill>
          <a:ln w="12700">
            <a:solidFill>
              <a:srgbClr val="4F7FC4"/>
            </a:solidFill>
            <a:prstDash val="solid"/>
          </a:ln>
        </p:spPr>
      </p:sp>
      <p:sp>
        <p:nvSpPr>
          <p:cNvPr id="6" name="Text 4"/>
          <p:cNvSpPr/>
          <p:nvPr/>
        </p:nvSpPr>
        <p:spPr>
          <a:xfrm>
            <a:off x="1033272" y="2039112"/>
            <a:ext cx="320040" cy="256032"/>
          </a:xfrm>
          <a:prstGeom prst="rect">
            <a:avLst/>
          </a:prstGeom>
          <a:noFill/>
          <a:ln/>
        </p:spPr>
        <p:txBody>
          <a:bodyPr wrap="square" lIns="0" tIns="0" rIns="0" bIns="0" rtlCol="0" anchor="ctr">
            <a:normAutofit/>
          </a:bodyPr>
          <a:lstStyle/>
          <a:p>
            <a:pPr algn="l" indent="0" marL="0">
              <a:buNone/>
            </a:pPr>
            <a:r>
              <a:rPr lang="en-US" sz="1900" b="1" dirty="0">
                <a:solidFill>
                  <a:srgbClr val="4F7FC4"/>
                </a:solidFill>
                <a:latin typeface="Aptos" pitchFamily="34" charset="0"/>
                <a:ea typeface="Aptos" pitchFamily="34" charset="-122"/>
                <a:cs typeface="Aptos" pitchFamily="34" charset="-120"/>
              </a:rPr>
              <a:t>1</a:t>
            </a:r>
            <a:endParaRPr lang="en-US" sz="1900" dirty="0"/>
          </a:p>
        </p:txBody>
      </p:sp>
      <p:sp>
        <p:nvSpPr>
          <p:cNvPr id="7" name="Text 5"/>
          <p:cNvSpPr/>
          <p:nvPr/>
        </p:nvSpPr>
        <p:spPr>
          <a:xfrm>
            <a:off x="1399032" y="2002536"/>
            <a:ext cx="1572768" cy="347472"/>
          </a:xfrm>
          <a:prstGeom prst="rect">
            <a:avLst/>
          </a:prstGeom>
          <a:noFill/>
          <a:ln/>
        </p:spPr>
        <p:txBody>
          <a:bodyPr wrap="square" lIns="0" tIns="0" rIns="0" bIns="0" rtlCol="0" anchor="t">
            <a:normAutofit/>
          </a:bodyPr>
          <a:lstStyle/>
          <a:p>
            <a:pPr algn="l" indent="0" marL="0">
              <a:buNone/>
            </a:pPr>
            <a:r>
              <a:rPr lang="en-US" sz="1630" b="1" dirty="0">
                <a:solidFill>
                  <a:srgbClr val="241337"/>
                </a:solidFill>
                <a:latin typeface="Aptos" pitchFamily="34" charset="0"/>
                <a:ea typeface="Aptos" pitchFamily="34" charset="-122"/>
                <a:cs typeface="Aptos" pitchFamily="34" charset="-120"/>
              </a:rPr>
              <a:t>Quelle donnée ?</a:t>
            </a:r>
            <a:endParaRPr lang="en-US" sz="1630" dirty="0"/>
          </a:p>
        </p:txBody>
      </p:sp>
      <p:sp>
        <p:nvSpPr>
          <p:cNvPr id="8" name="Text 6"/>
          <p:cNvSpPr/>
          <p:nvPr/>
        </p:nvSpPr>
        <p:spPr>
          <a:xfrm>
            <a:off x="978408" y="2478024"/>
            <a:ext cx="1984248" cy="2514600"/>
          </a:xfrm>
          <a:prstGeom prst="rect">
            <a:avLst/>
          </a:prstGeom>
          <a:noFill/>
          <a:ln/>
        </p:spPr>
        <p:txBody>
          <a:bodyPr wrap="square" lIns="0" tIns="0" rIns="0" bIns="0" rtlCol="0" anchor="t">
            <a:normAutofit/>
          </a:bodyPr>
          <a:lstStyle/>
          <a:p>
            <a:pPr algn="l" indent="0" marL="0">
              <a:buNone/>
            </a:pPr>
            <a:r>
              <a:rPr lang="en-US" sz="1230" dirty="0">
                <a:solidFill>
                  <a:srgbClr val="6F7082"/>
                </a:solidFill>
                <a:latin typeface="Aptos" pitchFamily="34" charset="0"/>
                <a:ea typeface="Aptos" pitchFamily="34" charset="-122"/>
                <a:cs typeface="Aptos" pitchFamily="34" charset="-120"/>
              </a:rPr>
              <a:t>Personnel, non personnel, contenu protégé, base structurée…</a:t>
            </a:r>
            <a:endParaRPr lang="en-US" sz="1230" dirty="0"/>
          </a:p>
        </p:txBody>
      </p:sp>
      <p:sp>
        <p:nvSpPr>
          <p:cNvPr id="9" name="Shape 7"/>
          <p:cNvSpPr/>
          <p:nvPr/>
        </p:nvSpPr>
        <p:spPr>
          <a:xfrm>
            <a:off x="3474720" y="1783080"/>
            <a:ext cx="2487168" cy="3383280"/>
          </a:xfrm>
          <a:prstGeom prst="roundRect">
            <a:avLst>
              <a:gd name="adj" fmla="val 2206"/>
            </a:avLst>
          </a:prstGeom>
          <a:solidFill>
            <a:srgbClr val="FFFFFF"/>
          </a:solidFill>
          <a:ln w="12700">
            <a:solidFill>
              <a:srgbClr val="DDDCE6"/>
            </a:solidFill>
            <a:prstDash val="solid"/>
          </a:ln>
          <a:effectLst>
            <a:outerShdw sx="100000" sy="100000" kx="0" ky="0" algn="bl" rotWithShape="0" blurRad="19050" dist="50800" dir="2700000">
              <a:srgbClr val="D6D3DF">
                <a:alpha val="18000"/>
              </a:srgbClr>
            </a:outerShdw>
          </a:effectLst>
        </p:spPr>
      </p:sp>
      <p:sp>
        <p:nvSpPr>
          <p:cNvPr id="10" name="Shape 8"/>
          <p:cNvSpPr/>
          <p:nvPr/>
        </p:nvSpPr>
        <p:spPr>
          <a:xfrm>
            <a:off x="3474720" y="1783080"/>
            <a:ext cx="73152" cy="3383280"/>
          </a:xfrm>
          <a:prstGeom prst="rect">
            <a:avLst/>
          </a:prstGeom>
          <a:solidFill>
            <a:srgbClr val="7432A8"/>
          </a:solidFill>
          <a:ln w="12700">
            <a:solidFill>
              <a:srgbClr val="7432A8"/>
            </a:solidFill>
            <a:prstDash val="solid"/>
          </a:ln>
        </p:spPr>
      </p:sp>
      <p:sp>
        <p:nvSpPr>
          <p:cNvPr id="11" name="Text 9"/>
          <p:cNvSpPr/>
          <p:nvPr/>
        </p:nvSpPr>
        <p:spPr>
          <a:xfrm>
            <a:off x="3822192" y="2039112"/>
            <a:ext cx="320040" cy="256032"/>
          </a:xfrm>
          <a:prstGeom prst="rect">
            <a:avLst/>
          </a:prstGeom>
          <a:noFill/>
          <a:ln/>
        </p:spPr>
        <p:txBody>
          <a:bodyPr wrap="square" lIns="0" tIns="0" rIns="0" bIns="0" rtlCol="0" anchor="ctr">
            <a:normAutofit/>
          </a:bodyPr>
          <a:lstStyle/>
          <a:p>
            <a:pPr algn="l" indent="0" marL="0">
              <a:buNone/>
            </a:pPr>
            <a:r>
              <a:rPr lang="en-US" sz="1900" b="1" dirty="0">
                <a:solidFill>
                  <a:srgbClr val="7432A8"/>
                </a:solidFill>
                <a:latin typeface="Aptos" pitchFamily="34" charset="0"/>
                <a:ea typeface="Aptos" pitchFamily="34" charset="-122"/>
                <a:cs typeface="Aptos" pitchFamily="34" charset="-120"/>
              </a:rPr>
              <a:t>2</a:t>
            </a:r>
            <a:endParaRPr lang="en-US" sz="1900" dirty="0"/>
          </a:p>
        </p:txBody>
      </p:sp>
      <p:sp>
        <p:nvSpPr>
          <p:cNvPr id="12" name="Text 10"/>
          <p:cNvSpPr/>
          <p:nvPr/>
        </p:nvSpPr>
        <p:spPr>
          <a:xfrm>
            <a:off x="4187952" y="2002536"/>
            <a:ext cx="1572768" cy="347472"/>
          </a:xfrm>
          <a:prstGeom prst="rect">
            <a:avLst/>
          </a:prstGeom>
          <a:noFill/>
          <a:ln/>
        </p:spPr>
        <p:txBody>
          <a:bodyPr wrap="square" lIns="0" tIns="0" rIns="0" bIns="0" rtlCol="0" anchor="t">
            <a:normAutofit/>
          </a:bodyPr>
          <a:lstStyle/>
          <a:p>
            <a:pPr algn="l" indent="0" marL="0">
              <a:buNone/>
            </a:pPr>
            <a:r>
              <a:rPr lang="en-US" sz="1630" b="1" dirty="0">
                <a:solidFill>
                  <a:srgbClr val="241337"/>
                </a:solidFill>
                <a:latin typeface="Aptos" pitchFamily="34" charset="0"/>
                <a:ea typeface="Aptos" pitchFamily="34" charset="-122"/>
                <a:cs typeface="Aptos" pitchFamily="34" charset="-120"/>
              </a:rPr>
              <a:t>Quelle source ?</a:t>
            </a:r>
            <a:endParaRPr lang="en-US" sz="1630" dirty="0"/>
          </a:p>
        </p:txBody>
      </p:sp>
      <p:sp>
        <p:nvSpPr>
          <p:cNvPr id="13" name="Text 11"/>
          <p:cNvSpPr/>
          <p:nvPr/>
        </p:nvSpPr>
        <p:spPr>
          <a:xfrm>
            <a:off x="3767328" y="2478024"/>
            <a:ext cx="1984248" cy="2514600"/>
          </a:xfrm>
          <a:prstGeom prst="rect">
            <a:avLst/>
          </a:prstGeom>
          <a:noFill/>
          <a:ln/>
        </p:spPr>
        <p:txBody>
          <a:bodyPr wrap="square" lIns="0" tIns="0" rIns="0" bIns="0" rtlCol="0" anchor="t">
            <a:normAutofit/>
          </a:bodyPr>
          <a:lstStyle/>
          <a:p>
            <a:pPr algn="l" indent="0" marL="0">
              <a:buNone/>
            </a:pPr>
            <a:r>
              <a:rPr lang="en-US" sz="1230" dirty="0">
                <a:solidFill>
                  <a:srgbClr val="6F7082"/>
                </a:solidFill>
                <a:latin typeface="Aptos" pitchFamily="34" charset="0"/>
                <a:ea typeface="Aptos" pitchFamily="34" charset="-122"/>
                <a:cs typeface="Aptos" pitchFamily="34" charset="-120"/>
              </a:rPr>
              <a:t>Site public, compte, réseau social, open data, API…</a:t>
            </a:r>
            <a:endParaRPr lang="en-US" sz="1230" dirty="0"/>
          </a:p>
        </p:txBody>
      </p:sp>
      <p:sp>
        <p:nvSpPr>
          <p:cNvPr id="14" name="Shape 12"/>
          <p:cNvSpPr/>
          <p:nvPr/>
        </p:nvSpPr>
        <p:spPr>
          <a:xfrm>
            <a:off x="6263640" y="1783080"/>
            <a:ext cx="2487168" cy="3383280"/>
          </a:xfrm>
          <a:prstGeom prst="roundRect">
            <a:avLst>
              <a:gd name="adj" fmla="val 2206"/>
            </a:avLst>
          </a:prstGeom>
          <a:solidFill>
            <a:srgbClr val="FFFFFF"/>
          </a:solidFill>
          <a:ln w="12700">
            <a:solidFill>
              <a:srgbClr val="DDDCE6"/>
            </a:solidFill>
            <a:prstDash val="solid"/>
          </a:ln>
          <a:effectLst>
            <a:outerShdw sx="100000" sy="100000" kx="0" ky="0" algn="bl" rotWithShape="0" blurRad="19050" dist="50800" dir="2700000">
              <a:srgbClr val="D6D3DF">
                <a:alpha val="18000"/>
              </a:srgbClr>
            </a:outerShdw>
          </a:effectLst>
        </p:spPr>
      </p:sp>
      <p:sp>
        <p:nvSpPr>
          <p:cNvPr id="15" name="Shape 13"/>
          <p:cNvSpPr/>
          <p:nvPr/>
        </p:nvSpPr>
        <p:spPr>
          <a:xfrm>
            <a:off x="6263640" y="1783080"/>
            <a:ext cx="73152" cy="3383280"/>
          </a:xfrm>
          <a:prstGeom prst="rect">
            <a:avLst/>
          </a:prstGeom>
          <a:solidFill>
            <a:srgbClr val="DB8129"/>
          </a:solidFill>
          <a:ln w="12700">
            <a:solidFill>
              <a:srgbClr val="DB8129"/>
            </a:solidFill>
            <a:prstDash val="solid"/>
          </a:ln>
        </p:spPr>
      </p:sp>
      <p:sp>
        <p:nvSpPr>
          <p:cNvPr id="16" name="Text 14"/>
          <p:cNvSpPr/>
          <p:nvPr/>
        </p:nvSpPr>
        <p:spPr>
          <a:xfrm>
            <a:off x="6611112" y="2039112"/>
            <a:ext cx="320040" cy="256032"/>
          </a:xfrm>
          <a:prstGeom prst="rect">
            <a:avLst/>
          </a:prstGeom>
          <a:noFill/>
          <a:ln/>
        </p:spPr>
        <p:txBody>
          <a:bodyPr wrap="square" lIns="0" tIns="0" rIns="0" bIns="0" rtlCol="0" anchor="ctr">
            <a:normAutofit/>
          </a:bodyPr>
          <a:lstStyle/>
          <a:p>
            <a:pPr algn="l" indent="0" marL="0">
              <a:buNone/>
            </a:pPr>
            <a:r>
              <a:rPr lang="en-US" sz="1900" b="1" dirty="0">
                <a:solidFill>
                  <a:srgbClr val="DB8129"/>
                </a:solidFill>
                <a:latin typeface="Aptos" pitchFamily="34" charset="0"/>
                <a:ea typeface="Aptos" pitchFamily="34" charset="-122"/>
                <a:cs typeface="Aptos" pitchFamily="34" charset="-120"/>
              </a:rPr>
              <a:t>3</a:t>
            </a:r>
            <a:endParaRPr lang="en-US" sz="1900" dirty="0"/>
          </a:p>
        </p:txBody>
      </p:sp>
      <p:sp>
        <p:nvSpPr>
          <p:cNvPr id="17" name="Text 15"/>
          <p:cNvSpPr/>
          <p:nvPr/>
        </p:nvSpPr>
        <p:spPr>
          <a:xfrm>
            <a:off x="6976872" y="2002536"/>
            <a:ext cx="1572768" cy="347472"/>
          </a:xfrm>
          <a:prstGeom prst="rect">
            <a:avLst/>
          </a:prstGeom>
          <a:noFill/>
          <a:ln/>
        </p:spPr>
        <p:txBody>
          <a:bodyPr wrap="square" lIns="0" tIns="0" rIns="0" bIns="0" rtlCol="0" anchor="t">
            <a:normAutofit/>
          </a:bodyPr>
          <a:lstStyle/>
          <a:p>
            <a:pPr algn="l" indent="0" marL="0">
              <a:buNone/>
            </a:pPr>
            <a:r>
              <a:rPr lang="en-US" sz="1630" b="1" dirty="0">
                <a:solidFill>
                  <a:srgbClr val="241337"/>
                </a:solidFill>
                <a:latin typeface="Aptos" pitchFamily="34" charset="0"/>
                <a:ea typeface="Aptos" pitchFamily="34" charset="-122"/>
                <a:cs typeface="Aptos" pitchFamily="34" charset="-120"/>
              </a:rPr>
              <a:t>Quel usage ?</a:t>
            </a:r>
            <a:endParaRPr lang="en-US" sz="1630" dirty="0"/>
          </a:p>
        </p:txBody>
      </p:sp>
      <p:sp>
        <p:nvSpPr>
          <p:cNvPr id="18" name="Text 16"/>
          <p:cNvSpPr/>
          <p:nvPr/>
        </p:nvSpPr>
        <p:spPr>
          <a:xfrm>
            <a:off x="6556248" y="2478024"/>
            <a:ext cx="1984248" cy="2514600"/>
          </a:xfrm>
          <a:prstGeom prst="rect">
            <a:avLst/>
          </a:prstGeom>
          <a:noFill/>
          <a:ln/>
        </p:spPr>
        <p:txBody>
          <a:bodyPr wrap="square" lIns="0" tIns="0" rIns="0" bIns="0" rtlCol="0" anchor="t">
            <a:normAutofit/>
          </a:bodyPr>
          <a:lstStyle/>
          <a:p>
            <a:pPr algn="l" indent="0" marL="0">
              <a:buNone/>
            </a:pPr>
            <a:r>
              <a:rPr lang="en-US" sz="1230" dirty="0">
                <a:solidFill>
                  <a:srgbClr val="6F7082"/>
                </a:solidFill>
                <a:latin typeface="Aptos" pitchFamily="34" charset="0"/>
                <a:ea typeface="Aptos" pitchFamily="34" charset="-122"/>
                <a:cs typeface="Aptos" pitchFamily="34" charset="-120"/>
              </a:rPr>
              <a:t>Veille, recherche, prospection, entraînement IA…</a:t>
            </a:r>
            <a:endParaRPr lang="en-US" sz="1230" dirty="0"/>
          </a:p>
        </p:txBody>
      </p:sp>
      <p:sp>
        <p:nvSpPr>
          <p:cNvPr id="19" name="Shape 17"/>
          <p:cNvSpPr/>
          <p:nvPr/>
        </p:nvSpPr>
        <p:spPr>
          <a:xfrm>
            <a:off x="9052560" y="1783080"/>
            <a:ext cx="2487168" cy="3383280"/>
          </a:xfrm>
          <a:prstGeom prst="roundRect">
            <a:avLst>
              <a:gd name="adj" fmla="val 2206"/>
            </a:avLst>
          </a:prstGeom>
          <a:solidFill>
            <a:srgbClr val="FFFFFF"/>
          </a:solidFill>
          <a:ln w="12700">
            <a:solidFill>
              <a:srgbClr val="DDDCE6"/>
            </a:solidFill>
            <a:prstDash val="solid"/>
          </a:ln>
          <a:effectLst>
            <a:outerShdw sx="100000" sy="100000" kx="0" ky="0" algn="bl" rotWithShape="0" blurRad="19050" dist="50800" dir="2700000">
              <a:srgbClr val="D6D3DF">
                <a:alpha val="18000"/>
              </a:srgbClr>
            </a:outerShdw>
          </a:effectLst>
        </p:spPr>
      </p:sp>
      <p:sp>
        <p:nvSpPr>
          <p:cNvPr id="20" name="Shape 18"/>
          <p:cNvSpPr/>
          <p:nvPr/>
        </p:nvSpPr>
        <p:spPr>
          <a:xfrm>
            <a:off x="9052560" y="1783080"/>
            <a:ext cx="73152" cy="3383280"/>
          </a:xfrm>
          <a:prstGeom prst="rect">
            <a:avLst/>
          </a:prstGeom>
          <a:solidFill>
            <a:srgbClr val="4EA27B"/>
          </a:solidFill>
          <a:ln w="12700">
            <a:solidFill>
              <a:srgbClr val="4EA27B"/>
            </a:solidFill>
            <a:prstDash val="solid"/>
          </a:ln>
        </p:spPr>
      </p:sp>
      <p:sp>
        <p:nvSpPr>
          <p:cNvPr id="21" name="Text 19"/>
          <p:cNvSpPr/>
          <p:nvPr/>
        </p:nvSpPr>
        <p:spPr>
          <a:xfrm>
            <a:off x="9400032" y="2039112"/>
            <a:ext cx="320040" cy="256032"/>
          </a:xfrm>
          <a:prstGeom prst="rect">
            <a:avLst/>
          </a:prstGeom>
          <a:noFill/>
          <a:ln/>
        </p:spPr>
        <p:txBody>
          <a:bodyPr wrap="square" lIns="0" tIns="0" rIns="0" bIns="0" rtlCol="0" anchor="ctr">
            <a:normAutofit/>
          </a:bodyPr>
          <a:lstStyle/>
          <a:p>
            <a:pPr algn="l" indent="0" marL="0">
              <a:buNone/>
            </a:pPr>
            <a:r>
              <a:rPr lang="en-US" sz="1900" b="1" dirty="0">
                <a:solidFill>
                  <a:srgbClr val="4EA27B"/>
                </a:solidFill>
                <a:latin typeface="Aptos" pitchFamily="34" charset="0"/>
                <a:ea typeface="Aptos" pitchFamily="34" charset="-122"/>
                <a:cs typeface="Aptos" pitchFamily="34" charset="-120"/>
              </a:rPr>
              <a:t>4</a:t>
            </a:r>
            <a:endParaRPr lang="en-US" sz="1900" dirty="0"/>
          </a:p>
        </p:txBody>
      </p:sp>
      <p:sp>
        <p:nvSpPr>
          <p:cNvPr id="22" name="Text 20"/>
          <p:cNvSpPr/>
          <p:nvPr/>
        </p:nvSpPr>
        <p:spPr>
          <a:xfrm>
            <a:off x="9765792" y="2002536"/>
            <a:ext cx="1572768" cy="347472"/>
          </a:xfrm>
          <a:prstGeom prst="rect">
            <a:avLst/>
          </a:prstGeom>
          <a:noFill/>
          <a:ln/>
        </p:spPr>
        <p:txBody>
          <a:bodyPr wrap="square" lIns="0" tIns="0" rIns="0" bIns="0" rtlCol="0" anchor="t">
            <a:normAutofit/>
          </a:bodyPr>
          <a:lstStyle/>
          <a:p>
            <a:pPr algn="l" indent="0" marL="0">
              <a:buNone/>
            </a:pPr>
            <a:r>
              <a:rPr lang="en-US" sz="1630" b="1" dirty="0">
                <a:solidFill>
                  <a:srgbClr val="241337"/>
                </a:solidFill>
                <a:latin typeface="Aptos" pitchFamily="34" charset="0"/>
                <a:ea typeface="Aptos" pitchFamily="34" charset="-122"/>
                <a:cs typeface="Aptos" pitchFamily="34" charset="-120"/>
              </a:rPr>
              <a:t>Quelles règles ?</a:t>
            </a:r>
            <a:endParaRPr lang="en-US" sz="1630" dirty="0"/>
          </a:p>
        </p:txBody>
      </p:sp>
      <p:sp>
        <p:nvSpPr>
          <p:cNvPr id="23" name="Text 21"/>
          <p:cNvSpPr/>
          <p:nvPr/>
        </p:nvSpPr>
        <p:spPr>
          <a:xfrm>
            <a:off x="9345168" y="2478024"/>
            <a:ext cx="1984248" cy="2514600"/>
          </a:xfrm>
          <a:prstGeom prst="rect">
            <a:avLst/>
          </a:prstGeom>
          <a:noFill/>
          <a:ln/>
        </p:spPr>
        <p:txBody>
          <a:bodyPr wrap="square" lIns="0" tIns="0" rIns="0" bIns="0" rtlCol="0" anchor="t">
            <a:normAutofit/>
          </a:bodyPr>
          <a:lstStyle/>
          <a:p>
            <a:pPr algn="l" indent="0" marL="0">
              <a:buNone/>
            </a:pPr>
            <a:r>
              <a:rPr lang="en-US" sz="1230" dirty="0">
                <a:solidFill>
                  <a:srgbClr val="6F7082"/>
                </a:solidFill>
                <a:latin typeface="Aptos" pitchFamily="34" charset="0"/>
                <a:ea typeface="Aptos" pitchFamily="34" charset="-122"/>
                <a:cs typeface="Aptos" pitchFamily="34" charset="-120"/>
              </a:rPr>
              <a:t>RGPD, CGU, licence, droit des bases, propriété intellectuelle…</a:t>
            </a:r>
            <a:endParaRPr lang="en-US" sz="1230" dirty="0"/>
          </a:p>
        </p:txBody>
      </p:sp>
      <p:sp>
        <p:nvSpPr>
          <p:cNvPr id="24" name="Text 22"/>
          <p:cNvSpPr/>
          <p:nvPr/>
        </p:nvSpPr>
        <p:spPr>
          <a:xfrm>
            <a:off x="1188720" y="5440680"/>
            <a:ext cx="9875520" cy="320040"/>
          </a:xfrm>
          <a:prstGeom prst="rect">
            <a:avLst/>
          </a:prstGeom>
          <a:noFill/>
          <a:ln/>
        </p:spPr>
        <p:txBody>
          <a:bodyPr wrap="square" lIns="0" tIns="0" rIns="0" bIns="0" rtlCol="0" anchor="ctr">
            <a:normAutofit/>
          </a:bodyPr>
          <a:lstStyle/>
          <a:p>
            <a:pPr algn="ctr" indent="0" marL="0">
              <a:buNone/>
            </a:pPr>
            <a:r>
              <a:rPr lang="en-US" sz="1600" b="1" dirty="0">
                <a:solidFill>
                  <a:srgbClr val="241337"/>
                </a:solidFill>
                <a:latin typeface="Aptos" pitchFamily="34" charset="0"/>
                <a:ea typeface="Aptos" pitchFamily="34" charset="-122"/>
                <a:cs typeface="Aptos" pitchFamily="34" charset="-120"/>
              </a:rPr>
              <a:t>Le verdict dépend du contexte : source + données + finalité + modalités de collecte.</a:t>
            </a:r>
            <a:endParaRPr lang="en-US" sz="1600" dirty="0"/>
          </a:p>
        </p:txBody>
      </p:sp>
      <p:sp>
        <p:nvSpPr>
          <p:cNvPr id="25" name="Slide Number Placeholder 0"/>
          <p:cNvSpPr>
            <a:spLocks noGrp="1"/>
          </p:cNvSpPr>
          <p:nvPr>
            <p:ph type="sldNum" sz="quarter" idx="4294967295"/>
          </p:nvPr>
        </p:nvSpPr>
        <p:spPr>
          <a:xfrm>
            <a:off x="11750040" y="274320"/>
            <a:ext cx="228600" cy="164592"/>
          </a:xfrm>
          <a:prstGeom prst="rect">
            <a:avLst/>
          </a:prstGeom>
          <a:extLst>
            <a:ext uri="{C572A759-6A51-4108-AA02-DFA0A04FC94B}">
              <ma14:wrappingTextBoxFlag xmlns:ma14="http://schemas.microsoft.com/office/mac/drawingml/2011/main" val="0"/>
            </a:ext>
          </a:extLst>
        </p:spPr>
        <p:txBody>
          <a:bodyPr/>
          <a:lstStyle>
            <a:lvl1pPr>
              <a:defRPr sz="800">
                <a:solidFill>
                  <a:srgbClr val="858697"/>
                </a:solidFill>
                <a:latin typeface="Aptos"/>
                <a:ea typeface="Aptos"/>
                <a:cs typeface="Aptos"/>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566928" y="438912"/>
            <a:ext cx="5029200" cy="228600"/>
          </a:xfrm>
          <a:prstGeom prst="rect">
            <a:avLst/>
          </a:prstGeom>
          <a:noFill/>
          <a:ln/>
        </p:spPr>
        <p:txBody>
          <a:bodyPr wrap="square" lIns="0" tIns="0" rIns="0" bIns="0" rtlCol="0" anchor="ctr">
            <a:normAutofit/>
          </a:bodyPr>
          <a:lstStyle/>
          <a:p>
            <a:pPr algn="l" indent="0" marL="0">
              <a:buNone/>
            </a:pPr>
            <a:r>
              <a:rPr lang="en-US" sz="1050" b="1" spc="150" kern="0" dirty="0">
                <a:solidFill>
                  <a:srgbClr val="7432A8"/>
                </a:solidFill>
                <a:latin typeface="Aptos" pitchFamily="34" charset="0"/>
                <a:ea typeface="Aptos" pitchFamily="34" charset="-122"/>
                <a:cs typeface="Aptos" pitchFamily="34" charset="-120"/>
              </a:rPr>
              <a:t>RGPD</a:t>
            </a:r>
            <a:endParaRPr lang="en-US" sz="1050" dirty="0"/>
          </a:p>
        </p:txBody>
      </p:sp>
      <p:sp>
        <p:nvSpPr>
          <p:cNvPr id="3" name="Text 1"/>
          <p:cNvSpPr/>
          <p:nvPr/>
        </p:nvSpPr>
        <p:spPr>
          <a:xfrm>
            <a:off x="566928" y="768096"/>
            <a:ext cx="10972800" cy="566928"/>
          </a:xfrm>
          <a:prstGeom prst="rect">
            <a:avLst/>
          </a:prstGeom>
          <a:noFill/>
          <a:ln/>
        </p:spPr>
        <p:txBody>
          <a:bodyPr wrap="square" lIns="0" tIns="0" rIns="0" bIns="0" rtlCol="0" anchor="t">
            <a:normAutofit/>
          </a:bodyPr>
          <a:lstStyle/>
          <a:p>
            <a:pPr algn="l" indent="0" marL="0">
              <a:buNone/>
            </a:pPr>
            <a:r>
              <a:rPr lang="en-US" sz="2800" b="1" dirty="0">
                <a:solidFill>
                  <a:srgbClr val="241337"/>
                </a:solidFill>
                <a:latin typeface="Aptos" pitchFamily="34" charset="0"/>
                <a:ea typeface="Aptos" pitchFamily="34" charset="-122"/>
                <a:cs typeface="Aptos" pitchFamily="34" charset="-120"/>
              </a:rPr>
              <a:t>Reconnaître une donnée personnelle</a:t>
            </a:r>
            <a:endParaRPr lang="en-US" sz="2800" dirty="0"/>
          </a:p>
        </p:txBody>
      </p:sp>
      <p:sp>
        <p:nvSpPr>
          <p:cNvPr id="4" name="Shape 2"/>
          <p:cNvSpPr/>
          <p:nvPr/>
        </p:nvSpPr>
        <p:spPr>
          <a:xfrm>
            <a:off x="685800" y="1783080"/>
            <a:ext cx="3429000" cy="3337560"/>
          </a:xfrm>
          <a:prstGeom prst="roundRect">
            <a:avLst>
              <a:gd name="adj" fmla="val 1644"/>
            </a:avLst>
          </a:prstGeom>
          <a:solidFill>
            <a:srgbClr val="FFFFFF"/>
          </a:solidFill>
          <a:ln w="12700">
            <a:solidFill>
              <a:srgbClr val="DDDCE6"/>
            </a:solidFill>
            <a:prstDash val="solid"/>
          </a:ln>
          <a:effectLst>
            <a:outerShdw sx="100000" sy="100000" kx="0" ky="0" algn="bl" rotWithShape="0" blurRad="19050" dist="50800" dir="2700000">
              <a:srgbClr val="D6D3DF">
                <a:alpha val="18000"/>
              </a:srgbClr>
            </a:outerShdw>
          </a:effectLst>
        </p:spPr>
      </p:sp>
      <p:sp>
        <p:nvSpPr>
          <p:cNvPr id="5" name="Shape 3"/>
          <p:cNvSpPr/>
          <p:nvPr/>
        </p:nvSpPr>
        <p:spPr>
          <a:xfrm>
            <a:off x="685800" y="1783080"/>
            <a:ext cx="73152" cy="3337560"/>
          </a:xfrm>
          <a:prstGeom prst="rect">
            <a:avLst/>
          </a:prstGeom>
          <a:solidFill>
            <a:srgbClr val="D55E5A"/>
          </a:solidFill>
          <a:ln w="12700">
            <a:solidFill>
              <a:srgbClr val="D55E5A"/>
            </a:solidFill>
            <a:prstDash val="solid"/>
          </a:ln>
        </p:spPr>
      </p:sp>
      <p:sp>
        <p:nvSpPr>
          <p:cNvPr id="6" name="Text 4"/>
          <p:cNvSpPr/>
          <p:nvPr/>
        </p:nvSpPr>
        <p:spPr>
          <a:xfrm>
            <a:off x="1005840" y="2002536"/>
            <a:ext cx="2926080" cy="347472"/>
          </a:xfrm>
          <a:prstGeom prst="rect">
            <a:avLst/>
          </a:prstGeom>
          <a:noFill/>
          <a:ln/>
        </p:spPr>
        <p:txBody>
          <a:bodyPr wrap="square" lIns="0" tIns="0" rIns="0" bIns="0" rtlCol="0" anchor="t">
            <a:normAutofit/>
          </a:bodyPr>
          <a:lstStyle/>
          <a:p>
            <a:pPr algn="l" indent="0" marL="0">
              <a:buNone/>
            </a:pPr>
            <a:r>
              <a:rPr lang="en-US" sz="1630" b="1" dirty="0">
                <a:solidFill>
                  <a:srgbClr val="241337"/>
                </a:solidFill>
                <a:latin typeface="Aptos" pitchFamily="34" charset="0"/>
                <a:ea typeface="Aptos" pitchFamily="34" charset="-122"/>
                <a:cs typeface="Aptos" pitchFamily="34" charset="-120"/>
              </a:rPr>
              <a:t>Identifie directement</a:t>
            </a:r>
            <a:endParaRPr lang="en-US" sz="1630" dirty="0"/>
          </a:p>
        </p:txBody>
      </p:sp>
      <p:sp>
        <p:nvSpPr>
          <p:cNvPr id="7" name="Text 5"/>
          <p:cNvSpPr/>
          <p:nvPr/>
        </p:nvSpPr>
        <p:spPr>
          <a:xfrm>
            <a:off x="978408" y="2478024"/>
            <a:ext cx="2926080" cy="2468880"/>
          </a:xfrm>
          <a:prstGeom prst="rect">
            <a:avLst/>
          </a:prstGeom>
          <a:noFill/>
          <a:ln/>
        </p:spPr>
        <p:txBody>
          <a:bodyPr wrap="square" lIns="0" tIns="0" rIns="0" bIns="0" rtlCol="0" anchor="t">
            <a:normAutofit/>
          </a:bodyPr>
          <a:lstStyle/>
          <a:p>
            <a:pPr algn="l" indent="0" marL="0">
              <a:buNone/>
            </a:pPr>
            <a:r>
              <a:rPr lang="en-US" sz="1230" dirty="0">
                <a:solidFill>
                  <a:srgbClr val="6F7082"/>
                </a:solidFill>
                <a:latin typeface="Aptos" pitchFamily="34" charset="0"/>
                <a:ea typeface="Aptos" pitchFamily="34" charset="-122"/>
                <a:cs typeface="Aptos" pitchFamily="34" charset="-120"/>
              </a:rPr>
              <a:t>Nom, prénom, photo identifiable, adresse email nominative, téléphone personnel…</a:t>
            </a:r>
            <a:endParaRPr lang="en-US" sz="1230" dirty="0"/>
          </a:p>
        </p:txBody>
      </p:sp>
      <p:sp>
        <p:nvSpPr>
          <p:cNvPr id="8" name="Shape 6"/>
          <p:cNvSpPr/>
          <p:nvPr/>
        </p:nvSpPr>
        <p:spPr>
          <a:xfrm>
            <a:off x="4370832" y="1783080"/>
            <a:ext cx="3429000" cy="3337560"/>
          </a:xfrm>
          <a:prstGeom prst="roundRect">
            <a:avLst>
              <a:gd name="adj" fmla="val 1644"/>
            </a:avLst>
          </a:prstGeom>
          <a:solidFill>
            <a:srgbClr val="FFFFFF"/>
          </a:solidFill>
          <a:ln w="12700">
            <a:solidFill>
              <a:srgbClr val="DDDCE6"/>
            </a:solidFill>
            <a:prstDash val="solid"/>
          </a:ln>
          <a:effectLst>
            <a:outerShdw sx="100000" sy="100000" kx="0" ky="0" algn="bl" rotWithShape="0" blurRad="19050" dist="50800" dir="2700000">
              <a:srgbClr val="D6D3DF">
                <a:alpha val="18000"/>
              </a:srgbClr>
            </a:outerShdw>
          </a:effectLst>
        </p:spPr>
      </p:sp>
      <p:sp>
        <p:nvSpPr>
          <p:cNvPr id="9" name="Shape 7"/>
          <p:cNvSpPr/>
          <p:nvPr/>
        </p:nvSpPr>
        <p:spPr>
          <a:xfrm>
            <a:off x="4370832" y="1783080"/>
            <a:ext cx="73152" cy="3337560"/>
          </a:xfrm>
          <a:prstGeom prst="rect">
            <a:avLst/>
          </a:prstGeom>
          <a:solidFill>
            <a:srgbClr val="DB8129"/>
          </a:solidFill>
          <a:ln w="12700">
            <a:solidFill>
              <a:srgbClr val="DB8129"/>
            </a:solidFill>
            <a:prstDash val="solid"/>
          </a:ln>
        </p:spPr>
      </p:sp>
      <p:sp>
        <p:nvSpPr>
          <p:cNvPr id="10" name="Text 8"/>
          <p:cNvSpPr/>
          <p:nvPr/>
        </p:nvSpPr>
        <p:spPr>
          <a:xfrm>
            <a:off x="4690872" y="2002536"/>
            <a:ext cx="2926080" cy="347472"/>
          </a:xfrm>
          <a:prstGeom prst="rect">
            <a:avLst/>
          </a:prstGeom>
          <a:noFill/>
          <a:ln/>
        </p:spPr>
        <p:txBody>
          <a:bodyPr wrap="square" lIns="0" tIns="0" rIns="0" bIns="0" rtlCol="0" anchor="t">
            <a:normAutofit/>
          </a:bodyPr>
          <a:lstStyle/>
          <a:p>
            <a:pPr algn="l" indent="0" marL="0">
              <a:buNone/>
            </a:pPr>
            <a:r>
              <a:rPr lang="en-US" sz="1630" b="1" dirty="0">
                <a:solidFill>
                  <a:srgbClr val="241337"/>
                </a:solidFill>
                <a:latin typeface="Aptos" pitchFamily="34" charset="0"/>
                <a:ea typeface="Aptos" pitchFamily="34" charset="-122"/>
                <a:cs typeface="Aptos" pitchFamily="34" charset="-120"/>
              </a:rPr>
              <a:t>Identifie indirectement</a:t>
            </a:r>
            <a:endParaRPr lang="en-US" sz="1630" dirty="0"/>
          </a:p>
        </p:txBody>
      </p:sp>
      <p:sp>
        <p:nvSpPr>
          <p:cNvPr id="11" name="Text 9"/>
          <p:cNvSpPr/>
          <p:nvPr/>
        </p:nvSpPr>
        <p:spPr>
          <a:xfrm>
            <a:off x="4663440" y="2478024"/>
            <a:ext cx="2926080" cy="2468880"/>
          </a:xfrm>
          <a:prstGeom prst="rect">
            <a:avLst/>
          </a:prstGeom>
          <a:noFill/>
          <a:ln/>
        </p:spPr>
        <p:txBody>
          <a:bodyPr wrap="square" lIns="0" tIns="0" rIns="0" bIns="0" rtlCol="0" anchor="t">
            <a:normAutofit/>
          </a:bodyPr>
          <a:lstStyle/>
          <a:p>
            <a:pPr algn="l" indent="0" marL="0">
              <a:buNone/>
            </a:pPr>
            <a:r>
              <a:rPr lang="en-US" sz="1230" dirty="0">
                <a:solidFill>
                  <a:srgbClr val="6F7082"/>
                </a:solidFill>
                <a:latin typeface="Aptos" pitchFamily="34" charset="0"/>
                <a:ea typeface="Aptos" pitchFamily="34" charset="-122"/>
                <a:cs typeface="Aptos" pitchFamily="34" charset="-120"/>
              </a:rPr>
              <a:t>Identifiant, pseudo, combinaison de signaux, localisation ou données permettant de retrouver une personne.</a:t>
            </a:r>
            <a:endParaRPr lang="en-US" sz="1230" dirty="0"/>
          </a:p>
        </p:txBody>
      </p:sp>
      <p:sp>
        <p:nvSpPr>
          <p:cNvPr id="12" name="Shape 10"/>
          <p:cNvSpPr/>
          <p:nvPr/>
        </p:nvSpPr>
        <p:spPr>
          <a:xfrm>
            <a:off x="8046720" y="1783080"/>
            <a:ext cx="3429000" cy="3337560"/>
          </a:xfrm>
          <a:prstGeom prst="roundRect">
            <a:avLst>
              <a:gd name="adj" fmla="val 1644"/>
            </a:avLst>
          </a:prstGeom>
          <a:solidFill>
            <a:srgbClr val="FFFFFF"/>
          </a:solidFill>
          <a:ln w="12700">
            <a:solidFill>
              <a:srgbClr val="DDDCE6"/>
            </a:solidFill>
            <a:prstDash val="solid"/>
          </a:ln>
          <a:effectLst>
            <a:outerShdw sx="100000" sy="100000" kx="0" ky="0" algn="bl" rotWithShape="0" blurRad="19050" dist="50800" dir="2700000">
              <a:srgbClr val="D6D3DF">
                <a:alpha val="18000"/>
              </a:srgbClr>
            </a:outerShdw>
          </a:effectLst>
        </p:spPr>
      </p:sp>
      <p:sp>
        <p:nvSpPr>
          <p:cNvPr id="13" name="Shape 11"/>
          <p:cNvSpPr/>
          <p:nvPr/>
        </p:nvSpPr>
        <p:spPr>
          <a:xfrm>
            <a:off x="8046720" y="1783080"/>
            <a:ext cx="73152" cy="3337560"/>
          </a:xfrm>
          <a:prstGeom prst="rect">
            <a:avLst/>
          </a:prstGeom>
          <a:solidFill>
            <a:srgbClr val="4EA27B"/>
          </a:solidFill>
          <a:ln w="12700">
            <a:solidFill>
              <a:srgbClr val="4EA27B"/>
            </a:solidFill>
            <a:prstDash val="solid"/>
          </a:ln>
        </p:spPr>
      </p:sp>
      <p:sp>
        <p:nvSpPr>
          <p:cNvPr id="14" name="Text 12"/>
          <p:cNvSpPr/>
          <p:nvPr/>
        </p:nvSpPr>
        <p:spPr>
          <a:xfrm>
            <a:off x="8366760" y="2002536"/>
            <a:ext cx="2926080" cy="347472"/>
          </a:xfrm>
          <a:prstGeom prst="rect">
            <a:avLst/>
          </a:prstGeom>
          <a:noFill/>
          <a:ln/>
        </p:spPr>
        <p:txBody>
          <a:bodyPr wrap="square" lIns="0" tIns="0" rIns="0" bIns="0" rtlCol="0" anchor="t">
            <a:normAutofit/>
          </a:bodyPr>
          <a:lstStyle/>
          <a:p>
            <a:pPr algn="l" indent="0" marL="0">
              <a:buNone/>
            </a:pPr>
            <a:r>
              <a:rPr lang="en-US" sz="1630" b="1" dirty="0">
                <a:solidFill>
                  <a:srgbClr val="241337"/>
                </a:solidFill>
                <a:latin typeface="Aptos" pitchFamily="34" charset="0"/>
                <a:ea typeface="Aptos" pitchFamily="34" charset="-122"/>
                <a:cs typeface="Aptos" pitchFamily="34" charset="-120"/>
              </a:rPr>
              <a:t>Pas nécessairement personnel</a:t>
            </a:r>
            <a:endParaRPr lang="en-US" sz="1630" dirty="0"/>
          </a:p>
        </p:txBody>
      </p:sp>
      <p:sp>
        <p:nvSpPr>
          <p:cNvPr id="15" name="Text 13"/>
          <p:cNvSpPr/>
          <p:nvPr/>
        </p:nvSpPr>
        <p:spPr>
          <a:xfrm>
            <a:off x="8339328" y="2478024"/>
            <a:ext cx="2926080" cy="2468880"/>
          </a:xfrm>
          <a:prstGeom prst="rect">
            <a:avLst/>
          </a:prstGeom>
          <a:noFill/>
          <a:ln/>
        </p:spPr>
        <p:txBody>
          <a:bodyPr wrap="square" lIns="0" tIns="0" rIns="0" bIns="0" rtlCol="0" anchor="t">
            <a:normAutofit/>
          </a:bodyPr>
          <a:lstStyle/>
          <a:p>
            <a:pPr algn="l" indent="0" marL="0">
              <a:buNone/>
            </a:pPr>
            <a:r>
              <a:rPr lang="en-US" sz="1230" dirty="0">
                <a:solidFill>
                  <a:srgbClr val="6F7082"/>
                </a:solidFill>
                <a:latin typeface="Aptos" pitchFamily="34" charset="0"/>
                <a:ea typeface="Aptos" pitchFamily="34" charset="-122"/>
                <a:cs typeface="Aptos" pitchFamily="34" charset="-120"/>
              </a:rPr>
              <a:t>Informations purement relatives à une société : raison sociale, standard générique, adresse d’établissement… selon le contexte.</a:t>
            </a:r>
            <a:endParaRPr lang="en-US" sz="1230" dirty="0"/>
          </a:p>
        </p:txBody>
      </p:sp>
      <p:sp>
        <p:nvSpPr>
          <p:cNvPr id="16" name="Text 14"/>
          <p:cNvSpPr/>
          <p:nvPr/>
        </p:nvSpPr>
        <p:spPr>
          <a:xfrm>
            <a:off x="1097280" y="5440680"/>
            <a:ext cx="10058400" cy="384048"/>
          </a:xfrm>
          <a:prstGeom prst="rect">
            <a:avLst/>
          </a:prstGeom>
          <a:noFill/>
          <a:ln/>
        </p:spPr>
        <p:txBody>
          <a:bodyPr wrap="square" lIns="0" tIns="0" rIns="0" bIns="0" rtlCol="0" anchor="ctr">
            <a:normAutofit/>
          </a:bodyPr>
          <a:lstStyle/>
          <a:p>
            <a:pPr algn="ctr" indent="0" marL="0">
              <a:buNone/>
            </a:pPr>
            <a:r>
              <a:rPr lang="en-US" sz="1600" b="1" dirty="0">
                <a:solidFill>
                  <a:srgbClr val="241337"/>
                </a:solidFill>
                <a:latin typeface="Aptos" pitchFamily="34" charset="0"/>
                <a:ea typeface="Aptos" pitchFamily="34" charset="-122"/>
                <a:cs typeface="Aptos" pitchFamily="34" charset="-120"/>
              </a:rPr>
              <a:t>Question clé : peut-on relier l’information à une personne physique identifiée ou identifiable ?</a:t>
            </a:r>
            <a:endParaRPr lang="en-US" sz="1600" dirty="0"/>
          </a:p>
        </p:txBody>
      </p:sp>
      <p:sp>
        <p:nvSpPr>
          <p:cNvPr id="25" name="Slide Number Placeholder 0"/>
          <p:cNvSpPr>
            <a:spLocks noGrp="1"/>
          </p:cNvSpPr>
          <p:nvPr>
            <p:ph type="sldNum" sz="quarter" idx="4294967295"/>
          </p:nvPr>
        </p:nvSpPr>
        <p:spPr>
          <a:xfrm>
            <a:off x="11750040" y="274320"/>
            <a:ext cx="228600" cy="164592"/>
          </a:xfrm>
          <a:prstGeom prst="rect">
            <a:avLst/>
          </a:prstGeom>
          <a:extLst>
            <a:ext uri="{C572A759-6A51-4108-AA02-DFA0A04FC94B}">
              <ma14:wrappingTextBoxFlag xmlns:ma14="http://schemas.microsoft.com/office/mac/drawingml/2011/main" val="0"/>
            </a:ext>
          </a:extLst>
        </p:spPr>
        <p:txBody>
          <a:bodyPr/>
          <a:lstStyle>
            <a:lvl1pPr>
              <a:defRPr sz="800">
                <a:solidFill>
                  <a:srgbClr val="858697"/>
                </a:solidFill>
                <a:latin typeface="Aptos"/>
                <a:ea typeface="Aptos"/>
                <a:cs typeface="Aptos"/>
              </a:defRPr>
            </a:lvl1pPr>
          </a:lstStyle>
          <a:p>
            <a:pPr algn="r"/>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566928" y="438912"/>
            <a:ext cx="5029200" cy="228600"/>
          </a:xfrm>
          <a:prstGeom prst="rect">
            <a:avLst/>
          </a:prstGeom>
          <a:noFill/>
          <a:ln/>
        </p:spPr>
        <p:txBody>
          <a:bodyPr wrap="square" lIns="0" tIns="0" rIns="0" bIns="0" rtlCol="0" anchor="ctr">
            <a:normAutofit/>
          </a:bodyPr>
          <a:lstStyle/>
          <a:p>
            <a:pPr algn="l" indent="0" marL="0">
              <a:buNone/>
            </a:pPr>
            <a:r>
              <a:rPr lang="en-US" sz="1050" b="1" spc="150" kern="0" dirty="0">
                <a:solidFill>
                  <a:srgbClr val="7432A8"/>
                </a:solidFill>
                <a:latin typeface="Aptos" pitchFamily="34" charset="0"/>
                <a:ea typeface="Aptos" pitchFamily="34" charset="-122"/>
                <a:cs typeface="Aptos" pitchFamily="34" charset="-120"/>
              </a:rPr>
              <a:t>RGPD</a:t>
            </a:r>
            <a:endParaRPr lang="en-US" sz="1050" dirty="0"/>
          </a:p>
        </p:txBody>
      </p:sp>
      <p:sp>
        <p:nvSpPr>
          <p:cNvPr id="3" name="Text 1"/>
          <p:cNvSpPr/>
          <p:nvPr/>
        </p:nvSpPr>
        <p:spPr>
          <a:xfrm>
            <a:off x="566928" y="768096"/>
            <a:ext cx="10972800" cy="566928"/>
          </a:xfrm>
          <a:prstGeom prst="rect">
            <a:avLst/>
          </a:prstGeom>
          <a:noFill/>
          <a:ln/>
        </p:spPr>
        <p:txBody>
          <a:bodyPr wrap="square" lIns="0" tIns="0" rIns="0" bIns="0" rtlCol="0" anchor="t">
            <a:normAutofit/>
          </a:bodyPr>
          <a:lstStyle/>
          <a:p>
            <a:pPr algn="l" indent="0" marL="0">
              <a:buNone/>
            </a:pPr>
            <a:r>
              <a:rPr lang="en-US" sz="2800" b="1" dirty="0">
                <a:solidFill>
                  <a:srgbClr val="241337"/>
                </a:solidFill>
                <a:latin typeface="Aptos" pitchFamily="34" charset="0"/>
                <a:ea typeface="Aptos" pitchFamily="34" charset="-122"/>
                <a:cs typeface="Aptos" pitchFamily="34" charset="-120"/>
              </a:rPr>
              <a:t>Les principes à garder en tête pendant un scraping</a:t>
            </a:r>
            <a:endParaRPr lang="en-US" sz="2800" dirty="0"/>
          </a:p>
        </p:txBody>
      </p:sp>
      <p:sp>
        <p:nvSpPr>
          <p:cNvPr id="4" name="Shape 2"/>
          <p:cNvSpPr/>
          <p:nvPr/>
        </p:nvSpPr>
        <p:spPr>
          <a:xfrm>
            <a:off x="685800" y="1691640"/>
            <a:ext cx="3383280" cy="1417320"/>
          </a:xfrm>
          <a:prstGeom prst="roundRect">
            <a:avLst>
              <a:gd name="adj" fmla="val 3871"/>
            </a:avLst>
          </a:prstGeom>
          <a:solidFill>
            <a:srgbClr val="FFFFFF"/>
          </a:solidFill>
          <a:ln w="12700">
            <a:solidFill>
              <a:srgbClr val="DDDCE6"/>
            </a:solidFill>
            <a:prstDash val="solid"/>
          </a:ln>
          <a:effectLst>
            <a:outerShdw sx="100000" sy="100000" kx="0" ky="0" algn="bl" rotWithShape="0" blurRad="19050" dist="50800" dir="2700000">
              <a:srgbClr val="D6D3DF">
                <a:alpha val="18000"/>
              </a:srgbClr>
            </a:outerShdw>
          </a:effectLst>
        </p:spPr>
      </p:sp>
      <p:sp>
        <p:nvSpPr>
          <p:cNvPr id="5" name="Shape 3"/>
          <p:cNvSpPr/>
          <p:nvPr/>
        </p:nvSpPr>
        <p:spPr>
          <a:xfrm>
            <a:off x="685800" y="1691640"/>
            <a:ext cx="73152" cy="1417320"/>
          </a:xfrm>
          <a:prstGeom prst="rect">
            <a:avLst/>
          </a:prstGeom>
          <a:solidFill>
            <a:srgbClr val="7432A8"/>
          </a:solidFill>
          <a:ln w="12700">
            <a:solidFill>
              <a:srgbClr val="7432A8"/>
            </a:solidFill>
            <a:prstDash val="solid"/>
          </a:ln>
        </p:spPr>
      </p:sp>
      <p:sp>
        <p:nvSpPr>
          <p:cNvPr id="6" name="Text 4"/>
          <p:cNvSpPr/>
          <p:nvPr/>
        </p:nvSpPr>
        <p:spPr>
          <a:xfrm>
            <a:off x="1005840" y="1911096"/>
            <a:ext cx="2880360" cy="347472"/>
          </a:xfrm>
          <a:prstGeom prst="rect">
            <a:avLst/>
          </a:prstGeom>
          <a:noFill/>
          <a:ln/>
        </p:spPr>
        <p:txBody>
          <a:bodyPr wrap="square" lIns="0" tIns="0" rIns="0" bIns="0" rtlCol="0" anchor="t">
            <a:normAutofit/>
          </a:bodyPr>
          <a:lstStyle/>
          <a:p>
            <a:pPr algn="l" indent="0" marL="0">
              <a:buNone/>
            </a:pPr>
            <a:r>
              <a:rPr lang="en-US" sz="1630" b="1" dirty="0">
                <a:solidFill>
                  <a:srgbClr val="241337"/>
                </a:solidFill>
                <a:latin typeface="Aptos" pitchFamily="34" charset="0"/>
                <a:ea typeface="Aptos" pitchFamily="34" charset="-122"/>
                <a:cs typeface="Aptos" pitchFamily="34" charset="-120"/>
              </a:rPr>
              <a:t>Finalité</a:t>
            </a:r>
            <a:endParaRPr lang="en-US" sz="1630" dirty="0"/>
          </a:p>
        </p:txBody>
      </p:sp>
      <p:sp>
        <p:nvSpPr>
          <p:cNvPr id="7" name="Text 5"/>
          <p:cNvSpPr/>
          <p:nvPr/>
        </p:nvSpPr>
        <p:spPr>
          <a:xfrm>
            <a:off x="978408" y="2386584"/>
            <a:ext cx="2880360" cy="548640"/>
          </a:xfrm>
          <a:prstGeom prst="rect">
            <a:avLst/>
          </a:prstGeom>
          <a:noFill/>
          <a:ln/>
        </p:spPr>
        <p:txBody>
          <a:bodyPr wrap="square" lIns="0" tIns="0" rIns="0" bIns="0" rtlCol="0" anchor="t">
            <a:normAutofit/>
          </a:bodyPr>
          <a:lstStyle/>
          <a:p>
            <a:pPr algn="l" indent="0" marL="0">
              <a:buNone/>
            </a:pPr>
            <a:r>
              <a:rPr lang="en-US" sz="1230" dirty="0">
                <a:solidFill>
                  <a:srgbClr val="6F7082"/>
                </a:solidFill>
                <a:latin typeface="Aptos" pitchFamily="34" charset="0"/>
                <a:ea typeface="Aptos" pitchFamily="34" charset="-122"/>
                <a:cs typeface="Aptos" pitchFamily="34" charset="-120"/>
              </a:rPr>
              <a:t>Pourquoi ? usage explicite et déterminé.</a:t>
            </a:r>
            <a:endParaRPr lang="en-US" sz="1230" dirty="0"/>
          </a:p>
        </p:txBody>
      </p:sp>
      <p:sp>
        <p:nvSpPr>
          <p:cNvPr id="8" name="Shape 6"/>
          <p:cNvSpPr/>
          <p:nvPr/>
        </p:nvSpPr>
        <p:spPr>
          <a:xfrm>
            <a:off x="4389120" y="1691640"/>
            <a:ext cx="3383280" cy="1417320"/>
          </a:xfrm>
          <a:prstGeom prst="roundRect">
            <a:avLst>
              <a:gd name="adj" fmla="val 3871"/>
            </a:avLst>
          </a:prstGeom>
          <a:solidFill>
            <a:srgbClr val="FFFFFF"/>
          </a:solidFill>
          <a:ln w="12700">
            <a:solidFill>
              <a:srgbClr val="DDDCE6"/>
            </a:solidFill>
            <a:prstDash val="solid"/>
          </a:ln>
          <a:effectLst>
            <a:outerShdw sx="100000" sy="100000" kx="0" ky="0" algn="bl" rotWithShape="0" blurRad="19050" dist="50800" dir="2700000">
              <a:srgbClr val="D6D3DF">
                <a:alpha val="18000"/>
              </a:srgbClr>
            </a:outerShdw>
          </a:effectLst>
        </p:spPr>
      </p:sp>
      <p:sp>
        <p:nvSpPr>
          <p:cNvPr id="9" name="Shape 7"/>
          <p:cNvSpPr/>
          <p:nvPr/>
        </p:nvSpPr>
        <p:spPr>
          <a:xfrm>
            <a:off x="4389120" y="1691640"/>
            <a:ext cx="73152" cy="1417320"/>
          </a:xfrm>
          <a:prstGeom prst="rect">
            <a:avLst/>
          </a:prstGeom>
          <a:solidFill>
            <a:srgbClr val="4EA27B"/>
          </a:solidFill>
          <a:ln w="12700">
            <a:solidFill>
              <a:srgbClr val="4EA27B"/>
            </a:solidFill>
            <a:prstDash val="solid"/>
          </a:ln>
        </p:spPr>
      </p:sp>
      <p:sp>
        <p:nvSpPr>
          <p:cNvPr id="10" name="Text 8"/>
          <p:cNvSpPr/>
          <p:nvPr/>
        </p:nvSpPr>
        <p:spPr>
          <a:xfrm>
            <a:off x="4709160" y="1911096"/>
            <a:ext cx="2880360" cy="347472"/>
          </a:xfrm>
          <a:prstGeom prst="rect">
            <a:avLst/>
          </a:prstGeom>
          <a:noFill/>
          <a:ln/>
        </p:spPr>
        <p:txBody>
          <a:bodyPr wrap="square" lIns="0" tIns="0" rIns="0" bIns="0" rtlCol="0" anchor="t">
            <a:normAutofit/>
          </a:bodyPr>
          <a:lstStyle/>
          <a:p>
            <a:pPr algn="l" indent="0" marL="0">
              <a:buNone/>
            </a:pPr>
            <a:r>
              <a:rPr lang="en-US" sz="1630" b="1" dirty="0">
                <a:solidFill>
                  <a:srgbClr val="241337"/>
                </a:solidFill>
                <a:latin typeface="Aptos" pitchFamily="34" charset="0"/>
                <a:ea typeface="Aptos" pitchFamily="34" charset="-122"/>
                <a:cs typeface="Aptos" pitchFamily="34" charset="-120"/>
              </a:rPr>
              <a:t>Minimisation</a:t>
            </a:r>
            <a:endParaRPr lang="en-US" sz="1630" dirty="0"/>
          </a:p>
        </p:txBody>
      </p:sp>
      <p:sp>
        <p:nvSpPr>
          <p:cNvPr id="11" name="Text 9"/>
          <p:cNvSpPr/>
          <p:nvPr/>
        </p:nvSpPr>
        <p:spPr>
          <a:xfrm>
            <a:off x="4681728" y="2386584"/>
            <a:ext cx="2880360" cy="548640"/>
          </a:xfrm>
          <a:prstGeom prst="rect">
            <a:avLst/>
          </a:prstGeom>
          <a:noFill/>
          <a:ln/>
        </p:spPr>
        <p:txBody>
          <a:bodyPr wrap="square" lIns="0" tIns="0" rIns="0" bIns="0" rtlCol="0" anchor="t">
            <a:normAutofit/>
          </a:bodyPr>
          <a:lstStyle/>
          <a:p>
            <a:pPr algn="l" indent="0" marL="0">
              <a:buNone/>
            </a:pPr>
            <a:r>
              <a:rPr lang="en-US" sz="1230" dirty="0">
                <a:solidFill>
                  <a:srgbClr val="6F7082"/>
                </a:solidFill>
                <a:latin typeface="Aptos" pitchFamily="34" charset="0"/>
                <a:ea typeface="Aptos" pitchFamily="34" charset="-122"/>
                <a:cs typeface="Aptos" pitchFamily="34" charset="-120"/>
              </a:rPr>
              <a:t>Collecter seulement ce qui est nécessaire.</a:t>
            </a:r>
            <a:endParaRPr lang="en-US" sz="1230" dirty="0"/>
          </a:p>
        </p:txBody>
      </p:sp>
      <p:sp>
        <p:nvSpPr>
          <p:cNvPr id="12" name="Shape 10"/>
          <p:cNvSpPr/>
          <p:nvPr/>
        </p:nvSpPr>
        <p:spPr>
          <a:xfrm>
            <a:off x="8092440" y="1691640"/>
            <a:ext cx="3383280" cy="1417320"/>
          </a:xfrm>
          <a:prstGeom prst="roundRect">
            <a:avLst>
              <a:gd name="adj" fmla="val 3871"/>
            </a:avLst>
          </a:prstGeom>
          <a:solidFill>
            <a:srgbClr val="FFFFFF"/>
          </a:solidFill>
          <a:ln w="12700">
            <a:solidFill>
              <a:srgbClr val="DDDCE6"/>
            </a:solidFill>
            <a:prstDash val="solid"/>
          </a:ln>
          <a:effectLst>
            <a:outerShdw sx="100000" sy="100000" kx="0" ky="0" algn="bl" rotWithShape="0" blurRad="19050" dist="50800" dir="2700000">
              <a:srgbClr val="D6D3DF">
                <a:alpha val="18000"/>
              </a:srgbClr>
            </a:outerShdw>
          </a:effectLst>
        </p:spPr>
      </p:sp>
      <p:sp>
        <p:nvSpPr>
          <p:cNvPr id="13" name="Shape 11"/>
          <p:cNvSpPr/>
          <p:nvPr/>
        </p:nvSpPr>
        <p:spPr>
          <a:xfrm>
            <a:off x="8092440" y="1691640"/>
            <a:ext cx="73152" cy="1417320"/>
          </a:xfrm>
          <a:prstGeom prst="rect">
            <a:avLst/>
          </a:prstGeom>
          <a:solidFill>
            <a:srgbClr val="4F7FC4"/>
          </a:solidFill>
          <a:ln w="12700">
            <a:solidFill>
              <a:srgbClr val="4F7FC4"/>
            </a:solidFill>
            <a:prstDash val="solid"/>
          </a:ln>
        </p:spPr>
      </p:sp>
      <p:sp>
        <p:nvSpPr>
          <p:cNvPr id="14" name="Text 12"/>
          <p:cNvSpPr/>
          <p:nvPr/>
        </p:nvSpPr>
        <p:spPr>
          <a:xfrm>
            <a:off x="8412480" y="1911096"/>
            <a:ext cx="2880360" cy="347472"/>
          </a:xfrm>
          <a:prstGeom prst="rect">
            <a:avLst/>
          </a:prstGeom>
          <a:noFill/>
          <a:ln/>
        </p:spPr>
        <p:txBody>
          <a:bodyPr wrap="square" lIns="0" tIns="0" rIns="0" bIns="0" rtlCol="0" anchor="t">
            <a:normAutofit/>
          </a:bodyPr>
          <a:lstStyle/>
          <a:p>
            <a:pPr algn="l" indent="0" marL="0">
              <a:buNone/>
            </a:pPr>
            <a:r>
              <a:rPr lang="en-US" sz="1630" b="1" dirty="0">
                <a:solidFill>
                  <a:srgbClr val="241337"/>
                </a:solidFill>
                <a:latin typeface="Aptos" pitchFamily="34" charset="0"/>
                <a:ea typeface="Aptos" pitchFamily="34" charset="-122"/>
                <a:cs typeface="Aptos" pitchFamily="34" charset="-120"/>
              </a:rPr>
              <a:t>Licéité</a:t>
            </a:r>
            <a:endParaRPr lang="en-US" sz="1630" dirty="0"/>
          </a:p>
        </p:txBody>
      </p:sp>
      <p:sp>
        <p:nvSpPr>
          <p:cNvPr id="15" name="Text 13"/>
          <p:cNvSpPr/>
          <p:nvPr/>
        </p:nvSpPr>
        <p:spPr>
          <a:xfrm>
            <a:off x="8385048" y="2386584"/>
            <a:ext cx="2880360" cy="548640"/>
          </a:xfrm>
          <a:prstGeom prst="rect">
            <a:avLst/>
          </a:prstGeom>
          <a:noFill/>
          <a:ln/>
        </p:spPr>
        <p:txBody>
          <a:bodyPr wrap="square" lIns="0" tIns="0" rIns="0" bIns="0" rtlCol="0" anchor="t">
            <a:normAutofit/>
          </a:bodyPr>
          <a:lstStyle/>
          <a:p>
            <a:pPr algn="l" indent="0" marL="0">
              <a:buNone/>
            </a:pPr>
            <a:r>
              <a:rPr lang="en-US" sz="1230" dirty="0">
                <a:solidFill>
                  <a:srgbClr val="6F7082"/>
                </a:solidFill>
                <a:latin typeface="Aptos" pitchFamily="34" charset="0"/>
                <a:ea typeface="Aptos" pitchFamily="34" charset="-122"/>
                <a:cs typeface="Aptos" pitchFamily="34" charset="-120"/>
              </a:rPr>
              <a:t>Identifier une base juridique adaptée.</a:t>
            </a:r>
            <a:endParaRPr lang="en-US" sz="1230" dirty="0"/>
          </a:p>
        </p:txBody>
      </p:sp>
      <p:sp>
        <p:nvSpPr>
          <p:cNvPr id="16" name="Shape 14"/>
          <p:cNvSpPr/>
          <p:nvPr/>
        </p:nvSpPr>
        <p:spPr>
          <a:xfrm>
            <a:off x="685800" y="3520440"/>
            <a:ext cx="3383280" cy="1417320"/>
          </a:xfrm>
          <a:prstGeom prst="roundRect">
            <a:avLst>
              <a:gd name="adj" fmla="val 3871"/>
            </a:avLst>
          </a:prstGeom>
          <a:solidFill>
            <a:srgbClr val="FFFFFF"/>
          </a:solidFill>
          <a:ln w="12700">
            <a:solidFill>
              <a:srgbClr val="DDDCE6"/>
            </a:solidFill>
            <a:prstDash val="solid"/>
          </a:ln>
          <a:effectLst>
            <a:outerShdw sx="100000" sy="100000" kx="0" ky="0" algn="bl" rotWithShape="0" blurRad="19050" dist="50800" dir="2700000">
              <a:srgbClr val="D6D3DF">
                <a:alpha val="18000"/>
              </a:srgbClr>
            </a:outerShdw>
          </a:effectLst>
        </p:spPr>
      </p:sp>
      <p:sp>
        <p:nvSpPr>
          <p:cNvPr id="17" name="Shape 15"/>
          <p:cNvSpPr/>
          <p:nvPr/>
        </p:nvSpPr>
        <p:spPr>
          <a:xfrm>
            <a:off x="685800" y="3520440"/>
            <a:ext cx="73152" cy="1417320"/>
          </a:xfrm>
          <a:prstGeom prst="rect">
            <a:avLst/>
          </a:prstGeom>
          <a:solidFill>
            <a:srgbClr val="DB8129"/>
          </a:solidFill>
          <a:ln w="12700">
            <a:solidFill>
              <a:srgbClr val="DB8129"/>
            </a:solidFill>
            <a:prstDash val="solid"/>
          </a:ln>
        </p:spPr>
      </p:sp>
      <p:sp>
        <p:nvSpPr>
          <p:cNvPr id="18" name="Text 16"/>
          <p:cNvSpPr/>
          <p:nvPr/>
        </p:nvSpPr>
        <p:spPr>
          <a:xfrm>
            <a:off x="1005840" y="3739896"/>
            <a:ext cx="2880360" cy="347472"/>
          </a:xfrm>
          <a:prstGeom prst="rect">
            <a:avLst/>
          </a:prstGeom>
          <a:noFill/>
          <a:ln/>
        </p:spPr>
        <p:txBody>
          <a:bodyPr wrap="square" lIns="0" tIns="0" rIns="0" bIns="0" rtlCol="0" anchor="t">
            <a:normAutofit/>
          </a:bodyPr>
          <a:lstStyle/>
          <a:p>
            <a:pPr algn="l" indent="0" marL="0">
              <a:buNone/>
            </a:pPr>
            <a:r>
              <a:rPr lang="en-US" sz="1630" b="1" dirty="0">
                <a:solidFill>
                  <a:srgbClr val="241337"/>
                </a:solidFill>
                <a:latin typeface="Aptos" pitchFamily="34" charset="0"/>
                <a:ea typeface="Aptos" pitchFamily="34" charset="-122"/>
                <a:cs typeface="Aptos" pitchFamily="34" charset="-120"/>
              </a:rPr>
              <a:t>Transparence</a:t>
            </a:r>
            <a:endParaRPr lang="en-US" sz="1630" dirty="0"/>
          </a:p>
        </p:txBody>
      </p:sp>
      <p:sp>
        <p:nvSpPr>
          <p:cNvPr id="19" name="Text 17"/>
          <p:cNvSpPr/>
          <p:nvPr/>
        </p:nvSpPr>
        <p:spPr>
          <a:xfrm>
            <a:off x="978408" y="4215384"/>
            <a:ext cx="2880360" cy="548640"/>
          </a:xfrm>
          <a:prstGeom prst="rect">
            <a:avLst/>
          </a:prstGeom>
          <a:noFill/>
          <a:ln/>
        </p:spPr>
        <p:txBody>
          <a:bodyPr wrap="square" lIns="0" tIns="0" rIns="0" bIns="0" rtlCol="0" anchor="t">
            <a:normAutofit/>
          </a:bodyPr>
          <a:lstStyle/>
          <a:p>
            <a:pPr algn="l" indent="0" marL="0">
              <a:buNone/>
            </a:pPr>
            <a:r>
              <a:rPr lang="en-US" sz="1230" dirty="0">
                <a:solidFill>
                  <a:srgbClr val="6F7082"/>
                </a:solidFill>
                <a:latin typeface="Aptos" pitchFamily="34" charset="0"/>
                <a:ea typeface="Aptos" pitchFamily="34" charset="-122"/>
                <a:cs typeface="Aptos" pitchFamily="34" charset="-120"/>
              </a:rPr>
              <a:t>Informer selon les obligations applicables.</a:t>
            </a:r>
            <a:endParaRPr lang="en-US" sz="1230" dirty="0"/>
          </a:p>
        </p:txBody>
      </p:sp>
      <p:sp>
        <p:nvSpPr>
          <p:cNvPr id="20" name="Shape 18"/>
          <p:cNvSpPr/>
          <p:nvPr/>
        </p:nvSpPr>
        <p:spPr>
          <a:xfrm>
            <a:off x="4389120" y="3520440"/>
            <a:ext cx="3383280" cy="1417320"/>
          </a:xfrm>
          <a:prstGeom prst="roundRect">
            <a:avLst>
              <a:gd name="adj" fmla="val 3871"/>
            </a:avLst>
          </a:prstGeom>
          <a:solidFill>
            <a:srgbClr val="FFFFFF"/>
          </a:solidFill>
          <a:ln w="12700">
            <a:solidFill>
              <a:srgbClr val="DDDCE6"/>
            </a:solidFill>
            <a:prstDash val="solid"/>
          </a:ln>
          <a:effectLst>
            <a:outerShdw sx="100000" sy="100000" kx="0" ky="0" algn="bl" rotWithShape="0" blurRad="19050" dist="50800" dir="2700000">
              <a:srgbClr val="D6D3DF">
                <a:alpha val="18000"/>
              </a:srgbClr>
            </a:outerShdw>
          </a:effectLst>
        </p:spPr>
      </p:sp>
      <p:sp>
        <p:nvSpPr>
          <p:cNvPr id="21" name="Shape 19"/>
          <p:cNvSpPr/>
          <p:nvPr/>
        </p:nvSpPr>
        <p:spPr>
          <a:xfrm>
            <a:off x="4389120" y="3520440"/>
            <a:ext cx="73152" cy="1417320"/>
          </a:xfrm>
          <a:prstGeom prst="rect">
            <a:avLst/>
          </a:prstGeom>
          <a:solidFill>
            <a:srgbClr val="2E899E"/>
          </a:solidFill>
          <a:ln w="12700">
            <a:solidFill>
              <a:srgbClr val="2E899E"/>
            </a:solidFill>
            <a:prstDash val="solid"/>
          </a:ln>
        </p:spPr>
      </p:sp>
      <p:sp>
        <p:nvSpPr>
          <p:cNvPr id="22" name="Text 20"/>
          <p:cNvSpPr/>
          <p:nvPr/>
        </p:nvSpPr>
        <p:spPr>
          <a:xfrm>
            <a:off x="4709160" y="3739896"/>
            <a:ext cx="2880360" cy="347472"/>
          </a:xfrm>
          <a:prstGeom prst="rect">
            <a:avLst/>
          </a:prstGeom>
          <a:noFill/>
          <a:ln/>
        </p:spPr>
        <p:txBody>
          <a:bodyPr wrap="square" lIns="0" tIns="0" rIns="0" bIns="0" rtlCol="0" anchor="t">
            <a:normAutofit/>
          </a:bodyPr>
          <a:lstStyle/>
          <a:p>
            <a:pPr algn="l" indent="0" marL="0">
              <a:buNone/>
            </a:pPr>
            <a:r>
              <a:rPr lang="en-US" sz="1630" b="1" dirty="0">
                <a:solidFill>
                  <a:srgbClr val="241337"/>
                </a:solidFill>
                <a:latin typeface="Aptos" pitchFamily="34" charset="0"/>
                <a:ea typeface="Aptos" pitchFamily="34" charset="-122"/>
                <a:cs typeface="Aptos" pitchFamily="34" charset="-120"/>
              </a:rPr>
              <a:t>Conservation</a:t>
            </a:r>
            <a:endParaRPr lang="en-US" sz="1630" dirty="0"/>
          </a:p>
        </p:txBody>
      </p:sp>
      <p:sp>
        <p:nvSpPr>
          <p:cNvPr id="23" name="Text 21"/>
          <p:cNvSpPr/>
          <p:nvPr/>
        </p:nvSpPr>
        <p:spPr>
          <a:xfrm>
            <a:off x="4681728" y="4215384"/>
            <a:ext cx="2880360" cy="548640"/>
          </a:xfrm>
          <a:prstGeom prst="rect">
            <a:avLst/>
          </a:prstGeom>
          <a:noFill/>
          <a:ln/>
        </p:spPr>
        <p:txBody>
          <a:bodyPr wrap="square" lIns="0" tIns="0" rIns="0" bIns="0" rtlCol="0" anchor="t">
            <a:normAutofit/>
          </a:bodyPr>
          <a:lstStyle/>
          <a:p>
            <a:pPr algn="l" indent="0" marL="0">
              <a:buNone/>
            </a:pPr>
            <a:r>
              <a:rPr lang="en-US" sz="1230" dirty="0">
                <a:solidFill>
                  <a:srgbClr val="6F7082"/>
                </a:solidFill>
                <a:latin typeface="Aptos" pitchFamily="34" charset="0"/>
                <a:ea typeface="Aptos" pitchFamily="34" charset="-122"/>
                <a:cs typeface="Aptos" pitchFamily="34" charset="-120"/>
              </a:rPr>
              <a:t>Ne pas garder indéfiniment par défaut.</a:t>
            </a:r>
            <a:endParaRPr lang="en-US" sz="1230" dirty="0"/>
          </a:p>
        </p:txBody>
      </p:sp>
      <p:sp>
        <p:nvSpPr>
          <p:cNvPr id="24" name="Shape 22"/>
          <p:cNvSpPr/>
          <p:nvPr/>
        </p:nvSpPr>
        <p:spPr>
          <a:xfrm>
            <a:off x="8092440" y="3520440"/>
            <a:ext cx="3383280" cy="1417320"/>
          </a:xfrm>
          <a:prstGeom prst="roundRect">
            <a:avLst>
              <a:gd name="adj" fmla="val 3871"/>
            </a:avLst>
          </a:prstGeom>
          <a:solidFill>
            <a:srgbClr val="FFFFFF"/>
          </a:solidFill>
          <a:ln w="12700">
            <a:solidFill>
              <a:srgbClr val="DDDCE6"/>
            </a:solidFill>
            <a:prstDash val="solid"/>
          </a:ln>
          <a:effectLst>
            <a:outerShdw sx="100000" sy="100000" kx="0" ky="0" algn="bl" rotWithShape="0" blurRad="19050" dist="50800" dir="2700000">
              <a:srgbClr val="D6D3DF">
                <a:alpha val="18000"/>
              </a:srgbClr>
            </a:outerShdw>
          </a:effectLst>
        </p:spPr>
      </p:sp>
      <p:sp>
        <p:nvSpPr>
          <p:cNvPr id="25" name="Shape 23"/>
          <p:cNvSpPr/>
          <p:nvPr/>
        </p:nvSpPr>
        <p:spPr>
          <a:xfrm>
            <a:off x="8092440" y="3520440"/>
            <a:ext cx="73152" cy="1417320"/>
          </a:xfrm>
          <a:prstGeom prst="rect">
            <a:avLst/>
          </a:prstGeom>
          <a:solidFill>
            <a:srgbClr val="D55E5A"/>
          </a:solidFill>
          <a:ln w="12700">
            <a:solidFill>
              <a:srgbClr val="D55E5A"/>
            </a:solidFill>
            <a:prstDash val="solid"/>
          </a:ln>
        </p:spPr>
      </p:sp>
      <p:sp>
        <p:nvSpPr>
          <p:cNvPr id="26" name="Text 24"/>
          <p:cNvSpPr/>
          <p:nvPr/>
        </p:nvSpPr>
        <p:spPr>
          <a:xfrm>
            <a:off x="8412480" y="3739896"/>
            <a:ext cx="2880360" cy="347472"/>
          </a:xfrm>
          <a:prstGeom prst="rect">
            <a:avLst/>
          </a:prstGeom>
          <a:noFill/>
          <a:ln/>
        </p:spPr>
        <p:txBody>
          <a:bodyPr wrap="square" lIns="0" tIns="0" rIns="0" bIns="0" rtlCol="0" anchor="t">
            <a:normAutofit/>
          </a:bodyPr>
          <a:lstStyle/>
          <a:p>
            <a:pPr algn="l" indent="0" marL="0">
              <a:buNone/>
            </a:pPr>
            <a:r>
              <a:rPr lang="en-US" sz="1630" b="1" dirty="0">
                <a:solidFill>
                  <a:srgbClr val="241337"/>
                </a:solidFill>
                <a:latin typeface="Aptos" pitchFamily="34" charset="0"/>
                <a:ea typeface="Aptos" pitchFamily="34" charset="-122"/>
                <a:cs typeface="Aptos" pitchFamily="34" charset="-120"/>
              </a:rPr>
              <a:t>Sécurité</a:t>
            </a:r>
            <a:endParaRPr lang="en-US" sz="1630" dirty="0"/>
          </a:p>
        </p:txBody>
      </p:sp>
      <p:sp>
        <p:nvSpPr>
          <p:cNvPr id="27" name="Text 25"/>
          <p:cNvSpPr/>
          <p:nvPr/>
        </p:nvSpPr>
        <p:spPr>
          <a:xfrm>
            <a:off x="8385048" y="4215384"/>
            <a:ext cx="2880360" cy="548640"/>
          </a:xfrm>
          <a:prstGeom prst="rect">
            <a:avLst/>
          </a:prstGeom>
          <a:noFill/>
          <a:ln/>
        </p:spPr>
        <p:txBody>
          <a:bodyPr wrap="square" lIns="0" tIns="0" rIns="0" bIns="0" rtlCol="0" anchor="t">
            <a:normAutofit/>
          </a:bodyPr>
          <a:lstStyle/>
          <a:p>
            <a:pPr algn="l" indent="0" marL="0">
              <a:buNone/>
            </a:pPr>
            <a:r>
              <a:rPr lang="en-US" sz="1230" dirty="0">
                <a:solidFill>
                  <a:srgbClr val="6F7082"/>
                </a:solidFill>
                <a:latin typeface="Aptos" pitchFamily="34" charset="0"/>
                <a:ea typeface="Aptos" pitchFamily="34" charset="-122"/>
                <a:cs typeface="Aptos" pitchFamily="34" charset="-120"/>
              </a:rPr>
              <a:t>Protéger les données collectées.</a:t>
            </a:r>
            <a:endParaRPr lang="en-US" sz="1230" dirty="0"/>
          </a:p>
        </p:txBody>
      </p:sp>
      <p:sp>
        <p:nvSpPr>
          <p:cNvPr id="28" name="Text 26"/>
          <p:cNvSpPr/>
          <p:nvPr/>
        </p:nvSpPr>
        <p:spPr>
          <a:xfrm>
            <a:off x="1325880" y="5504688"/>
            <a:ext cx="9509760" cy="292608"/>
          </a:xfrm>
          <a:prstGeom prst="rect">
            <a:avLst/>
          </a:prstGeom>
          <a:noFill/>
          <a:ln/>
        </p:spPr>
        <p:txBody>
          <a:bodyPr wrap="square" lIns="0" tIns="0" rIns="0" bIns="0" rtlCol="0" anchor="ctr">
            <a:normAutofit/>
          </a:bodyPr>
          <a:lstStyle/>
          <a:p>
            <a:pPr algn="ctr" indent="0" marL="0">
              <a:buNone/>
            </a:pPr>
            <a:r>
              <a:rPr lang="en-US" sz="1550" b="1" dirty="0">
                <a:solidFill>
                  <a:srgbClr val="241337"/>
                </a:solidFill>
                <a:latin typeface="Aptos" pitchFamily="34" charset="0"/>
                <a:ea typeface="Aptos" pitchFamily="34" charset="-122"/>
                <a:cs typeface="Aptos" pitchFamily="34" charset="-120"/>
              </a:rPr>
              <a:t>Le scraping est une méthode de collecte ; les obligations dépendent du traitement réalisé.</a:t>
            </a:r>
            <a:endParaRPr lang="en-US" sz="1550" dirty="0"/>
          </a:p>
        </p:txBody>
      </p:sp>
      <p:sp>
        <p:nvSpPr>
          <p:cNvPr id="25" name="Slide Number Placeholder 0"/>
          <p:cNvSpPr>
            <a:spLocks noGrp="1"/>
          </p:cNvSpPr>
          <p:nvPr>
            <p:ph type="sldNum" sz="quarter" idx="4294967295"/>
          </p:nvPr>
        </p:nvSpPr>
        <p:spPr>
          <a:xfrm>
            <a:off x="11750040" y="274320"/>
            <a:ext cx="228600" cy="164592"/>
          </a:xfrm>
          <a:prstGeom prst="rect">
            <a:avLst/>
          </a:prstGeom>
          <a:extLst>
            <a:ext uri="{C572A759-6A51-4108-AA02-DFA0A04FC94B}">
              <ma14:wrappingTextBoxFlag xmlns:ma14="http://schemas.microsoft.com/office/mac/drawingml/2011/main" val="0"/>
            </a:ext>
          </a:extLst>
        </p:spPr>
        <p:txBody>
          <a:bodyPr/>
          <a:lstStyle>
            <a:lvl1pPr>
              <a:defRPr sz="800">
                <a:solidFill>
                  <a:srgbClr val="858697"/>
                </a:solidFill>
                <a:latin typeface="Aptos"/>
                <a:ea typeface="Aptos"/>
                <a:cs typeface="Aptos"/>
              </a:defRPr>
            </a:lvl1pPr>
          </a:lstStyle>
          <a:p>
            <a:pPr algn="r"/>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566928" y="438912"/>
            <a:ext cx="5029200" cy="228600"/>
          </a:xfrm>
          <a:prstGeom prst="rect">
            <a:avLst/>
          </a:prstGeom>
          <a:noFill/>
          <a:ln/>
        </p:spPr>
        <p:txBody>
          <a:bodyPr wrap="square" lIns="0" tIns="0" rIns="0" bIns="0" rtlCol="0" anchor="ctr">
            <a:normAutofit/>
          </a:bodyPr>
          <a:lstStyle/>
          <a:p>
            <a:pPr algn="l" indent="0" marL="0">
              <a:buNone/>
            </a:pPr>
            <a:r>
              <a:rPr lang="en-US" sz="1050" b="1" spc="150" kern="0" dirty="0">
                <a:solidFill>
                  <a:srgbClr val="7432A8"/>
                </a:solidFill>
                <a:latin typeface="Aptos" pitchFamily="34" charset="0"/>
                <a:ea typeface="Aptos" pitchFamily="34" charset="-122"/>
                <a:cs typeface="Aptos" pitchFamily="34" charset="-120"/>
              </a:rPr>
              <a:t>BASE LÉGALE</a:t>
            </a:r>
            <a:endParaRPr lang="en-US" sz="1050" dirty="0"/>
          </a:p>
        </p:txBody>
      </p:sp>
      <p:sp>
        <p:nvSpPr>
          <p:cNvPr id="3" name="Text 1"/>
          <p:cNvSpPr/>
          <p:nvPr/>
        </p:nvSpPr>
        <p:spPr>
          <a:xfrm>
            <a:off x="566928" y="768096"/>
            <a:ext cx="10972800" cy="566928"/>
          </a:xfrm>
          <a:prstGeom prst="rect">
            <a:avLst/>
          </a:prstGeom>
          <a:noFill/>
          <a:ln/>
        </p:spPr>
        <p:txBody>
          <a:bodyPr wrap="square" lIns="0" tIns="0" rIns="0" bIns="0" rtlCol="0" anchor="t">
            <a:normAutofit/>
          </a:bodyPr>
          <a:lstStyle/>
          <a:p>
            <a:pPr algn="l" indent="0" marL="0">
              <a:buNone/>
            </a:pPr>
            <a:r>
              <a:rPr lang="en-US" sz="2800" b="1" dirty="0">
                <a:solidFill>
                  <a:srgbClr val="241337"/>
                </a:solidFill>
                <a:latin typeface="Aptos" pitchFamily="34" charset="0"/>
                <a:ea typeface="Aptos" pitchFamily="34" charset="-122"/>
                <a:cs typeface="Aptos" pitchFamily="34" charset="-120"/>
              </a:rPr>
              <a:t>Pas de “case intérêt légitime” automatique</a:t>
            </a:r>
            <a:endParaRPr lang="en-US" sz="2800" dirty="0"/>
          </a:p>
        </p:txBody>
      </p:sp>
      <p:sp>
        <p:nvSpPr>
          <p:cNvPr id="4" name="Shape 2"/>
          <p:cNvSpPr/>
          <p:nvPr/>
        </p:nvSpPr>
        <p:spPr>
          <a:xfrm>
            <a:off x="658368" y="1828800"/>
            <a:ext cx="2514600" cy="2651760"/>
          </a:xfrm>
          <a:prstGeom prst="roundRect">
            <a:avLst>
              <a:gd name="adj" fmla="val 2182"/>
            </a:avLst>
          </a:prstGeom>
          <a:solidFill>
            <a:srgbClr val="FFFFFF"/>
          </a:solidFill>
          <a:ln w="12700">
            <a:solidFill>
              <a:srgbClr val="DDDCE6"/>
            </a:solidFill>
            <a:prstDash val="solid"/>
          </a:ln>
          <a:effectLst>
            <a:outerShdw sx="100000" sy="100000" kx="0" ky="0" algn="bl" rotWithShape="0" blurRad="19050" dist="50800" dir="2700000">
              <a:srgbClr val="D6D3DF">
                <a:alpha val="18000"/>
              </a:srgbClr>
            </a:outerShdw>
          </a:effectLst>
        </p:spPr>
      </p:sp>
      <p:sp>
        <p:nvSpPr>
          <p:cNvPr id="5" name="Shape 3"/>
          <p:cNvSpPr/>
          <p:nvPr/>
        </p:nvSpPr>
        <p:spPr>
          <a:xfrm>
            <a:off x="658368" y="1828800"/>
            <a:ext cx="73152" cy="2651760"/>
          </a:xfrm>
          <a:prstGeom prst="rect">
            <a:avLst/>
          </a:prstGeom>
          <a:solidFill>
            <a:srgbClr val="4F7FC4"/>
          </a:solidFill>
          <a:ln w="12700">
            <a:solidFill>
              <a:srgbClr val="4F7FC4"/>
            </a:solidFill>
            <a:prstDash val="solid"/>
          </a:ln>
        </p:spPr>
      </p:sp>
      <p:sp>
        <p:nvSpPr>
          <p:cNvPr id="6" name="Text 4"/>
          <p:cNvSpPr/>
          <p:nvPr/>
        </p:nvSpPr>
        <p:spPr>
          <a:xfrm>
            <a:off x="1005840" y="2084832"/>
            <a:ext cx="320040" cy="256032"/>
          </a:xfrm>
          <a:prstGeom prst="rect">
            <a:avLst/>
          </a:prstGeom>
          <a:noFill/>
          <a:ln/>
        </p:spPr>
        <p:txBody>
          <a:bodyPr wrap="square" lIns="0" tIns="0" rIns="0" bIns="0" rtlCol="0" anchor="ctr">
            <a:normAutofit/>
          </a:bodyPr>
          <a:lstStyle/>
          <a:p>
            <a:pPr algn="l" indent="0" marL="0">
              <a:buNone/>
            </a:pPr>
            <a:r>
              <a:rPr lang="en-US" sz="1900" b="1" dirty="0">
                <a:solidFill>
                  <a:srgbClr val="4F7FC4"/>
                </a:solidFill>
                <a:latin typeface="Aptos" pitchFamily="34" charset="0"/>
                <a:ea typeface="Aptos" pitchFamily="34" charset="-122"/>
                <a:cs typeface="Aptos" pitchFamily="34" charset="-120"/>
              </a:rPr>
              <a:t>1</a:t>
            </a:r>
            <a:endParaRPr lang="en-US" sz="1900" dirty="0"/>
          </a:p>
        </p:txBody>
      </p:sp>
      <p:sp>
        <p:nvSpPr>
          <p:cNvPr id="7" name="Text 5"/>
          <p:cNvSpPr/>
          <p:nvPr/>
        </p:nvSpPr>
        <p:spPr>
          <a:xfrm>
            <a:off x="1371600" y="2048256"/>
            <a:ext cx="1600200" cy="347472"/>
          </a:xfrm>
          <a:prstGeom prst="rect">
            <a:avLst/>
          </a:prstGeom>
          <a:noFill/>
          <a:ln/>
        </p:spPr>
        <p:txBody>
          <a:bodyPr wrap="square" lIns="0" tIns="0" rIns="0" bIns="0" rtlCol="0" anchor="t">
            <a:normAutofit/>
          </a:bodyPr>
          <a:lstStyle/>
          <a:p>
            <a:pPr algn="l" indent="0" marL="0">
              <a:buNone/>
            </a:pPr>
            <a:r>
              <a:rPr lang="en-US" sz="1630" b="1" dirty="0">
                <a:solidFill>
                  <a:srgbClr val="241337"/>
                </a:solidFill>
                <a:latin typeface="Aptos" pitchFamily="34" charset="0"/>
                <a:ea typeface="Aptos" pitchFamily="34" charset="-122"/>
                <a:cs typeface="Aptos" pitchFamily="34" charset="-120"/>
              </a:rPr>
              <a:t>Objectif légitime</a:t>
            </a:r>
            <a:endParaRPr lang="en-US" sz="1630" dirty="0"/>
          </a:p>
        </p:txBody>
      </p:sp>
      <p:sp>
        <p:nvSpPr>
          <p:cNvPr id="8" name="Text 6"/>
          <p:cNvSpPr/>
          <p:nvPr/>
        </p:nvSpPr>
        <p:spPr>
          <a:xfrm>
            <a:off x="950976" y="2523744"/>
            <a:ext cx="2011680" cy="1783080"/>
          </a:xfrm>
          <a:prstGeom prst="rect">
            <a:avLst/>
          </a:prstGeom>
          <a:noFill/>
          <a:ln/>
        </p:spPr>
        <p:txBody>
          <a:bodyPr wrap="square" lIns="0" tIns="0" rIns="0" bIns="0" rtlCol="0" anchor="t">
            <a:normAutofit/>
          </a:bodyPr>
          <a:lstStyle/>
          <a:p>
            <a:pPr algn="l" indent="0" marL="0">
              <a:buNone/>
            </a:pPr>
            <a:r>
              <a:rPr lang="en-US" sz="1230" dirty="0">
                <a:solidFill>
                  <a:srgbClr val="6F7082"/>
                </a:solidFill>
                <a:latin typeface="Aptos" pitchFamily="34" charset="0"/>
                <a:ea typeface="Aptos" pitchFamily="34" charset="-122"/>
                <a:cs typeface="Aptos" pitchFamily="34" charset="-120"/>
              </a:rPr>
              <a:t>Décrire précisément le besoin.</a:t>
            </a:r>
            <a:endParaRPr lang="en-US" sz="1230" dirty="0"/>
          </a:p>
        </p:txBody>
      </p:sp>
      <p:sp>
        <p:nvSpPr>
          <p:cNvPr id="9" name="Shape 7"/>
          <p:cNvSpPr/>
          <p:nvPr/>
        </p:nvSpPr>
        <p:spPr>
          <a:xfrm>
            <a:off x="3474720" y="1828800"/>
            <a:ext cx="2514600" cy="2651760"/>
          </a:xfrm>
          <a:prstGeom prst="roundRect">
            <a:avLst>
              <a:gd name="adj" fmla="val 2182"/>
            </a:avLst>
          </a:prstGeom>
          <a:solidFill>
            <a:srgbClr val="FFFFFF"/>
          </a:solidFill>
          <a:ln w="12700">
            <a:solidFill>
              <a:srgbClr val="DDDCE6"/>
            </a:solidFill>
            <a:prstDash val="solid"/>
          </a:ln>
          <a:effectLst>
            <a:outerShdw sx="100000" sy="100000" kx="0" ky="0" algn="bl" rotWithShape="0" blurRad="19050" dist="50800" dir="2700000">
              <a:srgbClr val="D6D3DF">
                <a:alpha val="18000"/>
              </a:srgbClr>
            </a:outerShdw>
          </a:effectLst>
        </p:spPr>
      </p:sp>
      <p:sp>
        <p:nvSpPr>
          <p:cNvPr id="10" name="Shape 8"/>
          <p:cNvSpPr/>
          <p:nvPr/>
        </p:nvSpPr>
        <p:spPr>
          <a:xfrm>
            <a:off x="3474720" y="1828800"/>
            <a:ext cx="73152" cy="2651760"/>
          </a:xfrm>
          <a:prstGeom prst="rect">
            <a:avLst/>
          </a:prstGeom>
          <a:solidFill>
            <a:srgbClr val="7432A8"/>
          </a:solidFill>
          <a:ln w="12700">
            <a:solidFill>
              <a:srgbClr val="7432A8"/>
            </a:solidFill>
            <a:prstDash val="solid"/>
          </a:ln>
        </p:spPr>
      </p:sp>
      <p:sp>
        <p:nvSpPr>
          <p:cNvPr id="11" name="Text 9"/>
          <p:cNvSpPr/>
          <p:nvPr/>
        </p:nvSpPr>
        <p:spPr>
          <a:xfrm>
            <a:off x="3822192" y="2084832"/>
            <a:ext cx="320040" cy="256032"/>
          </a:xfrm>
          <a:prstGeom prst="rect">
            <a:avLst/>
          </a:prstGeom>
          <a:noFill/>
          <a:ln/>
        </p:spPr>
        <p:txBody>
          <a:bodyPr wrap="square" lIns="0" tIns="0" rIns="0" bIns="0" rtlCol="0" anchor="ctr">
            <a:normAutofit/>
          </a:bodyPr>
          <a:lstStyle/>
          <a:p>
            <a:pPr algn="l" indent="0" marL="0">
              <a:buNone/>
            </a:pPr>
            <a:r>
              <a:rPr lang="en-US" sz="1900" b="1" dirty="0">
                <a:solidFill>
                  <a:srgbClr val="7432A8"/>
                </a:solidFill>
                <a:latin typeface="Aptos" pitchFamily="34" charset="0"/>
                <a:ea typeface="Aptos" pitchFamily="34" charset="-122"/>
                <a:cs typeface="Aptos" pitchFamily="34" charset="-120"/>
              </a:rPr>
              <a:t>2</a:t>
            </a:r>
            <a:endParaRPr lang="en-US" sz="1900" dirty="0"/>
          </a:p>
        </p:txBody>
      </p:sp>
      <p:sp>
        <p:nvSpPr>
          <p:cNvPr id="12" name="Text 10"/>
          <p:cNvSpPr/>
          <p:nvPr/>
        </p:nvSpPr>
        <p:spPr>
          <a:xfrm>
            <a:off x="4187952" y="2048256"/>
            <a:ext cx="1600200" cy="347472"/>
          </a:xfrm>
          <a:prstGeom prst="rect">
            <a:avLst/>
          </a:prstGeom>
          <a:noFill/>
          <a:ln/>
        </p:spPr>
        <p:txBody>
          <a:bodyPr wrap="square" lIns="0" tIns="0" rIns="0" bIns="0" rtlCol="0" anchor="t">
            <a:normAutofit/>
          </a:bodyPr>
          <a:lstStyle/>
          <a:p>
            <a:pPr algn="l" indent="0" marL="0">
              <a:buNone/>
            </a:pPr>
            <a:r>
              <a:rPr lang="en-US" sz="1630" b="1" dirty="0">
                <a:solidFill>
                  <a:srgbClr val="241337"/>
                </a:solidFill>
                <a:latin typeface="Aptos" pitchFamily="34" charset="0"/>
                <a:ea typeface="Aptos" pitchFamily="34" charset="-122"/>
                <a:cs typeface="Aptos" pitchFamily="34" charset="-120"/>
              </a:rPr>
              <a:t>Nécessité</a:t>
            </a:r>
            <a:endParaRPr lang="en-US" sz="1630" dirty="0"/>
          </a:p>
        </p:txBody>
      </p:sp>
      <p:sp>
        <p:nvSpPr>
          <p:cNvPr id="13" name="Text 11"/>
          <p:cNvSpPr/>
          <p:nvPr/>
        </p:nvSpPr>
        <p:spPr>
          <a:xfrm>
            <a:off x="3767328" y="2523744"/>
            <a:ext cx="2011680" cy="1783080"/>
          </a:xfrm>
          <a:prstGeom prst="rect">
            <a:avLst/>
          </a:prstGeom>
          <a:noFill/>
          <a:ln/>
        </p:spPr>
        <p:txBody>
          <a:bodyPr wrap="square" lIns="0" tIns="0" rIns="0" bIns="0" rtlCol="0" anchor="t">
            <a:normAutofit/>
          </a:bodyPr>
          <a:lstStyle/>
          <a:p>
            <a:pPr algn="l" indent="0" marL="0">
              <a:buNone/>
            </a:pPr>
            <a:r>
              <a:rPr lang="en-US" sz="1230" dirty="0">
                <a:solidFill>
                  <a:srgbClr val="6F7082"/>
                </a:solidFill>
                <a:latin typeface="Aptos" pitchFamily="34" charset="0"/>
                <a:ea typeface="Aptos" pitchFamily="34" charset="-122"/>
                <a:cs typeface="Aptos" pitchFamily="34" charset="-120"/>
              </a:rPr>
              <a:t>Le scraping est-il réellement nécessaire ?</a:t>
            </a:r>
            <a:endParaRPr lang="en-US" sz="1230" dirty="0"/>
          </a:p>
        </p:txBody>
      </p:sp>
      <p:sp>
        <p:nvSpPr>
          <p:cNvPr id="14" name="Shape 12"/>
          <p:cNvSpPr/>
          <p:nvPr/>
        </p:nvSpPr>
        <p:spPr>
          <a:xfrm>
            <a:off x="6291072" y="1828800"/>
            <a:ext cx="2514600" cy="2651760"/>
          </a:xfrm>
          <a:prstGeom prst="roundRect">
            <a:avLst>
              <a:gd name="adj" fmla="val 2182"/>
            </a:avLst>
          </a:prstGeom>
          <a:solidFill>
            <a:srgbClr val="FFFFFF"/>
          </a:solidFill>
          <a:ln w="12700">
            <a:solidFill>
              <a:srgbClr val="DDDCE6"/>
            </a:solidFill>
            <a:prstDash val="solid"/>
          </a:ln>
          <a:effectLst>
            <a:outerShdw sx="100000" sy="100000" kx="0" ky="0" algn="bl" rotWithShape="0" blurRad="19050" dist="50800" dir="2700000">
              <a:srgbClr val="D6D3DF">
                <a:alpha val="18000"/>
              </a:srgbClr>
            </a:outerShdw>
          </a:effectLst>
        </p:spPr>
      </p:sp>
      <p:sp>
        <p:nvSpPr>
          <p:cNvPr id="15" name="Shape 13"/>
          <p:cNvSpPr/>
          <p:nvPr/>
        </p:nvSpPr>
        <p:spPr>
          <a:xfrm>
            <a:off x="6291072" y="1828800"/>
            <a:ext cx="73152" cy="2651760"/>
          </a:xfrm>
          <a:prstGeom prst="rect">
            <a:avLst/>
          </a:prstGeom>
          <a:solidFill>
            <a:srgbClr val="DB8129"/>
          </a:solidFill>
          <a:ln w="12700">
            <a:solidFill>
              <a:srgbClr val="DB8129"/>
            </a:solidFill>
            <a:prstDash val="solid"/>
          </a:ln>
        </p:spPr>
      </p:sp>
      <p:sp>
        <p:nvSpPr>
          <p:cNvPr id="16" name="Text 14"/>
          <p:cNvSpPr/>
          <p:nvPr/>
        </p:nvSpPr>
        <p:spPr>
          <a:xfrm>
            <a:off x="6638544" y="2084832"/>
            <a:ext cx="320040" cy="256032"/>
          </a:xfrm>
          <a:prstGeom prst="rect">
            <a:avLst/>
          </a:prstGeom>
          <a:noFill/>
          <a:ln/>
        </p:spPr>
        <p:txBody>
          <a:bodyPr wrap="square" lIns="0" tIns="0" rIns="0" bIns="0" rtlCol="0" anchor="ctr">
            <a:normAutofit/>
          </a:bodyPr>
          <a:lstStyle/>
          <a:p>
            <a:pPr algn="l" indent="0" marL="0">
              <a:buNone/>
            </a:pPr>
            <a:r>
              <a:rPr lang="en-US" sz="1900" b="1" dirty="0">
                <a:solidFill>
                  <a:srgbClr val="DB8129"/>
                </a:solidFill>
                <a:latin typeface="Aptos" pitchFamily="34" charset="0"/>
                <a:ea typeface="Aptos" pitchFamily="34" charset="-122"/>
                <a:cs typeface="Aptos" pitchFamily="34" charset="-120"/>
              </a:rPr>
              <a:t>3</a:t>
            </a:r>
            <a:endParaRPr lang="en-US" sz="1900" dirty="0"/>
          </a:p>
        </p:txBody>
      </p:sp>
      <p:sp>
        <p:nvSpPr>
          <p:cNvPr id="17" name="Text 15"/>
          <p:cNvSpPr/>
          <p:nvPr/>
        </p:nvSpPr>
        <p:spPr>
          <a:xfrm>
            <a:off x="7004304" y="2048256"/>
            <a:ext cx="1600200" cy="347472"/>
          </a:xfrm>
          <a:prstGeom prst="rect">
            <a:avLst/>
          </a:prstGeom>
          <a:noFill/>
          <a:ln/>
        </p:spPr>
        <p:txBody>
          <a:bodyPr wrap="square" lIns="0" tIns="0" rIns="0" bIns="0" rtlCol="0" anchor="t">
            <a:normAutofit/>
          </a:bodyPr>
          <a:lstStyle/>
          <a:p>
            <a:pPr algn="l" indent="0" marL="0">
              <a:buNone/>
            </a:pPr>
            <a:r>
              <a:rPr lang="en-US" sz="1630" b="1" dirty="0">
                <a:solidFill>
                  <a:srgbClr val="241337"/>
                </a:solidFill>
                <a:latin typeface="Aptos" pitchFamily="34" charset="0"/>
                <a:ea typeface="Aptos" pitchFamily="34" charset="-122"/>
                <a:cs typeface="Aptos" pitchFamily="34" charset="-120"/>
              </a:rPr>
              <a:t>Mise en balance</a:t>
            </a:r>
            <a:endParaRPr lang="en-US" sz="1630" dirty="0"/>
          </a:p>
        </p:txBody>
      </p:sp>
      <p:sp>
        <p:nvSpPr>
          <p:cNvPr id="18" name="Text 16"/>
          <p:cNvSpPr/>
          <p:nvPr/>
        </p:nvSpPr>
        <p:spPr>
          <a:xfrm>
            <a:off x="6583680" y="2523744"/>
            <a:ext cx="2011680" cy="1783080"/>
          </a:xfrm>
          <a:prstGeom prst="rect">
            <a:avLst/>
          </a:prstGeom>
          <a:noFill/>
          <a:ln/>
        </p:spPr>
        <p:txBody>
          <a:bodyPr wrap="square" lIns="0" tIns="0" rIns="0" bIns="0" rtlCol="0" anchor="t">
            <a:normAutofit/>
          </a:bodyPr>
          <a:lstStyle/>
          <a:p>
            <a:pPr algn="l" indent="0" marL="0">
              <a:buNone/>
            </a:pPr>
            <a:r>
              <a:rPr lang="en-US" sz="1230" dirty="0">
                <a:solidFill>
                  <a:srgbClr val="6F7082"/>
                </a:solidFill>
                <a:latin typeface="Aptos" pitchFamily="34" charset="0"/>
                <a:ea typeface="Aptos" pitchFamily="34" charset="-122"/>
                <a:cs typeface="Aptos" pitchFamily="34" charset="-120"/>
              </a:rPr>
              <a:t>Quels impacts pour les personnes ?</a:t>
            </a:r>
            <a:endParaRPr lang="en-US" sz="1230" dirty="0"/>
          </a:p>
        </p:txBody>
      </p:sp>
      <p:sp>
        <p:nvSpPr>
          <p:cNvPr id="19" name="Shape 17"/>
          <p:cNvSpPr/>
          <p:nvPr/>
        </p:nvSpPr>
        <p:spPr>
          <a:xfrm>
            <a:off x="9107424" y="1828800"/>
            <a:ext cx="2514600" cy="2651760"/>
          </a:xfrm>
          <a:prstGeom prst="roundRect">
            <a:avLst>
              <a:gd name="adj" fmla="val 2182"/>
            </a:avLst>
          </a:prstGeom>
          <a:solidFill>
            <a:srgbClr val="FFFFFF"/>
          </a:solidFill>
          <a:ln w="12700">
            <a:solidFill>
              <a:srgbClr val="DDDCE6"/>
            </a:solidFill>
            <a:prstDash val="solid"/>
          </a:ln>
          <a:effectLst>
            <a:outerShdw sx="100000" sy="100000" kx="0" ky="0" algn="bl" rotWithShape="0" blurRad="19050" dist="50800" dir="2700000">
              <a:srgbClr val="D6D3DF">
                <a:alpha val="18000"/>
              </a:srgbClr>
            </a:outerShdw>
          </a:effectLst>
        </p:spPr>
      </p:sp>
      <p:sp>
        <p:nvSpPr>
          <p:cNvPr id="20" name="Shape 18"/>
          <p:cNvSpPr/>
          <p:nvPr/>
        </p:nvSpPr>
        <p:spPr>
          <a:xfrm>
            <a:off x="9107424" y="1828800"/>
            <a:ext cx="73152" cy="2651760"/>
          </a:xfrm>
          <a:prstGeom prst="rect">
            <a:avLst/>
          </a:prstGeom>
          <a:solidFill>
            <a:srgbClr val="4EA27B"/>
          </a:solidFill>
          <a:ln w="12700">
            <a:solidFill>
              <a:srgbClr val="4EA27B"/>
            </a:solidFill>
            <a:prstDash val="solid"/>
          </a:ln>
        </p:spPr>
      </p:sp>
      <p:sp>
        <p:nvSpPr>
          <p:cNvPr id="21" name="Text 19"/>
          <p:cNvSpPr/>
          <p:nvPr/>
        </p:nvSpPr>
        <p:spPr>
          <a:xfrm>
            <a:off x="9454896" y="2084832"/>
            <a:ext cx="320040" cy="256032"/>
          </a:xfrm>
          <a:prstGeom prst="rect">
            <a:avLst/>
          </a:prstGeom>
          <a:noFill/>
          <a:ln/>
        </p:spPr>
        <p:txBody>
          <a:bodyPr wrap="square" lIns="0" tIns="0" rIns="0" bIns="0" rtlCol="0" anchor="ctr">
            <a:normAutofit/>
          </a:bodyPr>
          <a:lstStyle/>
          <a:p>
            <a:pPr algn="l" indent="0" marL="0">
              <a:buNone/>
            </a:pPr>
            <a:r>
              <a:rPr lang="en-US" sz="1900" b="1" dirty="0">
                <a:solidFill>
                  <a:srgbClr val="4EA27B"/>
                </a:solidFill>
                <a:latin typeface="Aptos" pitchFamily="34" charset="0"/>
                <a:ea typeface="Aptos" pitchFamily="34" charset="-122"/>
                <a:cs typeface="Aptos" pitchFamily="34" charset="-120"/>
              </a:rPr>
              <a:t>4</a:t>
            </a:r>
            <a:endParaRPr lang="en-US" sz="1900" dirty="0"/>
          </a:p>
        </p:txBody>
      </p:sp>
      <p:sp>
        <p:nvSpPr>
          <p:cNvPr id="22" name="Text 20"/>
          <p:cNvSpPr/>
          <p:nvPr/>
        </p:nvSpPr>
        <p:spPr>
          <a:xfrm>
            <a:off x="9820656" y="2048256"/>
            <a:ext cx="1600200" cy="347472"/>
          </a:xfrm>
          <a:prstGeom prst="rect">
            <a:avLst/>
          </a:prstGeom>
          <a:noFill/>
          <a:ln/>
        </p:spPr>
        <p:txBody>
          <a:bodyPr wrap="square" lIns="0" tIns="0" rIns="0" bIns="0" rtlCol="0" anchor="t">
            <a:normAutofit/>
          </a:bodyPr>
          <a:lstStyle/>
          <a:p>
            <a:pPr algn="l" indent="0" marL="0">
              <a:buNone/>
            </a:pPr>
            <a:r>
              <a:rPr lang="en-US" sz="1630" b="1" dirty="0">
                <a:solidFill>
                  <a:srgbClr val="241337"/>
                </a:solidFill>
                <a:latin typeface="Aptos" pitchFamily="34" charset="0"/>
                <a:ea typeface="Aptos" pitchFamily="34" charset="-122"/>
                <a:cs typeface="Aptos" pitchFamily="34" charset="-120"/>
              </a:rPr>
              <a:t>Garanties</a:t>
            </a:r>
            <a:endParaRPr lang="en-US" sz="1630" dirty="0"/>
          </a:p>
        </p:txBody>
      </p:sp>
      <p:sp>
        <p:nvSpPr>
          <p:cNvPr id="23" name="Text 21"/>
          <p:cNvSpPr/>
          <p:nvPr/>
        </p:nvSpPr>
        <p:spPr>
          <a:xfrm>
            <a:off x="9400032" y="2523744"/>
            <a:ext cx="2011680" cy="1783080"/>
          </a:xfrm>
          <a:prstGeom prst="rect">
            <a:avLst/>
          </a:prstGeom>
          <a:noFill/>
          <a:ln/>
        </p:spPr>
        <p:txBody>
          <a:bodyPr wrap="square" lIns="0" tIns="0" rIns="0" bIns="0" rtlCol="0" anchor="t">
            <a:normAutofit/>
          </a:bodyPr>
          <a:lstStyle/>
          <a:p>
            <a:pPr algn="l" indent="0" marL="0">
              <a:buNone/>
            </a:pPr>
            <a:r>
              <a:rPr lang="en-US" sz="1230" dirty="0">
                <a:solidFill>
                  <a:srgbClr val="6F7082"/>
                </a:solidFill>
                <a:latin typeface="Aptos" pitchFamily="34" charset="0"/>
                <a:ea typeface="Aptos" pitchFamily="34" charset="-122"/>
                <a:cs typeface="Aptos" pitchFamily="34" charset="-120"/>
              </a:rPr>
              <a:t>Exclusions, minimisation, droits, sécurité…</a:t>
            </a:r>
            <a:endParaRPr lang="en-US" sz="1230" dirty="0"/>
          </a:p>
        </p:txBody>
      </p:sp>
      <p:sp>
        <p:nvSpPr>
          <p:cNvPr id="24" name="Text 22"/>
          <p:cNvSpPr/>
          <p:nvPr/>
        </p:nvSpPr>
        <p:spPr>
          <a:xfrm>
            <a:off x="1143000" y="4892040"/>
            <a:ext cx="9966960" cy="384048"/>
          </a:xfrm>
          <a:prstGeom prst="rect">
            <a:avLst/>
          </a:prstGeom>
          <a:noFill/>
          <a:ln/>
        </p:spPr>
        <p:txBody>
          <a:bodyPr wrap="square" lIns="0" tIns="0" rIns="0" bIns="0" rtlCol="0" anchor="ctr">
            <a:normAutofit/>
          </a:bodyPr>
          <a:lstStyle/>
          <a:p>
            <a:pPr algn="ctr" indent="0" marL="0">
              <a:buNone/>
            </a:pPr>
            <a:r>
              <a:rPr lang="en-US" sz="1500" b="1" dirty="0">
                <a:solidFill>
                  <a:srgbClr val="6F7082"/>
                </a:solidFill>
                <a:latin typeface="Aptos" pitchFamily="34" charset="0"/>
                <a:ea typeface="Aptos" pitchFamily="34" charset="-122"/>
                <a:cs typeface="Aptos" pitchFamily="34" charset="-120"/>
              </a:rPr>
              <a:t>La CNIL publie une fiche spécifique sur l’intérêt légitime appliqué au moissonnage de données.</a:t>
            </a:r>
            <a:endParaRPr lang="en-US" sz="1500" dirty="0"/>
          </a:p>
        </p:txBody>
      </p:sp>
      <p:sp>
        <p:nvSpPr>
          <p:cNvPr id="25" name="Text 23"/>
          <p:cNvSpPr/>
          <p:nvPr/>
        </p:nvSpPr>
        <p:spPr>
          <a:xfrm>
            <a:off x="1828800" y="5486400"/>
            <a:ext cx="8503920" cy="320040"/>
          </a:xfrm>
          <a:prstGeom prst="rect">
            <a:avLst/>
          </a:prstGeom>
          <a:noFill/>
          <a:ln/>
        </p:spPr>
        <p:txBody>
          <a:bodyPr wrap="square" lIns="0" tIns="0" rIns="0" bIns="0" rtlCol="0" anchor="ctr">
            <a:normAutofit/>
          </a:bodyPr>
          <a:lstStyle/>
          <a:p>
            <a:pPr algn="ctr" indent="0" marL="0">
              <a:buNone/>
            </a:pPr>
            <a:r>
              <a:rPr lang="en-US" sz="1650" b="1" dirty="0">
                <a:solidFill>
                  <a:srgbClr val="241337"/>
                </a:solidFill>
                <a:latin typeface="Aptos" pitchFamily="34" charset="0"/>
                <a:ea typeface="Aptos" pitchFamily="34" charset="-122"/>
                <a:cs typeface="Aptos" pitchFamily="34" charset="-120"/>
              </a:rPr>
              <a:t>À retenir : documenter le raisonnement, pas seulement le résultat.</a:t>
            </a:r>
            <a:endParaRPr lang="en-US" sz="1650" dirty="0"/>
          </a:p>
        </p:txBody>
      </p:sp>
      <p:sp>
        <p:nvSpPr>
          <p:cNvPr id="25" name="Slide Number Placeholder 0"/>
          <p:cNvSpPr>
            <a:spLocks noGrp="1"/>
          </p:cNvSpPr>
          <p:nvPr>
            <p:ph type="sldNum" sz="quarter" idx="4294967295"/>
          </p:nvPr>
        </p:nvSpPr>
        <p:spPr>
          <a:xfrm>
            <a:off x="11750040" y="274320"/>
            <a:ext cx="228600" cy="164592"/>
          </a:xfrm>
          <a:prstGeom prst="rect">
            <a:avLst/>
          </a:prstGeom>
          <a:extLst>
            <a:ext uri="{C572A759-6A51-4108-AA02-DFA0A04FC94B}">
              <ma14:wrappingTextBoxFlag xmlns:ma14="http://schemas.microsoft.com/office/mac/drawingml/2011/main" val="0"/>
            </a:ext>
          </a:extLst>
        </p:spPr>
        <p:txBody>
          <a:bodyPr/>
          <a:lstStyle>
            <a:lvl1pPr>
              <a:defRPr sz="800">
                <a:solidFill>
                  <a:srgbClr val="858697"/>
                </a:solidFill>
                <a:latin typeface="Aptos"/>
                <a:ea typeface="Aptos"/>
                <a:cs typeface="Aptos"/>
              </a:defRPr>
            </a:lvl1pPr>
          </a:lstStyle>
          <a:p>
            <a:pPr algn="r"/>
            <a:fld id="{F7021451-1387-4CA6-816F-3879F97B5CBC}" type="slidenum">
              <a:rPr b="0"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566928" y="438912"/>
            <a:ext cx="5029200" cy="228600"/>
          </a:xfrm>
          <a:prstGeom prst="rect">
            <a:avLst/>
          </a:prstGeom>
          <a:noFill/>
          <a:ln/>
        </p:spPr>
        <p:txBody>
          <a:bodyPr wrap="square" lIns="0" tIns="0" rIns="0" bIns="0" rtlCol="0" anchor="ctr">
            <a:normAutofit/>
          </a:bodyPr>
          <a:lstStyle/>
          <a:p>
            <a:pPr algn="l" indent="0" marL="0">
              <a:buNone/>
            </a:pPr>
            <a:r>
              <a:rPr lang="en-US" sz="1050" b="1" spc="150" kern="0" dirty="0">
                <a:solidFill>
                  <a:srgbClr val="7432A8"/>
                </a:solidFill>
                <a:latin typeface="Aptos" pitchFamily="34" charset="0"/>
                <a:ea typeface="Aptos" pitchFamily="34" charset="-122"/>
                <a:cs typeface="Aptos" pitchFamily="34" charset="-120"/>
              </a:rPr>
              <a:t>AU-DELÀ DU RGPD</a:t>
            </a:r>
            <a:endParaRPr lang="en-US" sz="1050" dirty="0"/>
          </a:p>
        </p:txBody>
      </p:sp>
      <p:sp>
        <p:nvSpPr>
          <p:cNvPr id="3" name="Text 1"/>
          <p:cNvSpPr/>
          <p:nvPr/>
        </p:nvSpPr>
        <p:spPr>
          <a:xfrm>
            <a:off x="566928" y="768096"/>
            <a:ext cx="10972800" cy="566928"/>
          </a:xfrm>
          <a:prstGeom prst="rect">
            <a:avLst/>
          </a:prstGeom>
          <a:noFill/>
          <a:ln/>
        </p:spPr>
        <p:txBody>
          <a:bodyPr wrap="square" lIns="0" tIns="0" rIns="0" bIns="0" rtlCol="0" anchor="t">
            <a:normAutofit/>
          </a:bodyPr>
          <a:lstStyle/>
          <a:p>
            <a:pPr algn="l" indent="0" marL="0">
              <a:buNone/>
            </a:pPr>
            <a:r>
              <a:rPr lang="en-US" sz="2800" b="1" dirty="0">
                <a:solidFill>
                  <a:srgbClr val="241337"/>
                </a:solidFill>
                <a:latin typeface="Aptos" pitchFamily="34" charset="0"/>
                <a:ea typeface="Aptos" pitchFamily="34" charset="-122"/>
                <a:cs typeface="Aptos" pitchFamily="34" charset="-120"/>
              </a:rPr>
              <a:t>CGU, contenus et droit des bases de données</a:t>
            </a:r>
            <a:endParaRPr lang="en-US" sz="2800" dirty="0"/>
          </a:p>
        </p:txBody>
      </p:sp>
      <p:sp>
        <p:nvSpPr>
          <p:cNvPr id="4" name="Shape 2"/>
          <p:cNvSpPr/>
          <p:nvPr/>
        </p:nvSpPr>
        <p:spPr>
          <a:xfrm>
            <a:off x="685800" y="1737360"/>
            <a:ext cx="3383280" cy="3520440"/>
          </a:xfrm>
          <a:prstGeom prst="roundRect">
            <a:avLst>
              <a:gd name="adj" fmla="val 1622"/>
            </a:avLst>
          </a:prstGeom>
          <a:solidFill>
            <a:srgbClr val="FFFFFF"/>
          </a:solidFill>
          <a:ln w="12700">
            <a:solidFill>
              <a:srgbClr val="DDDCE6"/>
            </a:solidFill>
            <a:prstDash val="solid"/>
          </a:ln>
          <a:effectLst>
            <a:outerShdw sx="100000" sy="100000" kx="0" ky="0" algn="bl" rotWithShape="0" blurRad="19050" dist="50800" dir="2700000">
              <a:srgbClr val="D6D3DF">
                <a:alpha val="18000"/>
              </a:srgbClr>
            </a:outerShdw>
          </a:effectLst>
        </p:spPr>
      </p:sp>
      <p:sp>
        <p:nvSpPr>
          <p:cNvPr id="5" name="Shape 3"/>
          <p:cNvSpPr/>
          <p:nvPr/>
        </p:nvSpPr>
        <p:spPr>
          <a:xfrm>
            <a:off x="685800" y="1737360"/>
            <a:ext cx="73152" cy="3520440"/>
          </a:xfrm>
          <a:prstGeom prst="rect">
            <a:avLst/>
          </a:prstGeom>
          <a:solidFill>
            <a:srgbClr val="7432A8"/>
          </a:solidFill>
          <a:ln w="12700">
            <a:solidFill>
              <a:srgbClr val="7432A8"/>
            </a:solidFill>
            <a:prstDash val="solid"/>
          </a:ln>
        </p:spPr>
      </p:sp>
      <p:sp>
        <p:nvSpPr>
          <p:cNvPr id="6" name="Text 4"/>
          <p:cNvSpPr/>
          <p:nvPr/>
        </p:nvSpPr>
        <p:spPr>
          <a:xfrm>
            <a:off x="1005840" y="1956816"/>
            <a:ext cx="2880360" cy="347472"/>
          </a:xfrm>
          <a:prstGeom prst="rect">
            <a:avLst/>
          </a:prstGeom>
          <a:noFill/>
          <a:ln/>
        </p:spPr>
        <p:txBody>
          <a:bodyPr wrap="square" lIns="0" tIns="0" rIns="0" bIns="0" rtlCol="0" anchor="t">
            <a:normAutofit/>
          </a:bodyPr>
          <a:lstStyle/>
          <a:p>
            <a:pPr algn="l" indent="0" marL="0">
              <a:buNone/>
            </a:pPr>
            <a:r>
              <a:rPr lang="en-US" sz="1630" b="1" dirty="0">
                <a:solidFill>
                  <a:srgbClr val="241337"/>
                </a:solidFill>
                <a:latin typeface="Aptos" pitchFamily="34" charset="0"/>
                <a:ea typeface="Aptos" pitchFamily="34" charset="-122"/>
                <a:cs typeface="Aptos" pitchFamily="34" charset="-120"/>
              </a:rPr>
              <a:t>CGU / conditions d’accès</a:t>
            </a:r>
            <a:endParaRPr lang="en-US" sz="1630" dirty="0"/>
          </a:p>
        </p:txBody>
      </p:sp>
      <p:sp>
        <p:nvSpPr>
          <p:cNvPr id="7" name="Text 5"/>
          <p:cNvSpPr/>
          <p:nvPr/>
        </p:nvSpPr>
        <p:spPr>
          <a:xfrm>
            <a:off x="978408" y="2432304"/>
            <a:ext cx="2880360" cy="2651760"/>
          </a:xfrm>
          <a:prstGeom prst="rect">
            <a:avLst/>
          </a:prstGeom>
          <a:noFill/>
          <a:ln/>
        </p:spPr>
        <p:txBody>
          <a:bodyPr wrap="square" lIns="0" tIns="0" rIns="0" bIns="0" rtlCol="0" anchor="t">
            <a:normAutofit/>
          </a:bodyPr>
          <a:lstStyle/>
          <a:p>
            <a:pPr algn="l" indent="0" marL="0">
              <a:buNone/>
            </a:pPr>
            <a:r>
              <a:rPr lang="en-US" sz="1230" dirty="0">
                <a:solidFill>
                  <a:srgbClr val="6F7082"/>
                </a:solidFill>
                <a:latin typeface="Aptos" pitchFamily="34" charset="0"/>
                <a:ea typeface="Aptos" pitchFamily="34" charset="-122"/>
                <a:cs typeface="Aptos" pitchFamily="34" charset="-120"/>
              </a:rPr>
              <a:t>Vérifier les règles contractuelles du service, les restrictions d’automatisation et les modalités d’accès.</a:t>
            </a:r>
            <a:endParaRPr lang="en-US" sz="1230" dirty="0"/>
          </a:p>
        </p:txBody>
      </p:sp>
      <p:sp>
        <p:nvSpPr>
          <p:cNvPr id="8" name="Shape 6"/>
          <p:cNvSpPr/>
          <p:nvPr/>
        </p:nvSpPr>
        <p:spPr>
          <a:xfrm>
            <a:off x="4389120" y="1737360"/>
            <a:ext cx="3383280" cy="3520440"/>
          </a:xfrm>
          <a:prstGeom prst="roundRect">
            <a:avLst>
              <a:gd name="adj" fmla="val 1622"/>
            </a:avLst>
          </a:prstGeom>
          <a:solidFill>
            <a:srgbClr val="FFFFFF"/>
          </a:solidFill>
          <a:ln w="12700">
            <a:solidFill>
              <a:srgbClr val="DDDCE6"/>
            </a:solidFill>
            <a:prstDash val="solid"/>
          </a:ln>
          <a:effectLst>
            <a:outerShdw sx="100000" sy="100000" kx="0" ky="0" algn="bl" rotWithShape="0" blurRad="19050" dist="50800" dir="2700000">
              <a:srgbClr val="D6D3DF">
                <a:alpha val="18000"/>
              </a:srgbClr>
            </a:outerShdw>
          </a:effectLst>
        </p:spPr>
      </p:sp>
      <p:sp>
        <p:nvSpPr>
          <p:cNvPr id="9" name="Shape 7"/>
          <p:cNvSpPr/>
          <p:nvPr/>
        </p:nvSpPr>
        <p:spPr>
          <a:xfrm>
            <a:off x="4389120" y="1737360"/>
            <a:ext cx="73152" cy="3520440"/>
          </a:xfrm>
          <a:prstGeom prst="rect">
            <a:avLst/>
          </a:prstGeom>
          <a:solidFill>
            <a:srgbClr val="DB8129"/>
          </a:solidFill>
          <a:ln w="12700">
            <a:solidFill>
              <a:srgbClr val="DB8129"/>
            </a:solidFill>
            <a:prstDash val="solid"/>
          </a:ln>
        </p:spPr>
      </p:sp>
      <p:sp>
        <p:nvSpPr>
          <p:cNvPr id="10" name="Text 8"/>
          <p:cNvSpPr/>
          <p:nvPr/>
        </p:nvSpPr>
        <p:spPr>
          <a:xfrm>
            <a:off x="4709160" y="1956816"/>
            <a:ext cx="2880360" cy="347472"/>
          </a:xfrm>
          <a:prstGeom prst="rect">
            <a:avLst/>
          </a:prstGeom>
          <a:noFill/>
          <a:ln/>
        </p:spPr>
        <p:txBody>
          <a:bodyPr wrap="square" lIns="0" tIns="0" rIns="0" bIns="0" rtlCol="0" anchor="t">
            <a:normAutofit/>
          </a:bodyPr>
          <a:lstStyle/>
          <a:p>
            <a:pPr algn="l" indent="0" marL="0">
              <a:buNone/>
            </a:pPr>
            <a:r>
              <a:rPr lang="en-US" sz="1630" b="1" dirty="0">
                <a:solidFill>
                  <a:srgbClr val="241337"/>
                </a:solidFill>
                <a:latin typeface="Aptos" pitchFamily="34" charset="0"/>
                <a:ea typeface="Aptos" pitchFamily="34" charset="-122"/>
                <a:cs typeface="Aptos" pitchFamily="34" charset="-120"/>
              </a:rPr>
              <a:t>Contenus protégés</a:t>
            </a:r>
            <a:endParaRPr lang="en-US" sz="1630" dirty="0"/>
          </a:p>
        </p:txBody>
      </p:sp>
      <p:sp>
        <p:nvSpPr>
          <p:cNvPr id="11" name="Text 9"/>
          <p:cNvSpPr/>
          <p:nvPr/>
        </p:nvSpPr>
        <p:spPr>
          <a:xfrm>
            <a:off x="4681728" y="2432304"/>
            <a:ext cx="2880360" cy="2651760"/>
          </a:xfrm>
          <a:prstGeom prst="rect">
            <a:avLst/>
          </a:prstGeom>
          <a:noFill/>
          <a:ln/>
        </p:spPr>
        <p:txBody>
          <a:bodyPr wrap="square" lIns="0" tIns="0" rIns="0" bIns="0" rtlCol="0" anchor="t">
            <a:normAutofit/>
          </a:bodyPr>
          <a:lstStyle/>
          <a:p>
            <a:pPr algn="l" indent="0" marL="0">
              <a:buNone/>
            </a:pPr>
            <a:r>
              <a:rPr lang="en-US" sz="1230" dirty="0">
                <a:solidFill>
                  <a:srgbClr val="6F7082"/>
                </a:solidFill>
                <a:latin typeface="Aptos" pitchFamily="34" charset="0"/>
                <a:ea typeface="Aptos" pitchFamily="34" charset="-122"/>
                <a:cs typeface="Aptos" pitchFamily="34" charset="-120"/>
              </a:rPr>
              <a:t>Texte, photo, illustration ou autre contenu peut être protégé. Extraire une donnée factuelle n’équivaut pas à republier une œuvre.</a:t>
            </a:r>
            <a:endParaRPr lang="en-US" sz="1230" dirty="0"/>
          </a:p>
        </p:txBody>
      </p:sp>
      <p:sp>
        <p:nvSpPr>
          <p:cNvPr id="12" name="Shape 10"/>
          <p:cNvSpPr/>
          <p:nvPr/>
        </p:nvSpPr>
        <p:spPr>
          <a:xfrm>
            <a:off x="8092440" y="1737360"/>
            <a:ext cx="3383280" cy="3520440"/>
          </a:xfrm>
          <a:prstGeom prst="roundRect">
            <a:avLst>
              <a:gd name="adj" fmla="val 1622"/>
            </a:avLst>
          </a:prstGeom>
          <a:solidFill>
            <a:srgbClr val="FFFFFF"/>
          </a:solidFill>
          <a:ln w="12700">
            <a:solidFill>
              <a:srgbClr val="DDDCE6"/>
            </a:solidFill>
            <a:prstDash val="solid"/>
          </a:ln>
          <a:effectLst>
            <a:outerShdw sx="100000" sy="100000" kx="0" ky="0" algn="bl" rotWithShape="0" blurRad="19050" dist="50800" dir="2700000">
              <a:srgbClr val="D6D3DF">
                <a:alpha val="18000"/>
              </a:srgbClr>
            </a:outerShdw>
          </a:effectLst>
        </p:spPr>
      </p:sp>
      <p:sp>
        <p:nvSpPr>
          <p:cNvPr id="13" name="Shape 11"/>
          <p:cNvSpPr/>
          <p:nvPr/>
        </p:nvSpPr>
        <p:spPr>
          <a:xfrm>
            <a:off x="8092440" y="1737360"/>
            <a:ext cx="73152" cy="3520440"/>
          </a:xfrm>
          <a:prstGeom prst="rect">
            <a:avLst/>
          </a:prstGeom>
          <a:solidFill>
            <a:srgbClr val="4EA27B"/>
          </a:solidFill>
          <a:ln w="12700">
            <a:solidFill>
              <a:srgbClr val="4EA27B"/>
            </a:solidFill>
            <a:prstDash val="solid"/>
          </a:ln>
        </p:spPr>
      </p:sp>
      <p:sp>
        <p:nvSpPr>
          <p:cNvPr id="14" name="Text 12"/>
          <p:cNvSpPr/>
          <p:nvPr/>
        </p:nvSpPr>
        <p:spPr>
          <a:xfrm>
            <a:off x="8412480" y="1956816"/>
            <a:ext cx="2880360" cy="347472"/>
          </a:xfrm>
          <a:prstGeom prst="rect">
            <a:avLst/>
          </a:prstGeom>
          <a:noFill/>
          <a:ln/>
        </p:spPr>
        <p:txBody>
          <a:bodyPr wrap="square" lIns="0" tIns="0" rIns="0" bIns="0" rtlCol="0" anchor="t">
            <a:normAutofit/>
          </a:bodyPr>
          <a:lstStyle/>
          <a:p>
            <a:pPr algn="l" indent="0" marL="0">
              <a:buNone/>
            </a:pPr>
            <a:r>
              <a:rPr lang="en-US" sz="1630" b="1" dirty="0">
                <a:solidFill>
                  <a:srgbClr val="241337"/>
                </a:solidFill>
                <a:latin typeface="Aptos" pitchFamily="34" charset="0"/>
                <a:ea typeface="Aptos" pitchFamily="34" charset="-122"/>
                <a:cs typeface="Aptos" pitchFamily="34" charset="-120"/>
              </a:rPr>
              <a:t>Base de données</a:t>
            </a:r>
            <a:endParaRPr lang="en-US" sz="1630" dirty="0"/>
          </a:p>
        </p:txBody>
      </p:sp>
      <p:sp>
        <p:nvSpPr>
          <p:cNvPr id="15" name="Text 13"/>
          <p:cNvSpPr/>
          <p:nvPr/>
        </p:nvSpPr>
        <p:spPr>
          <a:xfrm>
            <a:off x="8385048" y="2432304"/>
            <a:ext cx="2880360" cy="2651760"/>
          </a:xfrm>
          <a:prstGeom prst="rect">
            <a:avLst/>
          </a:prstGeom>
          <a:noFill/>
          <a:ln/>
        </p:spPr>
        <p:txBody>
          <a:bodyPr wrap="square" lIns="0" tIns="0" rIns="0" bIns="0" rtlCol="0" anchor="t">
            <a:normAutofit/>
          </a:bodyPr>
          <a:lstStyle/>
          <a:p>
            <a:pPr algn="l" indent="0" marL="0">
              <a:buNone/>
            </a:pPr>
            <a:r>
              <a:rPr lang="en-US" sz="1230" dirty="0">
                <a:solidFill>
                  <a:srgbClr val="6F7082"/>
                </a:solidFill>
                <a:latin typeface="Aptos" pitchFamily="34" charset="0"/>
                <a:ea typeface="Aptos" pitchFamily="34" charset="-122"/>
                <a:cs typeface="Aptos" pitchFamily="34" charset="-120"/>
              </a:rPr>
              <a:t>Le droit européen prévoit aussi une protection des bases de données contre certaines extractions/réutilisations du contenu.</a:t>
            </a:r>
            <a:endParaRPr lang="en-US" sz="1230" dirty="0"/>
          </a:p>
        </p:txBody>
      </p:sp>
      <p:sp>
        <p:nvSpPr>
          <p:cNvPr id="16" name="Text 14"/>
          <p:cNvSpPr/>
          <p:nvPr/>
        </p:nvSpPr>
        <p:spPr>
          <a:xfrm>
            <a:off x="1143000" y="5468112"/>
            <a:ext cx="9966960" cy="320040"/>
          </a:xfrm>
          <a:prstGeom prst="rect">
            <a:avLst/>
          </a:prstGeom>
          <a:noFill/>
          <a:ln/>
        </p:spPr>
        <p:txBody>
          <a:bodyPr wrap="square" lIns="0" tIns="0" rIns="0" bIns="0" rtlCol="0" anchor="ctr">
            <a:normAutofit/>
          </a:bodyPr>
          <a:lstStyle/>
          <a:p>
            <a:pPr algn="ctr" indent="0" marL="0">
              <a:buNone/>
            </a:pPr>
            <a:r>
              <a:rPr lang="en-US" sz="1550" b="1" dirty="0">
                <a:solidFill>
                  <a:srgbClr val="241337"/>
                </a:solidFill>
                <a:latin typeface="Aptos" pitchFamily="34" charset="0"/>
                <a:ea typeface="Aptos" pitchFamily="34" charset="-122"/>
                <a:cs typeface="Aptos" pitchFamily="34" charset="-120"/>
              </a:rPr>
              <a:t>Conclusion pédagogique : faire une analyse multi-couches, pas uniquement “RGPD ou pas RGPD”.</a:t>
            </a:r>
            <a:endParaRPr lang="en-US" sz="1550" dirty="0"/>
          </a:p>
        </p:txBody>
      </p:sp>
      <p:sp>
        <p:nvSpPr>
          <p:cNvPr id="25" name="Slide Number Placeholder 0"/>
          <p:cNvSpPr>
            <a:spLocks noGrp="1"/>
          </p:cNvSpPr>
          <p:nvPr>
            <p:ph type="sldNum" sz="quarter" idx="4294967295"/>
          </p:nvPr>
        </p:nvSpPr>
        <p:spPr>
          <a:xfrm>
            <a:off x="11750040" y="274320"/>
            <a:ext cx="228600" cy="164592"/>
          </a:xfrm>
          <a:prstGeom prst="rect">
            <a:avLst/>
          </a:prstGeom>
          <a:extLst>
            <a:ext uri="{C572A759-6A51-4108-AA02-DFA0A04FC94B}">
              <ma14:wrappingTextBoxFlag xmlns:ma14="http://schemas.microsoft.com/office/mac/drawingml/2011/main" val="0"/>
            </a:ext>
          </a:extLst>
        </p:spPr>
        <p:txBody>
          <a:bodyPr/>
          <a:lstStyle>
            <a:lvl1pPr>
              <a:defRPr sz="800">
                <a:solidFill>
                  <a:srgbClr val="858697"/>
                </a:solidFill>
                <a:latin typeface="Aptos"/>
                <a:ea typeface="Aptos"/>
                <a:cs typeface="Aptos"/>
              </a:defRPr>
            </a:lvl1pPr>
          </a:lstStyle>
          <a:p>
            <a:pPr algn="r"/>
            <a:fld id="{F7021451-1387-4CA6-816F-3879F97B5CBC}" type="slidenum">
              <a:rPr b="0"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566928" y="438912"/>
            <a:ext cx="5029200" cy="228600"/>
          </a:xfrm>
          <a:prstGeom prst="rect">
            <a:avLst/>
          </a:prstGeom>
          <a:noFill/>
          <a:ln/>
        </p:spPr>
        <p:txBody>
          <a:bodyPr wrap="square" lIns="0" tIns="0" rIns="0" bIns="0" rtlCol="0" anchor="ctr">
            <a:normAutofit/>
          </a:bodyPr>
          <a:lstStyle/>
          <a:p>
            <a:pPr algn="l" indent="0" marL="0">
              <a:buNone/>
            </a:pPr>
            <a:r>
              <a:rPr lang="en-US" sz="1050" b="1" spc="150" kern="0" dirty="0">
                <a:solidFill>
                  <a:srgbClr val="7432A8"/>
                </a:solidFill>
                <a:latin typeface="Aptos" pitchFamily="34" charset="0"/>
                <a:ea typeface="Aptos" pitchFamily="34" charset="-122"/>
                <a:cs typeface="Aptos" pitchFamily="34" charset="-120"/>
              </a:rPr>
              <a:t>OPEN DATA</a:t>
            </a:r>
            <a:endParaRPr lang="en-US" sz="1050" dirty="0"/>
          </a:p>
        </p:txBody>
      </p:sp>
      <p:sp>
        <p:nvSpPr>
          <p:cNvPr id="3" name="Text 1"/>
          <p:cNvSpPr/>
          <p:nvPr/>
        </p:nvSpPr>
        <p:spPr>
          <a:xfrm>
            <a:off x="566928" y="768096"/>
            <a:ext cx="10972800" cy="566928"/>
          </a:xfrm>
          <a:prstGeom prst="rect">
            <a:avLst/>
          </a:prstGeom>
          <a:noFill/>
          <a:ln/>
        </p:spPr>
        <p:txBody>
          <a:bodyPr wrap="square" lIns="0" tIns="0" rIns="0" bIns="0" rtlCol="0" anchor="t">
            <a:normAutofit/>
          </a:bodyPr>
          <a:lstStyle/>
          <a:p>
            <a:pPr algn="l" indent="0" marL="0">
              <a:buNone/>
            </a:pPr>
            <a:r>
              <a:rPr lang="en-US" sz="2800" b="1" dirty="0">
                <a:solidFill>
                  <a:srgbClr val="241337"/>
                </a:solidFill>
                <a:latin typeface="Aptos" pitchFamily="34" charset="0"/>
                <a:ea typeface="Aptos" pitchFamily="34" charset="-122"/>
                <a:cs typeface="Aptos" pitchFamily="34" charset="-120"/>
              </a:rPr>
              <a:t>Ouvert ne veut pas dire “sans licence ni obligations”</a:t>
            </a:r>
            <a:endParaRPr lang="en-US" sz="2800" dirty="0"/>
          </a:p>
        </p:txBody>
      </p:sp>
      <p:sp>
        <p:nvSpPr>
          <p:cNvPr id="4" name="Shape 2"/>
          <p:cNvSpPr/>
          <p:nvPr/>
        </p:nvSpPr>
        <p:spPr>
          <a:xfrm>
            <a:off x="685800" y="1783080"/>
            <a:ext cx="3429000" cy="3337560"/>
          </a:xfrm>
          <a:prstGeom prst="roundRect">
            <a:avLst>
              <a:gd name="adj" fmla="val 1644"/>
            </a:avLst>
          </a:prstGeom>
          <a:solidFill>
            <a:srgbClr val="FFFFFF"/>
          </a:solidFill>
          <a:ln w="12700">
            <a:solidFill>
              <a:srgbClr val="DDDCE6"/>
            </a:solidFill>
            <a:prstDash val="solid"/>
          </a:ln>
          <a:effectLst>
            <a:outerShdw sx="100000" sy="100000" kx="0" ky="0" algn="bl" rotWithShape="0" blurRad="19050" dist="50800" dir="2700000">
              <a:srgbClr val="D6D3DF">
                <a:alpha val="18000"/>
              </a:srgbClr>
            </a:outerShdw>
          </a:effectLst>
        </p:spPr>
      </p:sp>
      <p:sp>
        <p:nvSpPr>
          <p:cNvPr id="5" name="Shape 3"/>
          <p:cNvSpPr/>
          <p:nvPr/>
        </p:nvSpPr>
        <p:spPr>
          <a:xfrm>
            <a:off x="685800" y="1783080"/>
            <a:ext cx="73152" cy="3337560"/>
          </a:xfrm>
          <a:prstGeom prst="rect">
            <a:avLst/>
          </a:prstGeom>
          <a:solidFill>
            <a:srgbClr val="4EA27B"/>
          </a:solidFill>
          <a:ln w="12700">
            <a:solidFill>
              <a:srgbClr val="4EA27B"/>
            </a:solidFill>
            <a:prstDash val="solid"/>
          </a:ln>
        </p:spPr>
      </p:sp>
      <p:sp>
        <p:nvSpPr>
          <p:cNvPr id="6" name="Text 4"/>
          <p:cNvSpPr/>
          <p:nvPr/>
        </p:nvSpPr>
        <p:spPr>
          <a:xfrm>
            <a:off x="1005840" y="2002536"/>
            <a:ext cx="2926080" cy="347472"/>
          </a:xfrm>
          <a:prstGeom prst="rect">
            <a:avLst/>
          </a:prstGeom>
          <a:noFill/>
          <a:ln/>
        </p:spPr>
        <p:txBody>
          <a:bodyPr wrap="square" lIns="0" tIns="0" rIns="0" bIns="0" rtlCol="0" anchor="t">
            <a:normAutofit/>
          </a:bodyPr>
          <a:lstStyle/>
          <a:p>
            <a:pPr algn="l" indent="0" marL="0">
              <a:buNone/>
            </a:pPr>
            <a:r>
              <a:rPr lang="en-US" sz="1630" b="1" dirty="0">
                <a:solidFill>
                  <a:srgbClr val="241337"/>
                </a:solidFill>
                <a:latin typeface="Aptos" pitchFamily="34" charset="0"/>
                <a:ea typeface="Aptos" pitchFamily="34" charset="-122"/>
                <a:cs typeface="Aptos" pitchFamily="34" charset="-120"/>
              </a:rPr>
              <a:t>1 — Lire la licence</a:t>
            </a:r>
            <a:endParaRPr lang="en-US" sz="1630" dirty="0"/>
          </a:p>
        </p:txBody>
      </p:sp>
      <p:sp>
        <p:nvSpPr>
          <p:cNvPr id="7" name="Text 5"/>
          <p:cNvSpPr/>
          <p:nvPr/>
        </p:nvSpPr>
        <p:spPr>
          <a:xfrm>
            <a:off x="978408" y="2478024"/>
            <a:ext cx="2926080" cy="2468880"/>
          </a:xfrm>
          <a:prstGeom prst="rect">
            <a:avLst/>
          </a:prstGeom>
          <a:noFill/>
          <a:ln/>
        </p:spPr>
        <p:txBody>
          <a:bodyPr wrap="square" lIns="0" tIns="0" rIns="0" bIns="0" rtlCol="0" anchor="t">
            <a:normAutofit/>
          </a:bodyPr>
          <a:lstStyle/>
          <a:p>
            <a:pPr algn="l" indent="0" marL="0">
              <a:buNone/>
            </a:pPr>
            <a:r>
              <a:rPr lang="en-US" sz="1230" dirty="0">
                <a:solidFill>
                  <a:srgbClr val="6F7082"/>
                </a:solidFill>
                <a:latin typeface="Aptos" pitchFamily="34" charset="0"/>
                <a:ea typeface="Aptos" pitchFamily="34" charset="-122"/>
                <a:cs typeface="Aptos" pitchFamily="34" charset="-120"/>
              </a:rPr>
              <a:t>Elle précise les droits de réutilisation et les obligations : attribution, partage à l’identique, etc.</a:t>
            </a:r>
            <a:endParaRPr lang="en-US" sz="1230" dirty="0"/>
          </a:p>
        </p:txBody>
      </p:sp>
      <p:sp>
        <p:nvSpPr>
          <p:cNvPr id="8" name="Shape 6"/>
          <p:cNvSpPr/>
          <p:nvPr/>
        </p:nvSpPr>
        <p:spPr>
          <a:xfrm>
            <a:off x="4370832" y="1783080"/>
            <a:ext cx="3429000" cy="3337560"/>
          </a:xfrm>
          <a:prstGeom prst="roundRect">
            <a:avLst>
              <a:gd name="adj" fmla="val 1644"/>
            </a:avLst>
          </a:prstGeom>
          <a:solidFill>
            <a:srgbClr val="FFFFFF"/>
          </a:solidFill>
          <a:ln w="12700">
            <a:solidFill>
              <a:srgbClr val="DDDCE6"/>
            </a:solidFill>
            <a:prstDash val="solid"/>
          </a:ln>
          <a:effectLst>
            <a:outerShdw sx="100000" sy="100000" kx="0" ky="0" algn="bl" rotWithShape="0" blurRad="19050" dist="50800" dir="2700000">
              <a:srgbClr val="D6D3DF">
                <a:alpha val="18000"/>
              </a:srgbClr>
            </a:outerShdw>
          </a:effectLst>
        </p:spPr>
      </p:sp>
      <p:sp>
        <p:nvSpPr>
          <p:cNvPr id="9" name="Shape 7"/>
          <p:cNvSpPr/>
          <p:nvPr/>
        </p:nvSpPr>
        <p:spPr>
          <a:xfrm>
            <a:off x="4370832" y="1783080"/>
            <a:ext cx="73152" cy="3337560"/>
          </a:xfrm>
          <a:prstGeom prst="rect">
            <a:avLst/>
          </a:prstGeom>
          <a:solidFill>
            <a:srgbClr val="4F7FC4"/>
          </a:solidFill>
          <a:ln w="12700">
            <a:solidFill>
              <a:srgbClr val="4F7FC4"/>
            </a:solidFill>
            <a:prstDash val="solid"/>
          </a:ln>
        </p:spPr>
      </p:sp>
      <p:sp>
        <p:nvSpPr>
          <p:cNvPr id="10" name="Text 8"/>
          <p:cNvSpPr/>
          <p:nvPr/>
        </p:nvSpPr>
        <p:spPr>
          <a:xfrm>
            <a:off x="4690872" y="2002536"/>
            <a:ext cx="2926080" cy="347472"/>
          </a:xfrm>
          <a:prstGeom prst="rect">
            <a:avLst/>
          </a:prstGeom>
          <a:noFill/>
          <a:ln/>
        </p:spPr>
        <p:txBody>
          <a:bodyPr wrap="square" lIns="0" tIns="0" rIns="0" bIns="0" rtlCol="0" anchor="t">
            <a:normAutofit/>
          </a:bodyPr>
          <a:lstStyle/>
          <a:p>
            <a:pPr algn="l" indent="0" marL="0">
              <a:buNone/>
            </a:pPr>
            <a:r>
              <a:rPr lang="en-US" sz="1630" b="1" dirty="0">
                <a:solidFill>
                  <a:srgbClr val="241337"/>
                </a:solidFill>
                <a:latin typeface="Aptos" pitchFamily="34" charset="0"/>
                <a:ea typeface="Aptos" pitchFamily="34" charset="-122"/>
                <a:cs typeface="Aptos" pitchFamily="34" charset="-120"/>
              </a:rPr>
              <a:t>2 — Regarder le contenu</a:t>
            </a:r>
            <a:endParaRPr lang="en-US" sz="1630" dirty="0"/>
          </a:p>
        </p:txBody>
      </p:sp>
      <p:sp>
        <p:nvSpPr>
          <p:cNvPr id="11" name="Text 9"/>
          <p:cNvSpPr/>
          <p:nvPr/>
        </p:nvSpPr>
        <p:spPr>
          <a:xfrm>
            <a:off x="4663440" y="2478024"/>
            <a:ext cx="2926080" cy="2468880"/>
          </a:xfrm>
          <a:prstGeom prst="rect">
            <a:avLst/>
          </a:prstGeom>
          <a:noFill/>
          <a:ln/>
        </p:spPr>
        <p:txBody>
          <a:bodyPr wrap="square" lIns="0" tIns="0" rIns="0" bIns="0" rtlCol="0" anchor="t">
            <a:normAutofit/>
          </a:bodyPr>
          <a:lstStyle/>
          <a:p>
            <a:pPr algn="l" indent="0" marL="0">
              <a:buNone/>
            </a:pPr>
            <a:r>
              <a:rPr lang="en-US" sz="1230" dirty="0">
                <a:solidFill>
                  <a:srgbClr val="6F7082"/>
                </a:solidFill>
                <a:latin typeface="Aptos" pitchFamily="34" charset="0"/>
                <a:ea typeface="Aptos" pitchFamily="34" charset="-122"/>
                <a:cs typeface="Aptos" pitchFamily="34" charset="-120"/>
              </a:rPr>
              <a:t>Un jeu ouvert peut contenir des données personnelles : le RGPD peut encore s’appliquer à la réutilisation.</a:t>
            </a:r>
            <a:endParaRPr lang="en-US" sz="1230" dirty="0"/>
          </a:p>
        </p:txBody>
      </p:sp>
      <p:sp>
        <p:nvSpPr>
          <p:cNvPr id="12" name="Shape 10"/>
          <p:cNvSpPr/>
          <p:nvPr/>
        </p:nvSpPr>
        <p:spPr>
          <a:xfrm>
            <a:off x="8046720" y="1783080"/>
            <a:ext cx="3429000" cy="3337560"/>
          </a:xfrm>
          <a:prstGeom prst="roundRect">
            <a:avLst>
              <a:gd name="adj" fmla="val 1644"/>
            </a:avLst>
          </a:prstGeom>
          <a:solidFill>
            <a:srgbClr val="FFFFFF"/>
          </a:solidFill>
          <a:ln w="12700">
            <a:solidFill>
              <a:srgbClr val="DDDCE6"/>
            </a:solidFill>
            <a:prstDash val="solid"/>
          </a:ln>
          <a:effectLst>
            <a:outerShdw sx="100000" sy="100000" kx="0" ky="0" algn="bl" rotWithShape="0" blurRad="19050" dist="50800" dir="2700000">
              <a:srgbClr val="D6D3DF">
                <a:alpha val="18000"/>
              </a:srgbClr>
            </a:outerShdw>
          </a:effectLst>
        </p:spPr>
      </p:sp>
      <p:sp>
        <p:nvSpPr>
          <p:cNvPr id="13" name="Shape 11"/>
          <p:cNvSpPr/>
          <p:nvPr/>
        </p:nvSpPr>
        <p:spPr>
          <a:xfrm>
            <a:off x="8046720" y="1783080"/>
            <a:ext cx="73152" cy="3337560"/>
          </a:xfrm>
          <a:prstGeom prst="rect">
            <a:avLst/>
          </a:prstGeom>
          <a:solidFill>
            <a:srgbClr val="7432A8"/>
          </a:solidFill>
          <a:ln w="12700">
            <a:solidFill>
              <a:srgbClr val="7432A8"/>
            </a:solidFill>
            <a:prstDash val="solid"/>
          </a:ln>
        </p:spPr>
      </p:sp>
      <p:sp>
        <p:nvSpPr>
          <p:cNvPr id="14" name="Text 12"/>
          <p:cNvSpPr/>
          <p:nvPr/>
        </p:nvSpPr>
        <p:spPr>
          <a:xfrm>
            <a:off x="8366760" y="2002536"/>
            <a:ext cx="2926080" cy="347472"/>
          </a:xfrm>
          <a:prstGeom prst="rect">
            <a:avLst/>
          </a:prstGeom>
          <a:noFill/>
          <a:ln/>
        </p:spPr>
        <p:txBody>
          <a:bodyPr wrap="square" lIns="0" tIns="0" rIns="0" bIns="0" rtlCol="0" anchor="t">
            <a:normAutofit/>
          </a:bodyPr>
          <a:lstStyle/>
          <a:p>
            <a:pPr algn="l" indent="0" marL="0">
              <a:buNone/>
            </a:pPr>
            <a:r>
              <a:rPr lang="en-US" sz="1630" b="1" dirty="0">
                <a:solidFill>
                  <a:srgbClr val="241337"/>
                </a:solidFill>
                <a:latin typeface="Aptos" pitchFamily="34" charset="0"/>
                <a:ea typeface="Aptos" pitchFamily="34" charset="-122"/>
                <a:cs typeface="Aptos" pitchFamily="34" charset="-120"/>
              </a:rPr>
              <a:t>3 — Préférer l’accès prévu</a:t>
            </a:r>
            <a:endParaRPr lang="en-US" sz="1630" dirty="0"/>
          </a:p>
        </p:txBody>
      </p:sp>
      <p:sp>
        <p:nvSpPr>
          <p:cNvPr id="15" name="Text 13"/>
          <p:cNvSpPr/>
          <p:nvPr/>
        </p:nvSpPr>
        <p:spPr>
          <a:xfrm>
            <a:off x="8339328" y="2478024"/>
            <a:ext cx="2926080" cy="2468880"/>
          </a:xfrm>
          <a:prstGeom prst="rect">
            <a:avLst/>
          </a:prstGeom>
          <a:noFill/>
          <a:ln/>
        </p:spPr>
        <p:txBody>
          <a:bodyPr wrap="square" lIns="0" tIns="0" rIns="0" bIns="0" rtlCol="0" anchor="t">
            <a:normAutofit/>
          </a:bodyPr>
          <a:lstStyle/>
          <a:p>
            <a:pPr algn="l" indent="0" marL="0">
              <a:buNone/>
            </a:pPr>
            <a:r>
              <a:rPr lang="en-US" sz="1230" dirty="0">
                <a:solidFill>
                  <a:srgbClr val="6F7082"/>
                </a:solidFill>
                <a:latin typeface="Aptos" pitchFamily="34" charset="0"/>
                <a:ea typeface="Aptos" pitchFamily="34" charset="-122"/>
                <a:cs typeface="Aptos" pitchFamily="34" charset="-120"/>
              </a:rPr>
              <a:t>API, export ou jeu open data sont souvent plus stables et plus explicites qu’un scraping HTML.</a:t>
            </a:r>
            <a:endParaRPr lang="en-US" sz="1230" dirty="0"/>
          </a:p>
        </p:txBody>
      </p:sp>
      <p:sp>
        <p:nvSpPr>
          <p:cNvPr id="16" name="Text 14"/>
          <p:cNvSpPr/>
          <p:nvPr/>
        </p:nvSpPr>
        <p:spPr>
          <a:xfrm>
            <a:off x="1234440" y="5440680"/>
            <a:ext cx="9692640" cy="320040"/>
          </a:xfrm>
          <a:prstGeom prst="rect">
            <a:avLst/>
          </a:prstGeom>
          <a:noFill/>
          <a:ln/>
        </p:spPr>
        <p:txBody>
          <a:bodyPr wrap="square" lIns="0" tIns="0" rIns="0" bIns="0" rtlCol="0" anchor="ctr">
            <a:normAutofit/>
          </a:bodyPr>
          <a:lstStyle/>
          <a:p>
            <a:pPr algn="ctr" indent="0" marL="0">
              <a:buNone/>
            </a:pPr>
            <a:r>
              <a:rPr lang="en-US" sz="1600" b="1" dirty="0">
                <a:solidFill>
                  <a:srgbClr val="241337"/>
                </a:solidFill>
                <a:latin typeface="Aptos" pitchFamily="34" charset="0"/>
                <a:ea typeface="Aptos" pitchFamily="34" charset="-122"/>
                <a:cs typeface="Aptos" pitchFamily="34" charset="-120"/>
              </a:rPr>
              <a:t>Avant de scraper : chercher d’abord API officielle, export, flux ou dataset ouvert.</a:t>
            </a:r>
            <a:endParaRPr lang="en-US" sz="1600" dirty="0"/>
          </a:p>
        </p:txBody>
      </p:sp>
      <p:sp>
        <p:nvSpPr>
          <p:cNvPr id="25" name="Slide Number Placeholder 0"/>
          <p:cNvSpPr>
            <a:spLocks noGrp="1"/>
          </p:cNvSpPr>
          <p:nvPr>
            <p:ph type="sldNum" sz="quarter" idx="4294967295"/>
          </p:nvPr>
        </p:nvSpPr>
        <p:spPr>
          <a:xfrm>
            <a:off x="11750040" y="274320"/>
            <a:ext cx="228600" cy="164592"/>
          </a:xfrm>
          <a:prstGeom prst="rect">
            <a:avLst/>
          </a:prstGeom>
          <a:extLst>
            <a:ext uri="{C572A759-6A51-4108-AA02-DFA0A04FC94B}">
              <ma14:wrappingTextBoxFlag xmlns:ma14="http://schemas.microsoft.com/office/mac/drawingml/2011/main" val="0"/>
            </a:ext>
          </a:extLst>
        </p:spPr>
        <p:txBody>
          <a:bodyPr/>
          <a:lstStyle>
            <a:lvl1pPr>
              <a:defRPr sz="800">
                <a:solidFill>
                  <a:srgbClr val="858697"/>
                </a:solidFill>
                <a:latin typeface="Aptos"/>
                <a:ea typeface="Aptos"/>
                <a:cs typeface="Aptos"/>
              </a:defRPr>
            </a:lvl1pPr>
          </a:lstStyle>
          <a:p>
            <a:pPr algn="r"/>
            <a:fld id="{F7021451-1387-4CA6-816F-3879F97B5CBC}" type="slidenum">
              <a:rPr b="0"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566928" y="438912"/>
            <a:ext cx="5029200" cy="228600"/>
          </a:xfrm>
          <a:prstGeom prst="rect">
            <a:avLst/>
          </a:prstGeom>
          <a:noFill/>
          <a:ln/>
        </p:spPr>
        <p:txBody>
          <a:bodyPr wrap="square" lIns="0" tIns="0" rIns="0" bIns="0" rtlCol="0" anchor="ctr">
            <a:normAutofit/>
          </a:bodyPr>
          <a:lstStyle/>
          <a:p>
            <a:pPr algn="l" indent="0" marL="0">
              <a:buNone/>
            </a:pPr>
            <a:r>
              <a:rPr lang="en-US" sz="1050" b="1" spc="150" kern="0" dirty="0">
                <a:solidFill>
                  <a:srgbClr val="7432A8"/>
                </a:solidFill>
                <a:latin typeface="Aptos" pitchFamily="34" charset="0"/>
                <a:ea typeface="Aptos" pitchFamily="34" charset="-122"/>
                <a:cs typeface="Aptos" pitchFamily="34" charset="-120"/>
              </a:rPr>
              <a:t>GRILLE DE DÉCISION</a:t>
            </a:r>
            <a:endParaRPr lang="en-US" sz="1050" dirty="0"/>
          </a:p>
        </p:txBody>
      </p:sp>
      <p:sp>
        <p:nvSpPr>
          <p:cNvPr id="3" name="Text 1"/>
          <p:cNvSpPr/>
          <p:nvPr/>
        </p:nvSpPr>
        <p:spPr>
          <a:xfrm>
            <a:off x="566928" y="768096"/>
            <a:ext cx="10972800" cy="566928"/>
          </a:xfrm>
          <a:prstGeom prst="rect">
            <a:avLst/>
          </a:prstGeom>
          <a:noFill/>
          <a:ln/>
        </p:spPr>
        <p:txBody>
          <a:bodyPr wrap="square" lIns="0" tIns="0" rIns="0" bIns="0" rtlCol="0" anchor="t">
            <a:normAutofit/>
          </a:bodyPr>
          <a:lstStyle/>
          <a:p>
            <a:pPr algn="l" indent="0" marL="0">
              <a:buNone/>
            </a:pPr>
            <a:r>
              <a:rPr lang="en-US" sz="2800" b="1" dirty="0">
                <a:solidFill>
                  <a:srgbClr val="241337"/>
                </a:solidFill>
                <a:latin typeface="Aptos" pitchFamily="34" charset="0"/>
                <a:ea typeface="Aptos" pitchFamily="34" charset="-122"/>
                <a:cs typeface="Aptos" pitchFamily="34" charset="-120"/>
              </a:rPr>
              <a:t>Les 7 questions avant de lancer un crawler</a:t>
            </a:r>
            <a:endParaRPr lang="en-US" sz="2800" dirty="0"/>
          </a:p>
        </p:txBody>
      </p:sp>
      <p:sp>
        <p:nvSpPr>
          <p:cNvPr id="4" name="Shape 2"/>
          <p:cNvSpPr/>
          <p:nvPr/>
        </p:nvSpPr>
        <p:spPr>
          <a:xfrm>
            <a:off x="1325880" y="1554480"/>
            <a:ext cx="9509760" cy="475488"/>
          </a:xfrm>
          <a:prstGeom prst="roundRect">
            <a:avLst>
              <a:gd name="adj" fmla="val 7692"/>
            </a:avLst>
          </a:prstGeom>
          <a:solidFill>
            <a:srgbClr val="FFFFFF"/>
          </a:solidFill>
          <a:ln w="12700">
            <a:solidFill>
              <a:srgbClr val="DDDCE6"/>
            </a:solidFill>
            <a:prstDash val="solid"/>
          </a:ln>
        </p:spPr>
      </p:sp>
      <p:sp>
        <p:nvSpPr>
          <p:cNvPr id="5" name="Text 3"/>
          <p:cNvSpPr/>
          <p:nvPr/>
        </p:nvSpPr>
        <p:spPr>
          <a:xfrm>
            <a:off x="1536192" y="1664208"/>
            <a:ext cx="320040" cy="182880"/>
          </a:xfrm>
          <a:prstGeom prst="rect">
            <a:avLst/>
          </a:prstGeom>
          <a:noFill/>
          <a:ln/>
        </p:spPr>
        <p:txBody>
          <a:bodyPr wrap="square" lIns="0" tIns="0" rIns="0" bIns="0" rtlCol="0" anchor="ctr">
            <a:normAutofit/>
          </a:bodyPr>
          <a:lstStyle/>
          <a:p>
            <a:pPr algn="ctr" indent="0" marL="0">
              <a:buNone/>
            </a:pPr>
            <a:r>
              <a:rPr lang="en-US" sz="1250" b="1" dirty="0">
                <a:solidFill>
                  <a:srgbClr val="7432A8"/>
                </a:solidFill>
                <a:latin typeface="Aptos" pitchFamily="34" charset="0"/>
                <a:ea typeface="Aptos" pitchFamily="34" charset="-122"/>
                <a:cs typeface="Aptos" pitchFamily="34" charset="-120"/>
              </a:rPr>
              <a:t>1</a:t>
            </a:r>
            <a:endParaRPr lang="en-US" sz="1250" dirty="0"/>
          </a:p>
        </p:txBody>
      </p:sp>
      <p:sp>
        <p:nvSpPr>
          <p:cNvPr id="6" name="Text 4"/>
          <p:cNvSpPr/>
          <p:nvPr/>
        </p:nvSpPr>
        <p:spPr>
          <a:xfrm>
            <a:off x="2011680" y="1645920"/>
            <a:ext cx="8366760" cy="210312"/>
          </a:xfrm>
          <a:prstGeom prst="rect">
            <a:avLst/>
          </a:prstGeom>
          <a:noFill/>
          <a:ln/>
        </p:spPr>
        <p:txBody>
          <a:bodyPr wrap="square" lIns="0" tIns="0" rIns="0" bIns="0" rtlCol="0" anchor="ctr">
            <a:normAutofit/>
          </a:bodyPr>
          <a:lstStyle/>
          <a:p>
            <a:pPr algn="l" indent="0" marL="0">
              <a:buNone/>
            </a:pPr>
            <a:r>
              <a:rPr lang="en-US" sz="1320" b="1" dirty="0">
                <a:solidFill>
                  <a:srgbClr val="241337"/>
                </a:solidFill>
                <a:latin typeface="Aptos" pitchFamily="34" charset="0"/>
                <a:ea typeface="Aptos" pitchFamily="34" charset="-122"/>
                <a:cs typeface="Aptos" pitchFamily="34" charset="-120"/>
              </a:rPr>
              <a:t>Existe-t-il une API / un export ?</a:t>
            </a:r>
            <a:endParaRPr lang="en-US" sz="1320" dirty="0"/>
          </a:p>
        </p:txBody>
      </p:sp>
      <p:sp>
        <p:nvSpPr>
          <p:cNvPr id="7" name="Shape 5"/>
          <p:cNvSpPr/>
          <p:nvPr/>
        </p:nvSpPr>
        <p:spPr>
          <a:xfrm>
            <a:off x="1325880" y="2167128"/>
            <a:ext cx="9509760" cy="475488"/>
          </a:xfrm>
          <a:prstGeom prst="roundRect">
            <a:avLst>
              <a:gd name="adj" fmla="val 7692"/>
            </a:avLst>
          </a:prstGeom>
          <a:solidFill>
            <a:srgbClr val="F1EEF5"/>
          </a:solidFill>
          <a:ln w="12700">
            <a:solidFill>
              <a:srgbClr val="DDDCE6"/>
            </a:solidFill>
            <a:prstDash val="solid"/>
          </a:ln>
        </p:spPr>
      </p:sp>
      <p:sp>
        <p:nvSpPr>
          <p:cNvPr id="8" name="Text 6"/>
          <p:cNvSpPr/>
          <p:nvPr/>
        </p:nvSpPr>
        <p:spPr>
          <a:xfrm>
            <a:off x="1536192" y="2276856"/>
            <a:ext cx="320040" cy="182880"/>
          </a:xfrm>
          <a:prstGeom prst="rect">
            <a:avLst/>
          </a:prstGeom>
          <a:noFill/>
          <a:ln/>
        </p:spPr>
        <p:txBody>
          <a:bodyPr wrap="square" lIns="0" tIns="0" rIns="0" bIns="0" rtlCol="0" anchor="ctr">
            <a:normAutofit/>
          </a:bodyPr>
          <a:lstStyle/>
          <a:p>
            <a:pPr algn="ctr" indent="0" marL="0">
              <a:buNone/>
            </a:pPr>
            <a:r>
              <a:rPr lang="en-US" sz="1250" b="1" dirty="0">
                <a:solidFill>
                  <a:srgbClr val="7432A8"/>
                </a:solidFill>
                <a:latin typeface="Aptos" pitchFamily="34" charset="0"/>
                <a:ea typeface="Aptos" pitchFamily="34" charset="-122"/>
                <a:cs typeface="Aptos" pitchFamily="34" charset="-120"/>
              </a:rPr>
              <a:t>2</a:t>
            </a:r>
            <a:endParaRPr lang="en-US" sz="1250" dirty="0"/>
          </a:p>
        </p:txBody>
      </p:sp>
      <p:sp>
        <p:nvSpPr>
          <p:cNvPr id="9" name="Text 7"/>
          <p:cNvSpPr/>
          <p:nvPr/>
        </p:nvSpPr>
        <p:spPr>
          <a:xfrm>
            <a:off x="2011680" y="2258568"/>
            <a:ext cx="8366760" cy="210312"/>
          </a:xfrm>
          <a:prstGeom prst="rect">
            <a:avLst/>
          </a:prstGeom>
          <a:noFill/>
          <a:ln/>
        </p:spPr>
        <p:txBody>
          <a:bodyPr wrap="square" lIns="0" tIns="0" rIns="0" bIns="0" rtlCol="0" anchor="ctr">
            <a:normAutofit/>
          </a:bodyPr>
          <a:lstStyle/>
          <a:p>
            <a:pPr algn="l" indent="0" marL="0">
              <a:buNone/>
            </a:pPr>
            <a:r>
              <a:rPr lang="en-US" sz="1320" dirty="0">
                <a:solidFill>
                  <a:srgbClr val="241337"/>
                </a:solidFill>
                <a:latin typeface="Aptos" pitchFamily="34" charset="0"/>
                <a:ea typeface="Aptos" pitchFamily="34" charset="-122"/>
                <a:cs typeface="Aptos" pitchFamily="34" charset="-120"/>
              </a:rPr>
              <a:t>Quelles données exactes ?</a:t>
            </a:r>
            <a:endParaRPr lang="en-US" sz="1320" dirty="0"/>
          </a:p>
        </p:txBody>
      </p:sp>
      <p:sp>
        <p:nvSpPr>
          <p:cNvPr id="10" name="Shape 8"/>
          <p:cNvSpPr/>
          <p:nvPr/>
        </p:nvSpPr>
        <p:spPr>
          <a:xfrm>
            <a:off x="1325880" y="2779776"/>
            <a:ext cx="9509760" cy="475488"/>
          </a:xfrm>
          <a:prstGeom prst="roundRect">
            <a:avLst>
              <a:gd name="adj" fmla="val 7692"/>
            </a:avLst>
          </a:prstGeom>
          <a:solidFill>
            <a:srgbClr val="FFFFFF"/>
          </a:solidFill>
          <a:ln w="12700">
            <a:solidFill>
              <a:srgbClr val="DDDCE6"/>
            </a:solidFill>
            <a:prstDash val="solid"/>
          </a:ln>
        </p:spPr>
      </p:sp>
      <p:sp>
        <p:nvSpPr>
          <p:cNvPr id="11" name="Text 9"/>
          <p:cNvSpPr/>
          <p:nvPr/>
        </p:nvSpPr>
        <p:spPr>
          <a:xfrm>
            <a:off x="1536192" y="2889504"/>
            <a:ext cx="320040" cy="182880"/>
          </a:xfrm>
          <a:prstGeom prst="rect">
            <a:avLst/>
          </a:prstGeom>
          <a:noFill/>
          <a:ln/>
        </p:spPr>
        <p:txBody>
          <a:bodyPr wrap="square" lIns="0" tIns="0" rIns="0" bIns="0" rtlCol="0" anchor="ctr">
            <a:normAutofit/>
          </a:bodyPr>
          <a:lstStyle/>
          <a:p>
            <a:pPr algn="ctr" indent="0" marL="0">
              <a:buNone/>
            </a:pPr>
            <a:r>
              <a:rPr lang="en-US" sz="1250" b="1" dirty="0">
                <a:solidFill>
                  <a:srgbClr val="7432A8"/>
                </a:solidFill>
                <a:latin typeface="Aptos" pitchFamily="34" charset="0"/>
                <a:ea typeface="Aptos" pitchFamily="34" charset="-122"/>
                <a:cs typeface="Aptos" pitchFamily="34" charset="-120"/>
              </a:rPr>
              <a:t>3</a:t>
            </a:r>
            <a:endParaRPr lang="en-US" sz="1250" dirty="0"/>
          </a:p>
        </p:txBody>
      </p:sp>
      <p:sp>
        <p:nvSpPr>
          <p:cNvPr id="12" name="Text 10"/>
          <p:cNvSpPr/>
          <p:nvPr/>
        </p:nvSpPr>
        <p:spPr>
          <a:xfrm>
            <a:off x="2011680" y="2871216"/>
            <a:ext cx="8366760" cy="210312"/>
          </a:xfrm>
          <a:prstGeom prst="rect">
            <a:avLst/>
          </a:prstGeom>
          <a:noFill/>
          <a:ln/>
        </p:spPr>
        <p:txBody>
          <a:bodyPr wrap="square" lIns="0" tIns="0" rIns="0" bIns="0" rtlCol="0" anchor="ctr">
            <a:normAutofit/>
          </a:bodyPr>
          <a:lstStyle/>
          <a:p>
            <a:pPr algn="l" indent="0" marL="0">
              <a:buNone/>
            </a:pPr>
            <a:r>
              <a:rPr lang="en-US" sz="1320" dirty="0">
                <a:solidFill>
                  <a:srgbClr val="241337"/>
                </a:solidFill>
                <a:latin typeface="Aptos" pitchFamily="34" charset="0"/>
                <a:ea typeface="Aptos" pitchFamily="34" charset="-122"/>
                <a:cs typeface="Aptos" pitchFamily="34" charset="-120"/>
              </a:rPr>
              <a:t>Y a-t-il des données personnelles ?</a:t>
            </a:r>
            <a:endParaRPr lang="en-US" sz="1320" dirty="0"/>
          </a:p>
        </p:txBody>
      </p:sp>
      <p:sp>
        <p:nvSpPr>
          <p:cNvPr id="13" name="Shape 11"/>
          <p:cNvSpPr/>
          <p:nvPr/>
        </p:nvSpPr>
        <p:spPr>
          <a:xfrm>
            <a:off x="1325880" y="3392424"/>
            <a:ext cx="9509760" cy="475488"/>
          </a:xfrm>
          <a:prstGeom prst="roundRect">
            <a:avLst>
              <a:gd name="adj" fmla="val 7692"/>
            </a:avLst>
          </a:prstGeom>
          <a:solidFill>
            <a:srgbClr val="F1EEF5"/>
          </a:solidFill>
          <a:ln w="12700">
            <a:solidFill>
              <a:srgbClr val="DDDCE6"/>
            </a:solidFill>
            <a:prstDash val="solid"/>
          </a:ln>
        </p:spPr>
      </p:sp>
      <p:sp>
        <p:nvSpPr>
          <p:cNvPr id="14" name="Text 12"/>
          <p:cNvSpPr/>
          <p:nvPr/>
        </p:nvSpPr>
        <p:spPr>
          <a:xfrm>
            <a:off x="1536192" y="3502152"/>
            <a:ext cx="320040" cy="182880"/>
          </a:xfrm>
          <a:prstGeom prst="rect">
            <a:avLst/>
          </a:prstGeom>
          <a:noFill/>
          <a:ln/>
        </p:spPr>
        <p:txBody>
          <a:bodyPr wrap="square" lIns="0" tIns="0" rIns="0" bIns="0" rtlCol="0" anchor="ctr">
            <a:normAutofit/>
          </a:bodyPr>
          <a:lstStyle/>
          <a:p>
            <a:pPr algn="ctr" indent="0" marL="0">
              <a:buNone/>
            </a:pPr>
            <a:r>
              <a:rPr lang="en-US" sz="1250" b="1" dirty="0">
                <a:solidFill>
                  <a:srgbClr val="7432A8"/>
                </a:solidFill>
                <a:latin typeface="Aptos" pitchFamily="34" charset="0"/>
                <a:ea typeface="Aptos" pitchFamily="34" charset="-122"/>
                <a:cs typeface="Aptos" pitchFamily="34" charset="-120"/>
              </a:rPr>
              <a:t>4</a:t>
            </a:r>
            <a:endParaRPr lang="en-US" sz="1250" dirty="0"/>
          </a:p>
        </p:txBody>
      </p:sp>
      <p:sp>
        <p:nvSpPr>
          <p:cNvPr id="15" name="Text 13"/>
          <p:cNvSpPr/>
          <p:nvPr/>
        </p:nvSpPr>
        <p:spPr>
          <a:xfrm>
            <a:off x="2011680" y="3483864"/>
            <a:ext cx="8366760" cy="210312"/>
          </a:xfrm>
          <a:prstGeom prst="rect">
            <a:avLst/>
          </a:prstGeom>
          <a:noFill/>
          <a:ln/>
        </p:spPr>
        <p:txBody>
          <a:bodyPr wrap="square" lIns="0" tIns="0" rIns="0" bIns="0" rtlCol="0" anchor="ctr">
            <a:normAutofit/>
          </a:bodyPr>
          <a:lstStyle/>
          <a:p>
            <a:pPr algn="l" indent="0" marL="0">
              <a:buNone/>
            </a:pPr>
            <a:r>
              <a:rPr lang="en-US" sz="1320" dirty="0">
                <a:solidFill>
                  <a:srgbClr val="241337"/>
                </a:solidFill>
                <a:latin typeface="Aptos" pitchFamily="34" charset="0"/>
                <a:ea typeface="Aptos" pitchFamily="34" charset="-122"/>
                <a:cs typeface="Aptos" pitchFamily="34" charset="-120"/>
              </a:rPr>
              <a:t>Quelle finalité et quelle base juridique ?</a:t>
            </a:r>
            <a:endParaRPr lang="en-US" sz="1320" dirty="0"/>
          </a:p>
        </p:txBody>
      </p:sp>
      <p:sp>
        <p:nvSpPr>
          <p:cNvPr id="16" name="Shape 14"/>
          <p:cNvSpPr/>
          <p:nvPr/>
        </p:nvSpPr>
        <p:spPr>
          <a:xfrm>
            <a:off x="1325880" y="4005072"/>
            <a:ext cx="9509760" cy="475488"/>
          </a:xfrm>
          <a:prstGeom prst="roundRect">
            <a:avLst>
              <a:gd name="adj" fmla="val 7692"/>
            </a:avLst>
          </a:prstGeom>
          <a:solidFill>
            <a:srgbClr val="FFFFFF"/>
          </a:solidFill>
          <a:ln w="12700">
            <a:solidFill>
              <a:srgbClr val="DDDCE6"/>
            </a:solidFill>
            <a:prstDash val="solid"/>
          </a:ln>
        </p:spPr>
      </p:sp>
      <p:sp>
        <p:nvSpPr>
          <p:cNvPr id="17" name="Text 15"/>
          <p:cNvSpPr/>
          <p:nvPr/>
        </p:nvSpPr>
        <p:spPr>
          <a:xfrm>
            <a:off x="1536192" y="4114800"/>
            <a:ext cx="320040" cy="182880"/>
          </a:xfrm>
          <a:prstGeom prst="rect">
            <a:avLst/>
          </a:prstGeom>
          <a:noFill/>
          <a:ln/>
        </p:spPr>
        <p:txBody>
          <a:bodyPr wrap="square" lIns="0" tIns="0" rIns="0" bIns="0" rtlCol="0" anchor="ctr">
            <a:normAutofit/>
          </a:bodyPr>
          <a:lstStyle/>
          <a:p>
            <a:pPr algn="ctr" indent="0" marL="0">
              <a:buNone/>
            </a:pPr>
            <a:r>
              <a:rPr lang="en-US" sz="1250" b="1" dirty="0">
                <a:solidFill>
                  <a:srgbClr val="7432A8"/>
                </a:solidFill>
                <a:latin typeface="Aptos" pitchFamily="34" charset="0"/>
                <a:ea typeface="Aptos" pitchFamily="34" charset="-122"/>
                <a:cs typeface="Aptos" pitchFamily="34" charset="-120"/>
              </a:rPr>
              <a:t>5</a:t>
            </a:r>
            <a:endParaRPr lang="en-US" sz="1250" dirty="0"/>
          </a:p>
        </p:txBody>
      </p:sp>
      <p:sp>
        <p:nvSpPr>
          <p:cNvPr id="18" name="Text 16"/>
          <p:cNvSpPr/>
          <p:nvPr/>
        </p:nvSpPr>
        <p:spPr>
          <a:xfrm>
            <a:off x="2011680" y="4096512"/>
            <a:ext cx="8366760" cy="210312"/>
          </a:xfrm>
          <a:prstGeom prst="rect">
            <a:avLst/>
          </a:prstGeom>
          <a:noFill/>
          <a:ln/>
        </p:spPr>
        <p:txBody>
          <a:bodyPr wrap="square" lIns="0" tIns="0" rIns="0" bIns="0" rtlCol="0" anchor="ctr">
            <a:normAutofit/>
          </a:bodyPr>
          <a:lstStyle/>
          <a:p>
            <a:pPr algn="l" indent="0" marL="0">
              <a:buNone/>
            </a:pPr>
            <a:r>
              <a:rPr lang="en-US" sz="1320" dirty="0">
                <a:solidFill>
                  <a:srgbClr val="241337"/>
                </a:solidFill>
                <a:latin typeface="Aptos" pitchFamily="34" charset="0"/>
                <a:ea typeface="Aptos" pitchFamily="34" charset="-122"/>
                <a:cs typeface="Aptos" pitchFamily="34" charset="-120"/>
              </a:rPr>
              <a:t>Que disent CGU / licence / robots ?</a:t>
            </a:r>
            <a:endParaRPr lang="en-US" sz="1320" dirty="0"/>
          </a:p>
        </p:txBody>
      </p:sp>
      <p:sp>
        <p:nvSpPr>
          <p:cNvPr id="19" name="Shape 17"/>
          <p:cNvSpPr/>
          <p:nvPr/>
        </p:nvSpPr>
        <p:spPr>
          <a:xfrm>
            <a:off x="1325880" y="4617720"/>
            <a:ext cx="9509760" cy="475488"/>
          </a:xfrm>
          <a:prstGeom prst="roundRect">
            <a:avLst>
              <a:gd name="adj" fmla="val 7692"/>
            </a:avLst>
          </a:prstGeom>
          <a:solidFill>
            <a:srgbClr val="F1EEF5"/>
          </a:solidFill>
          <a:ln w="12700">
            <a:solidFill>
              <a:srgbClr val="DDDCE6"/>
            </a:solidFill>
            <a:prstDash val="solid"/>
          </a:ln>
        </p:spPr>
      </p:sp>
      <p:sp>
        <p:nvSpPr>
          <p:cNvPr id="20" name="Text 18"/>
          <p:cNvSpPr/>
          <p:nvPr/>
        </p:nvSpPr>
        <p:spPr>
          <a:xfrm>
            <a:off x="1536192" y="4727448"/>
            <a:ext cx="320040" cy="182880"/>
          </a:xfrm>
          <a:prstGeom prst="rect">
            <a:avLst/>
          </a:prstGeom>
          <a:noFill/>
          <a:ln/>
        </p:spPr>
        <p:txBody>
          <a:bodyPr wrap="square" lIns="0" tIns="0" rIns="0" bIns="0" rtlCol="0" anchor="ctr">
            <a:normAutofit/>
          </a:bodyPr>
          <a:lstStyle/>
          <a:p>
            <a:pPr algn="ctr" indent="0" marL="0">
              <a:buNone/>
            </a:pPr>
            <a:r>
              <a:rPr lang="en-US" sz="1250" b="1" dirty="0">
                <a:solidFill>
                  <a:srgbClr val="7432A8"/>
                </a:solidFill>
                <a:latin typeface="Aptos" pitchFamily="34" charset="0"/>
                <a:ea typeface="Aptos" pitchFamily="34" charset="-122"/>
                <a:cs typeface="Aptos" pitchFamily="34" charset="-120"/>
              </a:rPr>
              <a:t>6</a:t>
            </a:r>
            <a:endParaRPr lang="en-US" sz="1250" dirty="0"/>
          </a:p>
        </p:txBody>
      </p:sp>
      <p:sp>
        <p:nvSpPr>
          <p:cNvPr id="21" name="Text 19"/>
          <p:cNvSpPr/>
          <p:nvPr/>
        </p:nvSpPr>
        <p:spPr>
          <a:xfrm>
            <a:off x="2011680" y="4709160"/>
            <a:ext cx="8366760" cy="210312"/>
          </a:xfrm>
          <a:prstGeom prst="rect">
            <a:avLst/>
          </a:prstGeom>
          <a:noFill/>
          <a:ln/>
        </p:spPr>
        <p:txBody>
          <a:bodyPr wrap="square" lIns="0" tIns="0" rIns="0" bIns="0" rtlCol="0" anchor="ctr">
            <a:normAutofit/>
          </a:bodyPr>
          <a:lstStyle/>
          <a:p>
            <a:pPr algn="l" indent="0" marL="0">
              <a:buNone/>
            </a:pPr>
            <a:r>
              <a:rPr lang="en-US" sz="1320" dirty="0">
                <a:solidFill>
                  <a:srgbClr val="241337"/>
                </a:solidFill>
                <a:latin typeface="Aptos" pitchFamily="34" charset="0"/>
                <a:ea typeface="Aptos" pitchFamily="34" charset="-122"/>
                <a:cs typeface="Aptos" pitchFamily="34" charset="-120"/>
              </a:rPr>
              <a:t>Quel impact technique sur le site ?</a:t>
            </a:r>
            <a:endParaRPr lang="en-US" sz="1320" dirty="0"/>
          </a:p>
        </p:txBody>
      </p:sp>
      <p:sp>
        <p:nvSpPr>
          <p:cNvPr id="22" name="Shape 20"/>
          <p:cNvSpPr/>
          <p:nvPr/>
        </p:nvSpPr>
        <p:spPr>
          <a:xfrm>
            <a:off x="1325880" y="5230368"/>
            <a:ext cx="9509760" cy="475488"/>
          </a:xfrm>
          <a:prstGeom prst="roundRect">
            <a:avLst>
              <a:gd name="adj" fmla="val 7692"/>
            </a:avLst>
          </a:prstGeom>
          <a:solidFill>
            <a:srgbClr val="FFFFFF"/>
          </a:solidFill>
          <a:ln w="12700">
            <a:solidFill>
              <a:srgbClr val="DDDCE6"/>
            </a:solidFill>
            <a:prstDash val="solid"/>
          </a:ln>
        </p:spPr>
      </p:sp>
      <p:sp>
        <p:nvSpPr>
          <p:cNvPr id="23" name="Text 21"/>
          <p:cNvSpPr/>
          <p:nvPr/>
        </p:nvSpPr>
        <p:spPr>
          <a:xfrm>
            <a:off x="1536192" y="5340096"/>
            <a:ext cx="320040" cy="182880"/>
          </a:xfrm>
          <a:prstGeom prst="rect">
            <a:avLst/>
          </a:prstGeom>
          <a:noFill/>
          <a:ln/>
        </p:spPr>
        <p:txBody>
          <a:bodyPr wrap="square" lIns="0" tIns="0" rIns="0" bIns="0" rtlCol="0" anchor="ctr">
            <a:normAutofit/>
          </a:bodyPr>
          <a:lstStyle/>
          <a:p>
            <a:pPr algn="ctr" indent="0" marL="0">
              <a:buNone/>
            </a:pPr>
            <a:r>
              <a:rPr lang="en-US" sz="1250" b="1" dirty="0">
                <a:solidFill>
                  <a:srgbClr val="7432A8"/>
                </a:solidFill>
                <a:latin typeface="Aptos" pitchFamily="34" charset="0"/>
                <a:ea typeface="Aptos" pitchFamily="34" charset="-122"/>
                <a:cs typeface="Aptos" pitchFamily="34" charset="-120"/>
              </a:rPr>
              <a:t>7</a:t>
            </a:r>
            <a:endParaRPr lang="en-US" sz="1250" dirty="0"/>
          </a:p>
        </p:txBody>
      </p:sp>
      <p:sp>
        <p:nvSpPr>
          <p:cNvPr id="24" name="Text 22"/>
          <p:cNvSpPr/>
          <p:nvPr/>
        </p:nvSpPr>
        <p:spPr>
          <a:xfrm>
            <a:off x="2011680" y="5321808"/>
            <a:ext cx="8366760" cy="210312"/>
          </a:xfrm>
          <a:prstGeom prst="rect">
            <a:avLst/>
          </a:prstGeom>
          <a:noFill/>
          <a:ln/>
        </p:spPr>
        <p:txBody>
          <a:bodyPr wrap="square" lIns="0" tIns="0" rIns="0" bIns="0" rtlCol="0" anchor="ctr">
            <a:normAutofit/>
          </a:bodyPr>
          <a:lstStyle/>
          <a:p>
            <a:pPr algn="l" indent="0" marL="0">
              <a:buNone/>
            </a:pPr>
            <a:r>
              <a:rPr lang="en-US" sz="1320" dirty="0">
                <a:solidFill>
                  <a:srgbClr val="241337"/>
                </a:solidFill>
                <a:latin typeface="Aptos" pitchFamily="34" charset="0"/>
                <a:ea typeface="Aptos" pitchFamily="34" charset="-122"/>
                <a:cs typeface="Aptos" pitchFamily="34" charset="-120"/>
              </a:rPr>
              <a:t>Comment informer, minimiser et sécuriser ?</a:t>
            </a:r>
            <a:endParaRPr lang="en-US" sz="1320" dirty="0"/>
          </a:p>
        </p:txBody>
      </p:sp>
      <p:sp>
        <p:nvSpPr>
          <p:cNvPr id="25" name="Text 23"/>
          <p:cNvSpPr/>
          <p:nvPr/>
        </p:nvSpPr>
        <p:spPr>
          <a:xfrm>
            <a:off x="1965960" y="5870448"/>
            <a:ext cx="8229600" cy="320040"/>
          </a:xfrm>
          <a:prstGeom prst="rect">
            <a:avLst/>
          </a:prstGeom>
          <a:noFill/>
          <a:ln/>
        </p:spPr>
        <p:txBody>
          <a:bodyPr wrap="square" lIns="0" tIns="0" rIns="0" bIns="0" rtlCol="0" anchor="ctr">
            <a:normAutofit/>
          </a:bodyPr>
          <a:lstStyle/>
          <a:p>
            <a:pPr algn="ctr" indent="0" marL="0">
              <a:buNone/>
            </a:pPr>
            <a:r>
              <a:rPr lang="en-US" sz="1700" b="1" dirty="0">
                <a:solidFill>
                  <a:srgbClr val="241337"/>
                </a:solidFill>
                <a:latin typeface="Aptos" pitchFamily="34" charset="0"/>
                <a:ea typeface="Aptos" pitchFamily="34" charset="-122"/>
                <a:cs typeface="Aptos" pitchFamily="34" charset="-120"/>
              </a:rPr>
              <a:t>Le scraping vient après l’analyse de la source — pas avant.</a:t>
            </a:r>
            <a:endParaRPr lang="en-US" sz="1700" dirty="0"/>
          </a:p>
        </p:txBody>
      </p:sp>
      <p:sp>
        <p:nvSpPr>
          <p:cNvPr id="25" name="Slide Number Placeholder 0"/>
          <p:cNvSpPr>
            <a:spLocks noGrp="1"/>
          </p:cNvSpPr>
          <p:nvPr>
            <p:ph type="sldNum" sz="quarter" idx="4294967295"/>
          </p:nvPr>
        </p:nvSpPr>
        <p:spPr>
          <a:xfrm>
            <a:off x="11750040" y="274320"/>
            <a:ext cx="228600" cy="164592"/>
          </a:xfrm>
          <a:prstGeom prst="rect">
            <a:avLst/>
          </a:prstGeom>
          <a:extLst>
            <a:ext uri="{C572A759-6A51-4108-AA02-DFA0A04FC94B}">
              <ma14:wrappingTextBoxFlag xmlns:ma14="http://schemas.microsoft.com/office/mac/drawingml/2011/main" val="0"/>
            </a:ext>
          </a:extLst>
        </p:spPr>
        <p:txBody>
          <a:bodyPr/>
          <a:lstStyle>
            <a:lvl1pPr>
              <a:defRPr sz="800">
                <a:solidFill>
                  <a:srgbClr val="858697"/>
                </a:solidFill>
                <a:latin typeface="Aptos"/>
                <a:ea typeface="Aptos"/>
                <a:cs typeface="Aptos"/>
              </a:defRPr>
            </a:lvl1pPr>
          </a:lstStyle>
          <a:p>
            <a:pPr algn="r"/>
            <a:fld id="{F7021451-1387-4CA6-816F-3879F97B5CBC}" type="slidenum">
              <a:rPr b="0"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566928" y="438912"/>
            <a:ext cx="5029200" cy="228600"/>
          </a:xfrm>
          <a:prstGeom prst="rect">
            <a:avLst/>
          </a:prstGeom>
          <a:noFill/>
          <a:ln/>
        </p:spPr>
        <p:txBody>
          <a:bodyPr wrap="square" lIns="0" tIns="0" rIns="0" bIns="0" rtlCol="0" anchor="ctr">
            <a:normAutofit/>
          </a:bodyPr>
          <a:lstStyle/>
          <a:p>
            <a:pPr algn="l" indent="0" marL="0">
              <a:buNone/>
            </a:pPr>
            <a:r>
              <a:rPr lang="en-US" sz="1050" b="1" spc="150" kern="0" dirty="0">
                <a:solidFill>
                  <a:srgbClr val="7432A8"/>
                </a:solidFill>
                <a:latin typeface="Aptos" pitchFamily="34" charset="0"/>
                <a:ea typeface="Aptos" pitchFamily="34" charset="-122"/>
                <a:cs typeface="Aptos" pitchFamily="34" charset="-120"/>
              </a:rPr>
              <a:t>LIMITES TECHNIQUES</a:t>
            </a:r>
            <a:endParaRPr lang="en-US" sz="1050" dirty="0"/>
          </a:p>
        </p:txBody>
      </p:sp>
      <p:sp>
        <p:nvSpPr>
          <p:cNvPr id="3" name="Text 1"/>
          <p:cNvSpPr/>
          <p:nvPr/>
        </p:nvSpPr>
        <p:spPr>
          <a:xfrm>
            <a:off x="566928" y="768096"/>
            <a:ext cx="10972800" cy="566928"/>
          </a:xfrm>
          <a:prstGeom prst="rect">
            <a:avLst/>
          </a:prstGeom>
          <a:noFill/>
          <a:ln/>
        </p:spPr>
        <p:txBody>
          <a:bodyPr wrap="square" lIns="0" tIns="0" rIns="0" bIns="0" rtlCol="0" anchor="t">
            <a:normAutofit/>
          </a:bodyPr>
          <a:lstStyle/>
          <a:p>
            <a:pPr algn="l" indent="0" marL="0">
              <a:buNone/>
            </a:pPr>
            <a:r>
              <a:rPr lang="en-US" sz="2800" b="1" dirty="0">
                <a:solidFill>
                  <a:srgbClr val="241337"/>
                </a:solidFill>
                <a:latin typeface="Aptos" pitchFamily="34" charset="0"/>
                <a:ea typeface="Aptos" pitchFamily="34" charset="-122"/>
                <a:cs typeface="Aptos" pitchFamily="34" charset="-120"/>
              </a:rPr>
              <a:t>Quand le site vous signale que le crawl doit s’arrêter ou être revu</a:t>
            </a:r>
            <a:endParaRPr lang="en-US" sz="2800" dirty="0"/>
          </a:p>
        </p:txBody>
      </p:sp>
      <p:sp>
        <p:nvSpPr>
          <p:cNvPr id="4" name="Shape 2"/>
          <p:cNvSpPr/>
          <p:nvPr/>
        </p:nvSpPr>
        <p:spPr>
          <a:xfrm>
            <a:off x="685800" y="1691640"/>
            <a:ext cx="3383280" cy="1417320"/>
          </a:xfrm>
          <a:prstGeom prst="roundRect">
            <a:avLst>
              <a:gd name="adj" fmla="val 3871"/>
            </a:avLst>
          </a:prstGeom>
          <a:solidFill>
            <a:srgbClr val="FFFFFF"/>
          </a:solidFill>
          <a:ln w="12700">
            <a:solidFill>
              <a:srgbClr val="DDDCE6"/>
            </a:solidFill>
            <a:prstDash val="solid"/>
          </a:ln>
          <a:effectLst>
            <a:outerShdw sx="100000" sy="100000" kx="0" ky="0" algn="bl" rotWithShape="0" blurRad="19050" dist="50800" dir="2700000">
              <a:srgbClr val="D6D3DF">
                <a:alpha val="18000"/>
              </a:srgbClr>
            </a:outerShdw>
          </a:effectLst>
        </p:spPr>
      </p:sp>
      <p:sp>
        <p:nvSpPr>
          <p:cNvPr id="5" name="Shape 3"/>
          <p:cNvSpPr/>
          <p:nvPr/>
        </p:nvSpPr>
        <p:spPr>
          <a:xfrm>
            <a:off x="685800" y="1691640"/>
            <a:ext cx="73152" cy="1417320"/>
          </a:xfrm>
          <a:prstGeom prst="rect">
            <a:avLst/>
          </a:prstGeom>
          <a:solidFill>
            <a:srgbClr val="DB8129"/>
          </a:solidFill>
          <a:ln w="12700">
            <a:solidFill>
              <a:srgbClr val="DB8129"/>
            </a:solidFill>
            <a:prstDash val="solid"/>
          </a:ln>
        </p:spPr>
      </p:sp>
      <p:sp>
        <p:nvSpPr>
          <p:cNvPr id="6" name="Text 4"/>
          <p:cNvSpPr/>
          <p:nvPr/>
        </p:nvSpPr>
        <p:spPr>
          <a:xfrm>
            <a:off x="1005840" y="1911096"/>
            <a:ext cx="2880360" cy="347472"/>
          </a:xfrm>
          <a:prstGeom prst="rect">
            <a:avLst/>
          </a:prstGeom>
          <a:noFill/>
          <a:ln/>
        </p:spPr>
        <p:txBody>
          <a:bodyPr wrap="square" lIns="0" tIns="0" rIns="0" bIns="0" rtlCol="0" anchor="t">
            <a:normAutofit/>
          </a:bodyPr>
          <a:lstStyle/>
          <a:p>
            <a:pPr algn="l" indent="0" marL="0">
              <a:buNone/>
            </a:pPr>
            <a:r>
              <a:rPr lang="en-US" sz="1630" b="1" dirty="0">
                <a:solidFill>
                  <a:srgbClr val="241337"/>
                </a:solidFill>
                <a:latin typeface="Aptos" pitchFamily="34" charset="0"/>
                <a:ea typeface="Aptos" pitchFamily="34" charset="-122"/>
                <a:cs typeface="Aptos" pitchFamily="34" charset="-120"/>
              </a:rPr>
              <a:t>429 / rate limit</a:t>
            </a:r>
            <a:endParaRPr lang="en-US" sz="1630" dirty="0"/>
          </a:p>
        </p:txBody>
      </p:sp>
      <p:sp>
        <p:nvSpPr>
          <p:cNvPr id="7" name="Text 5"/>
          <p:cNvSpPr/>
          <p:nvPr/>
        </p:nvSpPr>
        <p:spPr>
          <a:xfrm>
            <a:off x="978408" y="2386584"/>
            <a:ext cx="2880360" cy="548640"/>
          </a:xfrm>
          <a:prstGeom prst="rect">
            <a:avLst/>
          </a:prstGeom>
          <a:noFill/>
          <a:ln/>
        </p:spPr>
        <p:txBody>
          <a:bodyPr wrap="square" lIns="0" tIns="0" rIns="0" bIns="0" rtlCol="0" anchor="t">
            <a:normAutofit/>
          </a:bodyPr>
          <a:lstStyle/>
          <a:p>
            <a:pPr algn="l" indent="0" marL="0">
              <a:buNone/>
            </a:pPr>
            <a:r>
              <a:rPr lang="en-US" sz="1230" dirty="0">
                <a:solidFill>
                  <a:srgbClr val="6F7082"/>
                </a:solidFill>
                <a:latin typeface="Aptos" pitchFamily="34" charset="0"/>
                <a:ea typeface="Aptos" pitchFamily="34" charset="-122"/>
                <a:cs typeface="Aptos" pitchFamily="34" charset="-120"/>
              </a:rPr>
              <a:t>Trop de requêtes dans la fenêtre observée.</a:t>
            </a:r>
            <a:endParaRPr lang="en-US" sz="1230" dirty="0"/>
          </a:p>
        </p:txBody>
      </p:sp>
      <p:sp>
        <p:nvSpPr>
          <p:cNvPr id="8" name="Shape 6"/>
          <p:cNvSpPr/>
          <p:nvPr/>
        </p:nvSpPr>
        <p:spPr>
          <a:xfrm>
            <a:off x="4389120" y="1691640"/>
            <a:ext cx="3383280" cy="1417320"/>
          </a:xfrm>
          <a:prstGeom prst="roundRect">
            <a:avLst>
              <a:gd name="adj" fmla="val 3871"/>
            </a:avLst>
          </a:prstGeom>
          <a:solidFill>
            <a:srgbClr val="FFFFFF"/>
          </a:solidFill>
          <a:ln w="12700">
            <a:solidFill>
              <a:srgbClr val="DDDCE6"/>
            </a:solidFill>
            <a:prstDash val="solid"/>
          </a:ln>
          <a:effectLst>
            <a:outerShdw sx="100000" sy="100000" kx="0" ky="0" algn="bl" rotWithShape="0" blurRad="19050" dist="50800" dir="2700000">
              <a:srgbClr val="D6D3DF">
                <a:alpha val="18000"/>
              </a:srgbClr>
            </a:outerShdw>
          </a:effectLst>
        </p:spPr>
      </p:sp>
      <p:sp>
        <p:nvSpPr>
          <p:cNvPr id="9" name="Shape 7"/>
          <p:cNvSpPr/>
          <p:nvPr/>
        </p:nvSpPr>
        <p:spPr>
          <a:xfrm>
            <a:off x="4389120" y="1691640"/>
            <a:ext cx="73152" cy="1417320"/>
          </a:xfrm>
          <a:prstGeom prst="rect">
            <a:avLst/>
          </a:prstGeom>
          <a:solidFill>
            <a:srgbClr val="D55E5A"/>
          </a:solidFill>
          <a:ln w="12700">
            <a:solidFill>
              <a:srgbClr val="D55E5A"/>
            </a:solidFill>
            <a:prstDash val="solid"/>
          </a:ln>
        </p:spPr>
      </p:sp>
      <p:sp>
        <p:nvSpPr>
          <p:cNvPr id="10" name="Text 8"/>
          <p:cNvSpPr/>
          <p:nvPr/>
        </p:nvSpPr>
        <p:spPr>
          <a:xfrm>
            <a:off x="4709160" y="1911096"/>
            <a:ext cx="2880360" cy="347472"/>
          </a:xfrm>
          <a:prstGeom prst="rect">
            <a:avLst/>
          </a:prstGeom>
          <a:noFill/>
          <a:ln/>
        </p:spPr>
        <p:txBody>
          <a:bodyPr wrap="square" lIns="0" tIns="0" rIns="0" bIns="0" rtlCol="0" anchor="t">
            <a:normAutofit/>
          </a:bodyPr>
          <a:lstStyle/>
          <a:p>
            <a:pPr algn="l" indent="0" marL="0">
              <a:buNone/>
            </a:pPr>
            <a:r>
              <a:rPr lang="en-US" sz="1630" b="1" dirty="0">
                <a:solidFill>
                  <a:srgbClr val="241337"/>
                </a:solidFill>
                <a:latin typeface="Aptos" pitchFamily="34" charset="0"/>
                <a:ea typeface="Aptos" pitchFamily="34" charset="-122"/>
                <a:cs typeface="Aptos" pitchFamily="34" charset="-120"/>
              </a:rPr>
              <a:t>403 / blocage</a:t>
            </a:r>
            <a:endParaRPr lang="en-US" sz="1630" dirty="0"/>
          </a:p>
        </p:txBody>
      </p:sp>
      <p:sp>
        <p:nvSpPr>
          <p:cNvPr id="11" name="Text 9"/>
          <p:cNvSpPr/>
          <p:nvPr/>
        </p:nvSpPr>
        <p:spPr>
          <a:xfrm>
            <a:off x="4681728" y="2386584"/>
            <a:ext cx="2880360" cy="548640"/>
          </a:xfrm>
          <a:prstGeom prst="rect">
            <a:avLst/>
          </a:prstGeom>
          <a:noFill/>
          <a:ln/>
        </p:spPr>
        <p:txBody>
          <a:bodyPr wrap="square" lIns="0" tIns="0" rIns="0" bIns="0" rtlCol="0" anchor="t">
            <a:normAutofit/>
          </a:bodyPr>
          <a:lstStyle/>
          <a:p>
            <a:pPr algn="l" indent="0" marL="0">
              <a:buNone/>
            </a:pPr>
            <a:r>
              <a:rPr lang="en-US" sz="1230" dirty="0">
                <a:solidFill>
                  <a:srgbClr val="6F7082"/>
                </a:solidFill>
                <a:latin typeface="Aptos" pitchFamily="34" charset="0"/>
                <a:ea typeface="Aptos" pitchFamily="34" charset="-122"/>
                <a:cs typeface="Aptos" pitchFamily="34" charset="-120"/>
              </a:rPr>
              <a:t>Accès refusé : vérifier règles et autorisations.</a:t>
            </a:r>
            <a:endParaRPr lang="en-US" sz="1230" dirty="0"/>
          </a:p>
        </p:txBody>
      </p:sp>
      <p:sp>
        <p:nvSpPr>
          <p:cNvPr id="12" name="Shape 10"/>
          <p:cNvSpPr/>
          <p:nvPr/>
        </p:nvSpPr>
        <p:spPr>
          <a:xfrm>
            <a:off x="8092440" y="1691640"/>
            <a:ext cx="3383280" cy="1417320"/>
          </a:xfrm>
          <a:prstGeom prst="roundRect">
            <a:avLst>
              <a:gd name="adj" fmla="val 3871"/>
            </a:avLst>
          </a:prstGeom>
          <a:solidFill>
            <a:srgbClr val="FFFFFF"/>
          </a:solidFill>
          <a:ln w="12700">
            <a:solidFill>
              <a:srgbClr val="DDDCE6"/>
            </a:solidFill>
            <a:prstDash val="solid"/>
          </a:ln>
          <a:effectLst>
            <a:outerShdw sx="100000" sy="100000" kx="0" ky="0" algn="bl" rotWithShape="0" blurRad="19050" dist="50800" dir="2700000">
              <a:srgbClr val="D6D3DF">
                <a:alpha val="18000"/>
              </a:srgbClr>
            </a:outerShdw>
          </a:effectLst>
        </p:spPr>
      </p:sp>
      <p:sp>
        <p:nvSpPr>
          <p:cNvPr id="13" name="Shape 11"/>
          <p:cNvSpPr/>
          <p:nvPr/>
        </p:nvSpPr>
        <p:spPr>
          <a:xfrm>
            <a:off x="8092440" y="1691640"/>
            <a:ext cx="73152" cy="1417320"/>
          </a:xfrm>
          <a:prstGeom prst="rect">
            <a:avLst/>
          </a:prstGeom>
          <a:solidFill>
            <a:srgbClr val="7432A8"/>
          </a:solidFill>
          <a:ln w="12700">
            <a:solidFill>
              <a:srgbClr val="7432A8"/>
            </a:solidFill>
            <a:prstDash val="solid"/>
          </a:ln>
        </p:spPr>
      </p:sp>
      <p:sp>
        <p:nvSpPr>
          <p:cNvPr id="14" name="Text 12"/>
          <p:cNvSpPr/>
          <p:nvPr/>
        </p:nvSpPr>
        <p:spPr>
          <a:xfrm>
            <a:off x="8412480" y="1911096"/>
            <a:ext cx="2880360" cy="347472"/>
          </a:xfrm>
          <a:prstGeom prst="rect">
            <a:avLst/>
          </a:prstGeom>
          <a:noFill/>
          <a:ln/>
        </p:spPr>
        <p:txBody>
          <a:bodyPr wrap="square" lIns="0" tIns="0" rIns="0" bIns="0" rtlCol="0" anchor="t">
            <a:normAutofit/>
          </a:bodyPr>
          <a:lstStyle/>
          <a:p>
            <a:pPr algn="l" indent="0" marL="0">
              <a:buNone/>
            </a:pPr>
            <a:r>
              <a:rPr lang="en-US" sz="1630" b="1" dirty="0">
                <a:solidFill>
                  <a:srgbClr val="241337"/>
                </a:solidFill>
                <a:latin typeface="Aptos" pitchFamily="34" charset="0"/>
                <a:ea typeface="Aptos" pitchFamily="34" charset="-122"/>
                <a:cs typeface="Aptos" pitchFamily="34" charset="-120"/>
              </a:rPr>
              <a:t>CAPTCHA</a:t>
            </a:r>
            <a:endParaRPr lang="en-US" sz="1630" dirty="0"/>
          </a:p>
        </p:txBody>
      </p:sp>
      <p:sp>
        <p:nvSpPr>
          <p:cNvPr id="15" name="Text 13"/>
          <p:cNvSpPr/>
          <p:nvPr/>
        </p:nvSpPr>
        <p:spPr>
          <a:xfrm>
            <a:off x="8385048" y="2386584"/>
            <a:ext cx="2880360" cy="548640"/>
          </a:xfrm>
          <a:prstGeom prst="rect">
            <a:avLst/>
          </a:prstGeom>
          <a:noFill/>
          <a:ln/>
        </p:spPr>
        <p:txBody>
          <a:bodyPr wrap="square" lIns="0" tIns="0" rIns="0" bIns="0" rtlCol="0" anchor="t">
            <a:normAutofit/>
          </a:bodyPr>
          <a:lstStyle/>
          <a:p>
            <a:pPr algn="l" indent="0" marL="0">
              <a:buNone/>
            </a:pPr>
            <a:r>
              <a:rPr lang="en-US" sz="1230" dirty="0">
                <a:solidFill>
                  <a:srgbClr val="6F7082"/>
                </a:solidFill>
                <a:latin typeface="Aptos" pitchFamily="34" charset="0"/>
                <a:ea typeface="Aptos" pitchFamily="34" charset="-122"/>
                <a:cs typeface="Aptos" pitchFamily="34" charset="-120"/>
              </a:rPr>
              <a:t>Interaction conçue pour distinguer humain / automatisation.</a:t>
            </a:r>
            <a:endParaRPr lang="en-US" sz="1230" dirty="0"/>
          </a:p>
        </p:txBody>
      </p:sp>
      <p:sp>
        <p:nvSpPr>
          <p:cNvPr id="16" name="Shape 14"/>
          <p:cNvSpPr/>
          <p:nvPr/>
        </p:nvSpPr>
        <p:spPr>
          <a:xfrm>
            <a:off x="685800" y="3520440"/>
            <a:ext cx="3383280" cy="1417320"/>
          </a:xfrm>
          <a:prstGeom prst="roundRect">
            <a:avLst>
              <a:gd name="adj" fmla="val 3871"/>
            </a:avLst>
          </a:prstGeom>
          <a:solidFill>
            <a:srgbClr val="FFFFFF"/>
          </a:solidFill>
          <a:ln w="12700">
            <a:solidFill>
              <a:srgbClr val="DDDCE6"/>
            </a:solidFill>
            <a:prstDash val="solid"/>
          </a:ln>
          <a:effectLst>
            <a:outerShdw sx="100000" sy="100000" kx="0" ky="0" algn="bl" rotWithShape="0" blurRad="19050" dist="50800" dir="2700000">
              <a:srgbClr val="D6D3DF">
                <a:alpha val="18000"/>
              </a:srgbClr>
            </a:outerShdw>
          </a:effectLst>
        </p:spPr>
      </p:sp>
      <p:sp>
        <p:nvSpPr>
          <p:cNvPr id="17" name="Shape 15"/>
          <p:cNvSpPr/>
          <p:nvPr/>
        </p:nvSpPr>
        <p:spPr>
          <a:xfrm>
            <a:off x="685800" y="3520440"/>
            <a:ext cx="73152" cy="1417320"/>
          </a:xfrm>
          <a:prstGeom prst="rect">
            <a:avLst/>
          </a:prstGeom>
          <a:solidFill>
            <a:srgbClr val="4F7FC4"/>
          </a:solidFill>
          <a:ln w="12700">
            <a:solidFill>
              <a:srgbClr val="4F7FC4"/>
            </a:solidFill>
            <a:prstDash val="solid"/>
          </a:ln>
        </p:spPr>
      </p:sp>
      <p:sp>
        <p:nvSpPr>
          <p:cNvPr id="18" name="Text 16"/>
          <p:cNvSpPr/>
          <p:nvPr/>
        </p:nvSpPr>
        <p:spPr>
          <a:xfrm>
            <a:off x="1005840" y="3739896"/>
            <a:ext cx="2880360" cy="347472"/>
          </a:xfrm>
          <a:prstGeom prst="rect">
            <a:avLst/>
          </a:prstGeom>
          <a:noFill/>
          <a:ln/>
        </p:spPr>
        <p:txBody>
          <a:bodyPr wrap="square" lIns="0" tIns="0" rIns="0" bIns="0" rtlCol="0" anchor="t">
            <a:normAutofit/>
          </a:bodyPr>
          <a:lstStyle/>
          <a:p>
            <a:pPr algn="l" indent="0" marL="0">
              <a:buNone/>
            </a:pPr>
            <a:r>
              <a:rPr lang="en-US" sz="1630" b="1" dirty="0">
                <a:solidFill>
                  <a:srgbClr val="241337"/>
                </a:solidFill>
                <a:latin typeface="Aptos" pitchFamily="34" charset="0"/>
                <a:ea typeface="Aptos" pitchFamily="34" charset="-122"/>
                <a:cs typeface="Aptos" pitchFamily="34" charset="-120"/>
              </a:rPr>
              <a:t>Session / auth</a:t>
            </a:r>
            <a:endParaRPr lang="en-US" sz="1630" dirty="0"/>
          </a:p>
        </p:txBody>
      </p:sp>
      <p:sp>
        <p:nvSpPr>
          <p:cNvPr id="19" name="Text 17"/>
          <p:cNvSpPr/>
          <p:nvPr/>
        </p:nvSpPr>
        <p:spPr>
          <a:xfrm>
            <a:off x="978408" y="4215384"/>
            <a:ext cx="2880360" cy="548640"/>
          </a:xfrm>
          <a:prstGeom prst="rect">
            <a:avLst/>
          </a:prstGeom>
          <a:noFill/>
          <a:ln/>
        </p:spPr>
        <p:txBody>
          <a:bodyPr wrap="square" lIns="0" tIns="0" rIns="0" bIns="0" rtlCol="0" anchor="t">
            <a:normAutofit/>
          </a:bodyPr>
          <a:lstStyle/>
          <a:p>
            <a:pPr algn="l" indent="0" marL="0">
              <a:buNone/>
            </a:pPr>
            <a:r>
              <a:rPr lang="en-US" sz="1230" dirty="0">
                <a:solidFill>
                  <a:srgbClr val="6F7082"/>
                </a:solidFill>
                <a:latin typeface="Aptos" pitchFamily="34" charset="0"/>
                <a:ea typeface="Aptos" pitchFamily="34" charset="-122"/>
                <a:cs typeface="Aptos" pitchFamily="34" charset="-120"/>
              </a:rPr>
              <a:t>Contenu lié à un compte ou à des permissions.</a:t>
            </a:r>
            <a:endParaRPr lang="en-US" sz="1230" dirty="0"/>
          </a:p>
        </p:txBody>
      </p:sp>
      <p:sp>
        <p:nvSpPr>
          <p:cNvPr id="20" name="Shape 18"/>
          <p:cNvSpPr/>
          <p:nvPr/>
        </p:nvSpPr>
        <p:spPr>
          <a:xfrm>
            <a:off x="4389120" y="3520440"/>
            <a:ext cx="3383280" cy="1417320"/>
          </a:xfrm>
          <a:prstGeom prst="roundRect">
            <a:avLst>
              <a:gd name="adj" fmla="val 3871"/>
            </a:avLst>
          </a:prstGeom>
          <a:solidFill>
            <a:srgbClr val="FFFFFF"/>
          </a:solidFill>
          <a:ln w="12700">
            <a:solidFill>
              <a:srgbClr val="DDDCE6"/>
            </a:solidFill>
            <a:prstDash val="solid"/>
          </a:ln>
          <a:effectLst>
            <a:outerShdw sx="100000" sy="100000" kx="0" ky="0" algn="bl" rotWithShape="0" blurRad="19050" dist="50800" dir="2700000">
              <a:srgbClr val="D6D3DF">
                <a:alpha val="18000"/>
              </a:srgbClr>
            </a:outerShdw>
          </a:effectLst>
        </p:spPr>
      </p:sp>
      <p:sp>
        <p:nvSpPr>
          <p:cNvPr id="21" name="Shape 19"/>
          <p:cNvSpPr/>
          <p:nvPr/>
        </p:nvSpPr>
        <p:spPr>
          <a:xfrm>
            <a:off x="4389120" y="3520440"/>
            <a:ext cx="73152" cy="1417320"/>
          </a:xfrm>
          <a:prstGeom prst="rect">
            <a:avLst/>
          </a:prstGeom>
          <a:solidFill>
            <a:srgbClr val="2E899E"/>
          </a:solidFill>
          <a:ln w="12700">
            <a:solidFill>
              <a:srgbClr val="2E899E"/>
            </a:solidFill>
            <a:prstDash val="solid"/>
          </a:ln>
        </p:spPr>
      </p:sp>
      <p:sp>
        <p:nvSpPr>
          <p:cNvPr id="22" name="Text 20"/>
          <p:cNvSpPr/>
          <p:nvPr/>
        </p:nvSpPr>
        <p:spPr>
          <a:xfrm>
            <a:off x="4709160" y="3739896"/>
            <a:ext cx="2880360" cy="347472"/>
          </a:xfrm>
          <a:prstGeom prst="rect">
            <a:avLst/>
          </a:prstGeom>
          <a:noFill/>
          <a:ln/>
        </p:spPr>
        <p:txBody>
          <a:bodyPr wrap="square" lIns="0" tIns="0" rIns="0" bIns="0" rtlCol="0" anchor="t">
            <a:normAutofit/>
          </a:bodyPr>
          <a:lstStyle/>
          <a:p>
            <a:pPr algn="l" indent="0" marL="0">
              <a:buNone/>
            </a:pPr>
            <a:r>
              <a:rPr lang="en-US" sz="1630" b="1" dirty="0">
                <a:solidFill>
                  <a:srgbClr val="241337"/>
                </a:solidFill>
                <a:latin typeface="Aptos" pitchFamily="34" charset="0"/>
                <a:ea typeface="Aptos" pitchFamily="34" charset="-122"/>
                <a:cs typeface="Aptos" pitchFamily="34" charset="-120"/>
              </a:rPr>
              <a:t>Honeypot</a:t>
            </a:r>
            <a:endParaRPr lang="en-US" sz="1630" dirty="0"/>
          </a:p>
        </p:txBody>
      </p:sp>
      <p:sp>
        <p:nvSpPr>
          <p:cNvPr id="23" name="Text 21"/>
          <p:cNvSpPr/>
          <p:nvPr/>
        </p:nvSpPr>
        <p:spPr>
          <a:xfrm>
            <a:off x="4681728" y="4215384"/>
            <a:ext cx="2880360" cy="548640"/>
          </a:xfrm>
          <a:prstGeom prst="rect">
            <a:avLst/>
          </a:prstGeom>
          <a:noFill/>
          <a:ln/>
        </p:spPr>
        <p:txBody>
          <a:bodyPr wrap="square" lIns="0" tIns="0" rIns="0" bIns="0" rtlCol="0" anchor="t">
            <a:normAutofit/>
          </a:bodyPr>
          <a:lstStyle/>
          <a:p>
            <a:pPr algn="l" indent="0" marL="0">
              <a:buNone/>
            </a:pPr>
            <a:r>
              <a:rPr lang="en-US" sz="1230" dirty="0">
                <a:solidFill>
                  <a:srgbClr val="6F7082"/>
                </a:solidFill>
                <a:latin typeface="Aptos" pitchFamily="34" charset="0"/>
                <a:ea typeface="Aptos" pitchFamily="34" charset="-122"/>
                <a:cs typeface="Aptos" pitchFamily="34" charset="-120"/>
              </a:rPr>
              <a:t>Lien / champ destiné à détecter certains robots.</a:t>
            </a:r>
            <a:endParaRPr lang="en-US" sz="1230" dirty="0"/>
          </a:p>
        </p:txBody>
      </p:sp>
      <p:sp>
        <p:nvSpPr>
          <p:cNvPr id="24" name="Shape 22"/>
          <p:cNvSpPr/>
          <p:nvPr/>
        </p:nvSpPr>
        <p:spPr>
          <a:xfrm>
            <a:off x="8092440" y="3520440"/>
            <a:ext cx="3383280" cy="1417320"/>
          </a:xfrm>
          <a:prstGeom prst="roundRect">
            <a:avLst>
              <a:gd name="adj" fmla="val 3871"/>
            </a:avLst>
          </a:prstGeom>
          <a:solidFill>
            <a:srgbClr val="FFFFFF"/>
          </a:solidFill>
          <a:ln w="12700">
            <a:solidFill>
              <a:srgbClr val="DDDCE6"/>
            </a:solidFill>
            <a:prstDash val="solid"/>
          </a:ln>
          <a:effectLst>
            <a:outerShdw sx="100000" sy="100000" kx="0" ky="0" algn="bl" rotWithShape="0" blurRad="19050" dist="50800" dir="2700000">
              <a:srgbClr val="D6D3DF">
                <a:alpha val="18000"/>
              </a:srgbClr>
            </a:outerShdw>
          </a:effectLst>
        </p:spPr>
      </p:sp>
      <p:sp>
        <p:nvSpPr>
          <p:cNvPr id="25" name="Shape 23"/>
          <p:cNvSpPr/>
          <p:nvPr/>
        </p:nvSpPr>
        <p:spPr>
          <a:xfrm>
            <a:off x="8092440" y="3520440"/>
            <a:ext cx="73152" cy="1417320"/>
          </a:xfrm>
          <a:prstGeom prst="rect">
            <a:avLst/>
          </a:prstGeom>
          <a:solidFill>
            <a:srgbClr val="4EA27B"/>
          </a:solidFill>
          <a:ln w="12700">
            <a:solidFill>
              <a:srgbClr val="4EA27B"/>
            </a:solidFill>
            <a:prstDash val="solid"/>
          </a:ln>
        </p:spPr>
      </p:sp>
      <p:sp>
        <p:nvSpPr>
          <p:cNvPr id="26" name="Text 24"/>
          <p:cNvSpPr/>
          <p:nvPr/>
        </p:nvSpPr>
        <p:spPr>
          <a:xfrm>
            <a:off x="8412480" y="3739896"/>
            <a:ext cx="2880360" cy="347472"/>
          </a:xfrm>
          <a:prstGeom prst="rect">
            <a:avLst/>
          </a:prstGeom>
          <a:noFill/>
          <a:ln/>
        </p:spPr>
        <p:txBody>
          <a:bodyPr wrap="square" lIns="0" tIns="0" rIns="0" bIns="0" rtlCol="0" anchor="t">
            <a:normAutofit/>
          </a:bodyPr>
          <a:lstStyle/>
          <a:p>
            <a:pPr algn="l" indent="0" marL="0">
              <a:buNone/>
            </a:pPr>
            <a:r>
              <a:rPr lang="en-US" sz="1630" b="1" dirty="0">
                <a:solidFill>
                  <a:srgbClr val="241337"/>
                </a:solidFill>
                <a:latin typeface="Aptos" pitchFamily="34" charset="0"/>
                <a:ea typeface="Aptos" pitchFamily="34" charset="-122"/>
                <a:cs typeface="Aptos" pitchFamily="34" charset="-120"/>
              </a:rPr>
              <a:t>HTML changeant</a:t>
            </a:r>
            <a:endParaRPr lang="en-US" sz="1630" dirty="0"/>
          </a:p>
        </p:txBody>
      </p:sp>
      <p:sp>
        <p:nvSpPr>
          <p:cNvPr id="27" name="Text 25"/>
          <p:cNvSpPr/>
          <p:nvPr/>
        </p:nvSpPr>
        <p:spPr>
          <a:xfrm>
            <a:off x="8385048" y="4215384"/>
            <a:ext cx="2880360" cy="548640"/>
          </a:xfrm>
          <a:prstGeom prst="rect">
            <a:avLst/>
          </a:prstGeom>
          <a:noFill/>
          <a:ln/>
        </p:spPr>
        <p:txBody>
          <a:bodyPr wrap="square" lIns="0" tIns="0" rIns="0" bIns="0" rtlCol="0" anchor="t">
            <a:normAutofit/>
          </a:bodyPr>
          <a:lstStyle/>
          <a:p>
            <a:pPr algn="l" indent="0" marL="0">
              <a:buNone/>
            </a:pPr>
            <a:r>
              <a:rPr lang="en-US" sz="1230" dirty="0">
                <a:solidFill>
                  <a:srgbClr val="6F7082"/>
                </a:solidFill>
                <a:latin typeface="Aptos" pitchFamily="34" charset="0"/>
                <a:ea typeface="Aptos" pitchFamily="34" charset="-122"/>
                <a:cs typeface="Aptos" pitchFamily="34" charset="-120"/>
              </a:rPr>
              <a:t>Fragilité de sélecteurs / version du site.</a:t>
            </a:r>
            <a:endParaRPr lang="en-US" sz="1230" dirty="0"/>
          </a:p>
        </p:txBody>
      </p:sp>
      <p:sp>
        <p:nvSpPr>
          <p:cNvPr id="28" name="Text 26"/>
          <p:cNvSpPr/>
          <p:nvPr/>
        </p:nvSpPr>
        <p:spPr>
          <a:xfrm>
            <a:off x="1965960" y="5513832"/>
            <a:ext cx="8229600" cy="320040"/>
          </a:xfrm>
          <a:prstGeom prst="rect">
            <a:avLst/>
          </a:prstGeom>
          <a:noFill/>
          <a:ln/>
        </p:spPr>
        <p:txBody>
          <a:bodyPr wrap="square" lIns="0" tIns="0" rIns="0" bIns="0" rtlCol="0" anchor="ctr">
            <a:normAutofit/>
          </a:bodyPr>
          <a:lstStyle/>
          <a:p>
            <a:pPr algn="ctr" indent="0" marL="0">
              <a:buNone/>
            </a:pPr>
            <a:r>
              <a:rPr lang="en-US" sz="1700" b="1" dirty="0">
                <a:solidFill>
                  <a:srgbClr val="241337"/>
                </a:solidFill>
                <a:latin typeface="Aptos" pitchFamily="34" charset="0"/>
                <a:ea typeface="Aptos" pitchFamily="34" charset="-122"/>
                <a:cs typeface="Aptos" pitchFamily="34" charset="-120"/>
              </a:rPr>
              <a:t>Comprendre les protections ≠ apprendre à les contourner.</a:t>
            </a:r>
            <a:endParaRPr lang="en-US" sz="1700" dirty="0"/>
          </a:p>
        </p:txBody>
      </p:sp>
      <p:sp>
        <p:nvSpPr>
          <p:cNvPr id="25" name="Slide Number Placeholder 0"/>
          <p:cNvSpPr>
            <a:spLocks noGrp="1"/>
          </p:cNvSpPr>
          <p:nvPr>
            <p:ph type="sldNum" sz="quarter" idx="4294967295"/>
          </p:nvPr>
        </p:nvSpPr>
        <p:spPr>
          <a:xfrm>
            <a:off x="11750040" y="274320"/>
            <a:ext cx="228600" cy="164592"/>
          </a:xfrm>
          <a:prstGeom prst="rect">
            <a:avLst/>
          </a:prstGeom>
          <a:extLst>
            <a:ext uri="{C572A759-6A51-4108-AA02-DFA0A04FC94B}">
              <ma14:wrappingTextBoxFlag xmlns:ma14="http://schemas.microsoft.com/office/mac/drawingml/2011/main" val="0"/>
            </a:ext>
          </a:extLst>
        </p:spPr>
        <p:txBody>
          <a:bodyPr/>
          <a:lstStyle>
            <a:lvl1pPr>
              <a:defRPr sz="800">
                <a:solidFill>
                  <a:srgbClr val="858697"/>
                </a:solidFill>
                <a:latin typeface="Aptos"/>
                <a:ea typeface="Aptos"/>
                <a:cs typeface="Aptos"/>
              </a:defRPr>
            </a:lvl1pPr>
          </a:lstStyle>
          <a:p>
            <a:pPr algn="r"/>
            <a:fld id="{F7021451-1387-4CA6-816F-3879F97B5CBC}" type="slidenum">
              <a:rPr b="0"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566928" y="438912"/>
            <a:ext cx="5029200" cy="228600"/>
          </a:xfrm>
          <a:prstGeom prst="rect">
            <a:avLst/>
          </a:prstGeom>
          <a:noFill/>
          <a:ln/>
        </p:spPr>
        <p:txBody>
          <a:bodyPr wrap="square" lIns="0" tIns="0" rIns="0" bIns="0" rtlCol="0" anchor="ctr">
            <a:normAutofit/>
          </a:bodyPr>
          <a:lstStyle/>
          <a:p>
            <a:pPr algn="l" indent="0" marL="0">
              <a:buNone/>
            </a:pPr>
            <a:r>
              <a:rPr lang="en-US" sz="1050" b="1" spc="150" kern="0" dirty="0">
                <a:solidFill>
                  <a:srgbClr val="7432A8"/>
                </a:solidFill>
                <a:latin typeface="Aptos" pitchFamily="34" charset="0"/>
                <a:ea typeface="Aptos" pitchFamily="34" charset="-122"/>
                <a:cs typeface="Aptos" pitchFamily="34" charset="-120"/>
              </a:rPr>
              <a:t>USER-AGENT</a:t>
            </a:r>
            <a:endParaRPr lang="en-US" sz="1050" dirty="0"/>
          </a:p>
        </p:txBody>
      </p:sp>
      <p:sp>
        <p:nvSpPr>
          <p:cNvPr id="3" name="Text 1"/>
          <p:cNvSpPr/>
          <p:nvPr/>
        </p:nvSpPr>
        <p:spPr>
          <a:xfrm>
            <a:off x="566928" y="768096"/>
            <a:ext cx="10972800" cy="566928"/>
          </a:xfrm>
          <a:prstGeom prst="rect">
            <a:avLst/>
          </a:prstGeom>
          <a:noFill/>
          <a:ln/>
        </p:spPr>
        <p:txBody>
          <a:bodyPr wrap="square" lIns="0" tIns="0" rIns="0" bIns="0" rtlCol="0" anchor="t">
            <a:normAutofit/>
          </a:bodyPr>
          <a:lstStyle/>
          <a:p>
            <a:pPr algn="l" indent="0" marL="0">
              <a:buNone/>
            </a:pPr>
            <a:r>
              <a:rPr lang="en-US" sz="2800" b="1" dirty="0">
                <a:solidFill>
                  <a:srgbClr val="241337"/>
                </a:solidFill>
                <a:latin typeface="Aptos" pitchFamily="34" charset="0"/>
                <a:ea typeface="Aptos" pitchFamily="34" charset="-122"/>
                <a:cs typeface="Aptos" pitchFamily="34" charset="-120"/>
              </a:rPr>
              <a:t>Identifier son client plutôt que jouer au camouflage</a:t>
            </a:r>
            <a:endParaRPr lang="en-US" sz="2800" dirty="0"/>
          </a:p>
        </p:txBody>
      </p:sp>
      <p:sp>
        <p:nvSpPr>
          <p:cNvPr id="4" name="Shape 2"/>
          <p:cNvSpPr/>
          <p:nvPr/>
        </p:nvSpPr>
        <p:spPr>
          <a:xfrm>
            <a:off x="777240" y="1874520"/>
            <a:ext cx="4754880" cy="2011680"/>
          </a:xfrm>
          <a:prstGeom prst="roundRect">
            <a:avLst>
              <a:gd name="adj" fmla="val 1818"/>
            </a:avLst>
          </a:prstGeom>
          <a:solidFill>
            <a:srgbClr val="17141E"/>
          </a:solidFill>
          <a:ln w="12700">
            <a:solidFill>
              <a:srgbClr val="17141E"/>
            </a:solidFill>
            <a:prstDash val="solid"/>
          </a:ln>
        </p:spPr>
      </p:sp>
      <p:sp>
        <p:nvSpPr>
          <p:cNvPr id="5" name="Shape 3"/>
          <p:cNvSpPr/>
          <p:nvPr/>
        </p:nvSpPr>
        <p:spPr>
          <a:xfrm>
            <a:off x="777240" y="1874520"/>
            <a:ext cx="4754880" cy="347472"/>
          </a:xfrm>
          <a:prstGeom prst="rect">
            <a:avLst/>
          </a:prstGeom>
          <a:solidFill>
            <a:srgbClr val="2B2633"/>
          </a:solidFill>
          <a:ln w="12700">
            <a:solidFill>
              <a:srgbClr val="2B2633"/>
            </a:solidFill>
            <a:prstDash val="solid"/>
          </a:ln>
        </p:spPr>
      </p:sp>
      <p:sp>
        <p:nvSpPr>
          <p:cNvPr id="6" name="Shape 4"/>
          <p:cNvSpPr/>
          <p:nvPr/>
        </p:nvSpPr>
        <p:spPr>
          <a:xfrm>
            <a:off x="960120" y="1993392"/>
            <a:ext cx="73152" cy="73152"/>
          </a:xfrm>
          <a:prstGeom prst="ellipse">
            <a:avLst/>
          </a:prstGeom>
          <a:solidFill>
            <a:srgbClr val="D55E5A"/>
          </a:solidFill>
          <a:ln w="12700">
            <a:solidFill>
              <a:srgbClr val="D55E5A"/>
            </a:solidFill>
            <a:prstDash val="solid"/>
          </a:ln>
        </p:spPr>
      </p:sp>
      <p:sp>
        <p:nvSpPr>
          <p:cNvPr id="7" name="Shape 5"/>
          <p:cNvSpPr/>
          <p:nvPr/>
        </p:nvSpPr>
        <p:spPr>
          <a:xfrm>
            <a:off x="1106424" y="1993392"/>
            <a:ext cx="73152" cy="73152"/>
          </a:xfrm>
          <a:prstGeom prst="ellipse">
            <a:avLst/>
          </a:prstGeom>
          <a:solidFill>
            <a:srgbClr val="E0B24A"/>
          </a:solidFill>
          <a:ln w="12700">
            <a:solidFill>
              <a:srgbClr val="E0B24A"/>
            </a:solidFill>
            <a:prstDash val="solid"/>
          </a:ln>
        </p:spPr>
      </p:sp>
      <p:sp>
        <p:nvSpPr>
          <p:cNvPr id="8" name="Shape 6"/>
          <p:cNvSpPr/>
          <p:nvPr/>
        </p:nvSpPr>
        <p:spPr>
          <a:xfrm>
            <a:off x="1252728" y="1993392"/>
            <a:ext cx="73152" cy="73152"/>
          </a:xfrm>
          <a:prstGeom prst="ellipse">
            <a:avLst/>
          </a:prstGeom>
          <a:solidFill>
            <a:srgbClr val="7EB465"/>
          </a:solidFill>
          <a:ln w="12700">
            <a:solidFill>
              <a:srgbClr val="7EB465"/>
            </a:solidFill>
            <a:prstDash val="solid"/>
          </a:ln>
        </p:spPr>
      </p:sp>
      <p:sp>
        <p:nvSpPr>
          <p:cNvPr id="9" name="Text 7"/>
          <p:cNvSpPr/>
          <p:nvPr/>
        </p:nvSpPr>
        <p:spPr>
          <a:xfrm>
            <a:off x="4434840" y="1947672"/>
            <a:ext cx="914400" cy="137160"/>
          </a:xfrm>
          <a:prstGeom prst="rect">
            <a:avLst/>
          </a:prstGeom>
          <a:noFill/>
          <a:ln/>
        </p:spPr>
        <p:txBody>
          <a:bodyPr wrap="square" lIns="0" tIns="0" rIns="0" bIns="0" rtlCol="0" anchor="ctr">
            <a:normAutofit/>
          </a:bodyPr>
          <a:lstStyle/>
          <a:p>
            <a:pPr algn="r" indent="0" marL="0">
              <a:buNone/>
            </a:pPr>
            <a:r>
              <a:rPr lang="en-US" sz="900" dirty="0">
                <a:solidFill>
                  <a:srgbClr val="B8B3C2"/>
                </a:solidFill>
                <a:latin typeface="Aptos" pitchFamily="34" charset="0"/>
                <a:ea typeface="Aptos" pitchFamily="34" charset="-122"/>
                <a:cs typeface="Aptos" pitchFamily="34" charset="-120"/>
              </a:rPr>
              <a:t>settings.py</a:t>
            </a:r>
            <a:endParaRPr lang="en-US" sz="900" dirty="0"/>
          </a:p>
        </p:txBody>
      </p:sp>
      <p:sp>
        <p:nvSpPr>
          <p:cNvPr id="10" name="Text 8"/>
          <p:cNvSpPr/>
          <p:nvPr/>
        </p:nvSpPr>
        <p:spPr>
          <a:xfrm>
            <a:off x="1005840" y="2350008"/>
            <a:ext cx="4297680" cy="1389888"/>
          </a:xfrm>
          <a:prstGeom prst="rect">
            <a:avLst/>
          </a:prstGeom>
          <a:noFill/>
          <a:ln/>
        </p:spPr>
        <p:txBody>
          <a:bodyPr wrap="square" lIns="0" tIns="0" rIns="0" bIns="0" rtlCol="0" anchor="t">
            <a:normAutofit/>
          </a:bodyPr>
          <a:lstStyle/>
          <a:p>
            <a:pPr algn="l" indent="0" marL="0">
              <a:buNone/>
            </a:pPr>
            <a:r>
              <a:rPr lang="en-US" sz="1100" dirty="0">
                <a:solidFill>
                  <a:srgbClr val="F3EFF7"/>
                </a:solidFill>
                <a:latin typeface="Courier New" pitchFamily="34" charset="0"/>
                <a:ea typeface="Courier New" pitchFamily="34" charset="-122"/>
                <a:cs typeface="Courier New" pitchFamily="34" charset="-120"/>
              </a:rPr>
              <a:t>USER_AGENT = (</a:t>
            </a:r>
            <a:endParaRPr lang="en-US" sz="1100" dirty="0"/>
          </a:p>
          <a:p>
            <a:pPr algn="l" indent="0" marL="0">
              <a:buNone/>
            </a:pPr>
            <a:r>
              <a:rPr lang="en-US" sz="1100" dirty="0">
                <a:solidFill>
                  <a:srgbClr val="F3EFF7"/>
                </a:solidFill>
                <a:latin typeface="Courier New" pitchFamily="34" charset="0"/>
                <a:ea typeface="Courier New" pitchFamily="34" charset="-122"/>
                <a:cs typeface="Courier New" pitchFamily="34" charset="-120"/>
              </a:rPr>
              <a:t>  "CourseScraper/1.0 "</a:t>
            </a:r>
            <a:endParaRPr lang="en-US" sz="1100" dirty="0"/>
          </a:p>
          <a:p>
            <a:pPr algn="l" indent="0" marL="0">
              <a:buNone/>
            </a:pPr>
            <a:r>
              <a:rPr lang="en-US" sz="1100" dirty="0">
                <a:solidFill>
                  <a:srgbClr val="F3EFF7"/>
                </a:solidFill>
                <a:latin typeface="Courier New" pitchFamily="34" charset="0"/>
                <a:ea typeface="Courier New" pitchFamily="34" charset="-122"/>
                <a:cs typeface="Courier New" pitchFamily="34" charset="-120"/>
              </a:rPr>
              <a:t>  "(+contact: data-team@example.org)"</a:t>
            </a:r>
            <a:endParaRPr lang="en-US" sz="1100" dirty="0"/>
          </a:p>
          <a:p>
            <a:pPr algn="l" indent="0" marL="0">
              <a:buNone/>
            </a:pPr>
            <a:r>
              <a:rPr lang="en-US" sz="1100" dirty="0">
                <a:solidFill>
                  <a:srgbClr val="F3EFF7"/>
                </a:solidFill>
                <a:latin typeface="Courier New" pitchFamily="34" charset="0"/>
                <a:ea typeface="Courier New" pitchFamily="34" charset="-122"/>
                <a:cs typeface="Courier New" pitchFamily="34" charset="-120"/>
              </a:rPr>
              <a:t>)</a:t>
            </a:r>
            <a:endParaRPr lang="en-US" sz="1100" dirty="0"/>
          </a:p>
        </p:txBody>
      </p:sp>
      <p:sp>
        <p:nvSpPr>
          <p:cNvPr id="11" name="Shape 9"/>
          <p:cNvSpPr/>
          <p:nvPr/>
        </p:nvSpPr>
        <p:spPr>
          <a:xfrm>
            <a:off x="5852160" y="1783080"/>
            <a:ext cx="2606040" cy="3154680"/>
          </a:xfrm>
          <a:prstGeom prst="roundRect">
            <a:avLst>
              <a:gd name="adj" fmla="val 2105"/>
            </a:avLst>
          </a:prstGeom>
          <a:solidFill>
            <a:srgbClr val="FFFFFF"/>
          </a:solidFill>
          <a:ln w="12700">
            <a:solidFill>
              <a:srgbClr val="DDDCE6"/>
            </a:solidFill>
            <a:prstDash val="solid"/>
          </a:ln>
          <a:effectLst>
            <a:outerShdw sx="100000" sy="100000" kx="0" ky="0" algn="bl" rotWithShape="0" blurRad="19050" dist="50800" dir="2700000">
              <a:srgbClr val="D6D3DF">
                <a:alpha val="18000"/>
              </a:srgbClr>
            </a:outerShdw>
          </a:effectLst>
        </p:spPr>
      </p:sp>
      <p:sp>
        <p:nvSpPr>
          <p:cNvPr id="12" name="Shape 10"/>
          <p:cNvSpPr/>
          <p:nvPr/>
        </p:nvSpPr>
        <p:spPr>
          <a:xfrm>
            <a:off x="5852160" y="1783080"/>
            <a:ext cx="73152" cy="3154680"/>
          </a:xfrm>
          <a:prstGeom prst="rect">
            <a:avLst/>
          </a:prstGeom>
          <a:solidFill>
            <a:srgbClr val="4EA27B"/>
          </a:solidFill>
          <a:ln w="12700">
            <a:solidFill>
              <a:srgbClr val="4EA27B"/>
            </a:solidFill>
            <a:prstDash val="solid"/>
          </a:ln>
        </p:spPr>
      </p:sp>
      <p:sp>
        <p:nvSpPr>
          <p:cNvPr id="13" name="Text 11"/>
          <p:cNvSpPr/>
          <p:nvPr/>
        </p:nvSpPr>
        <p:spPr>
          <a:xfrm>
            <a:off x="6172200" y="2002536"/>
            <a:ext cx="2103120" cy="347472"/>
          </a:xfrm>
          <a:prstGeom prst="rect">
            <a:avLst/>
          </a:prstGeom>
          <a:noFill/>
          <a:ln/>
        </p:spPr>
        <p:txBody>
          <a:bodyPr wrap="square" lIns="0" tIns="0" rIns="0" bIns="0" rtlCol="0" anchor="t">
            <a:normAutofit/>
          </a:bodyPr>
          <a:lstStyle/>
          <a:p>
            <a:pPr algn="l" indent="0" marL="0">
              <a:buNone/>
            </a:pPr>
            <a:r>
              <a:rPr lang="en-US" sz="1630" b="1" dirty="0">
                <a:solidFill>
                  <a:srgbClr val="241337"/>
                </a:solidFill>
                <a:latin typeface="Aptos" pitchFamily="34" charset="0"/>
                <a:ea typeface="Aptos" pitchFamily="34" charset="-122"/>
                <a:cs typeface="Aptos" pitchFamily="34" charset="-120"/>
              </a:rPr>
              <a:t>Approche responsable</a:t>
            </a:r>
            <a:endParaRPr lang="en-US" sz="1630" dirty="0"/>
          </a:p>
        </p:txBody>
      </p:sp>
      <p:sp>
        <p:nvSpPr>
          <p:cNvPr id="14" name="Text 12"/>
          <p:cNvSpPr/>
          <p:nvPr/>
        </p:nvSpPr>
        <p:spPr>
          <a:xfrm>
            <a:off x="6144768" y="2478024"/>
            <a:ext cx="2103120" cy="2286000"/>
          </a:xfrm>
          <a:prstGeom prst="rect">
            <a:avLst/>
          </a:prstGeom>
          <a:noFill/>
          <a:ln/>
        </p:spPr>
        <p:txBody>
          <a:bodyPr wrap="square" lIns="0" tIns="0" rIns="0" bIns="0" rtlCol="0" anchor="t">
            <a:normAutofit/>
          </a:bodyPr>
          <a:lstStyle/>
          <a:p>
            <a:pPr algn="l" indent="0" marL="0">
              <a:buNone/>
            </a:pPr>
            <a:r>
              <a:rPr lang="en-US" sz="1230" dirty="0">
                <a:solidFill>
                  <a:srgbClr val="6F7082"/>
                </a:solidFill>
                <a:latin typeface="Aptos" pitchFamily="34" charset="0"/>
                <a:ea typeface="Aptos" pitchFamily="34" charset="-122"/>
                <a:cs typeface="Aptos" pitchFamily="34" charset="-120"/>
              </a:rPr>
              <a:t>Identité cohérente, fréquence raisonnable, contact quand pertinent, respect des règles d’accès.</a:t>
            </a:r>
            <a:endParaRPr lang="en-US" sz="1230" dirty="0"/>
          </a:p>
        </p:txBody>
      </p:sp>
      <p:sp>
        <p:nvSpPr>
          <p:cNvPr id="15" name="Shape 13"/>
          <p:cNvSpPr/>
          <p:nvPr/>
        </p:nvSpPr>
        <p:spPr>
          <a:xfrm>
            <a:off x="8732520" y="1783080"/>
            <a:ext cx="2606040" cy="3154680"/>
          </a:xfrm>
          <a:prstGeom prst="roundRect">
            <a:avLst>
              <a:gd name="adj" fmla="val 2105"/>
            </a:avLst>
          </a:prstGeom>
          <a:solidFill>
            <a:srgbClr val="FFFFFF"/>
          </a:solidFill>
          <a:ln w="12700">
            <a:solidFill>
              <a:srgbClr val="DDDCE6"/>
            </a:solidFill>
            <a:prstDash val="solid"/>
          </a:ln>
          <a:effectLst>
            <a:outerShdw sx="100000" sy="100000" kx="0" ky="0" algn="bl" rotWithShape="0" blurRad="19050" dist="50800" dir="2700000">
              <a:srgbClr val="D6D3DF">
                <a:alpha val="18000"/>
              </a:srgbClr>
            </a:outerShdw>
          </a:effectLst>
        </p:spPr>
      </p:sp>
      <p:sp>
        <p:nvSpPr>
          <p:cNvPr id="16" name="Shape 14"/>
          <p:cNvSpPr/>
          <p:nvPr/>
        </p:nvSpPr>
        <p:spPr>
          <a:xfrm>
            <a:off x="8732520" y="1783080"/>
            <a:ext cx="73152" cy="3154680"/>
          </a:xfrm>
          <a:prstGeom prst="rect">
            <a:avLst/>
          </a:prstGeom>
          <a:solidFill>
            <a:srgbClr val="D55E5A"/>
          </a:solidFill>
          <a:ln w="12700">
            <a:solidFill>
              <a:srgbClr val="D55E5A"/>
            </a:solidFill>
            <a:prstDash val="solid"/>
          </a:ln>
        </p:spPr>
      </p:sp>
      <p:sp>
        <p:nvSpPr>
          <p:cNvPr id="17" name="Text 15"/>
          <p:cNvSpPr/>
          <p:nvPr/>
        </p:nvSpPr>
        <p:spPr>
          <a:xfrm>
            <a:off x="9052560" y="2002536"/>
            <a:ext cx="2103120" cy="347472"/>
          </a:xfrm>
          <a:prstGeom prst="rect">
            <a:avLst/>
          </a:prstGeom>
          <a:noFill/>
          <a:ln/>
        </p:spPr>
        <p:txBody>
          <a:bodyPr wrap="square" lIns="0" tIns="0" rIns="0" bIns="0" rtlCol="0" anchor="t">
            <a:normAutofit/>
          </a:bodyPr>
          <a:lstStyle/>
          <a:p>
            <a:pPr algn="l" indent="0" marL="0">
              <a:buNone/>
            </a:pPr>
            <a:r>
              <a:rPr lang="en-US" sz="1630" b="1" dirty="0">
                <a:solidFill>
                  <a:srgbClr val="241337"/>
                </a:solidFill>
                <a:latin typeface="Aptos" pitchFamily="34" charset="0"/>
                <a:ea typeface="Aptos" pitchFamily="34" charset="-122"/>
                <a:cs typeface="Aptos" pitchFamily="34" charset="-120"/>
              </a:rPr>
              <a:t>À éviter</a:t>
            </a:r>
            <a:endParaRPr lang="en-US" sz="1630" dirty="0"/>
          </a:p>
        </p:txBody>
      </p:sp>
      <p:sp>
        <p:nvSpPr>
          <p:cNvPr id="18" name="Text 16"/>
          <p:cNvSpPr/>
          <p:nvPr/>
        </p:nvSpPr>
        <p:spPr>
          <a:xfrm>
            <a:off x="9025128" y="2478024"/>
            <a:ext cx="2103120" cy="2286000"/>
          </a:xfrm>
          <a:prstGeom prst="rect">
            <a:avLst/>
          </a:prstGeom>
          <a:noFill/>
          <a:ln/>
        </p:spPr>
        <p:txBody>
          <a:bodyPr wrap="square" lIns="0" tIns="0" rIns="0" bIns="0" rtlCol="0" anchor="t">
            <a:normAutofit/>
          </a:bodyPr>
          <a:lstStyle/>
          <a:p>
            <a:pPr algn="l" indent="0" marL="0">
              <a:buNone/>
            </a:pPr>
            <a:r>
              <a:rPr lang="en-US" sz="1230" dirty="0">
                <a:solidFill>
                  <a:srgbClr val="6F7082"/>
                </a:solidFill>
                <a:latin typeface="Aptos" pitchFamily="34" charset="0"/>
                <a:ea typeface="Aptos" pitchFamily="34" charset="-122"/>
                <a:cs typeface="Aptos" pitchFamily="34" charset="-120"/>
              </a:rPr>
              <a:t>Rotation agressive pour contourner un blocage ou masquer l’origine du trafic.</a:t>
            </a:r>
            <a:endParaRPr lang="en-US" sz="1230" dirty="0"/>
          </a:p>
        </p:txBody>
      </p:sp>
      <p:sp>
        <p:nvSpPr>
          <p:cNvPr id="19" name="Text 17"/>
          <p:cNvSpPr/>
          <p:nvPr/>
        </p:nvSpPr>
        <p:spPr>
          <a:xfrm>
            <a:off x="1280160" y="5440680"/>
            <a:ext cx="9601200" cy="365760"/>
          </a:xfrm>
          <a:prstGeom prst="rect">
            <a:avLst/>
          </a:prstGeom>
          <a:noFill/>
          <a:ln/>
        </p:spPr>
        <p:txBody>
          <a:bodyPr wrap="square" lIns="0" tIns="0" rIns="0" bIns="0" rtlCol="0" anchor="ctr">
            <a:normAutofit/>
          </a:bodyPr>
          <a:lstStyle/>
          <a:p>
            <a:pPr algn="ctr" indent="0" marL="0">
              <a:buNone/>
            </a:pPr>
            <a:r>
              <a:rPr lang="en-US" sz="1580" b="1" dirty="0">
                <a:solidFill>
                  <a:srgbClr val="241337"/>
                </a:solidFill>
                <a:latin typeface="Aptos" pitchFamily="34" charset="0"/>
                <a:ea typeface="Aptos" pitchFamily="34" charset="-122"/>
                <a:cs typeface="Aptos" pitchFamily="34" charset="-120"/>
              </a:rPr>
              <a:t>Une protection qui s’active est une information à analyser, pas un obstacle à “vaincre”.</a:t>
            </a:r>
            <a:endParaRPr lang="en-US" sz="1580" dirty="0"/>
          </a:p>
        </p:txBody>
      </p:sp>
      <p:sp>
        <p:nvSpPr>
          <p:cNvPr id="25" name="Slide Number Placeholder 0"/>
          <p:cNvSpPr>
            <a:spLocks noGrp="1"/>
          </p:cNvSpPr>
          <p:nvPr>
            <p:ph type="sldNum" sz="quarter" idx="4294967295"/>
          </p:nvPr>
        </p:nvSpPr>
        <p:spPr>
          <a:xfrm>
            <a:off x="11750040" y="274320"/>
            <a:ext cx="228600" cy="164592"/>
          </a:xfrm>
          <a:prstGeom prst="rect">
            <a:avLst/>
          </a:prstGeom>
          <a:extLst>
            <a:ext uri="{C572A759-6A51-4108-AA02-DFA0A04FC94B}">
              <ma14:wrappingTextBoxFlag xmlns:ma14="http://schemas.microsoft.com/office/mac/drawingml/2011/main" val="0"/>
            </a:ext>
          </a:extLst>
        </p:spPr>
        <p:txBody>
          <a:bodyPr/>
          <a:lstStyle>
            <a:lvl1pPr>
              <a:defRPr sz="800">
                <a:solidFill>
                  <a:srgbClr val="858697"/>
                </a:solidFill>
                <a:latin typeface="Aptos"/>
                <a:ea typeface="Aptos"/>
                <a:cs typeface="Aptos"/>
              </a:defRPr>
            </a:lvl1pPr>
          </a:lstStyle>
          <a:p>
            <a:pPr algn="r"/>
            <a:fld id="{F7021451-1387-4CA6-816F-3879F97B5CBC}" type="slidenum">
              <a:rPr b="0"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566928" y="438912"/>
            <a:ext cx="5029200" cy="228600"/>
          </a:xfrm>
          <a:prstGeom prst="rect">
            <a:avLst/>
          </a:prstGeom>
          <a:noFill/>
          <a:ln/>
        </p:spPr>
        <p:txBody>
          <a:bodyPr wrap="square" lIns="0" tIns="0" rIns="0" bIns="0" rtlCol="0" anchor="ctr">
            <a:normAutofit/>
          </a:bodyPr>
          <a:lstStyle/>
          <a:p>
            <a:pPr algn="l" indent="0" marL="0">
              <a:buNone/>
            </a:pPr>
            <a:r>
              <a:rPr lang="en-US" sz="1050" b="1" spc="150" kern="0" dirty="0">
                <a:solidFill>
                  <a:srgbClr val="7432A8"/>
                </a:solidFill>
                <a:latin typeface="Aptos" pitchFamily="34" charset="0"/>
                <a:ea typeface="Aptos" pitchFamily="34" charset="-122"/>
                <a:cs typeface="Aptos" pitchFamily="34" charset="-120"/>
              </a:rPr>
              <a:t>CAS PRATIQUE</a:t>
            </a:r>
            <a:endParaRPr lang="en-US" sz="1050" dirty="0"/>
          </a:p>
        </p:txBody>
      </p:sp>
      <p:sp>
        <p:nvSpPr>
          <p:cNvPr id="3" name="Text 1"/>
          <p:cNvSpPr/>
          <p:nvPr/>
        </p:nvSpPr>
        <p:spPr>
          <a:xfrm>
            <a:off x="566928" y="768096"/>
            <a:ext cx="10972800" cy="566928"/>
          </a:xfrm>
          <a:prstGeom prst="rect">
            <a:avLst/>
          </a:prstGeom>
          <a:noFill/>
          <a:ln/>
        </p:spPr>
        <p:txBody>
          <a:bodyPr wrap="square" lIns="0" tIns="0" rIns="0" bIns="0" rtlCol="0" anchor="t">
            <a:normAutofit/>
          </a:bodyPr>
          <a:lstStyle/>
          <a:p>
            <a:pPr algn="l" indent="0" marL="0">
              <a:buNone/>
            </a:pPr>
            <a:r>
              <a:rPr lang="en-US" sz="2800" b="1" dirty="0">
                <a:solidFill>
                  <a:srgbClr val="241337"/>
                </a:solidFill>
                <a:latin typeface="Aptos" pitchFamily="34" charset="0"/>
                <a:ea typeface="Aptos" pitchFamily="34" charset="-122"/>
                <a:cs typeface="Aptos" pitchFamily="34" charset="-120"/>
              </a:rPr>
              <a:t>Que faites-vous dans chacun de ces scénarios ?</a:t>
            </a:r>
            <a:endParaRPr lang="en-US" sz="2800" dirty="0"/>
          </a:p>
        </p:txBody>
      </p:sp>
      <p:sp>
        <p:nvSpPr>
          <p:cNvPr id="4" name="Shape 2"/>
          <p:cNvSpPr/>
          <p:nvPr/>
        </p:nvSpPr>
        <p:spPr>
          <a:xfrm>
            <a:off x="685800" y="1737360"/>
            <a:ext cx="2487168" cy="3474720"/>
          </a:xfrm>
          <a:prstGeom prst="roundRect">
            <a:avLst>
              <a:gd name="adj" fmla="val 2206"/>
            </a:avLst>
          </a:prstGeom>
          <a:solidFill>
            <a:srgbClr val="FFFFFF"/>
          </a:solidFill>
          <a:ln w="12700">
            <a:solidFill>
              <a:srgbClr val="DDDCE6"/>
            </a:solidFill>
            <a:prstDash val="solid"/>
          </a:ln>
          <a:effectLst>
            <a:outerShdw sx="100000" sy="100000" kx="0" ky="0" algn="bl" rotWithShape="0" blurRad="19050" dist="50800" dir="2700000">
              <a:srgbClr val="D6D3DF">
                <a:alpha val="18000"/>
              </a:srgbClr>
            </a:outerShdw>
          </a:effectLst>
        </p:spPr>
      </p:sp>
      <p:sp>
        <p:nvSpPr>
          <p:cNvPr id="5" name="Shape 3"/>
          <p:cNvSpPr/>
          <p:nvPr/>
        </p:nvSpPr>
        <p:spPr>
          <a:xfrm>
            <a:off x="685800" y="1737360"/>
            <a:ext cx="73152" cy="3474720"/>
          </a:xfrm>
          <a:prstGeom prst="rect">
            <a:avLst/>
          </a:prstGeom>
          <a:solidFill>
            <a:srgbClr val="4EA27B"/>
          </a:solidFill>
          <a:ln w="12700">
            <a:solidFill>
              <a:srgbClr val="4EA27B"/>
            </a:solidFill>
            <a:prstDash val="solid"/>
          </a:ln>
        </p:spPr>
      </p:sp>
      <p:sp>
        <p:nvSpPr>
          <p:cNvPr id="6" name="Text 4"/>
          <p:cNvSpPr/>
          <p:nvPr/>
        </p:nvSpPr>
        <p:spPr>
          <a:xfrm>
            <a:off x="1033272" y="1993392"/>
            <a:ext cx="320040" cy="256032"/>
          </a:xfrm>
          <a:prstGeom prst="rect">
            <a:avLst/>
          </a:prstGeom>
          <a:noFill/>
          <a:ln/>
        </p:spPr>
        <p:txBody>
          <a:bodyPr wrap="square" lIns="0" tIns="0" rIns="0" bIns="0" rtlCol="0" anchor="ctr">
            <a:normAutofit/>
          </a:bodyPr>
          <a:lstStyle/>
          <a:p>
            <a:pPr algn="l" indent="0" marL="0">
              <a:buNone/>
            </a:pPr>
            <a:r>
              <a:rPr lang="en-US" sz="1900" b="1" dirty="0">
                <a:solidFill>
                  <a:srgbClr val="4EA27B"/>
                </a:solidFill>
                <a:latin typeface="Aptos" pitchFamily="34" charset="0"/>
                <a:ea typeface="Aptos" pitchFamily="34" charset="-122"/>
                <a:cs typeface="Aptos" pitchFamily="34" charset="-120"/>
              </a:rPr>
              <a:t>A</a:t>
            </a:r>
            <a:endParaRPr lang="en-US" sz="1900" dirty="0"/>
          </a:p>
        </p:txBody>
      </p:sp>
      <p:sp>
        <p:nvSpPr>
          <p:cNvPr id="7" name="Text 5"/>
          <p:cNvSpPr/>
          <p:nvPr/>
        </p:nvSpPr>
        <p:spPr>
          <a:xfrm>
            <a:off x="1399032" y="1956816"/>
            <a:ext cx="1572768" cy="347472"/>
          </a:xfrm>
          <a:prstGeom prst="rect">
            <a:avLst/>
          </a:prstGeom>
          <a:noFill/>
          <a:ln/>
        </p:spPr>
        <p:txBody>
          <a:bodyPr wrap="square" lIns="0" tIns="0" rIns="0" bIns="0" rtlCol="0" anchor="t">
            <a:normAutofit/>
          </a:bodyPr>
          <a:lstStyle/>
          <a:p>
            <a:pPr algn="l" indent="0" marL="0">
              <a:buNone/>
            </a:pPr>
            <a:r>
              <a:rPr lang="en-US" sz="1630" b="1" dirty="0">
                <a:solidFill>
                  <a:srgbClr val="241337"/>
                </a:solidFill>
                <a:latin typeface="Aptos" pitchFamily="34" charset="0"/>
                <a:ea typeface="Aptos" pitchFamily="34" charset="-122"/>
                <a:cs typeface="Aptos" pitchFamily="34" charset="-120"/>
              </a:rPr>
              <a:t>Catalogue public</a:t>
            </a:r>
            <a:endParaRPr lang="en-US" sz="1630" dirty="0"/>
          </a:p>
        </p:txBody>
      </p:sp>
      <p:sp>
        <p:nvSpPr>
          <p:cNvPr id="8" name="Text 6"/>
          <p:cNvSpPr/>
          <p:nvPr/>
        </p:nvSpPr>
        <p:spPr>
          <a:xfrm>
            <a:off x="978408" y="2432304"/>
            <a:ext cx="1984248" cy="2606040"/>
          </a:xfrm>
          <a:prstGeom prst="rect">
            <a:avLst/>
          </a:prstGeom>
          <a:noFill/>
          <a:ln/>
        </p:spPr>
        <p:txBody>
          <a:bodyPr wrap="square" lIns="0" tIns="0" rIns="0" bIns="0" rtlCol="0" anchor="t">
            <a:normAutofit/>
          </a:bodyPr>
          <a:lstStyle/>
          <a:p>
            <a:pPr algn="l" indent="0" marL="0">
              <a:buNone/>
            </a:pPr>
            <a:r>
              <a:rPr lang="en-US" sz="1230" dirty="0">
                <a:solidFill>
                  <a:srgbClr val="6F7082"/>
                </a:solidFill>
                <a:latin typeface="Aptos" pitchFamily="34" charset="0"/>
                <a:ea typeface="Aptos" pitchFamily="34" charset="-122"/>
                <a:cs typeface="Aptos" pitchFamily="34" charset="-120"/>
              </a:rPr>
              <a:t>Prix et noms de produits, 1 fois / jour, API inexistante.</a:t>
            </a:r>
            <a:endParaRPr lang="en-US" sz="1230" dirty="0"/>
          </a:p>
        </p:txBody>
      </p:sp>
      <p:sp>
        <p:nvSpPr>
          <p:cNvPr id="9" name="Shape 7"/>
          <p:cNvSpPr/>
          <p:nvPr/>
        </p:nvSpPr>
        <p:spPr>
          <a:xfrm>
            <a:off x="3474720" y="1737360"/>
            <a:ext cx="2487168" cy="3474720"/>
          </a:xfrm>
          <a:prstGeom prst="roundRect">
            <a:avLst>
              <a:gd name="adj" fmla="val 2206"/>
            </a:avLst>
          </a:prstGeom>
          <a:solidFill>
            <a:srgbClr val="FFFFFF"/>
          </a:solidFill>
          <a:ln w="12700">
            <a:solidFill>
              <a:srgbClr val="DDDCE6"/>
            </a:solidFill>
            <a:prstDash val="solid"/>
          </a:ln>
          <a:effectLst>
            <a:outerShdw sx="100000" sy="100000" kx="0" ky="0" algn="bl" rotWithShape="0" blurRad="19050" dist="50800" dir="2700000">
              <a:srgbClr val="D6D3DF">
                <a:alpha val="18000"/>
              </a:srgbClr>
            </a:outerShdw>
          </a:effectLst>
        </p:spPr>
      </p:sp>
      <p:sp>
        <p:nvSpPr>
          <p:cNvPr id="10" name="Shape 8"/>
          <p:cNvSpPr/>
          <p:nvPr/>
        </p:nvSpPr>
        <p:spPr>
          <a:xfrm>
            <a:off x="3474720" y="1737360"/>
            <a:ext cx="73152" cy="3474720"/>
          </a:xfrm>
          <a:prstGeom prst="rect">
            <a:avLst/>
          </a:prstGeom>
          <a:solidFill>
            <a:srgbClr val="D55E5A"/>
          </a:solidFill>
          <a:ln w="12700">
            <a:solidFill>
              <a:srgbClr val="D55E5A"/>
            </a:solidFill>
            <a:prstDash val="solid"/>
          </a:ln>
        </p:spPr>
      </p:sp>
      <p:sp>
        <p:nvSpPr>
          <p:cNvPr id="11" name="Text 9"/>
          <p:cNvSpPr/>
          <p:nvPr/>
        </p:nvSpPr>
        <p:spPr>
          <a:xfrm>
            <a:off x="3822192" y="1993392"/>
            <a:ext cx="320040" cy="256032"/>
          </a:xfrm>
          <a:prstGeom prst="rect">
            <a:avLst/>
          </a:prstGeom>
          <a:noFill/>
          <a:ln/>
        </p:spPr>
        <p:txBody>
          <a:bodyPr wrap="square" lIns="0" tIns="0" rIns="0" bIns="0" rtlCol="0" anchor="ctr">
            <a:normAutofit/>
          </a:bodyPr>
          <a:lstStyle/>
          <a:p>
            <a:pPr algn="l" indent="0" marL="0">
              <a:buNone/>
            </a:pPr>
            <a:r>
              <a:rPr lang="en-US" sz="1900" b="1" dirty="0">
                <a:solidFill>
                  <a:srgbClr val="D55E5A"/>
                </a:solidFill>
                <a:latin typeface="Aptos" pitchFamily="34" charset="0"/>
                <a:ea typeface="Aptos" pitchFamily="34" charset="-122"/>
                <a:cs typeface="Aptos" pitchFamily="34" charset="-120"/>
              </a:rPr>
              <a:t>B</a:t>
            </a:r>
            <a:endParaRPr lang="en-US" sz="1900" dirty="0"/>
          </a:p>
        </p:txBody>
      </p:sp>
      <p:sp>
        <p:nvSpPr>
          <p:cNvPr id="12" name="Text 10"/>
          <p:cNvSpPr/>
          <p:nvPr/>
        </p:nvSpPr>
        <p:spPr>
          <a:xfrm>
            <a:off x="4187952" y="1956816"/>
            <a:ext cx="1572768" cy="347472"/>
          </a:xfrm>
          <a:prstGeom prst="rect">
            <a:avLst/>
          </a:prstGeom>
          <a:noFill/>
          <a:ln/>
        </p:spPr>
        <p:txBody>
          <a:bodyPr wrap="square" lIns="0" tIns="0" rIns="0" bIns="0" rtlCol="0" anchor="t">
            <a:normAutofit/>
          </a:bodyPr>
          <a:lstStyle/>
          <a:p>
            <a:pPr algn="l" indent="0" marL="0">
              <a:buNone/>
            </a:pPr>
            <a:r>
              <a:rPr lang="en-US" sz="1630" b="1" dirty="0">
                <a:solidFill>
                  <a:srgbClr val="241337"/>
                </a:solidFill>
                <a:latin typeface="Aptos" pitchFamily="34" charset="0"/>
                <a:ea typeface="Aptos" pitchFamily="34" charset="-122"/>
                <a:cs typeface="Aptos" pitchFamily="34" charset="-120"/>
              </a:rPr>
              <a:t>Réseau social</a:t>
            </a:r>
            <a:endParaRPr lang="en-US" sz="1630" dirty="0"/>
          </a:p>
        </p:txBody>
      </p:sp>
      <p:sp>
        <p:nvSpPr>
          <p:cNvPr id="13" name="Text 11"/>
          <p:cNvSpPr/>
          <p:nvPr/>
        </p:nvSpPr>
        <p:spPr>
          <a:xfrm>
            <a:off x="3767328" y="2432304"/>
            <a:ext cx="1984248" cy="2606040"/>
          </a:xfrm>
          <a:prstGeom prst="rect">
            <a:avLst/>
          </a:prstGeom>
          <a:noFill/>
          <a:ln/>
        </p:spPr>
        <p:txBody>
          <a:bodyPr wrap="square" lIns="0" tIns="0" rIns="0" bIns="0" rtlCol="0" anchor="t">
            <a:normAutofit/>
          </a:bodyPr>
          <a:lstStyle/>
          <a:p>
            <a:pPr algn="l" indent="0" marL="0">
              <a:buNone/>
            </a:pPr>
            <a:r>
              <a:rPr lang="en-US" sz="1230" dirty="0">
                <a:solidFill>
                  <a:srgbClr val="6F7082"/>
                </a:solidFill>
                <a:latin typeface="Aptos" pitchFamily="34" charset="0"/>
                <a:ea typeface="Aptos" pitchFamily="34" charset="-122"/>
                <a:cs typeface="Aptos" pitchFamily="34" charset="-120"/>
              </a:rPr>
              <a:t>Profils nominatifs + emails pour prospection.</a:t>
            </a:r>
            <a:endParaRPr lang="en-US" sz="1230" dirty="0"/>
          </a:p>
        </p:txBody>
      </p:sp>
      <p:sp>
        <p:nvSpPr>
          <p:cNvPr id="14" name="Shape 12"/>
          <p:cNvSpPr/>
          <p:nvPr/>
        </p:nvSpPr>
        <p:spPr>
          <a:xfrm>
            <a:off x="6263640" y="1737360"/>
            <a:ext cx="2487168" cy="3474720"/>
          </a:xfrm>
          <a:prstGeom prst="roundRect">
            <a:avLst>
              <a:gd name="adj" fmla="val 2206"/>
            </a:avLst>
          </a:prstGeom>
          <a:solidFill>
            <a:srgbClr val="FFFFFF"/>
          </a:solidFill>
          <a:ln w="12700">
            <a:solidFill>
              <a:srgbClr val="DDDCE6"/>
            </a:solidFill>
            <a:prstDash val="solid"/>
          </a:ln>
          <a:effectLst>
            <a:outerShdw sx="100000" sy="100000" kx="0" ky="0" algn="bl" rotWithShape="0" blurRad="19050" dist="50800" dir="2700000">
              <a:srgbClr val="D6D3DF">
                <a:alpha val="18000"/>
              </a:srgbClr>
            </a:outerShdw>
          </a:effectLst>
        </p:spPr>
      </p:sp>
      <p:sp>
        <p:nvSpPr>
          <p:cNvPr id="15" name="Shape 13"/>
          <p:cNvSpPr/>
          <p:nvPr/>
        </p:nvSpPr>
        <p:spPr>
          <a:xfrm>
            <a:off x="6263640" y="1737360"/>
            <a:ext cx="73152" cy="3474720"/>
          </a:xfrm>
          <a:prstGeom prst="rect">
            <a:avLst/>
          </a:prstGeom>
          <a:solidFill>
            <a:srgbClr val="4F7FC4"/>
          </a:solidFill>
          <a:ln w="12700">
            <a:solidFill>
              <a:srgbClr val="4F7FC4"/>
            </a:solidFill>
            <a:prstDash val="solid"/>
          </a:ln>
        </p:spPr>
      </p:sp>
      <p:sp>
        <p:nvSpPr>
          <p:cNvPr id="16" name="Text 14"/>
          <p:cNvSpPr/>
          <p:nvPr/>
        </p:nvSpPr>
        <p:spPr>
          <a:xfrm>
            <a:off x="6611112" y="1993392"/>
            <a:ext cx="320040" cy="256032"/>
          </a:xfrm>
          <a:prstGeom prst="rect">
            <a:avLst/>
          </a:prstGeom>
          <a:noFill/>
          <a:ln/>
        </p:spPr>
        <p:txBody>
          <a:bodyPr wrap="square" lIns="0" tIns="0" rIns="0" bIns="0" rtlCol="0" anchor="ctr">
            <a:normAutofit/>
          </a:bodyPr>
          <a:lstStyle/>
          <a:p>
            <a:pPr algn="l" indent="0" marL="0">
              <a:buNone/>
            </a:pPr>
            <a:r>
              <a:rPr lang="en-US" sz="1900" b="1" dirty="0">
                <a:solidFill>
                  <a:srgbClr val="4F7FC4"/>
                </a:solidFill>
                <a:latin typeface="Aptos" pitchFamily="34" charset="0"/>
                <a:ea typeface="Aptos" pitchFamily="34" charset="-122"/>
                <a:cs typeface="Aptos" pitchFamily="34" charset="-120"/>
              </a:rPr>
              <a:t>C</a:t>
            </a:r>
            <a:endParaRPr lang="en-US" sz="1900" dirty="0"/>
          </a:p>
        </p:txBody>
      </p:sp>
      <p:sp>
        <p:nvSpPr>
          <p:cNvPr id="17" name="Text 15"/>
          <p:cNvSpPr/>
          <p:nvPr/>
        </p:nvSpPr>
        <p:spPr>
          <a:xfrm>
            <a:off x="6976872" y="1956816"/>
            <a:ext cx="1572768" cy="347472"/>
          </a:xfrm>
          <a:prstGeom prst="rect">
            <a:avLst/>
          </a:prstGeom>
          <a:noFill/>
          <a:ln/>
        </p:spPr>
        <p:txBody>
          <a:bodyPr wrap="square" lIns="0" tIns="0" rIns="0" bIns="0" rtlCol="0" anchor="t">
            <a:normAutofit/>
          </a:bodyPr>
          <a:lstStyle/>
          <a:p>
            <a:pPr algn="l" indent="0" marL="0">
              <a:buNone/>
            </a:pPr>
            <a:r>
              <a:rPr lang="en-US" sz="1630" b="1" dirty="0">
                <a:solidFill>
                  <a:srgbClr val="241337"/>
                </a:solidFill>
                <a:latin typeface="Aptos" pitchFamily="34" charset="0"/>
                <a:ea typeface="Aptos" pitchFamily="34" charset="-122"/>
                <a:cs typeface="Aptos" pitchFamily="34" charset="-120"/>
              </a:rPr>
              <a:t>Open data</a:t>
            </a:r>
            <a:endParaRPr lang="en-US" sz="1630" dirty="0"/>
          </a:p>
        </p:txBody>
      </p:sp>
      <p:sp>
        <p:nvSpPr>
          <p:cNvPr id="18" name="Text 16"/>
          <p:cNvSpPr/>
          <p:nvPr/>
        </p:nvSpPr>
        <p:spPr>
          <a:xfrm>
            <a:off x="6556248" y="2432304"/>
            <a:ext cx="1984248" cy="2606040"/>
          </a:xfrm>
          <a:prstGeom prst="rect">
            <a:avLst/>
          </a:prstGeom>
          <a:noFill/>
          <a:ln/>
        </p:spPr>
        <p:txBody>
          <a:bodyPr wrap="square" lIns="0" tIns="0" rIns="0" bIns="0" rtlCol="0" anchor="t">
            <a:normAutofit/>
          </a:bodyPr>
          <a:lstStyle/>
          <a:p>
            <a:pPr algn="l" indent="0" marL="0">
              <a:buNone/>
            </a:pPr>
            <a:r>
              <a:rPr lang="en-US" sz="1230" dirty="0">
                <a:solidFill>
                  <a:srgbClr val="6F7082"/>
                </a:solidFill>
                <a:latin typeface="Aptos" pitchFamily="34" charset="0"/>
                <a:ea typeface="Aptos" pitchFamily="34" charset="-122"/>
                <a:cs typeface="Aptos" pitchFamily="34" charset="-120"/>
              </a:rPr>
              <a:t>Dataset officiel avec licence et documentation.</a:t>
            </a:r>
            <a:endParaRPr lang="en-US" sz="1230" dirty="0"/>
          </a:p>
        </p:txBody>
      </p:sp>
      <p:sp>
        <p:nvSpPr>
          <p:cNvPr id="19" name="Shape 17"/>
          <p:cNvSpPr/>
          <p:nvPr/>
        </p:nvSpPr>
        <p:spPr>
          <a:xfrm>
            <a:off x="9052560" y="1737360"/>
            <a:ext cx="2487168" cy="3474720"/>
          </a:xfrm>
          <a:prstGeom prst="roundRect">
            <a:avLst>
              <a:gd name="adj" fmla="val 2206"/>
            </a:avLst>
          </a:prstGeom>
          <a:solidFill>
            <a:srgbClr val="FFFFFF"/>
          </a:solidFill>
          <a:ln w="12700">
            <a:solidFill>
              <a:srgbClr val="DDDCE6"/>
            </a:solidFill>
            <a:prstDash val="solid"/>
          </a:ln>
          <a:effectLst>
            <a:outerShdw sx="100000" sy="100000" kx="0" ky="0" algn="bl" rotWithShape="0" blurRad="19050" dist="50800" dir="2700000">
              <a:srgbClr val="D6D3DF">
                <a:alpha val="18000"/>
              </a:srgbClr>
            </a:outerShdw>
          </a:effectLst>
        </p:spPr>
      </p:sp>
      <p:sp>
        <p:nvSpPr>
          <p:cNvPr id="20" name="Shape 18"/>
          <p:cNvSpPr/>
          <p:nvPr/>
        </p:nvSpPr>
        <p:spPr>
          <a:xfrm>
            <a:off x="9052560" y="1737360"/>
            <a:ext cx="73152" cy="3474720"/>
          </a:xfrm>
          <a:prstGeom prst="rect">
            <a:avLst/>
          </a:prstGeom>
          <a:solidFill>
            <a:srgbClr val="DB8129"/>
          </a:solidFill>
          <a:ln w="12700">
            <a:solidFill>
              <a:srgbClr val="DB8129"/>
            </a:solidFill>
            <a:prstDash val="solid"/>
          </a:ln>
        </p:spPr>
      </p:sp>
      <p:sp>
        <p:nvSpPr>
          <p:cNvPr id="21" name="Text 19"/>
          <p:cNvSpPr/>
          <p:nvPr/>
        </p:nvSpPr>
        <p:spPr>
          <a:xfrm>
            <a:off x="9400032" y="1993392"/>
            <a:ext cx="320040" cy="256032"/>
          </a:xfrm>
          <a:prstGeom prst="rect">
            <a:avLst/>
          </a:prstGeom>
          <a:noFill/>
          <a:ln/>
        </p:spPr>
        <p:txBody>
          <a:bodyPr wrap="square" lIns="0" tIns="0" rIns="0" bIns="0" rtlCol="0" anchor="ctr">
            <a:normAutofit/>
          </a:bodyPr>
          <a:lstStyle/>
          <a:p>
            <a:pPr algn="l" indent="0" marL="0">
              <a:buNone/>
            </a:pPr>
            <a:r>
              <a:rPr lang="en-US" sz="1900" b="1" dirty="0">
                <a:solidFill>
                  <a:srgbClr val="DB8129"/>
                </a:solidFill>
                <a:latin typeface="Aptos" pitchFamily="34" charset="0"/>
                <a:ea typeface="Aptos" pitchFamily="34" charset="-122"/>
                <a:cs typeface="Aptos" pitchFamily="34" charset="-120"/>
              </a:rPr>
              <a:t>D</a:t>
            </a:r>
            <a:endParaRPr lang="en-US" sz="1900" dirty="0"/>
          </a:p>
        </p:txBody>
      </p:sp>
      <p:sp>
        <p:nvSpPr>
          <p:cNvPr id="22" name="Text 20"/>
          <p:cNvSpPr/>
          <p:nvPr/>
        </p:nvSpPr>
        <p:spPr>
          <a:xfrm>
            <a:off x="9765792" y="1956816"/>
            <a:ext cx="1572768" cy="347472"/>
          </a:xfrm>
          <a:prstGeom prst="rect">
            <a:avLst/>
          </a:prstGeom>
          <a:noFill/>
          <a:ln/>
        </p:spPr>
        <p:txBody>
          <a:bodyPr wrap="square" lIns="0" tIns="0" rIns="0" bIns="0" rtlCol="0" anchor="t">
            <a:normAutofit/>
          </a:bodyPr>
          <a:lstStyle/>
          <a:p>
            <a:pPr algn="l" indent="0" marL="0">
              <a:buNone/>
            </a:pPr>
            <a:r>
              <a:rPr lang="en-US" sz="1630" b="1" dirty="0">
                <a:solidFill>
                  <a:srgbClr val="241337"/>
                </a:solidFill>
                <a:latin typeface="Aptos" pitchFamily="34" charset="0"/>
                <a:ea typeface="Aptos" pitchFamily="34" charset="-122"/>
                <a:cs typeface="Aptos" pitchFamily="34" charset="-120"/>
              </a:rPr>
              <a:t>Zone authentifiée</a:t>
            </a:r>
            <a:endParaRPr lang="en-US" sz="1630" dirty="0"/>
          </a:p>
        </p:txBody>
      </p:sp>
      <p:sp>
        <p:nvSpPr>
          <p:cNvPr id="23" name="Text 21"/>
          <p:cNvSpPr/>
          <p:nvPr/>
        </p:nvSpPr>
        <p:spPr>
          <a:xfrm>
            <a:off x="9345168" y="2432304"/>
            <a:ext cx="1984248" cy="2606040"/>
          </a:xfrm>
          <a:prstGeom prst="rect">
            <a:avLst/>
          </a:prstGeom>
          <a:noFill/>
          <a:ln/>
        </p:spPr>
        <p:txBody>
          <a:bodyPr wrap="square" lIns="0" tIns="0" rIns="0" bIns="0" rtlCol="0" anchor="t">
            <a:normAutofit/>
          </a:bodyPr>
          <a:lstStyle/>
          <a:p>
            <a:pPr algn="l" indent="0" marL="0">
              <a:buNone/>
            </a:pPr>
            <a:r>
              <a:rPr lang="en-US" sz="1230" dirty="0">
                <a:solidFill>
                  <a:srgbClr val="6F7082"/>
                </a:solidFill>
                <a:latin typeface="Aptos" pitchFamily="34" charset="0"/>
                <a:ea typeface="Aptos" pitchFamily="34" charset="-122"/>
                <a:cs typeface="Aptos" pitchFamily="34" charset="-120"/>
              </a:rPr>
              <a:t>Données visibles seulement après connexion utilisateur.</a:t>
            </a:r>
            <a:endParaRPr lang="en-US" sz="1230" dirty="0"/>
          </a:p>
        </p:txBody>
      </p:sp>
      <p:sp>
        <p:nvSpPr>
          <p:cNvPr id="24" name="Text 22"/>
          <p:cNvSpPr/>
          <p:nvPr/>
        </p:nvSpPr>
        <p:spPr>
          <a:xfrm>
            <a:off x="1508760" y="5468112"/>
            <a:ext cx="9235440" cy="320040"/>
          </a:xfrm>
          <a:prstGeom prst="rect">
            <a:avLst/>
          </a:prstGeom>
          <a:noFill/>
          <a:ln/>
        </p:spPr>
        <p:txBody>
          <a:bodyPr wrap="square" lIns="0" tIns="0" rIns="0" bIns="0" rtlCol="0" anchor="ctr">
            <a:normAutofit/>
          </a:bodyPr>
          <a:lstStyle/>
          <a:p>
            <a:pPr algn="ctr" indent="0" marL="0">
              <a:buNone/>
            </a:pPr>
            <a:r>
              <a:rPr lang="en-US" sz="1600" b="1" dirty="0">
                <a:solidFill>
                  <a:srgbClr val="241337"/>
                </a:solidFill>
                <a:latin typeface="Aptos" pitchFamily="34" charset="0"/>
                <a:ea typeface="Aptos" pitchFamily="34" charset="-122"/>
                <a:cs typeface="Aptos" pitchFamily="34" charset="-120"/>
              </a:rPr>
              <a:t>Pour chaque cas : donnée → finalité → règles → technique → garanties.</a:t>
            </a:r>
            <a:endParaRPr lang="en-US" sz="1600" dirty="0"/>
          </a:p>
        </p:txBody>
      </p:sp>
      <p:sp>
        <p:nvSpPr>
          <p:cNvPr id="25" name="Slide Number Placeholder 0"/>
          <p:cNvSpPr>
            <a:spLocks noGrp="1"/>
          </p:cNvSpPr>
          <p:nvPr>
            <p:ph type="sldNum" sz="quarter" idx="4294967295"/>
          </p:nvPr>
        </p:nvSpPr>
        <p:spPr>
          <a:xfrm>
            <a:off x="11750040" y="274320"/>
            <a:ext cx="228600" cy="164592"/>
          </a:xfrm>
          <a:prstGeom prst="rect">
            <a:avLst/>
          </a:prstGeom>
          <a:extLst>
            <a:ext uri="{C572A759-6A51-4108-AA02-DFA0A04FC94B}">
              <ma14:wrappingTextBoxFlag xmlns:ma14="http://schemas.microsoft.com/office/mac/drawingml/2011/main" val="0"/>
            </a:ext>
          </a:extLst>
        </p:spPr>
        <p:txBody>
          <a:bodyPr/>
          <a:lstStyle>
            <a:lvl1pPr>
              <a:defRPr sz="800">
                <a:solidFill>
                  <a:srgbClr val="858697"/>
                </a:solidFill>
                <a:latin typeface="Aptos"/>
                <a:ea typeface="Aptos"/>
                <a:cs typeface="Aptos"/>
              </a:defRPr>
            </a:lvl1pPr>
          </a:lstStyle>
          <a:p>
            <a:pPr algn="r"/>
            <a:fld id="{F7021451-1387-4CA6-816F-3879F97B5CBC}" type="slidenum">
              <a:rPr b="0"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566928" y="438912"/>
            <a:ext cx="5029200" cy="228600"/>
          </a:xfrm>
          <a:prstGeom prst="rect">
            <a:avLst/>
          </a:prstGeom>
          <a:noFill/>
          <a:ln/>
        </p:spPr>
        <p:txBody>
          <a:bodyPr wrap="square" lIns="0" tIns="0" rIns="0" bIns="0" rtlCol="0" anchor="ctr">
            <a:normAutofit/>
          </a:bodyPr>
          <a:lstStyle/>
          <a:p>
            <a:pPr algn="l" indent="0" marL="0">
              <a:buNone/>
            </a:pPr>
            <a:r>
              <a:rPr lang="en-US" sz="1050" b="1" spc="150" kern="0" dirty="0">
                <a:solidFill>
                  <a:srgbClr val="7432A8"/>
                </a:solidFill>
                <a:latin typeface="Aptos" pitchFamily="34" charset="0"/>
                <a:ea typeface="Aptos" pitchFamily="34" charset="-122"/>
                <a:cs typeface="Aptos" pitchFamily="34" charset="-120"/>
              </a:rPr>
              <a:t>DÉBAT</a:t>
            </a:r>
            <a:endParaRPr lang="en-US" sz="1050" dirty="0"/>
          </a:p>
        </p:txBody>
      </p:sp>
      <p:sp>
        <p:nvSpPr>
          <p:cNvPr id="3" name="Text 1"/>
          <p:cNvSpPr/>
          <p:nvPr/>
        </p:nvSpPr>
        <p:spPr>
          <a:xfrm>
            <a:off x="566928" y="768096"/>
            <a:ext cx="10972800" cy="566928"/>
          </a:xfrm>
          <a:prstGeom prst="rect">
            <a:avLst/>
          </a:prstGeom>
          <a:noFill/>
          <a:ln/>
        </p:spPr>
        <p:txBody>
          <a:bodyPr wrap="square" lIns="0" tIns="0" rIns="0" bIns="0" rtlCol="0" anchor="t">
            <a:normAutofit/>
          </a:bodyPr>
          <a:lstStyle/>
          <a:p>
            <a:pPr algn="l" indent="0" marL="0">
              <a:buNone/>
            </a:pPr>
            <a:r>
              <a:rPr lang="en-US" sz="2800" b="1" dirty="0">
                <a:solidFill>
                  <a:srgbClr val="241337"/>
                </a:solidFill>
                <a:latin typeface="Aptos" pitchFamily="34" charset="0"/>
                <a:ea typeface="Aptos" pitchFamily="34" charset="-122"/>
                <a:cs typeface="Aptos" pitchFamily="34" charset="-120"/>
              </a:rPr>
              <a:t>Techniquement possible : est-ce suffisant ?</a:t>
            </a:r>
            <a:endParaRPr lang="en-US" sz="2800" dirty="0"/>
          </a:p>
        </p:txBody>
      </p:sp>
      <p:sp>
        <p:nvSpPr>
          <p:cNvPr id="4" name="Shape 2"/>
          <p:cNvSpPr/>
          <p:nvPr/>
        </p:nvSpPr>
        <p:spPr>
          <a:xfrm>
            <a:off x="914400" y="1737360"/>
            <a:ext cx="10332720" cy="960120"/>
          </a:xfrm>
          <a:prstGeom prst="roundRect">
            <a:avLst>
              <a:gd name="adj" fmla="val 5714"/>
            </a:avLst>
          </a:prstGeom>
          <a:solidFill>
            <a:srgbClr val="F0ECF4"/>
          </a:solidFill>
          <a:ln w="12700">
            <a:solidFill>
              <a:srgbClr val="E1D7E8"/>
            </a:solidFill>
            <a:prstDash val="solid"/>
          </a:ln>
        </p:spPr>
      </p:sp>
      <p:sp>
        <p:nvSpPr>
          <p:cNvPr id="5" name="Text 3"/>
          <p:cNvSpPr/>
          <p:nvPr/>
        </p:nvSpPr>
        <p:spPr>
          <a:xfrm>
            <a:off x="1234440" y="2029968"/>
            <a:ext cx="9692640" cy="274320"/>
          </a:xfrm>
          <a:prstGeom prst="rect">
            <a:avLst/>
          </a:prstGeom>
          <a:noFill/>
          <a:ln/>
        </p:spPr>
        <p:txBody>
          <a:bodyPr wrap="square" lIns="0" tIns="0" rIns="0" bIns="0" rtlCol="0" anchor="ctr">
            <a:normAutofit/>
          </a:bodyPr>
          <a:lstStyle/>
          <a:p>
            <a:pPr algn="ctr" indent="0" marL="0">
              <a:buNone/>
            </a:pPr>
            <a:r>
              <a:rPr lang="en-US" sz="1900" b="1" dirty="0">
                <a:solidFill>
                  <a:srgbClr val="241337"/>
                </a:solidFill>
                <a:latin typeface="Aptos" pitchFamily="34" charset="0"/>
                <a:ea typeface="Aptos" pitchFamily="34" charset="-122"/>
                <a:cs typeface="Aptos" pitchFamily="34" charset="-120"/>
              </a:rPr>
              <a:t>« Nous pouvons collecter 2 millions de profils publics en quelques heures. »</a:t>
            </a:r>
            <a:endParaRPr lang="en-US" sz="1900" dirty="0"/>
          </a:p>
        </p:txBody>
      </p:sp>
      <p:sp>
        <p:nvSpPr>
          <p:cNvPr id="6" name="Shape 4"/>
          <p:cNvSpPr/>
          <p:nvPr/>
        </p:nvSpPr>
        <p:spPr>
          <a:xfrm>
            <a:off x="960120" y="3154680"/>
            <a:ext cx="3063240" cy="1874520"/>
          </a:xfrm>
          <a:prstGeom prst="roundRect">
            <a:avLst>
              <a:gd name="adj" fmla="val 2927"/>
            </a:avLst>
          </a:prstGeom>
          <a:solidFill>
            <a:srgbClr val="FFFFFF"/>
          </a:solidFill>
          <a:ln w="12700">
            <a:solidFill>
              <a:srgbClr val="DDDCE6"/>
            </a:solidFill>
            <a:prstDash val="solid"/>
          </a:ln>
          <a:effectLst>
            <a:outerShdw sx="100000" sy="100000" kx="0" ky="0" algn="bl" rotWithShape="0" blurRad="19050" dist="50800" dir="2700000">
              <a:srgbClr val="D6D3DF">
                <a:alpha val="18000"/>
              </a:srgbClr>
            </a:outerShdw>
          </a:effectLst>
        </p:spPr>
      </p:sp>
      <p:sp>
        <p:nvSpPr>
          <p:cNvPr id="7" name="Shape 5"/>
          <p:cNvSpPr/>
          <p:nvPr/>
        </p:nvSpPr>
        <p:spPr>
          <a:xfrm>
            <a:off x="960120" y="3154680"/>
            <a:ext cx="73152" cy="1874520"/>
          </a:xfrm>
          <a:prstGeom prst="rect">
            <a:avLst/>
          </a:prstGeom>
          <a:solidFill>
            <a:srgbClr val="4F7FC4"/>
          </a:solidFill>
          <a:ln w="12700">
            <a:solidFill>
              <a:srgbClr val="4F7FC4"/>
            </a:solidFill>
            <a:prstDash val="solid"/>
          </a:ln>
        </p:spPr>
      </p:sp>
      <p:sp>
        <p:nvSpPr>
          <p:cNvPr id="8" name="Text 6"/>
          <p:cNvSpPr/>
          <p:nvPr/>
        </p:nvSpPr>
        <p:spPr>
          <a:xfrm>
            <a:off x="1280160" y="3374136"/>
            <a:ext cx="2560320" cy="347472"/>
          </a:xfrm>
          <a:prstGeom prst="rect">
            <a:avLst/>
          </a:prstGeom>
          <a:noFill/>
          <a:ln/>
        </p:spPr>
        <p:txBody>
          <a:bodyPr wrap="square" lIns="0" tIns="0" rIns="0" bIns="0" rtlCol="0" anchor="t">
            <a:normAutofit/>
          </a:bodyPr>
          <a:lstStyle/>
          <a:p>
            <a:pPr algn="l" indent="0" marL="0">
              <a:buNone/>
            </a:pPr>
            <a:r>
              <a:rPr lang="en-US" sz="1630" b="1" dirty="0">
                <a:solidFill>
                  <a:srgbClr val="241337"/>
                </a:solidFill>
                <a:latin typeface="Aptos" pitchFamily="34" charset="0"/>
                <a:ea typeface="Aptos" pitchFamily="34" charset="-122"/>
                <a:cs typeface="Aptos" pitchFamily="34" charset="-120"/>
              </a:rPr>
              <a:t>Groupe 1 — Technique</a:t>
            </a:r>
            <a:endParaRPr lang="en-US" sz="1630" dirty="0"/>
          </a:p>
        </p:txBody>
      </p:sp>
      <p:sp>
        <p:nvSpPr>
          <p:cNvPr id="9" name="Text 7"/>
          <p:cNvSpPr/>
          <p:nvPr/>
        </p:nvSpPr>
        <p:spPr>
          <a:xfrm>
            <a:off x="1252728" y="3849624"/>
            <a:ext cx="2560320" cy="1005840"/>
          </a:xfrm>
          <a:prstGeom prst="rect">
            <a:avLst/>
          </a:prstGeom>
          <a:noFill/>
          <a:ln/>
        </p:spPr>
        <p:txBody>
          <a:bodyPr wrap="square" lIns="0" tIns="0" rIns="0" bIns="0" rtlCol="0" anchor="t">
            <a:normAutofit/>
          </a:bodyPr>
          <a:lstStyle/>
          <a:p>
            <a:pPr algn="l" indent="0" marL="0">
              <a:buNone/>
            </a:pPr>
            <a:r>
              <a:rPr lang="en-US" sz="1230" dirty="0">
                <a:solidFill>
                  <a:srgbClr val="6F7082"/>
                </a:solidFill>
                <a:latin typeface="Aptos" pitchFamily="34" charset="0"/>
                <a:ea typeface="Aptos" pitchFamily="34" charset="-122"/>
                <a:cs typeface="Aptos" pitchFamily="34" charset="-120"/>
              </a:rPr>
              <a:t>Risques pour le site, robustesse, maintenance, qualité.</a:t>
            </a:r>
            <a:endParaRPr lang="en-US" sz="1230" dirty="0"/>
          </a:p>
        </p:txBody>
      </p:sp>
      <p:sp>
        <p:nvSpPr>
          <p:cNvPr id="10" name="Shape 8"/>
          <p:cNvSpPr/>
          <p:nvPr/>
        </p:nvSpPr>
        <p:spPr>
          <a:xfrm>
            <a:off x="4553712" y="3154680"/>
            <a:ext cx="3063240" cy="1874520"/>
          </a:xfrm>
          <a:prstGeom prst="roundRect">
            <a:avLst>
              <a:gd name="adj" fmla="val 2927"/>
            </a:avLst>
          </a:prstGeom>
          <a:solidFill>
            <a:srgbClr val="FFFFFF"/>
          </a:solidFill>
          <a:ln w="12700">
            <a:solidFill>
              <a:srgbClr val="DDDCE6"/>
            </a:solidFill>
            <a:prstDash val="solid"/>
          </a:ln>
          <a:effectLst>
            <a:outerShdw sx="100000" sy="100000" kx="0" ky="0" algn="bl" rotWithShape="0" blurRad="19050" dist="50800" dir="2700000">
              <a:srgbClr val="D6D3DF">
                <a:alpha val="18000"/>
              </a:srgbClr>
            </a:outerShdw>
          </a:effectLst>
        </p:spPr>
      </p:sp>
      <p:sp>
        <p:nvSpPr>
          <p:cNvPr id="11" name="Shape 9"/>
          <p:cNvSpPr/>
          <p:nvPr/>
        </p:nvSpPr>
        <p:spPr>
          <a:xfrm>
            <a:off x="4553712" y="3154680"/>
            <a:ext cx="73152" cy="1874520"/>
          </a:xfrm>
          <a:prstGeom prst="rect">
            <a:avLst/>
          </a:prstGeom>
          <a:solidFill>
            <a:srgbClr val="DB8129"/>
          </a:solidFill>
          <a:ln w="12700">
            <a:solidFill>
              <a:srgbClr val="DB8129"/>
            </a:solidFill>
            <a:prstDash val="solid"/>
          </a:ln>
        </p:spPr>
      </p:sp>
      <p:sp>
        <p:nvSpPr>
          <p:cNvPr id="12" name="Text 10"/>
          <p:cNvSpPr/>
          <p:nvPr/>
        </p:nvSpPr>
        <p:spPr>
          <a:xfrm>
            <a:off x="4873752" y="3374136"/>
            <a:ext cx="2560320" cy="347472"/>
          </a:xfrm>
          <a:prstGeom prst="rect">
            <a:avLst/>
          </a:prstGeom>
          <a:noFill/>
          <a:ln/>
        </p:spPr>
        <p:txBody>
          <a:bodyPr wrap="square" lIns="0" tIns="0" rIns="0" bIns="0" rtlCol="0" anchor="t">
            <a:normAutofit/>
          </a:bodyPr>
          <a:lstStyle/>
          <a:p>
            <a:pPr algn="l" indent="0" marL="0">
              <a:buNone/>
            </a:pPr>
            <a:r>
              <a:rPr lang="en-US" sz="1630" b="1" dirty="0">
                <a:solidFill>
                  <a:srgbClr val="241337"/>
                </a:solidFill>
                <a:latin typeface="Aptos" pitchFamily="34" charset="0"/>
                <a:ea typeface="Aptos" pitchFamily="34" charset="-122"/>
                <a:cs typeface="Aptos" pitchFamily="34" charset="-120"/>
              </a:rPr>
              <a:t>Groupe 2 — Droit</a:t>
            </a:r>
            <a:endParaRPr lang="en-US" sz="1630" dirty="0"/>
          </a:p>
        </p:txBody>
      </p:sp>
      <p:sp>
        <p:nvSpPr>
          <p:cNvPr id="13" name="Text 11"/>
          <p:cNvSpPr/>
          <p:nvPr/>
        </p:nvSpPr>
        <p:spPr>
          <a:xfrm>
            <a:off x="4846320" y="3849624"/>
            <a:ext cx="2560320" cy="1005840"/>
          </a:xfrm>
          <a:prstGeom prst="rect">
            <a:avLst/>
          </a:prstGeom>
          <a:noFill/>
          <a:ln/>
        </p:spPr>
        <p:txBody>
          <a:bodyPr wrap="square" lIns="0" tIns="0" rIns="0" bIns="0" rtlCol="0" anchor="t">
            <a:normAutofit/>
          </a:bodyPr>
          <a:lstStyle/>
          <a:p>
            <a:pPr algn="l" indent="0" marL="0">
              <a:buNone/>
            </a:pPr>
            <a:r>
              <a:rPr lang="en-US" sz="1230" dirty="0">
                <a:solidFill>
                  <a:srgbClr val="6F7082"/>
                </a:solidFill>
                <a:latin typeface="Aptos" pitchFamily="34" charset="0"/>
                <a:ea typeface="Aptos" pitchFamily="34" charset="-122"/>
                <a:cs typeface="Aptos" pitchFamily="34" charset="-120"/>
              </a:rPr>
              <a:t>Données, finalité, base légale, droits, CGU, licences.</a:t>
            </a:r>
            <a:endParaRPr lang="en-US" sz="1230" dirty="0"/>
          </a:p>
        </p:txBody>
      </p:sp>
      <p:sp>
        <p:nvSpPr>
          <p:cNvPr id="14" name="Shape 12"/>
          <p:cNvSpPr/>
          <p:nvPr/>
        </p:nvSpPr>
        <p:spPr>
          <a:xfrm>
            <a:off x="8138160" y="3154680"/>
            <a:ext cx="3063240" cy="1874520"/>
          </a:xfrm>
          <a:prstGeom prst="roundRect">
            <a:avLst>
              <a:gd name="adj" fmla="val 2927"/>
            </a:avLst>
          </a:prstGeom>
          <a:solidFill>
            <a:srgbClr val="FFFFFF"/>
          </a:solidFill>
          <a:ln w="12700">
            <a:solidFill>
              <a:srgbClr val="DDDCE6"/>
            </a:solidFill>
            <a:prstDash val="solid"/>
          </a:ln>
          <a:effectLst>
            <a:outerShdw sx="100000" sy="100000" kx="0" ky="0" algn="bl" rotWithShape="0" blurRad="19050" dist="50800" dir="2700000">
              <a:srgbClr val="D6D3DF">
                <a:alpha val="18000"/>
              </a:srgbClr>
            </a:outerShdw>
          </a:effectLst>
        </p:spPr>
      </p:sp>
      <p:sp>
        <p:nvSpPr>
          <p:cNvPr id="15" name="Shape 13"/>
          <p:cNvSpPr/>
          <p:nvPr/>
        </p:nvSpPr>
        <p:spPr>
          <a:xfrm>
            <a:off x="8138160" y="3154680"/>
            <a:ext cx="73152" cy="1874520"/>
          </a:xfrm>
          <a:prstGeom prst="rect">
            <a:avLst/>
          </a:prstGeom>
          <a:solidFill>
            <a:srgbClr val="4EA27B"/>
          </a:solidFill>
          <a:ln w="12700">
            <a:solidFill>
              <a:srgbClr val="4EA27B"/>
            </a:solidFill>
            <a:prstDash val="solid"/>
          </a:ln>
        </p:spPr>
      </p:sp>
      <p:sp>
        <p:nvSpPr>
          <p:cNvPr id="16" name="Text 14"/>
          <p:cNvSpPr/>
          <p:nvPr/>
        </p:nvSpPr>
        <p:spPr>
          <a:xfrm>
            <a:off x="8458200" y="3374136"/>
            <a:ext cx="2560320" cy="347472"/>
          </a:xfrm>
          <a:prstGeom prst="rect">
            <a:avLst/>
          </a:prstGeom>
          <a:noFill/>
          <a:ln/>
        </p:spPr>
        <p:txBody>
          <a:bodyPr wrap="square" lIns="0" tIns="0" rIns="0" bIns="0" rtlCol="0" anchor="t">
            <a:normAutofit/>
          </a:bodyPr>
          <a:lstStyle/>
          <a:p>
            <a:pPr algn="l" indent="0" marL="0">
              <a:buNone/>
            </a:pPr>
            <a:r>
              <a:rPr lang="en-US" sz="1630" b="1" dirty="0">
                <a:solidFill>
                  <a:srgbClr val="241337"/>
                </a:solidFill>
                <a:latin typeface="Aptos" pitchFamily="34" charset="0"/>
                <a:ea typeface="Aptos" pitchFamily="34" charset="-122"/>
                <a:cs typeface="Aptos" pitchFamily="34" charset="-120"/>
              </a:rPr>
              <a:t>Groupe 3 — Éthique</a:t>
            </a:r>
            <a:endParaRPr lang="en-US" sz="1630" dirty="0"/>
          </a:p>
        </p:txBody>
      </p:sp>
      <p:sp>
        <p:nvSpPr>
          <p:cNvPr id="17" name="Text 15"/>
          <p:cNvSpPr/>
          <p:nvPr/>
        </p:nvSpPr>
        <p:spPr>
          <a:xfrm>
            <a:off x="8430768" y="3849624"/>
            <a:ext cx="2560320" cy="1005840"/>
          </a:xfrm>
          <a:prstGeom prst="rect">
            <a:avLst/>
          </a:prstGeom>
          <a:noFill/>
          <a:ln/>
        </p:spPr>
        <p:txBody>
          <a:bodyPr wrap="square" lIns="0" tIns="0" rIns="0" bIns="0" rtlCol="0" anchor="t">
            <a:normAutofit/>
          </a:bodyPr>
          <a:lstStyle/>
          <a:p>
            <a:pPr algn="l" indent="0" marL="0">
              <a:buNone/>
            </a:pPr>
            <a:r>
              <a:rPr lang="en-US" sz="1230" dirty="0">
                <a:solidFill>
                  <a:srgbClr val="6F7082"/>
                </a:solidFill>
                <a:latin typeface="Aptos" pitchFamily="34" charset="0"/>
                <a:ea typeface="Aptos" pitchFamily="34" charset="-122"/>
                <a:cs typeface="Aptos" pitchFamily="34" charset="-120"/>
              </a:rPr>
              <a:t>Attentes raisonnables, proportionnalité, effets sur les personnes.</a:t>
            </a:r>
            <a:endParaRPr lang="en-US" sz="1230" dirty="0"/>
          </a:p>
        </p:txBody>
      </p:sp>
      <p:sp>
        <p:nvSpPr>
          <p:cNvPr id="18" name="Shape 16"/>
          <p:cNvSpPr/>
          <p:nvPr/>
        </p:nvSpPr>
        <p:spPr>
          <a:xfrm>
            <a:off x="4736592" y="5440680"/>
            <a:ext cx="2743200" cy="320040"/>
          </a:xfrm>
          <a:prstGeom prst="roundRect">
            <a:avLst>
              <a:gd name="adj" fmla="val 17143"/>
            </a:avLst>
          </a:prstGeom>
          <a:solidFill>
            <a:srgbClr val="F0E7F6"/>
          </a:solidFill>
          <a:ln w="12700">
            <a:solidFill>
              <a:srgbClr val="F0E7F6"/>
            </a:solidFill>
            <a:prstDash val="solid"/>
          </a:ln>
        </p:spPr>
      </p:sp>
      <p:sp>
        <p:nvSpPr>
          <p:cNvPr id="19" name="Text 17"/>
          <p:cNvSpPr/>
          <p:nvPr/>
        </p:nvSpPr>
        <p:spPr>
          <a:xfrm>
            <a:off x="4809744" y="5486400"/>
            <a:ext cx="2596896" cy="201168"/>
          </a:xfrm>
          <a:prstGeom prst="rect">
            <a:avLst/>
          </a:prstGeom>
          <a:noFill/>
          <a:ln/>
        </p:spPr>
        <p:txBody>
          <a:bodyPr wrap="square" lIns="0" tIns="0" rIns="0" bIns="0" rtlCol="0" anchor="ctr">
            <a:normAutofit/>
          </a:bodyPr>
          <a:lstStyle/>
          <a:p>
            <a:pPr algn="ctr" indent="0" marL="0">
              <a:buNone/>
            </a:pPr>
            <a:r>
              <a:rPr lang="en-US" sz="1020" b="1" dirty="0">
                <a:solidFill>
                  <a:srgbClr val="7432A8"/>
                </a:solidFill>
                <a:latin typeface="Aptos" pitchFamily="34" charset="0"/>
                <a:ea typeface="Aptos" pitchFamily="34" charset="-122"/>
                <a:cs typeface="Aptos" pitchFamily="34" charset="-120"/>
              </a:rPr>
              <a:t>10 min + 5 min restitution</a:t>
            </a:r>
            <a:endParaRPr lang="en-US" sz="1020" dirty="0"/>
          </a:p>
        </p:txBody>
      </p:sp>
      <p:sp>
        <p:nvSpPr>
          <p:cNvPr id="25" name="Slide Number Placeholder 0"/>
          <p:cNvSpPr>
            <a:spLocks noGrp="1"/>
          </p:cNvSpPr>
          <p:nvPr>
            <p:ph type="sldNum" sz="quarter" idx="4294967295"/>
          </p:nvPr>
        </p:nvSpPr>
        <p:spPr>
          <a:xfrm>
            <a:off x="11750040" y="274320"/>
            <a:ext cx="228600" cy="164592"/>
          </a:xfrm>
          <a:prstGeom prst="rect">
            <a:avLst/>
          </a:prstGeom>
          <a:extLst>
            <a:ext uri="{C572A759-6A51-4108-AA02-DFA0A04FC94B}">
              <ma14:wrappingTextBoxFlag xmlns:ma14="http://schemas.microsoft.com/office/mac/drawingml/2011/main" val="0"/>
            </a:ext>
          </a:extLst>
        </p:spPr>
        <p:txBody>
          <a:bodyPr/>
          <a:lstStyle>
            <a:lvl1pPr>
              <a:defRPr sz="800">
                <a:solidFill>
                  <a:srgbClr val="858697"/>
                </a:solidFill>
                <a:latin typeface="Aptos"/>
                <a:ea typeface="Aptos"/>
                <a:cs typeface="Aptos"/>
              </a:defRPr>
            </a:lvl1pPr>
          </a:lstStyle>
          <a:p>
            <a:pPr algn="r"/>
            <a:fld id="{F7021451-1387-4CA6-816F-3879F97B5CBC}" type="slidenum">
              <a:rPr b="0"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241337"/>
        </a:solidFill>
      </p:bgPr>
    </p:bg>
    <p:spTree>
      <p:nvGrpSpPr>
        <p:cNvPr id="1" name=""/>
        <p:cNvGrpSpPr/>
        <p:nvPr/>
      </p:nvGrpSpPr>
      <p:grpSpPr>
        <a:xfrm>
          <a:off x="0" y="0"/>
          <a:ext cx="0" cy="0"/>
          <a:chOff x="0" y="0"/>
          <a:chExt cx="0" cy="0"/>
        </a:xfrm>
      </p:grpSpPr>
      <p:sp>
        <p:nvSpPr>
          <p:cNvPr id="2" name="Shape 0"/>
          <p:cNvSpPr/>
          <p:nvPr/>
        </p:nvSpPr>
        <p:spPr>
          <a:xfrm>
            <a:off x="0" y="0"/>
            <a:ext cx="201168" cy="6858000"/>
          </a:xfrm>
          <a:prstGeom prst="rect">
            <a:avLst/>
          </a:prstGeom>
          <a:solidFill>
            <a:srgbClr val="7432A8"/>
          </a:solidFill>
          <a:ln w="12700">
            <a:solidFill>
              <a:srgbClr val="7432A8"/>
            </a:solidFill>
            <a:prstDash val="solid"/>
          </a:ln>
        </p:spPr>
      </p:sp>
      <p:sp>
        <p:nvSpPr>
          <p:cNvPr id="3" name="Shape 1"/>
          <p:cNvSpPr/>
          <p:nvPr/>
        </p:nvSpPr>
        <p:spPr>
          <a:xfrm rot="1500000">
            <a:off x="10716768" y="-109728"/>
            <a:ext cx="1097280" cy="1188720"/>
          </a:xfrm>
          <a:prstGeom prst="arc">
            <a:avLst/>
          </a:prstGeom>
          <a:solidFill>
            <a:srgbClr val="7432A8"/>
          </a:solidFill>
          <a:ln w="12700">
            <a:solidFill>
              <a:srgbClr val="7432A8"/>
            </a:solidFill>
            <a:prstDash val="solid"/>
          </a:ln>
        </p:spPr>
      </p:sp>
      <p:sp>
        <p:nvSpPr>
          <p:cNvPr id="4" name="Text 2"/>
          <p:cNvSpPr/>
          <p:nvPr/>
        </p:nvSpPr>
        <p:spPr>
          <a:xfrm>
            <a:off x="658368" y="594360"/>
            <a:ext cx="914400" cy="320040"/>
          </a:xfrm>
          <a:prstGeom prst="rect">
            <a:avLst/>
          </a:prstGeom>
          <a:noFill/>
          <a:ln/>
        </p:spPr>
        <p:txBody>
          <a:bodyPr wrap="square" lIns="0" tIns="0" rIns="0" bIns="0" rtlCol="0" anchor="ctr">
            <a:normAutofit/>
          </a:bodyPr>
          <a:lstStyle/>
          <a:p>
            <a:pPr algn="l" indent="0" marL="0">
              <a:buNone/>
            </a:pPr>
            <a:r>
              <a:rPr lang="en-US" sz="1900" b="1" dirty="0">
                <a:solidFill>
                  <a:srgbClr val="8B49BA"/>
                </a:solidFill>
                <a:latin typeface="Aptos" pitchFamily="34" charset="0"/>
                <a:ea typeface="Aptos" pitchFamily="34" charset="-122"/>
                <a:cs typeface="Aptos" pitchFamily="34" charset="-120"/>
              </a:rPr>
              <a:t>03</a:t>
            </a:r>
            <a:endParaRPr lang="en-US" sz="1900" dirty="0"/>
          </a:p>
        </p:txBody>
      </p:sp>
      <p:sp>
        <p:nvSpPr>
          <p:cNvPr id="5" name="Text 3"/>
          <p:cNvSpPr/>
          <p:nvPr/>
        </p:nvSpPr>
        <p:spPr>
          <a:xfrm>
            <a:off x="658368" y="1234440"/>
            <a:ext cx="8046720" cy="658368"/>
          </a:xfrm>
          <a:prstGeom prst="rect">
            <a:avLst/>
          </a:prstGeom>
          <a:noFill/>
          <a:ln/>
        </p:spPr>
        <p:txBody>
          <a:bodyPr wrap="square" lIns="0" tIns="0" rIns="0" bIns="0" rtlCol="0" anchor="t">
            <a:normAutofit/>
          </a:bodyPr>
          <a:lstStyle/>
          <a:p>
            <a:pPr algn="l" indent="0" marL="0">
              <a:buNone/>
            </a:pPr>
            <a:r>
              <a:rPr lang="en-US" sz="2800" b="1" dirty="0">
                <a:solidFill>
                  <a:srgbClr val="FFFFFF"/>
                </a:solidFill>
                <a:latin typeface="Aptos" pitchFamily="34" charset="0"/>
                <a:ea typeface="Aptos" pitchFamily="34" charset="-122"/>
                <a:cs typeface="Aptos" pitchFamily="34" charset="-120"/>
              </a:rPr>
              <a:t>Projet final : veille structurée</a:t>
            </a:r>
            <a:endParaRPr lang="en-US" sz="2800" dirty="0"/>
          </a:p>
        </p:txBody>
      </p:sp>
      <p:sp>
        <p:nvSpPr>
          <p:cNvPr id="6" name="Text 4"/>
          <p:cNvSpPr/>
          <p:nvPr/>
        </p:nvSpPr>
        <p:spPr>
          <a:xfrm>
            <a:off x="658368" y="2084832"/>
            <a:ext cx="8595360" cy="777240"/>
          </a:xfrm>
          <a:prstGeom prst="rect">
            <a:avLst/>
          </a:prstGeom>
          <a:noFill/>
          <a:ln/>
        </p:spPr>
        <p:txBody>
          <a:bodyPr wrap="square" lIns="0" tIns="0" rIns="0" bIns="0" rtlCol="0" anchor="t">
            <a:normAutofit/>
          </a:bodyPr>
          <a:lstStyle/>
          <a:p>
            <a:pPr algn="l" indent="0" marL="0">
              <a:buNone/>
            </a:pPr>
            <a:r>
              <a:rPr lang="en-US" sz="1520" dirty="0">
                <a:solidFill>
                  <a:srgbClr val="D8CFDF"/>
                </a:solidFill>
                <a:latin typeface="Aptos" pitchFamily="34" charset="0"/>
                <a:ea typeface="Aptos" pitchFamily="34" charset="-122"/>
                <a:cs typeface="Aptos" pitchFamily="34" charset="-120"/>
              </a:rPr>
              <a:t>Mettre ensemble architecture Scrapy, qualité de données et analyse responsable.</a:t>
            </a:r>
            <a:endParaRPr lang="en-US" sz="1520" dirty="0"/>
          </a:p>
        </p:txBody>
      </p:sp>
      <p:sp>
        <p:nvSpPr>
          <p:cNvPr id="7" name="Shape 5"/>
          <p:cNvSpPr/>
          <p:nvPr/>
        </p:nvSpPr>
        <p:spPr>
          <a:xfrm>
            <a:off x="9464040" y="4434840"/>
            <a:ext cx="1965960" cy="1143000"/>
          </a:xfrm>
          <a:prstGeom prst="roundRect">
            <a:avLst>
              <a:gd name="adj" fmla="val 4800"/>
            </a:avLst>
          </a:prstGeom>
          <a:solidFill>
            <a:srgbClr val="2E1B43"/>
          </a:solidFill>
          <a:ln w="12700">
            <a:solidFill>
              <a:srgbClr val="4A2F63"/>
            </a:solidFill>
            <a:prstDash val="solid"/>
          </a:ln>
        </p:spPr>
      </p:sp>
      <p:sp>
        <p:nvSpPr>
          <p:cNvPr id="8" name="Text 6"/>
          <p:cNvSpPr/>
          <p:nvPr/>
        </p:nvSpPr>
        <p:spPr>
          <a:xfrm>
            <a:off x="9802368" y="4626864"/>
            <a:ext cx="1280160" cy="228600"/>
          </a:xfrm>
          <a:prstGeom prst="rect">
            <a:avLst/>
          </a:prstGeom>
          <a:noFill/>
          <a:ln/>
        </p:spPr>
        <p:txBody>
          <a:bodyPr wrap="square" lIns="0" tIns="0" rIns="0" bIns="0" rtlCol="0" anchor="ctr">
            <a:normAutofit/>
          </a:bodyPr>
          <a:lstStyle/>
          <a:p>
            <a:pPr algn="ctr" indent="0" marL="0">
              <a:buNone/>
            </a:pPr>
            <a:r>
              <a:rPr lang="en-US" sz="1050" b="1" dirty="0">
                <a:solidFill>
                  <a:srgbClr val="C7A7DD"/>
                </a:solidFill>
                <a:latin typeface="Aptos" pitchFamily="34" charset="0"/>
                <a:ea typeface="Aptos" pitchFamily="34" charset="-122"/>
                <a:cs typeface="Aptos" pitchFamily="34" charset="-120"/>
              </a:rPr>
              <a:t>À retenir</a:t>
            </a:r>
            <a:endParaRPr lang="en-US" sz="1050" dirty="0"/>
          </a:p>
        </p:txBody>
      </p:sp>
      <p:sp>
        <p:nvSpPr>
          <p:cNvPr id="9" name="Text 7"/>
          <p:cNvSpPr/>
          <p:nvPr/>
        </p:nvSpPr>
        <p:spPr>
          <a:xfrm>
            <a:off x="9646920" y="4956048"/>
            <a:ext cx="1600200" cy="411480"/>
          </a:xfrm>
          <a:prstGeom prst="rect">
            <a:avLst/>
          </a:prstGeom>
          <a:noFill/>
          <a:ln/>
        </p:spPr>
        <p:txBody>
          <a:bodyPr wrap="square" lIns="0" tIns="0" rIns="0" bIns="0" rtlCol="0" anchor="ctr">
            <a:normAutofit/>
          </a:bodyPr>
          <a:lstStyle/>
          <a:p>
            <a:pPr algn="ctr" indent="0" marL="0">
              <a:buNone/>
            </a:pPr>
            <a:r>
              <a:rPr lang="en-US" sz="1200" dirty="0">
                <a:solidFill>
                  <a:srgbClr val="FFFFFF"/>
                </a:solidFill>
                <a:latin typeface="Aptos" pitchFamily="34" charset="0"/>
                <a:ea typeface="Aptos" pitchFamily="34" charset="-122"/>
                <a:cs typeface="Aptos" pitchFamily="34" charset="-120"/>
              </a:rPr>
              <a:t>Collecter → justifier → livrer</a:t>
            </a:r>
            <a:endParaRPr lang="en-US" sz="1200" dirty="0"/>
          </a:p>
        </p:txBody>
      </p:sp>
      <p:sp>
        <p:nvSpPr>
          <p:cNvPr id="10" name="Text 8"/>
          <p:cNvSpPr/>
          <p:nvPr/>
        </p:nvSpPr>
        <p:spPr>
          <a:xfrm>
            <a:off x="658368" y="6190488"/>
            <a:ext cx="914400" cy="201168"/>
          </a:xfrm>
          <a:prstGeom prst="rect">
            <a:avLst/>
          </a:prstGeom>
          <a:noFill/>
          <a:ln/>
        </p:spPr>
        <p:txBody>
          <a:bodyPr wrap="square" lIns="0" tIns="0" rIns="0" bIns="0" rtlCol="0" anchor="ctr">
            <a:normAutofit/>
          </a:bodyPr>
          <a:lstStyle/>
          <a:p>
            <a:pPr algn="l" indent="0" marL="0">
              <a:buNone/>
            </a:pPr>
            <a:r>
              <a:rPr lang="en-US" sz="900" b="1" dirty="0">
                <a:solidFill>
                  <a:srgbClr val="9A87AA"/>
                </a:solidFill>
                <a:latin typeface="Aptos" pitchFamily="34" charset="0"/>
                <a:ea typeface="Aptos" pitchFamily="34" charset="-122"/>
                <a:cs typeface="Aptos" pitchFamily="34" charset="-120"/>
              </a:rPr>
              <a:t>JOUR 2</a:t>
            </a:r>
            <a:endParaRPr lang="en-US" sz="9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566928" y="438912"/>
            <a:ext cx="5029200" cy="228600"/>
          </a:xfrm>
          <a:prstGeom prst="rect">
            <a:avLst/>
          </a:prstGeom>
          <a:noFill/>
          <a:ln/>
        </p:spPr>
        <p:txBody>
          <a:bodyPr wrap="square" lIns="0" tIns="0" rIns="0" bIns="0" rtlCol="0" anchor="ctr">
            <a:normAutofit/>
          </a:bodyPr>
          <a:lstStyle/>
          <a:p>
            <a:pPr algn="l" indent="0" marL="0">
              <a:buNone/>
            </a:pPr>
            <a:r>
              <a:rPr lang="en-US" sz="1050" b="1" spc="150" kern="0" dirty="0">
                <a:solidFill>
                  <a:srgbClr val="7432A8"/>
                </a:solidFill>
                <a:latin typeface="Aptos" pitchFamily="34" charset="0"/>
                <a:ea typeface="Aptos" pitchFamily="34" charset="-122"/>
                <a:cs typeface="Aptos" pitchFamily="34" charset="-120"/>
              </a:rPr>
              <a:t>CHALLENGE FINAL</a:t>
            </a:r>
            <a:endParaRPr lang="en-US" sz="1050" dirty="0"/>
          </a:p>
        </p:txBody>
      </p:sp>
      <p:sp>
        <p:nvSpPr>
          <p:cNvPr id="3" name="Text 1"/>
          <p:cNvSpPr/>
          <p:nvPr/>
        </p:nvSpPr>
        <p:spPr>
          <a:xfrm>
            <a:off x="566928" y="768096"/>
            <a:ext cx="10972800" cy="566928"/>
          </a:xfrm>
          <a:prstGeom prst="rect">
            <a:avLst/>
          </a:prstGeom>
          <a:noFill/>
          <a:ln/>
        </p:spPr>
        <p:txBody>
          <a:bodyPr wrap="square" lIns="0" tIns="0" rIns="0" bIns="0" rtlCol="0" anchor="t">
            <a:normAutofit/>
          </a:bodyPr>
          <a:lstStyle/>
          <a:p>
            <a:pPr algn="l" indent="0" marL="0">
              <a:buNone/>
            </a:pPr>
            <a:r>
              <a:rPr lang="en-US" sz="2800" b="1" dirty="0">
                <a:solidFill>
                  <a:srgbClr val="241337"/>
                </a:solidFill>
                <a:latin typeface="Aptos" pitchFamily="34" charset="0"/>
                <a:ea typeface="Aptos" pitchFamily="34" charset="-122"/>
                <a:cs typeface="Aptos" pitchFamily="34" charset="-120"/>
              </a:rPr>
              <a:t>Construire une mini-pipeline de veille</a:t>
            </a:r>
            <a:endParaRPr lang="en-US" sz="2800" dirty="0"/>
          </a:p>
        </p:txBody>
      </p:sp>
      <p:sp>
        <p:nvSpPr>
          <p:cNvPr id="4" name="Shape 2"/>
          <p:cNvSpPr/>
          <p:nvPr/>
        </p:nvSpPr>
        <p:spPr>
          <a:xfrm>
            <a:off x="685800" y="1645920"/>
            <a:ext cx="2514600" cy="3886200"/>
          </a:xfrm>
          <a:prstGeom prst="roundRect">
            <a:avLst>
              <a:gd name="adj" fmla="val 2182"/>
            </a:avLst>
          </a:prstGeom>
          <a:solidFill>
            <a:srgbClr val="FFFFFF"/>
          </a:solidFill>
          <a:ln w="12700">
            <a:solidFill>
              <a:srgbClr val="DDDCE6"/>
            </a:solidFill>
            <a:prstDash val="solid"/>
          </a:ln>
          <a:effectLst>
            <a:outerShdw sx="100000" sy="100000" kx="0" ky="0" algn="bl" rotWithShape="0" blurRad="19050" dist="50800" dir="2700000">
              <a:srgbClr val="D6D3DF">
                <a:alpha val="18000"/>
              </a:srgbClr>
            </a:outerShdw>
          </a:effectLst>
        </p:spPr>
      </p:sp>
      <p:sp>
        <p:nvSpPr>
          <p:cNvPr id="5" name="Shape 3"/>
          <p:cNvSpPr/>
          <p:nvPr/>
        </p:nvSpPr>
        <p:spPr>
          <a:xfrm>
            <a:off x="685800" y="1645920"/>
            <a:ext cx="73152" cy="3886200"/>
          </a:xfrm>
          <a:prstGeom prst="rect">
            <a:avLst/>
          </a:prstGeom>
          <a:solidFill>
            <a:srgbClr val="4F7FC4"/>
          </a:solidFill>
          <a:ln w="12700">
            <a:solidFill>
              <a:srgbClr val="4F7FC4"/>
            </a:solidFill>
            <a:prstDash val="solid"/>
          </a:ln>
        </p:spPr>
      </p:sp>
      <p:sp>
        <p:nvSpPr>
          <p:cNvPr id="6" name="Text 4"/>
          <p:cNvSpPr/>
          <p:nvPr/>
        </p:nvSpPr>
        <p:spPr>
          <a:xfrm>
            <a:off x="1033272" y="1901952"/>
            <a:ext cx="320040" cy="256032"/>
          </a:xfrm>
          <a:prstGeom prst="rect">
            <a:avLst/>
          </a:prstGeom>
          <a:noFill/>
          <a:ln/>
        </p:spPr>
        <p:txBody>
          <a:bodyPr wrap="square" lIns="0" tIns="0" rIns="0" bIns="0" rtlCol="0" anchor="ctr">
            <a:normAutofit/>
          </a:bodyPr>
          <a:lstStyle/>
          <a:p>
            <a:pPr algn="l" indent="0" marL="0">
              <a:buNone/>
            </a:pPr>
            <a:r>
              <a:rPr lang="en-US" sz="1900" b="1" dirty="0">
                <a:solidFill>
                  <a:srgbClr val="4F7FC4"/>
                </a:solidFill>
                <a:latin typeface="Aptos" pitchFamily="34" charset="0"/>
                <a:ea typeface="Aptos" pitchFamily="34" charset="-122"/>
                <a:cs typeface="Aptos" pitchFamily="34" charset="-120"/>
              </a:rPr>
              <a:t>1</a:t>
            </a:r>
            <a:endParaRPr lang="en-US" sz="1900" dirty="0"/>
          </a:p>
        </p:txBody>
      </p:sp>
      <p:sp>
        <p:nvSpPr>
          <p:cNvPr id="7" name="Text 5"/>
          <p:cNvSpPr/>
          <p:nvPr/>
        </p:nvSpPr>
        <p:spPr>
          <a:xfrm>
            <a:off x="1399032" y="1865376"/>
            <a:ext cx="1600200" cy="347472"/>
          </a:xfrm>
          <a:prstGeom prst="rect">
            <a:avLst/>
          </a:prstGeom>
          <a:noFill/>
          <a:ln/>
        </p:spPr>
        <p:txBody>
          <a:bodyPr wrap="square" lIns="0" tIns="0" rIns="0" bIns="0" rtlCol="0" anchor="t">
            <a:normAutofit/>
          </a:bodyPr>
          <a:lstStyle/>
          <a:p>
            <a:pPr algn="l" indent="0" marL="0">
              <a:buNone/>
            </a:pPr>
            <a:r>
              <a:rPr lang="en-US" sz="1630" b="1" dirty="0">
                <a:solidFill>
                  <a:srgbClr val="241337"/>
                </a:solidFill>
                <a:latin typeface="Aptos" pitchFamily="34" charset="0"/>
                <a:ea typeface="Aptos" pitchFamily="34" charset="-122"/>
                <a:cs typeface="Aptos" pitchFamily="34" charset="-120"/>
              </a:rPr>
              <a:t>Collecte</a:t>
            </a:r>
            <a:endParaRPr lang="en-US" sz="1630" dirty="0"/>
          </a:p>
        </p:txBody>
      </p:sp>
      <p:sp>
        <p:nvSpPr>
          <p:cNvPr id="8" name="Text 6"/>
          <p:cNvSpPr/>
          <p:nvPr/>
        </p:nvSpPr>
        <p:spPr>
          <a:xfrm>
            <a:off x="978408" y="2340864"/>
            <a:ext cx="2011680" cy="3017520"/>
          </a:xfrm>
          <a:prstGeom prst="rect">
            <a:avLst/>
          </a:prstGeom>
          <a:noFill/>
          <a:ln/>
        </p:spPr>
        <p:txBody>
          <a:bodyPr wrap="square" lIns="0" tIns="0" rIns="0" bIns="0" rtlCol="0" anchor="t">
            <a:normAutofit/>
          </a:bodyPr>
          <a:lstStyle/>
          <a:p>
            <a:pPr algn="l" indent="0" marL="0">
              <a:buNone/>
            </a:pPr>
            <a:r>
              <a:rPr lang="en-US" sz="1230" dirty="0">
                <a:solidFill>
                  <a:srgbClr val="6F7082"/>
                </a:solidFill>
                <a:latin typeface="Aptos" pitchFamily="34" charset="0"/>
                <a:ea typeface="Aptos" pitchFamily="34" charset="-122"/>
                <a:cs typeface="Aptos" pitchFamily="34" charset="-120"/>
              </a:rPr>
              <a:t>Spider multipages sur un site d’entraînement ou une source explicitement adaptée au TP.</a:t>
            </a:r>
            <a:endParaRPr lang="en-US" sz="1230" dirty="0"/>
          </a:p>
        </p:txBody>
      </p:sp>
      <p:sp>
        <p:nvSpPr>
          <p:cNvPr id="9" name="Shape 7"/>
          <p:cNvSpPr/>
          <p:nvPr/>
        </p:nvSpPr>
        <p:spPr>
          <a:xfrm>
            <a:off x="3429000" y="1645920"/>
            <a:ext cx="2514600" cy="3886200"/>
          </a:xfrm>
          <a:prstGeom prst="roundRect">
            <a:avLst>
              <a:gd name="adj" fmla="val 2182"/>
            </a:avLst>
          </a:prstGeom>
          <a:solidFill>
            <a:srgbClr val="FFFFFF"/>
          </a:solidFill>
          <a:ln w="12700">
            <a:solidFill>
              <a:srgbClr val="DDDCE6"/>
            </a:solidFill>
            <a:prstDash val="solid"/>
          </a:ln>
          <a:effectLst>
            <a:outerShdw sx="100000" sy="100000" kx="0" ky="0" algn="bl" rotWithShape="0" blurRad="19050" dist="50800" dir="2700000">
              <a:srgbClr val="D6D3DF">
                <a:alpha val="18000"/>
              </a:srgbClr>
            </a:outerShdw>
          </a:effectLst>
        </p:spPr>
      </p:sp>
      <p:sp>
        <p:nvSpPr>
          <p:cNvPr id="10" name="Shape 8"/>
          <p:cNvSpPr/>
          <p:nvPr/>
        </p:nvSpPr>
        <p:spPr>
          <a:xfrm>
            <a:off x="3429000" y="1645920"/>
            <a:ext cx="73152" cy="3886200"/>
          </a:xfrm>
          <a:prstGeom prst="rect">
            <a:avLst/>
          </a:prstGeom>
          <a:solidFill>
            <a:srgbClr val="7432A8"/>
          </a:solidFill>
          <a:ln w="12700">
            <a:solidFill>
              <a:srgbClr val="7432A8"/>
            </a:solidFill>
            <a:prstDash val="solid"/>
          </a:ln>
        </p:spPr>
      </p:sp>
      <p:sp>
        <p:nvSpPr>
          <p:cNvPr id="11" name="Text 9"/>
          <p:cNvSpPr/>
          <p:nvPr/>
        </p:nvSpPr>
        <p:spPr>
          <a:xfrm>
            <a:off x="3776472" y="1901952"/>
            <a:ext cx="320040" cy="256032"/>
          </a:xfrm>
          <a:prstGeom prst="rect">
            <a:avLst/>
          </a:prstGeom>
          <a:noFill/>
          <a:ln/>
        </p:spPr>
        <p:txBody>
          <a:bodyPr wrap="square" lIns="0" tIns="0" rIns="0" bIns="0" rtlCol="0" anchor="ctr">
            <a:normAutofit/>
          </a:bodyPr>
          <a:lstStyle/>
          <a:p>
            <a:pPr algn="l" indent="0" marL="0">
              <a:buNone/>
            </a:pPr>
            <a:r>
              <a:rPr lang="en-US" sz="1900" b="1" dirty="0">
                <a:solidFill>
                  <a:srgbClr val="7432A8"/>
                </a:solidFill>
                <a:latin typeface="Aptos" pitchFamily="34" charset="0"/>
                <a:ea typeface="Aptos" pitchFamily="34" charset="-122"/>
                <a:cs typeface="Aptos" pitchFamily="34" charset="-120"/>
              </a:rPr>
              <a:t>2</a:t>
            </a:r>
            <a:endParaRPr lang="en-US" sz="1900" dirty="0"/>
          </a:p>
        </p:txBody>
      </p:sp>
      <p:sp>
        <p:nvSpPr>
          <p:cNvPr id="12" name="Text 10"/>
          <p:cNvSpPr/>
          <p:nvPr/>
        </p:nvSpPr>
        <p:spPr>
          <a:xfrm>
            <a:off x="4142232" y="1865376"/>
            <a:ext cx="1600200" cy="347472"/>
          </a:xfrm>
          <a:prstGeom prst="rect">
            <a:avLst/>
          </a:prstGeom>
          <a:noFill/>
          <a:ln/>
        </p:spPr>
        <p:txBody>
          <a:bodyPr wrap="square" lIns="0" tIns="0" rIns="0" bIns="0" rtlCol="0" anchor="t">
            <a:normAutofit/>
          </a:bodyPr>
          <a:lstStyle/>
          <a:p>
            <a:pPr algn="l" indent="0" marL="0">
              <a:buNone/>
            </a:pPr>
            <a:r>
              <a:rPr lang="en-US" sz="1630" b="1" dirty="0">
                <a:solidFill>
                  <a:srgbClr val="241337"/>
                </a:solidFill>
                <a:latin typeface="Aptos" pitchFamily="34" charset="0"/>
                <a:ea typeface="Aptos" pitchFamily="34" charset="-122"/>
                <a:cs typeface="Aptos" pitchFamily="34" charset="-120"/>
              </a:rPr>
              <a:t>Structuration</a:t>
            </a:r>
            <a:endParaRPr lang="en-US" sz="1630" dirty="0"/>
          </a:p>
        </p:txBody>
      </p:sp>
      <p:sp>
        <p:nvSpPr>
          <p:cNvPr id="13" name="Text 11"/>
          <p:cNvSpPr/>
          <p:nvPr/>
        </p:nvSpPr>
        <p:spPr>
          <a:xfrm>
            <a:off x="3721608" y="2340864"/>
            <a:ext cx="2011680" cy="3017520"/>
          </a:xfrm>
          <a:prstGeom prst="rect">
            <a:avLst/>
          </a:prstGeom>
          <a:noFill/>
          <a:ln/>
        </p:spPr>
        <p:txBody>
          <a:bodyPr wrap="square" lIns="0" tIns="0" rIns="0" bIns="0" rtlCol="0" anchor="t">
            <a:normAutofit/>
          </a:bodyPr>
          <a:lstStyle/>
          <a:p>
            <a:pPr algn="l" indent="0" marL="0">
              <a:buNone/>
            </a:pPr>
            <a:r>
              <a:rPr lang="en-US" sz="1230" dirty="0">
                <a:solidFill>
                  <a:srgbClr val="6F7082"/>
                </a:solidFill>
                <a:latin typeface="Aptos" pitchFamily="34" charset="0"/>
                <a:ea typeface="Aptos" pitchFamily="34" charset="-122"/>
                <a:cs typeface="Aptos" pitchFamily="34" charset="-120"/>
              </a:rPr>
              <a:t>Au moins 5 champs, dont URL source + date de collecte.</a:t>
            </a:r>
            <a:endParaRPr lang="en-US" sz="1230" dirty="0"/>
          </a:p>
        </p:txBody>
      </p:sp>
      <p:sp>
        <p:nvSpPr>
          <p:cNvPr id="14" name="Shape 12"/>
          <p:cNvSpPr/>
          <p:nvPr/>
        </p:nvSpPr>
        <p:spPr>
          <a:xfrm>
            <a:off x="6172200" y="1645920"/>
            <a:ext cx="2514600" cy="3886200"/>
          </a:xfrm>
          <a:prstGeom prst="roundRect">
            <a:avLst>
              <a:gd name="adj" fmla="val 2182"/>
            </a:avLst>
          </a:prstGeom>
          <a:solidFill>
            <a:srgbClr val="FFFFFF"/>
          </a:solidFill>
          <a:ln w="12700">
            <a:solidFill>
              <a:srgbClr val="DDDCE6"/>
            </a:solidFill>
            <a:prstDash val="solid"/>
          </a:ln>
          <a:effectLst>
            <a:outerShdw sx="100000" sy="100000" kx="0" ky="0" algn="bl" rotWithShape="0" blurRad="19050" dist="50800" dir="2700000">
              <a:srgbClr val="D6D3DF">
                <a:alpha val="18000"/>
              </a:srgbClr>
            </a:outerShdw>
          </a:effectLst>
        </p:spPr>
      </p:sp>
      <p:sp>
        <p:nvSpPr>
          <p:cNvPr id="15" name="Shape 13"/>
          <p:cNvSpPr/>
          <p:nvPr/>
        </p:nvSpPr>
        <p:spPr>
          <a:xfrm>
            <a:off x="6172200" y="1645920"/>
            <a:ext cx="73152" cy="3886200"/>
          </a:xfrm>
          <a:prstGeom prst="rect">
            <a:avLst/>
          </a:prstGeom>
          <a:solidFill>
            <a:srgbClr val="4EA27B"/>
          </a:solidFill>
          <a:ln w="12700">
            <a:solidFill>
              <a:srgbClr val="4EA27B"/>
            </a:solidFill>
            <a:prstDash val="solid"/>
          </a:ln>
        </p:spPr>
      </p:sp>
      <p:sp>
        <p:nvSpPr>
          <p:cNvPr id="16" name="Text 14"/>
          <p:cNvSpPr/>
          <p:nvPr/>
        </p:nvSpPr>
        <p:spPr>
          <a:xfrm>
            <a:off x="6519672" y="1901952"/>
            <a:ext cx="320040" cy="256032"/>
          </a:xfrm>
          <a:prstGeom prst="rect">
            <a:avLst/>
          </a:prstGeom>
          <a:noFill/>
          <a:ln/>
        </p:spPr>
        <p:txBody>
          <a:bodyPr wrap="square" lIns="0" tIns="0" rIns="0" bIns="0" rtlCol="0" anchor="ctr">
            <a:normAutofit/>
          </a:bodyPr>
          <a:lstStyle/>
          <a:p>
            <a:pPr algn="l" indent="0" marL="0">
              <a:buNone/>
            </a:pPr>
            <a:r>
              <a:rPr lang="en-US" sz="1900" b="1" dirty="0">
                <a:solidFill>
                  <a:srgbClr val="4EA27B"/>
                </a:solidFill>
                <a:latin typeface="Aptos" pitchFamily="34" charset="0"/>
                <a:ea typeface="Aptos" pitchFamily="34" charset="-122"/>
                <a:cs typeface="Aptos" pitchFamily="34" charset="-120"/>
              </a:rPr>
              <a:t>3</a:t>
            </a:r>
            <a:endParaRPr lang="en-US" sz="1900" dirty="0"/>
          </a:p>
        </p:txBody>
      </p:sp>
      <p:sp>
        <p:nvSpPr>
          <p:cNvPr id="17" name="Text 15"/>
          <p:cNvSpPr/>
          <p:nvPr/>
        </p:nvSpPr>
        <p:spPr>
          <a:xfrm>
            <a:off x="6885432" y="1865376"/>
            <a:ext cx="1600200" cy="347472"/>
          </a:xfrm>
          <a:prstGeom prst="rect">
            <a:avLst/>
          </a:prstGeom>
          <a:noFill/>
          <a:ln/>
        </p:spPr>
        <p:txBody>
          <a:bodyPr wrap="square" lIns="0" tIns="0" rIns="0" bIns="0" rtlCol="0" anchor="t">
            <a:normAutofit/>
          </a:bodyPr>
          <a:lstStyle/>
          <a:p>
            <a:pPr algn="l" indent="0" marL="0">
              <a:buNone/>
            </a:pPr>
            <a:r>
              <a:rPr lang="en-US" sz="1630" b="1" dirty="0">
                <a:solidFill>
                  <a:srgbClr val="241337"/>
                </a:solidFill>
                <a:latin typeface="Aptos" pitchFamily="34" charset="0"/>
                <a:ea typeface="Aptos" pitchFamily="34" charset="-122"/>
                <a:cs typeface="Aptos" pitchFamily="34" charset="-120"/>
              </a:rPr>
              <a:t>Qualité</a:t>
            </a:r>
            <a:endParaRPr lang="en-US" sz="1630" dirty="0"/>
          </a:p>
        </p:txBody>
      </p:sp>
      <p:sp>
        <p:nvSpPr>
          <p:cNvPr id="18" name="Text 16"/>
          <p:cNvSpPr/>
          <p:nvPr/>
        </p:nvSpPr>
        <p:spPr>
          <a:xfrm>
            <a:off x="6464808" y="2340864"/>
            <a:ext cx="2011680" cy="3017520"/>
          </a:xfrm>
          <a:prstGeom prst="rect">
            <a:avLst/>
          </a:prstGeom>
          <a:noFill/>
          <a:ln/>
        </p:spPr>
        <p:txBody>
          <a:bodyPr wrap="square" lIns="0" tIns="0" rIns="0" bIns="0" rtlCol="0" anchor="t">
            <a:normAutofit/>
          </a:bodyPr>
          <a:lstStyle/>
          <a:p>
            <a:pPr algn="l" indent="0" marL="0">
              <a:buNone/>
            </a:pPr>
            <a:r>
              <a:rPr lang="en-US" sz="1230" dirty="0">
                <a:solidFill>
                  <a:srgbClr val="6F7082"/>
                </a:solidFill>
                <a:latin typeface="Aptos" pitchFamily="34" charset="0"/>
                <a:ea typeface="Aptos" pitchFamily="34" charset="-122"/>
                <a:cs typeface="Aptos" pitchFamily="34" charset="-120"/>
              </a:rPr>
              <a:t>Nettoyage + validation + déduplication simple.</a:t>
            </a:r>
            <a:endParaRPr lang="en-US" sz="1230" dirty="0"/>
          </a:p>
        </p:txBody>
      </p:sp>
      <p:sp>
        <p:nvSpPr>
          <p:cNvPr id="19" name="Shape 17"/>
          <p:cNvSpPr/>
          <p:nvPr/>
        </p:nvSpPr>
        <p:spPr>
          <a:xfrm>
            <a:off x="8915400" y="1645920"/>
            <a:ext cx="2514600" cy="3886200"/>
          </a:xfrm>
          <a:prstGeom prst="roundRect">
            <a:avLst>
              <a:gd name="adj" fmla="val 2182"/>
            </a:avLst>
          </a:prstGeom>
          <a:solidFill>
            <a:srgbClr val="FFFFFF"/>
          </a:solidFill>
          <a:ln w="12700">
            <a:solidFill>
              <a:srgbClr val="DDDCE6"/>
            </a:solidFill>
            <a:prstDash val="solid"/>
          </a:ln>
          <a:effectLst>
            <a:outerShdw sx="100000" sy="100000" kx="0" ky="0" algn="bl" rotWithShape="0" blurRad="19050" dist="50800" dir="2700000">
              <a:srgbClr val="D6D3DF">
                <a:alpha val="18000"/>
              </a:srgbClr>
            </a:outerShdw>
          </a:effectLst>
        </p:spPr>
      </p:sp>
      <p:sp>
        <p:nvSpPr>
          <p:cNvPr id="20" name="Shape 18"/>
          <p:cNvSpPr/>
          <p:nvPr/>
        </p:nvSpPr>
        <p:spPr>
          <a:xfrm>
            <a:off x="8915400" y="1645920"/>
            <a:ext cx="73152" cy="3886200"/>
          </a:xfrm>
          <a:prstGeom prst="rect">
            <a:avLst/>
          </a:prstGeom>
          <a:solidFill>
            <a:srgbClr val="DB8129"/>
          </a:solidFill>
          <a:ln w="12700">
            <a:solidFill>
              <a:srgbClr val="DB8129"/>
            </a:solidFill>
            <a:prstDash val="solid"/>
          </a:ln>
        </p:spPr>
      </p:sp>
      <p:sp>
        <p:nvSpPr>
          <p:cNvPr id="21" name="Text 19"/>
          <p:cNvSpPr/>
          <p:nvPr/>
        </p:nvSpPr>
        <p:spPr>
          <a:xfrm>
            <a:off x="9262872" y="1901952"/>
            <a:ext cx="320040" cy="256032"/>
          </a:xfrm>
          <a:prstGeom prst="rect">
            <a:avLst/>
          </a:prstGeom>
          <a:noFill/>
          <a:ln/>
        </p:spPr>
        <p:txBody>
          <a:bodyPr wrap="square" lIns="0" tIns="0" rIns="0" bIns="0" rtlCol="0" anchor="ctr">
            <a:normAutofit/>
          </a:bodyPr>
          <a:lstStyle/>
          <a:p>
            <a:pPr algn="l" indent="0" marL="0">
              <a:buNone/>
            </a:pPr>
            <a:r>
              <a:rPr lang="en-US" sz="1900" b="1" dirty="0">
                <a:solidFill>
                  <a:srgbClr val="DB8129"/>
                </a:solidFill>
                <a:latin typeface="Aptos" pitchFamily="34" charset="0"/>
                <a:ea typeface="Aptos" pitchFamily="34" charset="-122"/>
                <a:cs typeface="Aptos" pitchFamily="34" charset="-120"/>
              </a:rPr>
              <a:t>4</a:t>
            </a:r>
            <a:endParaRPr lang="en-US" sz="1900" dirty="0"/>
          </a:p>
        </p:txBody>
      </p:sp>
      <p:sp>
        <p:nvSpPr>
          <p:cNvPr id="22" name="Text 20"/>
          <p:cNvSpPr/>
          <p:nvPr/>
        </p:nvSpPr>
        <p:spPr>
          <a:xfrm>
            <a:off x="9628632" y="1865376"/>
            <a:ext cx="1600200" cy="347472"/>
          </a:xfrm>
          <a:prstGeom prst="rect">
            <a:avLst/>
          </a:prstGeom>
          <a:noFill/>
          <a:ln/>
        </p:spPr>
        <p:txBody>
          <a:bodyPr wrap="square" lIns="0" tIns="0" rIns="0" bIns="0" rtlCol="0" anchor="t">
            <a:normAutofit/>
          </a:bodyPr>
          <a:lstStyle/>
          <a:p>
            <a:pPr algn="l" indent="0" marL="0">
              <a:buNone/>
            </a:pPr>
            <a:r>
              <a:rPr lang="en-US" sz="1630" b="1" dirty="0">
                <a:solidFill>
                  <a:srgbClr val="241337"/>
                </a:solidFill>
                <a:latin typeface="Aptos" pitchFamily="34" charset="0"/>
                <a:ea typeface="Aptos" pitchFamily="34" charset="-122"/>
                <a:cs typeface="Aptos" pitchFamily="34" charset="-120"/>
              </a:rPr>
              <a:t>Responsabilité</a:t>
            </a:r>
            <a:endParaRPr lang="en-US" sz="1630" dirty="0"/>
          </a:p>
        </p:txBody>
      </p:sp>
      <p:sp>
        <p:nvSpPr>
          <p:cNvPr id="23" name="Text 21"/>
          <p:cNvSpPr/>
          <p:nvPr/>
        </p:nvSpPr>
        <p:spPr>
          <a:xfrm>
            <a:off x="9208008" y="2340864"/>
            <a:ext cx="2011680" cy="3017520"/>
          </a:xfrm>
          <a:prstGeom prst="rect">
            <a:avLst/>
          </a:prstGeom>
          <a:noFill/>
          <a:ln/>
        </p:spPr>
        <p:txBody>
          <a:bodyPr wrap="square" lIns="0" tIns="0" rIns="0" bIns="0" rtlCol="0" anchor="t">
            <a:normAutofit/>
          </a:bodyPr>
          <a:lstStyle/>
          <a:p>
            <a:pPr algn="l" indent="0" marL="0">
              <a:buNone/>
            </a:pPr>
            <a:r>
              <a:rPr lang="en-US" sz="1230" dirty="0">
                <a:solidFill>
                  <a:srgbClr val="6F7082"/>
                </a:solidFill>
                <a:latin typeface="Aptos" pitchFamily="34" charset="0"/>
                <a:ea typeface="Aptos" pitchFamily="34" charset="-122"/>
                <a:cs typeface="Aptos" pitchFamily="34" charset="-120"/>
              </a:rPr>
              <a:t>Une page README expliquant source, fréquence, contraintes, risques et choix de collecte.</a:t>
            </a:r>
            <a:endParaRPr lang="en-US" sz="1230" dirty="0"/>
          </a:p>
        </p:txBody>
      </p:sp>
      <p:sp>
        <p:nvSpPr>
          <p:cNvPr id="24" name="Text 22"/>
          <p:cNvSpPr/>
          <p:nvPr/>
        </p:nvSpPr>
        <p:spPr>
          <a:xfrm>
            <a:off x="1325880" y="5715000"/>
            <a:ext cx="9509760" cy="292608"/>
          </a:xfrm>
          <a:prstGeom prst="rect">
            <a:avLst/>
          </a:prstGeom>
          <a:noFill/>
          <a:ln/>
        </p:spPr>
        <p:txBody>
          <a:bodyPr wrap="square" lIns="0" tIns="0" rIns="0" bIns="0" rtlCol="0" anchor="ctr">
            <a:normAutofit/>
          </a:bodyPr>
          <a:lstStyle/>
          <a:p>
            <a:pPr algn="ctr" indent="0" marL="0">
              <a:buNone/>
            </a:pPr>
            <a:r>
              <a:rPr lang="en-US" sz="1600" b="1" dirty="0">
                <a:solidFill>
                  <a:srgbClr val="241337"/>
                </a:solidFill>
                <a:latin typeface="Aptos" pitchFamily="34" charset="0"/>
                <a:ea typeface="Aptos" pitchFamily="34" charset="-122"/>
                <a:cs typeface="Aptos" pitchFamily="34" charset="-120"/>
              </a:rPr>
              <a:t>Livraison : JSON/CSV/SQLite + code + README de décision.</a:t>
            </a:r>
            <a:endParaRPr lang="en-US" sz="1600" dirty="0"/>
          </a:p>
        </p:txBody>
      </p:sp>
      <p:sp>
        <p:nvSpPr>
          <p:cNvPr id="25" name="Slide Number Placeholder 0"/>
          <p:cNvSpPr>
            <a:spLocks noGrp="1"/>
          </p:cNvSpPr>
          <p:nvPr>
            <p:ph type="sldNum" sz="quarter" idx="4294967295"/>
          </p:nvPr>
        </p:nvSpPr>
        <p:spPr>
          <a:xfrm>
            <a:off x="11750040" y="274320"/>
            <a:ext cx="228600" cy="164592"/>
          </a:xfrm>
          <a:prstGeom prst="rect">
            <a:avLst/>
          </a:prstGeom>
          <a:extLst>
            <a:ext uri="{C572A759-6A51-4108-AA02-DFA0A04FC94B}">
              <ma14:wrappingTextBoxFlag xmlns:ma14="http://schemas.microsoft.com/office/mac/drawingml/2011/main" val="0"/>
            </a:ext>
          </a:extLst>
        </p:spPr>
        <p:txBody>
          <a:bodyPr/>
          <a:lstStyle>
            <a:lvl1pPr>
              <a:defRPr sz="800">
                <a:solidFill>
                  <a:srgbClr val="858697"/>
                </a:solidFill>
                <a:latin typeface="Aptos"/>
                <a:ea typeface="Aptos"/>
                <a:cs typeface="Aptos"/>
              </a:defRPr>
            </a:lvl1pPr>
          </a:lstStyle>
          <a:p>
            <a:pPr algn="r"/>
            <a:fld id="{F7021451-1387-4CA6-816F-3879F97B5CBC}" type="slidenum">
              <a:rPr b="0"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566928" y="438912"/>
            <a:ext cx="5029200" cy="228600"/>
          </a:xfrm>
          <a:prstGeom prst="rect">
            <a:avLst/>
          </a:prstGeom>
          <a:noFill/>
          <a:ln/>
        </p:spPr>
        <p:txBody>
          <a:bodyPr wrap="square" lIns="0" tIns="0" rIns="0" bIns="0" rtlCol="0" anchor="ctr">
            <a:normAutofit/>
          </a:bodyPr>
          <a:lstStyle/>
          <a:p>
            <a:pPr algn="l" indent="0" marL="0">
              <a:buNone/>
            </a:pPr>
            <a:r>
              <a:rPr lang="en-US" sz="1050" b="1" spc="150" kern="0" dirty="0">
                <a:solidFill>
                  <a:srgbClr val="7432A8"/>
                </a:solidFill>
                <a:latin typeface="Aptos" pitchFamily="34" charset="0"/>
                <a:ea typeface="Aptos" pitchFamily="34" charset="-122"/>
                <a:cs typeface="Aptos" pitchFamily="34" charset="-120"/>
              </a:rPr>
              <a:t>ÉVALUATION</a:t>
            </a:r>
            <a:endParaRPr lang="en-US" sz="1050" dirty="0"/>
          </a:p>
        </p:txBody>
      </p:sp>
      <p:sp>
        <p:nvSpPr>
          <p:cNvPr id="3" name="Text 1"/>
          <p:cNvSpPr/>
          <p:nvPr/>
        </p:nvSpPr>
        <p:spPr>
          <a:xfrm>
            <a:off x="566928" y="768096"/>
            <a:ext cx="10972800" cy="566928"/>
          </a:xfrm>
          <a:prstGeom prst="rect">
            <a:avLst/>
          </a:prstGeom>
          <a:noFill/>
          <a:ln/>
        </p:spPr>
        <p:txBody>
          <a:bodyPr wrap="square" lIns="0" tIns="0" rIns="0" bIns="0" rtlCol="0" anchor="t">
            <a:normAutofit/>
          </a:bodyPr>
          <a:lstStyle/>
          <a:p>
            <a:pPr algn="l" indent="0" marL="0">
              <a:buNone/>
            </a:pPr>
            <a:r>
              <a:rPr lang="en-US" sz="2800" b="1" dirty="0">
                <a:solidFill>
                  <a:srgbClr val="241337"/>
                </a:solidFill>
                <a:latin typeface="Aptos" pitchFamily="34" charset="0"/>
                <a:ea typeface="Aptos" pitchFamily="34" charset="-122"/>
                <a:cs typeface="Aptos" pitchFamily="34" charset="-120"/>
              </a:rPr>
              <a:t>Ce qui sera regardé</a:t>
            </a:r>
            <a:endParaRPr lang="en-US" sz="2800" dirty="0"/>
          </a:p>
        </p:txBody>
      </p:sp>
      <p:sp>
        <p:nvSpPr>
          <p:cNvPr id="4" name="Shape 2"/>
          <p:cNvSpPr/>
          <p:nvPr/>
        </p:nvSpPr>
        <p:spPr>
          <a:xfrm>
            <a:off x="960120" y="1508760"/>
            <a:ext cx="10241280" cy="658368"/>
          </a:xfrm>
          <a:prstGeom prst="roundRect">
            <a:avLst>
              <a:gd name="adj" fmla="val 5556"/>
            </a:avLst>
          </a:prstGeom>
          <a:solidFill>
            <a:srgbClr val="FFFFFF"/>
          </a:solidFill>
          <a:ln w="12700">
            <a:solidFill>
              <a:srgbClr val="DDDCE6"/>
            </a:solidFill>
            <a:prstDash val="solid"/>
          </a:ln>
        </p:spPr>
      </p:sp>
      <p:sp>
        <p:nvSpPr>
          <p:cNvPr id="5" name="Text 3"/>
          <p:cNvSpPr/>
          <p:nvPr/>
        </p:nvSpPr>
        <p:spPr>
          <a:xfrm>
            <a:off x="1143000" y="1682496"/>
            <a:ext cx="685800" cy="210312"/>
          </a:xfrm>
          <a:prstGeom prst="rect">
            <a:avLst/>
          </a:prstGeom>
          <a:noFill/>
          <a:ln/>
        </p:spPr>
        <p:txBody>
          <a:bodyPr wrap="square" lIns="0" tIns="0" rIns="0" bIns="0" rtlCol="0" anchor="ctr">
            <a:normAutofit/>
          </a:bodyPr>
          <a:lstStyle/>
          <a:p>
            <a:pPr algn="ctr" indent="0" marL="0">
              <a:buNone/>
            </a:pPr>
            <a:r>
              <a:rPr lang="en-US" sz="1450" b="1" dirty="0">
                <a:solidFill>
                  <a:srgbClr val="4F7FC4"/>
                </a:solidFill>
                <a:latin typeface="Aptos" pitchFamily="34" charset="0"/>
                <a:ea typeface="Aptos" pitchFamily="34" charset="-122"/>
                <a:cs typeface="Aptos" pitchFamily="34" charset="-120"/>
              </a:rPr>
              <a:t>30%</a:t>
            </a:r>
            <a:endParaRPr lang="en-US" sz="1450" dirty="0"/>
          </a:p>
        </p:txBody>
      </p:sp>
      <p:sp>
        <p:nvSpPr>
          <p:cNvPr id="6" name="Text 4"/>
          <p:cNvSpPr/>
          <p:nvPr/>
        </p:nvSpPr>
        <p:spPr>
          <a:xfrm>
            <a:off x="1965960" y="1645920"/>
            <a:ext cx="2011680" cy="256032"/>
          </a:xfrm>
          <a:prstGeom prst="rect">
            <a:avLst/>
          </a:prstGeom>
          <a:noFill/>
          <a:ln/>
        </p:spPr>
        <p:txBody>
          <a:bodyPr wrap="square" lIns="0" tIns="0" rIns="0" bIns="0" rtlCol="0" anchor="ctr">
            <a:normAutofit/>
          </a:bodyPr>
          <a:lstStyle/>
          <a:p>
            <a:pPr algn="l" indent="0" marL="0">
              <a:buNone/>
            </a:pPr>
            <a:r>
              <a:rPr lang="en-US" sz="1400" b="1" dirty="0">
                <a:solidFill>
                  <a:srgbClr val="241337"/>
                </a:solidFill>
                <a:latin typeface="Aptos" pitchFamily="34" charset="0"/>
                <a:ea typeface="Aptos" pitchFamily="34" charset="-122"/>
                <a:cs typeface="Aptos" pitchFamily="34" charset="-120"/>
              </a:rPr>
              <a:t>Navigation &amp; extraction</a:t>
            </a:r>
            <a:endParaRPr lang="en-US" sz="1400" dirty="0"/>
          </a:p>
        </p:txBody>
      </p:sp>
      <p:sp>
        <p:nvSpPr>
          <p:cNvPr id="7" name="Text 5"/>
          <p:cNvSpPr/>
          <p:nvPr/>
        </p:nvSpPr>
        <p:spPr>
          <a:xfrm>
            <a:off x="4160520" y="1645920"/>
            <a:ext cx="6492240" cy="274320"/>
          </a:xfrm>
          <a:prstGeom prst="rect">
            <a:avLst/>
          </a:prstGeom>
          <a:noFill/>
          <a:ln/>
        </p:spPr>
        <p:txBody>
          <a:bodyPr wrap="square" lIns="0" tIns="0" rIns="0" bIns="0" rtlCol="0" anchor="ctr">
            <a:normAutofit/>
          </a:bodyPr>
          <a:lstStyle/>
          <a:p>
            <a:pPr algn="l" indent="0" marL="0">
              <a:buNone/>
            </a:pPr>
            <a:r>
              <a:rPr lang="en-US" sz="1150" dirty="0">
                <a:solidFill>
                  <a:srgbClr val="6F7082"/>
                </a:solidFill>
                <a:latin typeface="Aptos" pitchFamily="34" charset="0"/>
                <a:ea typeface="Aptos" pitchFamily="34" charset="-122"/>
                <a:cs typeface="Aptos" pitchFamily="34" charset="-120"/>
              </a:rPr>
              <a:t>Spider fonctionne, pagination, callbacks, sélecteurs robustes.</a:t>
            </a:r>
            <a:endParaRPr lang="en-US" sz="1150" dirty="0"/>
          </a:p>
        </p:txBody>
      </p:sp>
      <p:sp>
        <p:nvSpPr>
          <p:cNvPr id="8" name="Shape 6"/>
          <p:cNvSpPr/>
          <p:nvPr/>
        </p:nvSpPr>
        <p:spPr>
          <a:xfrm>
            <a:off x="960120" y="2377440"/>
            <a:ext cx="10241280" cy="658368"/>
          </a:xfrm>
          <a:prstGeom prst="roundRect">
            <a:avLst>
              <a:gd name="adj" fmla="val 5556"/>
            </a:avLst>
          </a:prstGeom>
          <a:solidFill>
            <a:srgbClr val="FFFFFF"/>
          </a:solidFill>
          <a:ln w="12700">
            <a:solidFill>
              <a:srgbClr val="DDDCE6"/>
            </a:solidFill>
            <a:prstDash val="solid"/>
          </a:ln>
        </p:spPr>
      </p:sp>
      <p:sp>
        <p:nvSpPr>
          <p:cNvPr id="9" name="Text 7"/>
          <p:cNvSpPr/>
          <p:nvPr/>
        </p:nvSpPr>
        <p:spPr>
          <a:xfrm>
            <a:off x="1143000" y="2551176"/>
            <a:ext cx="685800" cy="210312"/>
          </a:xfrm>
          <a:prstGeom prst="rect">
            <a:avLst/>
          </a:prstGeom>
          <a:noFill/>
          <a:ln/>
        </p:spPr>
        <p:txBody>
          <a:bodyPr wrap="square" lIns="0" tIns="0" rIns="0" bIns="0" rtlCol="0" anchor="ctr">
            <a:normAutofit/>
          </a:bodyPr>
          <a:lstStyle/>
          <a:p>
            <a:pPr algn="ctr" indent="0" marL="0">
              <a:buNone/>
            </a:pPr>
            <a:r>
              <a:rPr lang="en-US" sz="1450" b="1" dirty="0">
                <a:solidFill>
                  <a:srgbClr val="4EA27B"/>
                </a:solidFill>
                <a:latin typeface="Aptos" pitchFamily="34" charset="0"/>
                <a:ea typeface="Aptos" pitchFamily="34" charset="-122"/>
                <a:cs typeface="Aptos" pitchFamily="34" charset="-120"/>
              </a:rPr>
              <a:t>25%</a:t>
            </a:r>
            <a:endParaRPr lang="en-US" sz="1450" dirty="0"/>
          </a:p>
        </p:txBody>
      </p:sp>
      <p:sp>
        <p:nvSpPr>
          <p:cNvPr id="10" name="Text 8"/>
          <p:cNvSpPr/>
          <p:nvPr/>
        </p:nvSpPr>
        <p:spPr>
          <a:xfrm>
            <a:off x="1965960" y="2514600"/>
            <a:ext cx="2011680" cy="256032"/>
          </a:xfrm>
          <a:prstGeom prst="rect">
            <a:avLst/>
          </a:prstGeom>
          <a:noFill/>
          <a:ln/>
        </p:spPr>
        <p:txBody>
          <a:bodyPr wrap="square" lIns="0" tIns="0" rIns="0" bIns="0" rtlCol="0" anchor="ctr">
            <a:normAutofit/>
          </a:bodyPr>
          <a:lstStyle/>
          <a:p>
            <a:pPr algn="l" indent="0" marL="0">
              <a:buNone/>
            </a:pPr>
            <a:r>
              <a:rPr lang="en-US" sz="1400" b="1" dirty="0">
                <a:solidFill>
                  <a:srgbClr val="241337"/>
                </a:solidFill>
                <a:latin typeface="Aptos" pitchFamily="34" charset="0"/>
                <a:ea typeface="Aptos" pitchFamily="34" charset="-122"/>
                <a:cs typeface="Aptos" pitchFamily="34" charset="-120"/>
              </a:rPr>
              <a:t>Qualité des données</a:t>
            </a:r>
            <a:endParaRPr lang="en-US" sz="1400" dirty="0"/>
          </a:p>
        </p:txBody>
      </p:sp>
      <p:sp>
        <p:nvSpPr>
          <p:cNvPr id="11" name="Text 9"/>
          <p:cNvSpPr/>
          <p:nvPr/>
        </p:nvSpPr>
        <p:spPr>
          <a:xfrm>
            <a:off x="4160520" y="2514600"/>
            <a:ext cx="6492240" cy="274320"/>
          </a:xfrm>
          <a:prstGeom prst="rect">
            <a:avLst/>
          </a:prstGeom>
          <a:noFill/>
          <a:ln/>
        </p:spPr>
        <p:txBody>
          <a:bodyPr wrap="square" lIns="0" tIns="0" rIns="0" bIns="0" rtlCol="0" anchor="ctr">
            <a:normAutofit/>
          </a:bodyPr>
          <a:lstStyle/>
          <a:p>
            <a:pPr algn="l" indent="0" marL="0">
              <a:buNone/>
            </a:pPr>
            <a:r>
              <a:rPr lang="en-US" sz="1150" dirty="0">
                <a:solidFill>
                  <a:srgbClr val="6F7082"/>
                </a:solidFill>
                <a:latin typeface="Aptos" pitchFamily="34" charset="0"/>
                <a:ea typeface="Aptos" pitchFamily="34" charset="-122"/>
                <a:cs typeface="Aptos" pitchFamily="34" charset="-120"/>
              </a:rPr>
              <a:t>Types, champs manquants, nettoyage, déduplication.</a:t>
            </a:r>
            <a:endParaRPr lang="en-US" sz="1150" dirty="0"/>
          </a:p>
        </p:txBody>
      </p:sp>
      <p:sp>
        <p:nvSpPr>
          <p:cNvPr id="12" name="Shape 10"/>
          <p:cNvSpPr/>
          <p:nvPr/>
        </p:nvSpPr>
        <p:spPr>
          <a:xfrm>
            <a:off x="960120" y="3246120"/>
            <a:ext cx="10241280" cy="658368"/>
          </a:xfrm>
          <a:prstGeom prst="roundRect">
            <a:avLst>
              <a:gd name="adj" fmla="val 5556"/>
            </a:avLst>
          </a:prstGeom>
          <a:solidFill>
            <a:srgbClr val="FFFFFF"/>
          </a:solidFill>
          <a:ln w="12700">
            <a:solidFill>
              <a:srgbClr val="DDDCE6"/>
            </a:solidFill>
            <a:prstDash val="solid"/>
          </a:ln>
        </p:spPr>
      </p:sp>
      <p:sp>
        <p:nvSpPr>
          <p:cNvPr id="13" name="Text 11"/>
          <p:cNvSpPr/>
          <p:nvPr/>
        </p:nvSpPr>
        <p:spPr>
          <a:xfrm>
            <a:off x="1143000" y="3419856"/>
            <a:ext cx="685800" cy="210312"/>
          </a:xfrm>
          <a:prstGeom prst="rect">
            <a:avLst/>
          </a:prstGeom>
          <a:noFill/>
          <a:ln/>
        </p:spPr>
        <p:txBody>
          <a:bodyPr wrap="square" lIns="0" tIns="0" rIns="0" bIns="0" rtlCol="0" anchor="ctr">
            <a:normAutofit/>
          </a:bodyPr>
          <a:lstStyle/>
          <a:p>
            <a:pPr algn="ctr" indent="0" marL="0">
              <a:buNone/>
            </a:pPr>
            <a:r>
              <a:rPr lang="en-US" sz="1450" b="1" dirty="0">
                <a:solidFill>
                  <a:srgbClr val="7432A8"/>
                </a:solidFill>
                <a:latin typeface="Aptos" pitchFamily="34" charset="0"/>
                <a:ea typeface="Aptos" pitchFamily="34" charset="-122"/>
                <a:cs typeface="Aptos" pitchFamily="34" charset="-120"/>
              </a:rPr>
              <a:t>20%</a:t>
            </a:r>
            <a:endParaRPr lang="en-US" sz="1450" dirty="0"/>
          </a:p>
        </p:txBody>
      </p:sp>
      <p:sp>
        <p:nvSpPr>
          <p:cNvPr id="14" name="Text 12"/>
          <p:cNvSpPr/>
          <p:nvPr/>
        </p:nvSpPr>
        <p:spPr>
          <a:xfrm>
            <a:off x="1965960" y="3383280"/>
            <a:ext cx="2011680" cy="256032"/>
          </a:xfrm>
          <a:prstGeom prst="rect">
            <a:avLst/>
          </a:prstGeom>
          <a:noFill/>
          <a:ln/>
        </p:spPr>
        <p:txBody>
          <a:bodyPr wrap="square" lIns="0" tIns="0" rIns="0" bIns="0" rtlCol="0" anchor="ctr">
            <a:normAutofit/>
          </a:bodyPr>
          <a:lstStyle/>
          <a:p>
            <a:pPr algn="l" indent="0" marL="0">
              <a:buNone/>
            </a:pPr>
            <a:r>
              <a:rPr lang="en-US" sz="1400" b="1" dirty="0">
                <a:solidFill>
                  <a:srgbClr val="241337"/>
                </a:solidFill>
                <a:latin typeface="Aptos" pitchFamily="34" charset="0"/>
                <a:ea typeface="Aptos" pitchFamily="34" charset="-122"/>
                <a:cs typeface="Aptos" pitchFamily="34" charset="-120"/>
              </a:rPr>
              <a:t>Architecture</a:t>
            </a:r>
            <a:endParaRPr lang="en-US" sz="1400" dirty="0"/>
          </a:p>
        </p:txBody>
      </p:sp>
      <p:sp>
        <p:nvSpPr>
          <p:cNvPr id="15" name="Text 13"/>
          <p:cNvSpPr/>
          <p:nvPr/>
        </p:nvSpPr>
        <p:spPr>
          <a:xfrm>
            <a:off x="4160520" y="3383280"/>
            <a:ext cx="6492240" cy="274320"/>
          </a:xfrm>
          <a:prstGeom prst="rect">
            <a:avLst/>
          </a:prstGeom>
          <a:noFill/>
          <a:ln/>
        </p:spPr>
        <p:txBody>
          <a:bodyPr wrap="square" lIns="0" tIns="0" rIns="0" bIns="0" rtlCol="0" anchor="ctr">
            <a:normAutofit/>
          </a:bodyPr>
          <a:lstStyle/>
          <a:p>
            <a:pPr algn="l" indent="0" marL="0">
              <a:buNone/>
            </a:pPr>
            <a:r>
              <a:rPr lang="en-US" sz="1150" dirty="0">
                <a:solidFill>
                  <a:srgbClr val="6F7082"/>
                </a:solidFill>
                <a:latin typeface="Aptos" pitchFamily="34" charset="0"/>
                <a:ea typeface="Aptos" pitchFamily="34" charset="-122"/>
                <a:cs typeface="Aptos" pitchFamily="34" charset="-120"/>
              </a:rPr>
              <a:t>Items / Pipelines / réglages lisibles et responsabilités séparées.</a:t>
            </a:r>
            <a:endParaRPr lang="en-US" sz="1150" dirty="0"/>
          </a:p>
        </p:txBody>
      </p:sp>
      <p:sp>
        <p:nvSpPr>
          <p:cNvPr id="16" name="Shape 14"/>
          <p:cNvSpPr/>
          <p:nvPr/>
        </p:nvSpPr>
        <p:spPr>
          <a:xfrm>
            <a:off x="960120" y="4114800"/>
            <a:ext cx="10241280" cy="658368"/>
          </a:xfrm>
          <a:prstGeom prst="roundRect">
            <a:avLst>
              <a:gd name="adj" fmla="val 5556"/>
            </a:avLst>
          </a:prstGeom>
          <a:solidFill>
            <a:srgbClr val="FFFFFF"/>
          </a:solidFill>
          <a:ln w="12700">
            <a:solidFill>
              <a:srgbClr val="DDDCE6"/>
            </a:solidFill>
            <a:prstDash val="solid"/>
          </a:ln>
        </p:spPr>
      </p:sp>
      <p:sp>
        <p:nvSpPr>
          <p:cNvPr id="17" name="Text 15"/>
          <p:cNvSpPr/>
          <p:nvPr/>
        </p:nvSpPr>
        <p:spPr>
          <a:xfrm>
            <a:off x="1143000" y="4288536"/>
            <a:ext cx="685800" cy="210312"/>
          </a:xfrm>
          <a:prstGeom prst="rect">
            <a:avLst/>
          </a:prstGeom>
          <a:noFill/>
          <a:ln/>
        </p:spPr>
        <p:txBody>
          <a:bodyPr wrap="square" lIns="0" tIns="0" rIns="0" bIns="0" rtlCol="0" anchor="ctr">
            <a:normAutofit/>
          </a:bodyPr>
          <a:lstStyle/>
          <a:p>
            <a:pPr algn="ctr" indent="0" marL="0">
              <a:buNone/>
            </a:pPr>
            <a:r>
              <a:rPr lang="en-US" sz="1450" b="1" dirty="0">
                <a:solidFill>
                  <a:srgbClr val="DB8129"/>
                </a:solidFill>
                <a:latin typeface="Aptos" pitchFamily="34" charset="0"/>
                <a:ea typeface="Aptos" pitchFamily="34" charset="-122"/>
                <a:cs typeface="Aptos" pitchFamily="34" charset="-120"/>
              </a:rPr>
              <a:t>15%</a:t>
            </a:r>
            <a:endParaRPr lang="en-US" sz="1450" dirty="0"/>
          </a:p>
        </p:txBody>
      </p:sp>
      <p:sp>
        <p:nvSpPr>
          <p:cNvPr id="18" name="Text 16"/>
          <p:cNvSpPr/>
          <p:nvPr/>
        </p:nvSpPr>
        <p:spPr>
          <a:xfrm>
            <a:off x="1965960" y="4251960"/>
            <a:ext cx="2011680" cy="256032"/>
          </a:xfrm>
          <a:prstGeom prst="rect">
            <a:avLst/>
          </a:prstGeom>
          <a:noFill/>
          <a:ln/>
        </p:spPr>
        <p:txBody>
          <a:bodyPr wrap="square" lIns="0" tIns="0" rIns="0" bIns="0" rtlCol="0" anchor="ctr">
            <a:normAutofit/>
          </a:bodyPr>
          <a:lstStyle/>
          <a:p>
            <a:pPr algn="l" indent="0" marL="0">
              <a:buNone/>
            </a:pPr>
            <a:r>
              <a:rPr lang="en-US" sz="1400" b="1" dirty="0">
                <a:solidFill>
                  <a:srgbClr val="241337"/>
                </a:solidFill>
                <a:latin typeface="Aptos" pitchFamily="34" charset="0"/>
                <a:ea typeface="Aptos" pitchFamily="34" charset="-122"/>
                <a:cs typeface="Aptos" pitchFamily="34" charset="-120"/>
              </a:rPr>
              <a:t>Analyse responsable</a:t>
            </a:r>
            <a:endParaRPr lang="en-US" sz="1400" dirty="0"/>
          </a:p>
        </p:txBody>
      </p:sp>
      <p:sp>
        <p:nvSpPr>
          <p:cNvPr id="19" name="Text 17"/>
          <p:cNvSpPr/>
          <p:nvPr/>
        </p:nvSpPr>
        <p:spPr>
          <a:xfrm>
            <a:off x="4160520" y="4251960"/>
            <a:ext cx="6492240" cy="274320"/>
          </a:xfrm>
          <a:prstGeom prst="rect">
            <a:avLst/>
          </a:prstGeom>
          <a:noFill/>
          <a:ln/>
        </p:spPr>
        <p:txBody>
          <a:bodyPr wrap="square" lIns="0" tIns="0" rIns="0" bIns="0" rtlCol="0" anchor="ctr">
            <a:normAutofit/>
          </a:bodyPr>
          <a:lstStyle/>
          <a:p>
            <a:pPr algn="l" indent="0" marL="0">
              <a:buNone/>
            </a:pPr>
            <a:r>
              <a:rPr lang="en-US" sz="1150" dirty="0">
                <a:solidFill>
                  <a:srgbClr val="6F7082"/>
                </a:solidFill>
                <a:latin typeface="Aptos" pitchFamily="34" charset="0"/>
                <a:ea typeface="Aptos" pitchFamily="34" charset="-122"/>
                <a:cs typeface="Aptos" pitchFamily="34" charset="-120"/>
              </a:rPr>
              <a:t>Source, données, finalité, règles, impacts, fréquence.</a:t>
            </a:r>
            <a:endParaRPr lang="en-US" sz="1150" dirty="0"/>
          </a:p>
        </p:txBody>
      </p:sp>
      <p:sp>
        <p:nvSpPr>
          <p:cNvPr id="20" name="Shape 18"/>
          <p:cNvSpPr/>
          <p:nvPr/>
        </p:nvSpPr>
        <p:spPr>
          <a:xfrm>
            <a:off x="960120" y="4983480"/>
            <a:ext cx="10241280" cy="658368"/>
          </a:xfrm>
          <a:prstGeom prst="roundRect">
            <a:avLst>
              <a:gd name="adj" fmla="val 5556"/>
            </a:avLst>
          </a:prstGeom>
          <a:solidFill>
            <a:srgbClr val="FFFFFF"/>
          </a:solidFill>
          <a:ln w="12700">
            <a:solidFill>
              <a:srgbClr val="DDDCE6"/>
            </a:solidFill>
            <a:prstDash val="solid"/>
          </a:ln>
        </p:spPr>
      </p:sp>
      <p:sp>
        <p:nvSpPr>
          <p:cNvPr id="21" name="Text 19"/>
          <p:cNvSpPr/>
          <p:nvPr/>
        </p:nvSpPr>
        <p:spPr>
          <a:xfrm>
            <a:off x="1143000" y="5157216"/>
            <a:ext cx="685800" cy="210312"/>
          </a:xfrm>
          <a:prstGeom prst="rect">
            <a:avLst/>
          </a:prstGeom>
          <a:noFill/>
          <a:ln/>
        </p:spPr>
        <p:txBody>
          <a:bodyPr wrap="square" lIns="0" tIns="0" rIns="0" bIns="0" rtlCol="0" anchor="ctr">
            <a:normAutofit/>
          </a:bodyPr>
          <a:lstStyle/>
          <a:p>
            <a:pPr algn="ctr" indent="0" marL="0">
              <a:buNone/>
            </a:pPr>
            <a:r>
              <a:rPr lang="en-US" sz="1450" b="1" dirty="0">
                <a:solidFill>
                  <a:srgbClr val="2E899E"/>
                </a:solidFill>
                <a:latin typeface="Aptos" pitchFamily="34" charset="0"/>
                <a:ea typeface="Aptos" pitchFamily="34" charset="-122"/>
                <a:cs typeface="Aptos" pitchFamily="34" charset="-120"/>
              </a:rPr>
              <a:t>10%</a:t>
            </a:r>
            <a:endParaRPr lang="en-US" sz="1450" dirty="0"/>
          </a:p>
        </p:txBody>
      </p:sp>
      <p:sp>
        <p:nvSpPr>
          <p:cNvPr id="22" name="Text 20"/>
          <p:cNvSpPr/>
          <p:nvPr/>
        </p:nvSpPr>
        <p:spPr>
          <a:xfrm>
            <a:off x="1965960" y="5120640"/>
            <a:ext cx="2011680" cy="256032"/>
          </a:xfrm>
          <a:prstGeom prst="rect">
            <a:avLst/>
          </a:prstGeom>
          <a:noFill/>
          <a:ln/>
        </p:spPr>
        <p:txBody>
          <a:bodyPr wrap="square" lIns="0" tIns="0" rIns="0" bIns="0" rtlCol="0" anchor="ctr">
            <a:normAutofit/>
          </a:bodyPr>
          <a:lstStyle/>
          <a:p>
            <a:pPr algn="l" indent="0" marL="0">
              <a:buNone/>
            </a:pPr>
            <a:r>
              <a:rPr lang="en-US" sz="1400" b="1" dirty="0">
                <a:solidFill>
                  <a:srgbClr val="241337"/>
                </a:solidFill>
                <a:latin typeface="Aptos" pitchFamily="34" charset="0"/>
                <a:ea typeface="Aptos" pitchFamily="34" charset="-122"/>
                <a:cs typeface="Aptos" pitchFamily="34" charset="-120"/>
              </a:rPr>
              <a:t>Restitution</a:t>
            </a:r>
            <a:endParaRPr lang="en-US" sz="1400" dirty="0"/>
          </a:p>
        </p:txBody>
      </p:sp>
      <p:sp>
        <p:nvSpPr>
          <p:cNvPr id="23" name="Text 21"/>
          <p:cNvSpPr/>
          <p:nvPr/>
        </p:nvSpPr>
        <p:spPr>
          <a:xfrm>
            <a:off x="4160520" y="5120640"/>
            <a:ext cx="6492240" cy="274320"/>
          </a:xfrm>
          <a:prstGeom prst="rect">
            <a:avLst/>
          </a:prstGeom>
          <a:noFill/>
          <a:ln/>
        </p:spPr>
        <p:txBody>
          <a:bodyPr wrap="square" lIns="0" tIns="0" rIns="0" bIns="0" rtlCol="0" anchor="ctr">
            <a:normAutofit/>
          </a:bodyPr>
          <a:lstStyle/>
          <a:p>
            <a:pPr algn="l" indent="0" marL="0">
              <a:buNone/>
            </a:pPr>
            <a:r>
              <a:rPr lang="en-US" sz="1150" dirty="0">
                <a:solidFill>
                  <a:srgbClr val="6F7082"/>
                </a:solidFill>
                <a:latin typeface="Aptos" pitchFamily="34" charset="0"/>
                <a:ea typeface="Aptos" pitchFamily="34" charset="-122"/>
                <a:cs typeface="Aptos" pitchFamily="34" charset="-120"/>
              </a:rPr>
              <a:t>README et explication claire des choix.</a:t>
            </a:r>
            <a:endParaRPr lang="en-US" sz="1150" dirty="0"/>
          </a:p>
        </p:txBody>
      </p:sp>
      <p:sp>
        <p:nvSpPr>
          <p:cNvPr id="24" name="Text 22"/>
          <p:cNvSpPr/>
          <p:nvPr/>
        </p:nvSpPr>
        <p:spPr>
          <a:xfrm>
            <a:off x="1188720" y="5943600"/>
            <a:ext cx="9875520" cy="292608"/>
          </a:xfrm>
          <a:prstGeom prst="rect">
            <a:avLst/>
          </a:prstGeom>
          <a:noFill/>
          <a:ln/>
        </p:spPr>
        <p:txBody>
          <a:bodyPr wrap="square" lIns="0" tIns="0" rIns="0" bIns="0" rtlCol="0" anchor="ctr">
            <a:normAutofit/>
          </a:bodyPr>
          <a:lstStyle/>
          <a:p>
            <a:pPr algn="ctr" indent="0" marL="0">
              <a:buNone/>
            </a:pPr>
            <a:r>
              <a:rPr lang="en-US" sz="1550" b="1" dirty="0">
                <a:solidFill>
                  <a:srgbClr val="241337"/>
                </a:solidFill>
                <a:latin typeface="Aptos" pitchFamily="34" charset="0"/>
                <a:ea typeface="Aptos" pitchFamily="34" charset="-122"/>
                <a:cs typeface="Aptos" pitchFamily="34" charset="-120"/>
              </a:rPr>
              <a:t>On évalue le raisonnement et la reproductibilité, pas la quantité brute de pages.</a:t>
            </a:r>
            <a:endParaRPr lang="en-US" sz="1550" dirty="0"/>
          </a:p>
        </p:txBody>
      </p:sp>
      <p:sp>
        <p:nvSpPr>
          <p:cNvPr id="25" name="Slide Number Placeholder 0"/>
          <p:cNvSpPr>
            <a:spLocks noGrp="1"/>
          </p:cNvSpPr>
          <p:nvPr>
            <p:ph type="sldNum" sz="quarter" idx="4294967295"/>
          </p:nvPr>
        </p:nvSpPr>
        <p:spPr>
          <a:xfrm>
            <a:off x="11750040" y="274320"/>
            <a:ext cx="228600" cy="164592"/>
          </a:xfrm>
          <a:prstGeom prst="rect">
            <a:avLst/>
          </a:prstGeom>
          <a:extLst>
            <a:ext uri="{C572A759-6A51-4108-AA02-DFA0A04FC94B}">
              <ma14:wrappingTextBoxFlag xmlns:ma14="http://schemas.microsoft.com/office/mac/drawingml/2011/main" val="0"/>
            </a:ext>
          </a:extLst>
        </p:spPr>
        <p:txBody>
          <a:bodyPr/>
          <a:lstStyle>
            <a:lvl1pPr>
              <a:defRPr sz="800">
                <a:solidFill>
                  <a:srgbClr val="858697"/>
                </a:solidFill>
                <a:latin typeface="Aptos"/>
                <a:ea typeface="Aptos"/>
                <a:cs typeface="Aptos"/>
              </a:defRPr>
            </a:lvl1pPr>
          </a:lstStyle>
          <a:p>
            <a:pPr algn="r"/>
            <a:fld id="{F7021451-1387-4CA6-816F-3879F97B5CBC}" type="slidenum">
              <a:rPr b="0"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566928" y="438912"/>
            <a:ext cx="5029200" cy="228600"/>
          </a:xfrm>
          <a:prstGeom prst="rect">
            <a:avLst/>
          </a:prstGeom>
          <a:noFill/>
          <a:ln/>
        </p:spPr>
        <p:txBody>
          <a:bodyPr wrap="square" lIns="0" tIns="0" rIns="0" bIns="0" rtlCol="0" anchor="ctr">
            <a:normAutofit/>
          </a:bodyPr>
          <a:lstStyle/>
          <a:p>
            <a:pPr algn="l" indent="0" marL="0">
              <a:buNone/>
            </a:pPr>
            <a:r>
              <a:rPr lang="en-US" sz="1050" b="1" spc="150" kern="0" dirty="0">
                <a:solidFill>
                  <a:srgbClr val="7432A8"/>
                </a:solidFill>
                <a:latin typeface="Aptos" pitchFamily="34" charset="0"/>
                <a:ea typeface="Aptos" pitchFamily="34" charset="-122"/>
                <a:cs typeface="Aptos" pitchFamily="34" charset="-120"/>
              </a:rPr>
              <a:t>QCM DE FIN</a:t>
            </a:r>
            <a:endParaRPr lang="en-US" sz="1050" dirty="0"/>
          </a:p>
        </p:txBody>
      </p:sp>
      <p:sp>
        <p:nvSpPr>
          <p:cNvPr id="3" name="Text 1"/>
          <p:cNvSpPr/>
          <p:nvPr/>
        </p:nvSpPr>
        <p:spPr>
          <a:xfrm>
            <a:off x="566928" y="768096"/>
            <a:ext cx="10972800" cy="566928"/>
          </a:xfrm>
          <a:prstGeom prst="rect">
            <a:avLst/>
          </a:prstGeom>
          <a:noFill/>
          <a:ln/>
        </p:spPr>
        <p:txBody>
          <a:bodyPr wrap="square" lIns="0" tIns="0" rIns="0" bIns="0" rtlCol="0" anchor="t">
            <a:normAutofit/>
          </a:bodyPr>
          <a:lstStyle/>
          <a:p>
            <a:pPr algn="l" indent="0" marL="0">
              <a:buNone/>
            </a:pPr>
            <a:r>
              <a:rPr lang="en-US" sz="2800" b="1" dirty="0">
                <a:solidFill>
                  <a:srgbClr val="241337"/>
                </a:solidFill>
                <a:latin typeface="Aptos" pitchFamily="34" charset="0"/>
                <a:ea typeface="Aptos" pitchFamily="34" charset="-122"/>
                <a:cs typeface="Aptos" pitchFamily="34" charset="-120"/>
              </a:rPr>
              <a:t>10 questions — sans regarder le code</a:t>
            </a:r>
            <a:endParaRPr lang="en-US" sz="2800" dirty="0"/>
          </a:p>
        </p:txBody>
      </p:sp>
      <p:sp>
        <p:nvSpPr>
          <p:cNvPr id="4" name="Shape 2"/>
          <p:cNvSpPr/>
          <p:nvPr/>
        </p:nvSpPr>
        <p:spPr>
          <a:xfrm>
            <a:off x="777240" y="1554480"/>
            <a:ext cx="5166360" cy="658368"/>
          </a:xfrm>
          <a:prstGeom prst="roundRect">
            <a:avLst>
              <a:gd name="adj" fmla="val 5556"/>
            </a:avLst>
          </a:prstGeom>
          <a:solidFill>
            <a:srgbClr val="FFFFFF"/>
          </a:solidFill>
          <a:ln w="12700">
            <a:solidFill>
              <a:srgbClr val="DDDCE6"/>
            </a:solidFill>
            <a:prstDash val="solid"/>
          </a:ln>
        </p:spPr>
      </p:sp>
      <p:sp>
        <p:nvSpPr>
          <p:cNvPr id="5" name="Text 3"/>
          <p:cNvSpPr/>
          <p:nvPr/>
        </p:nvSpPr>
        <p:spPr>
          <a:xfrm>
            <a:off x="978408" y="1664208"/>
            <a:ext cx="4736592" cy="347472"/>
          </a:xfrm>
          <a:prstGeom prst="rect">
            <a:avLst/>
          </a:prstGeom>
          <a:noFill/>
          <a:ln/>
        </p:spPr>
        <p:txBody>
          <a:bodyPr wrap="square" lIns="0" tIns="0" rIns="0" bIns="0" rtlCol="0" anchor="ctr">
            <a:normAutofit/>
          </a:bodyPr>
          <a:lstStyle/>
          <a:p>
            <a:pPr algn="l" indent="0" marL="0">
              <a:buNone/>
            </a:pPr>
            <a:r>
              <a:rPr lang="en-US" sz="1250" b="1" dirty="0">
                <a:solidFill>
                  <a:srgbClr val="241337"/>
                </a:solidFill>
                <a:latin typeface="Aptos" pitchFamily="34" charset="0"/>
                <a:ea typeface="Aptos" pitchFamily="34" charset="-122"/>
                <a:cs typeface="Aptos" pitchFamily="34" charset="-120"/>
              </a:rPr>
              <a:t>1. Quel est le rôle principal d’un Spider ?</a:t>
            </a:r>
            <a:endParaRPr lang="en-US" sz="1250" dirty="0"/>
          </a:p>
        </p:txBody>
      </p:sp>
      <p:sp>
        <p:nvSpPr>
          <p:cNvPr id="6" name="Shape 4"/>
          <p:cNvSpPr/>
          <p:nvPr/>
        </p:nvSpPr>
        <p:spPr>
          <a:xfrm>
            <a:off x="777240" y="2432304"/>
            <a:ext cx="5166360" cy="658368"/>
          </a:xfrm>
          <a:prstGeom prst="roundRect">
            <a:avLst>
              <a:gd name="adj" fmla="val 5556"/>
            </a:avLst>
          </a:prstGeom>
          <a:solidFill>
            <a:srgbClr val="FFFFFF"/>
          </a:solidFill>
          <a:ln w="12700">
            <a:solidFill>
              <a:srgbClr val="DDDCE6"/>
            </a:solidFill>
            <a:prstDash val="solid"/>
          </a:ln>
        </p:spPr>
      </p:sp>
      <p:sp>
        <p:nvSpPr>
          <p:cNvPr id="7" name="Text 5"/>
          <p:cNvSpPr/>
          <p:nvPr/>
        </p:nvSpPr>
        <p:spPr>
          <a:xfrm>
            <a:off x="978408" y="2542032"/>
            <a:ext cx="4736592" cy="347472"/>
          </a:xfrm>
          <a:prstGeom prst="rect">
            <a:avLst/>
          </a:prstGeom>
          <a:noFill/>
          <a:ln/>
        </p:spPr>
        <p:txBody>
          <a:bodyPr wrap="square" lIns="0" tIns="0" rIns="0" bIns="0" rtlCol="0" anchor="ctr">
            <a:normAutofit/>
          </a:bodyPr>
          <a:lstStyle/>
          <a:p>
            <a:pPr algn="l" indent="0" marL="0">
              <a:buNone/>
            </a:pPr>
            <a:r>
              <a:rPr lang="en-US" sz="1250" b="1" dirty="0">
                <a:solidFill>
                  <a:srgbClr val="241337"/>
                </a:solidFill>
                <a:latin typeface="Aptos" pitchFamily="34" charset="0"/>
                <a:ea typeface="Aptos" pitchFamily="34" charset="-122"/>
                <a:cs typeface="Aptos" pitchFamily="34" charset="-120"/>
              </a:rPr>
              <a:t>2. Différence entre .get() et .getall() ?</a:t>
            </a:r>
            <a:endParaRPr lang="en-US" sz="1250" dirty="0"/>
          </a:p>
        </p:txBody>
      </p:sp>
      <p:sp>
        <p:nvSpPr>
          <p:cNvPr id="8" name="Shape 6"/>
          <p:cNvSpPr/>
          <p:nvPr/>
        </p:nvSpPr>
        <p:spPr>
          <a:xfrm>
            <a:off x="777240" y="3310128"/>
            <a:ext cx="5166360" cy="658368"/>
          </a:xfrm>
          <a:prstGeom prst="roundRect">
            <a:avLst>
              <a:gd name="adj" fmla="val 5556"/>
            </a:avLst>
          </a:prstGeom>
          <a:solidFill>
            <a:srgbClr val="FFFFFF"/>
          </a:solidFill>
          <a:ln w="12700">
            <a:solidFill>
              <a:srgbClr val="DDDCE6"/>
            </a:solidFill>
            <a:prstDash val="solid"/>
          </a:ln>
        </p:spPr>
      </p:sp>
      <p:sp>
        <p:nvSpPr>
          <p:cNvPr id="9" name="Text 7"/>
          <p:cNvSpPr/>
          <p:nvPr/>
        </p:nvSpPr>
        <p:spPr>
          <a:xfrm>
            <a:off x="978408" y="3419856"/>
            <a:ext cx="4736592" cy="347472"/>
          </a:xfrm>
          <a:prstGeom prst="rect">
            <a:avLst/>
          </a:prstGeom>
          <a:noFill/>
          <a:ln/>
        </p:spPr>
        <p:txBody>
          <a:bodyPr wrap="square" lIns="0" tIns="0" rIns="0" bIns="0" rtlCol="0" anchor="ctr">
            <a:normAutofit/>
          </a:bodyPr>
          <a:lstStyle/>
          <a:p>
            <a:pPr algn="l" indent="0" marL="0">
              <a:buNone/>
            </a:pPr>
            <a:r>
              <a:rPr lang="en-US" sz="1250" b="1" dirty="0">
                <a:solidFill>
                  <a:srgbClr val="241337"/>
                </a:solidFill>
                <a:latin typeface="Aptos" pitchFamily="34" charset="0"/>
                <a:ea typeface="Aptos" pitchFamily="34" charset="-122"/>
                <a:cs typeface="Aptos" pitchFamily="34" charset="-120"/>
              </a:rPr>
              <a:t>3. À quoi sert response.follow() ?</a:t>
            </a:r>
            <a:endParaRPr lang="en-US" sz="1250" dirty="0"/>
          </a:p>
        </p:txBody>
      </p:sp>
      <p:sp>
        <p:nvSpPr>
          <p:cNvPr id="10" name="Shape 8"/>
          <p:cNvSpPr/>
          <p:nvPr/>
        </p:nvSpPr>
        <p:spPr>
          <a:xfrm>
            <a:off x="777240" y="4187952"/>
            <a:ext cx="5166360" cy="658368"/>
          </a:xfrm>
          <a:prstGeom prst="roundRect">
            <a:avLst>
              <a:gd name="adj" fmla="val 5556"/>
            </a:avLst>
          </a:prstGeom>
          <a:solidFill>
            <a:srgbClr val="FFFFFF"/>
          </a:solidFill>
          <a:ln w="12700">
            <a:solidFill>
              <a:srgbClr val="DDDCE6"/>
            </a:solidFill>
            <a:prstDash val="solid"/>
          </a:ln>
        </p:spPr>
      </p:sp>
      <p:sp>
        <p:nvSpPr>
          <p:cNvPr id="11" name="Text 9"/>
          <p:cNvSpPr/>
          <p:nvPr/>
        </p:nvSpPr>
        <p:spPr>
          <a:xfrm>
            <a:off x="978408" y="4297680"/>
            <a:ext cx="4736592" cy="347472"/>
          </a:xfrm>
          <a:prstGeom prst="rect">
            <a:avLst/>
          </a:prstGeom>
          <a:noFill/>
          <a:ln/>
        </p:spPr>
        <p:txBody>
          <a:bodyPr wrap="square" lIns="0" tIns="0" rIns="0" bIns="0" rtlCol="0" anchor="ctr">
            <a:normAutofit/>
          </a:bodyPr>
          <a:lstStyle/>
          <a:p>
            <a:pPr algn="l" indent="0" marL="0">
              <a:buNone/>
            </a:pPr>
            <a:r>
              <a:rPr lang="en-US" sz="1250" b="1" dirty="0">
                <a:solidFill>
                  <a:srgbClr val="241337"/>
                </a:solidFill>
                <a:latin typeface="Aptos" pitchFamily="34" charset="0"/>
                <a:ea typeface="Aptos" pitchFamily="34" charset="-122"/>
                <a:cs typeface="Aptos" pitchFamily="34" charset="-120"/>
              </a:rPr>
              <a:t>4. Où placer un nettoyage réutilisable ?</a:t>
            </a:r>
            <a:endParaRPr lang="en-US" sz="1250" dirty="0"/>
          </a:p>
        </p:txBody>
      </p:sp>
      <p:sp>
        <p:nvSpPr>
          <p:cNvPr id="12" name="Shape 10"/>
          <p:cNvSpPr/>
          <p:nvPr/>
        </p:nvSpPr>
        <p:spPr>
          <a:xfrm>
            <a:off x="777240" y="5065776"/>
            <a:ext cx="5166360" cy="658368"/>
          </a:xfrm>
          <a:prstGeom prst="roundRect">
            <a:avLst>
              <a:gd name="adj" fmla="val 5556"/>
            </a:avLst>
          </a:prstGeom>
          <a:solidFill>
            <a:srgbClr val="FFFFFF"/>
          </a:solidFill>
          <a:ln w="12700">
            <a:solidFill>
              <a:srgbClr val="DDDCE6"/>
            </a:solidFill>
            <a:prstDash val="solid"/>
          </a:ln>
        </p:spPr>
      </p:sp>
      <p:sp>
        <p:nvSpPr>
          <p:cNvPr id="13" name="Text 11"/>
          <p:cNvSpPr/>
          <p:nvPr/>
        </p:nvSpPr>
        <p:spPr>
          <a:xfrm>
            <a:off x="978408" y="5175504"/>
            <a:ext cx="4736592" cy="347472"/>
          </a:xfrm>
          <a:prstGeom prst="rect">
            <a:avLst/>
          </a:prstGeom>
          <a:noFill/>
          <a:ln/>
        </p:spPr>
        <p:txBody>
          <a:bodyPr wrap="square" lIns="0" tIns="0" rIns="0" bIns="0" rtlCol="0" anchor="ctr">
            <a:normAutofit/>
          </a:bodyPr>
          <a:lstStyle/>
          <a:p>
            <a:pPr algn="l" indent="0" marL="0">
              <a:buNone/>
            </a:pPr>
            <a:r>
              <a:rPr lang="en-US" sz="1250" b="1" dirty="0">
                <a:solidFill>
                  <a:srgbClr val="241337"/>
                </a:solidFill>
                <a:latin typeface="Aptos" pitchFamily="34" charset="0"/>
                <a:ea typeface="Aptos" pitchFamily="34" charset="-122"/>
                <a:cs typeface="Aptos" pitchFamily="34" charset="-120"/>
              </a:rPr>
              <a:t>5. Comment exporter rapidement en CSV ?</a:t>
            </a:r>
            <a:endParaRPr lang="en-US" sz="1250" dirty="0"/>
          </a:p>
        </p:txBody>
      </p:sp>
      <p:sp>
        <p:nvSpPr>
          <p:cNvPr id="14" name="Shape 12"/>
          <p:cNvSpPr/>
          <p:nvPr/>
        </p:nvSpPr>
        <p:spPr>
          <a:xfrm>
            <a:off x="6446520" y="1554480"/>
            <a:ext cx="5166360" cy="658368"/>
          </a:xfrm>
          <a:prstGeom prst="roundRect">
            <a:avLst>
              <a:gd name="adj" fmla="val 5556"/>
            </a:avLst>
          </a:prstGeom>
          <a:solidFill>
            <a:srgbClr val="FFFFFF"/>
          </a:solidFill>
          <a:ln w="12700">
            <a:solidFill>
              <a:srgbClr val="DDDCE6"/>
            </a:solidFill>
            <a:prstDash val="solid"/>
          </a:ln>
        </p:spPr>
      </p:sp>
      <p:sp>
        <p:nvSpPr>
          <p:cNvPr id="15" name="Text 13"/>
          <p:cNvSpPr/>
          <p:nvPr/>
        </p:nvSpPr>
        <p:spPr>
          <a:xfrm>
            <a:off x="6647688" y="1664208"/>
            <a:ext cx="4736592" cy="347472"/>
          </a:xfrm>
          <a:prstGeom prst="rect">
            <a:avLst/>
          </a:prstGeom>
          <a:noFill/>
          <a:ln/>
        </p:spPr>
        <p:txBody>
          <a:bodyPr wrap="square" lIns="0" tIns="0" rIns="0" bIns="0" rtlCol="0" anchor="ctr">
            <a:normAutofit/>
          </a:bodyPr>
          <a:lstStyle/>
          <a:p>
            <a:pPr algn="l" indent="0" marL="0">
              <a:buNone/>
            </a:pPr>
            <a:r>
              <a:rPr lang="en-US" sz="1250" b="1" dirty="0">
                <a:solidFill>
                  <a:srgbClr val="241337"/>
                </a:solidFill>
                <a:latin typeface="Aptos" pitchFamily="34" charset="0"/>
                <a:ea typeface="Aptos" pitchFamily="34" charset="-122"/>
                <a:cs typeface="Aptos" pitchFamily="34" charset="-120"/>
              </a:rPr>
              <a:t>6. Pourquoi dédupliquer les items ?</a:t>
            </a:r>
            <a:endParaRPr lang="en-US" sz="1250" dirty="0"/>
          </a:p>
        </p:txBody>
      </p:sp>
      <p:sp>
        <p:nvSpPr>
          <p:cNvPr id="16" name="Shape 14"/>
          <p:cNvSpPr/>
          <p:nvPr/>
        </p:nvSpPr>
        <p:spPr>
          <a:xfrm>
            <a:off x="6446520" y="2432304"/>
            <a:ext cx="5166360" cy="658368"/>
          </a:xfrm>
          <a:prstGeom prst="roundRect">
            <a:avLst>
              <a:gd name="adj" fmla="val 5556"/>
            </a:avLst>
          </a:prstGeom>
          <a:solidFill>
            <a:srgbClr val="FFFFFF"/>
          </a:solidFill>
          <a:ln w="12700">
            <a:solidFill>
              <a:srgbClr val="DDDCE6"/>
            </a:solidFill>
            <a:prstDash val="solid"/>
          </a:ln>
        </p:spPr>
      </p:sp>
      <p:sp>
        <p:nvSpPr>
          <p:cNvPr id="17" name="Text 15"/>
          <p:cNvSpPr/>
          <p:nvPr/>
        </p:nvSpPr>
        <p:spPr>
          <a:xfrm>
            <a:off x="6647688" y="2542032"/>
            <a:ext cx="4736592" cy="347472"/>
          </a:xfrm>
          <a:prstGeom prst="rect">
            <a:avLst/>
          </a:prstGeom>
          <a:noFill/>
          <a:ln/>
        </p:spPr>
        <p:txBody>
          <a:bodyPr wrap="square" lIns="0" tIns="0" rIns="0" bIns="0" rtlCol="0" anchor="ctr">
            <a:normAutofit/>
          </a:bodyPr>
          <a:lstStyle/>
          <a:p>
            <a:pPr algn="l" indent="0" marL="0">
              <a:buNone/>
            </a:pPr>
            <a:r>
              <a:rPr lang="en-US" sz="1250" b="1" dirty="0">
                <a:solidFill>
                  <a:srgbClr val="241337"/>
                </a:solidFill>
                <a:latin typeface="Aptos" pitchFamily="34" charset="0"/>
                <a:ea typeface="Aptos" pitchFamily="34" charset="-122"/>
                <a:cs typeface="Aptos" pitchFamily="34" charset="-120"/>
              </a:rPr>
              <a:t>7. Une donnée publique est-elle libre de toute réutilisation ?</a:t>
            </a:r>
            <a:endParaRPr lang="en-US" sz="1250" dirty="0"/>
          </a:p>
        </p:txBody>
      </p:sp>
      <p:sp>
        <p:nvSpPr>
          <p:cNvPr id="18" name="Shape 16"/>
          <p:cNvSpPr/>
          <p:nvPr/>
        </p:nvSpPr>
        <p:spPr>
          <a:xfrm>
            <a:off x="6446520" y="3310128"/>
            <a:ext cx="5166360" cy="658368"/>
          </a:xfrm>
          <a:prstGeom prst="roundRect">
            <a:avLst>
              <a:gd name="adj" fmla="val 5556"/>
            </a:avLst>
          </a:prstGeom>
          <a:solidFill>
            <a:srgbClr val="FFFFFF"/>
          </a:solidFill>
          <a:ln w="12700">
            <a:solidFill>
              <a:srgbClr val="DDDCE6"/>
            </a:solidFill>
            <a:prstDash val="solid"/>
          </a:ln>
        </p:spPr>
      </p:sp>
      <p:sp>
        <p:nvSpPr>
          <p:cNvPr id="19" name="Text 17"/>
          <p:cNvSpPr/>
          <p:nvPr/>
        </p:nvSpPr>
        <p:spPr>
          <a:xfrm>
            <a:off x="6647688" y="3419856"/>
            <a:ext cx="4736592" cy="347472"/>
          </a:xfrm>
          <a:prstGeom prst="rect">
            <a:avLst/>
          </a:prstGeom>
          <a:noFill/>
          <a:ln/>
        </p:spPr>
        <p:txBody>
          <a:bodyPr wrap="square" lIns="0" tIns="0" rIns="0" bIns="0" rtlCol="0" anchor="ctr">
            <a:normAutofit/>
          </a:bodyPr>
          <a:lstStyle/>
          <a:p>
            <a:pPr algn="l" indent="0" marL="0">
              <a:buNone/>
            </a:pPr>
            <a:r>
              <a:rPr lang="en-US" sz="1250" b="1" dirty="0">
                <a:solidFill>
                  <a:srgbClr val="241337"/>
                </a:solidFill>
                <a:latin typeface="Aptos" pitchFamily="34" charset="0"/>
                <a:ea typeface="Aptos" pitchFamily="34" charset="-122"/>
                <a:cs typeface="Aptos" pitchFamily="34" charset="-120"/>
              </a:rPr>
              <a:t>8. Citer deux principes RGPD pertinents.</a:t>
            </a:r>
            <a:endParaRPr lang="en-US" sz="1250" dirty="0"/>
          </a:p>
        </p:txBody>
      </p:sp>
      <p:sp>
        <p:nvSpPr>
          <p:cNvPr id="20" name="Shape 18"/>
          <p:cNvSpPr/>
          <p:nvPr/>
        </p:nvSpPr>
        <p:spPr>
          <a:xfrm>
            <a:off x="6446520" y="4187952"/>
            <a:ext cx="5166360" cy="658368"/>
          </a:xfrm>
          <a:prstGeom prst="roundRect">
            <a:avLst>
              <a:gd name="adj" fmla="val 5556"/>
            </a:avLst>
          </a:prstGeom>
          <a:solidFill>
            <a:srgbClr val="FFFFFF"/>
          </a:solidFill>
          <a:ln w="12700">
            <a:solidFill>
              <a:srgbClr val="DDDCE6"/>
            </a:solidFill>
            <a:prstDash val="solid"/>
          </a:ln>
        </p:spPr>
      </p:sp>
      <p:sp>
        <p:nvSpPr>
          <p:cNvPr id="21" name="Text 19"/>
          <p:cNvSpPr/>
          <p:nvPr/>
        </p:nvSpPr>
        <p:spPr>
          <a:xfrm>
            <a:off x="6647688" y="4297680"/>
            <a:ext cx="4736592" cy="347472"/>
          </a:xfrm>
          <a:prstGeom prst="rect">
            <a:avLst/>
          </a:prstGeom>
          <a:noFill/>
          <a:ln/>
        </p:spPr>
        <p:txBody>
          <a:bodyPr wrap="square" lIns="0" tIns="0" rIns="0" bIns="0" rtlCol="0" anchor="ctr">
            <a:normAutofit/>
          </a:bodyPr>
          <a:lstStyle/>
          <a:p>
            <a:pPr algn="l" indent="0" marL="0">
              <a:buNone/>
            </a:pPr>
            <a:r>
              <a:rPr lang="en-US" sz="1250" b="1" dirty="0">
                <a:solidFill>
                  <a:srgbClr val="241337"/>
                </a:solidFill>
                <a:latin typeface="Aptos" pitchFamily="34" charset="0"/>
                <a:ea typeface="Aptos" pitchFamily="34" charset="-122"/>
                <a:cs typeface="Aptos" pitchFamily="34" charset="-120"/>
              </a:rPr>
              <a:t>9. Que peut signaler un HTTP 429 ?</a:t>
            </a:r>
            <a:endParaRPr lang="en-US" sz="1250" dirty="0"/>
          </a:p>
        </p:txBody>
      </p:sp>
      <p:sp>
        <p:nvSpPr>
          <p:cNvPr id="22" name="Shape 20"/>
          <p:cNvSpPr/>
          <p:nvPr/>
        </p:nvSpPr>
        <p:spPr>
          <a:xfrm>
            <a:off x="6446520" y="5065776"/>
            <a:ext cx="5166360" cy="658368"/>
          </a:xfrm>
          <a:prstGeom prst="roundRect">
            <a:avLst>
              <a:gd name="adj" fmla="val 5556"/>
            </a:avLst>
          </a:prstGeom>
          <a:solidFill>
            <a:srgbClr val="FFFFFF"/>
          </a:solidFill>
          <a:ln w="12700">
            <a:solidFill>
              <a:srgbClr val="DDDCE6"/>
            </a:solidFill>
            <a:prstDash val="solid"/>
          </a:ln>
        </p:spPr>
      </p:sp>
      <p:sp>
        <p:nvSpPr>
          <p:cNvPr id="23" name="Text 21"/>
          <p:cNvSpPr/>
          <p:nvPr/>
        </p:nvSpPr>
        <p:spPr>
          <a:xfrm>
            <a:off x="6647688" y="5175504"/>
            <a:ext cx="4736592" cy="347472"/>
          </a:xfrm>
          <a:prstGeom prst="rect">
            <a:avLst/>
          </a:prstGeom>
          <a:noFill/>
          <a:ln/>
        </p:spPr>
        <p:txBody>
          <a:bodyPr wrap="square" lIns="0" tIns="0" rIns="0" bIns="0" rtlCol="0" anchor="ctr">
            <a:normAutofit/>
          </a:bodyPr>
          <a:lstStyle/>
          <a:p>
            <a:pPr algn="l" indent="0" marL="0">
              <a:buNone/>
            </a:pPr>
            <a:r>
              <a:rPr lang="en-US" sz="1250" b="1" dirty="0">
                <a:solidFill>
                  <a:srgbClr val="241337"/>
                </a:solidFill>
                <a:latin typeface="Aptos" pitchFamily="34" charset="0"/>
                <a:ea typeface="Aptos" pitchFamily="34" charset="-122"/>
                <a:cs typeface="Aptos" pitchFamily="34" charset="-120"/>
              </a:rPr>
              <a:t>10. Quel réflexe avant de scraper : API / export / licence ?</a:t>
            </a:r>
            <a:endParaRPr lang="en-US" sz="1250" dirty="0"/>
          </a:p>
        </p:txBody>
      </p:sp>
      <p:sp>
        <p:nvSpPr>
          <p:cNvPr id="25" name="Slide Number Placeholder 0"/>
          <p:cNvSpPr>
            <a:spLocks noGrp="1"/>
          </p:cNvSpPr>
          <p:nvPr>
            <p:ph type="sldNum" sz="quarter" idx="4294967295"/>
          </p:nvPr>
        </p:nvSpPr>
        <p:spPr>
          <a:xfrm>
            <a:off x="11750040" y="274320"/>
            <a:ext cx="228600" cy="164592"/>
          </a:xfrm>
          <a:prstGeom prst="rect">
            <a:avLst/>
          </a:prstGeom>
          <a:extLst>
            <a:ext uri="{C572A759-6A51-4108-AA02-DFA0A04FC94B}">
              <ma14:wrappingTextBoxFlag xmlns:ma14="http://schemas.microsoft.com/office/mac/drawingml/2011/main" val="0"/>
            </a:ext>
          </a:extLst>
        </p:spPr>
        <p:txBody>
          <a:bodyPr/>
          <a:lstStyle>
            <a:lvl1pPr>
              <a:defRPr sz="800">
                <a:solidFill>
                  <a:srgbClr val="858697"/>
                </a:solidFill>
                <a:latin typeface="Aptos"/>
                <a:ea typeface="Aptos"/>
                <a:cs typeface="Aptos"/>
              </a:defRPr>
            </a:lvl1pPr>
          </a:lstStyle>
          <a:p>
            <a:pPr algn="r"/>
            <a:fld id="{F7021451-1387-4CA6-816F-3879F97B5CBC}" type="slidenum">
              <a:rPr b="0"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566928" y="438912"/>
            <a:ext cx="5029200" cy="228600"/>
          </a:xfrm>
          <a:prstGeom prst="rect">
            <a:avLst/>
          </a:prstGeom>
          <a:noFill/>
          <a:ln/>
        </p:spPr>
        <p:txBody>
          <a:bodyPr wrap="square" lIns="0" tIns="0" rIns="0" bIns="0" rtlCol="0" anchor="ctr">
            <a:normAutofit/>
          </a:bodyPr>
          <a:lstStyle/>
          <a:p>
            <a:pPr algn="l" indent="0" marL="0">
              <a:buNone/>
            </a:pPr>
            <a:r>
              <a:rPr lang="en-US" sz="1050" b="1" spc="150" kern="0" dirty="0">
                <a:solidFill>
                  <a:srgbClr val="7432A8"/>
                </a:solidFill>
                <a:latin typeface="Aptos" pitchFamily="34" charset="0"/>
                <a:ea typeface="Aptos" pitchFamily="34" charset="-122"/>
                <a:cs typeface="Aptos" pitchFamily="34" charset="-120"/>
              </a:rPr>
              <a:t>CORRECTION</a:t>
            </a:r>
            <a:endParaRPr lang="en-US" sz="1050" dirty="0"/>
          </a:p>
        </p:txBody>
      </p:sp>
      <p:sp>
        <p:nvSpPr>
          <p:cNvPr id="3" name="Text 1"/>
          <p:cNvSpPr/>
          <p:nvPr/>
        </p:nvSpPr>
        <p:spPr>
          <a:xfrm>
            <a:off x="566928" y="768096"/>
            <a:ext cx="10972800" cy="566928"/>
          </a:xfrm>
          <a:prstGeom prst="rect">
            <a:avLst/>
          </a:prstGeom>
          <a:noFill/>
          <a:ln/>
        </p:spPr>
        <p:txBody>
          <a:bodyPr wrap="square" lIns="0" tIns="0" rIns="0" bIns="0" rtlCol="0" anchor="t">
            <a:normAutofit/>
          </a:bodyPr>
          <a:lstStyle/>
          <a:p>
            <a:pPr algn="l" indent="0" marL="0">
              <a:buNone/>
            </a:pPr>
            <a:r>
              <a:rPr lang="en-US" sz="2800" b="1" dirty="0">
                <a:solidFill>
                  <a:srgbClr val="241337"/>
                </a:solidFill>
                <a:latin typeface="Aptos" pitchFamily="34" charset="0"/>
                <a:ea typeface="Aptos" pitchFamily="34" charset="-122"/>
                <a:cs typeface="Aptos" pitchFamily="34" charset="-120"/>
              </a:rPr>
              <a:t>Réponses attendues — version synthétique</a:t>
            </a:r>
            <a:endParaRPr lang="en-US" sz="2800" dirty="0"/>
          </a:p>
        </p:txBody>
      </p:sp>
      <p:sp>
        <p:nvSpPr>
          <p:cNvPr id="4" name="Shape 2"/>
          <p:cNvSpPr/>
          <p:nvPr/>
        </p:nvSpPr>
        <p:spPr>
          <a:xfrm>
            <a:off x="777240" y="1508760"/>
            <a:ext cx="5166360" cy="676656"/>
          </a:xfrm>
          <a:prstGeom prst="roundRect">
            <a:avLst>
              <a:gd name="adj" fmla="val 5405"/>
            </a:avLst>
          </a:prstGeom>
          <a:solidFill>
            <a:srgbClr val="FFFFFF"/>
          </a:solidFill>
          <a:ln w="12700">
            <a:solidFill>
              <a:srgbClr val="DDDCE6"/>
            </a:solidFill>
            <a:prstDash val="solid"/>
          </a:ln>
        </p:spPr>
      </p:sp>
      <p:sp>
        <p:nvSpPr>
          <p:cNvPr id="5" name="Text 3"/>
          <p:cNvSpPr/>
          <p:nvPr/>
        </p:nvSpPr>
        <p:spPr>
          <a:xfrm>
            <a:off x="941832" y="1673352"/>
            <a:ext cx="292608" cy="201168"/>
          </a:xfrm>
          <a:prstGeom prst="rect">
            <a:avLst/>
          </a:prstGeom>
          <a:noFill/>
          <a:ln/>
        </p:spPr>
        <p:txBody>
          <a:bodyPr wrap="square" lIns="0" tIns="0" rIns="0" bIns="0" rtlCol="0" anchor="ctr">
            <a:normAutofit/>
          </a:bodyPr>
          <a:lstStyle/>
          <a:p>
            <a:pPr algn="ctr" indent="0" marL="0">
              <a:buNone/>
            </a:pPr>
            <a:r>
              <a:rPr lang="en-US" sz="1300" b="1" dirty="0">
                <a:solidFill>
                  <a:srgbClr val="7432A8"/>
                </a:solidFill>
                <a:latin typeface="Aptos" pitchFamily="34" charset="0"/>
                <a:ea typeface="Aptos" pitchFamily="34" charset="-122"/>
                <a:cs typeface="Aptos" pitchFamily="34" charset="-120"/>
              </a:rPr>
              <a:t>1</a:t>
            </a:r>
            <a:endParaRPr lang="en-US" sz="1300" dirty="0"/>
          </a:p>
        </p:txBody>
      </p:sp>
      <p:sp>
        <p:nvSpPr>
          <p:cNvPr id="6" name="Text 4"/>
          <p:cNvSpPr/>
          <p:nvPr/>
        </p:nvSpPr>
        <p:spPr>
          <a:xfrm>
            <a:off x="1344168" y="1618488"/>
            <a:ext cx="4343400" cy="365760"/>
          </a:xfrm>
          <a:prstGeom prst="rect">
            <a:avLst/>
          </a:prstGeom>
          <a:noFill/>
          <a:ln/>
        </p:spPr>
        <p:txBody>
          <a:bodyPr wrap="square" lIns="0" tIns="0" rIns="0" bIns="0" rtlCol="0" anchor="ctr">
            <a:normAutofit/>
          </a:bodyPr>
          <a:lstStyle/>
          <a:p>
            <a:pPr algn="l" indent="0" marL="0">
              <a:buNone/>
            </a:pPr>
            <a:r>
              <a:rPr lang="en-US" sz="1160" dirty="0">
                <a:solidFill>
                  <a:srgbClr val="241337"/>
                </a:solidFill>
                <a:latin typeface="Aptos" pitchFamily="34" charset="0"/>
                <a:ea typeface="Aptos" pitchFamily="34" charset="-122"/>
                <a:cs typeface="Aptos" pitchFamily="34" charset="-120"/>
              </a:rPr>
              <a:t>Navigation + extraction / callbacks</a:t>
            </a:r>
            <a:endParaRPr lang="en-US" sz="1160" dirty="0"/>
          </a:p>
        </p:txBody>
      </p:sp>
      <p:sp>
        <p:nvSpPr>
          <p:cNvPr id="7" name="Shape 5"/>
          <p:cNvSpPr/>
          <p:nvPr/>
        </p:nvSpPr>
        <p:spPr>
          <a:xfrm>
            <a:off x="777240" y="2404872"/>
            <a:ext cx="5166360" cy="676656"/>
          </a:xfrm>
          <a:prstGeom prst="roundRect">
            <a:avLst>
              <a:gd name="adj" fmla="val 5405"/>
            </a:avLst>
          </a:prstGeom>
          <a:solidFill>
            <a:srgbClr val="F2EEF5"/>
          </a:solidFill>
          <a:ln w="12700">
            <a:solidFill>
              <a:srgbClr val="DDDCE6"/>
            </a:solidFill>
            <a:prstDash val="solid"/>
          </a:ln>
        </p:spPr>
      </p:sp>
      <p:sp>
        <p:nvSpPr>
          <p:cNvPr id="8" name="Text 6"/>
          <p:cNvSpPr/>
          <p:nvPr/>
        </p:nvSpPr>
        <p:spPr>
          <a:xfrm>
            <a:off x="941832" y="2569464"/>
            <a:ext cx="292608" cy="201168"/>
          </a:xfrm>
          <a:prstGeom prst="rect">
            <a:avLst/>
          </a:prstGeom>
          <a:noFill/>
          <a:ln/>
        </p:spPr>
        <p:txBody>
          <a:bodyPr wrap="square" lIns="0" tIns="0" rIns="0" bIns="0" rtlCol="0" anchor="ctr">
            <a:normAutofit/>
          </a:bodyPr>
          <a:lstStyle/>
          <a:p>
            <a:pPr algn="ctr" indent="0" marL="0">
              <a:buNone/>
            </a:pPr>
            <a:r>
              <a:rPr lang="en-US" sz="1300" b="1" dirty="0">
                <a:solidFill>
                  <a:srgbClr val="7432A8"/>
                </a:solidFill>
                <a:latin typeface="Aptos" pitchFamily="34" charset="0"/>
                <a:ea typeface="Aptos" pitchFamily="34" charset="-122"/>
                <a:cs typeface="Aptos" pitchFamily="34" charset="-120"/>
              </a:rPr>
              <a:t>2</a:t>
            </a:r>
            <a:endParaRPr lang="en-US" sz="1300" dirty="0"/>
          </a:p>
        </p:txBody>
      </p:sp>
      <p:sp>
        <p:nvSpPr>
          <p:cNvPr id="9" name="Text 7"/>
          <p:cNvSpPr/>
          <p:nvPr/>
        </p:nvSpPr>
        <p:spPr>
          <a:xfrm>
            <a:off x="1344168" y="2514600"/>
            <a:ext cx="4343400" cy="365760"/>
          </a:xfrm>
          <a:prstGeom prst="rect">
            <a:avLst/>
          </a:prstGeom>
          <a:noFill/>
          <a:ln/>
        </p:spPr>
        <p:txBody>
          <a:bodyPr wrap="square" lIns="0" tIns="0" rIns="0" bIns="0" rtlCol="0" anchor="ctr">
            <a:normAutofit/>
          </a:bodyPr>
          <a:lstStyle/>
          <a:p>
            <a:pPr algn="l" indent="0" marL="0">
              <a:buNone/>
            </a:pPr>
            <a:r>
              <a:rPr lang="en-US" sz="1160" dirty="0">
                <a:solidFill>
                  <a:srgbClr val="241337"/>
                </a:solidFill>
                <a:latin typeface="Aptos" pitchFamily="34" charset="0"/>
                <a:ea typeface="Aptos" pitchFamily="34" charset="-122"/>
                <a:cs typeface="Aptos" pitchFamily="34" charset="-120"/>
              </a:rPr>
              <a:t>Premier résultat vs tous les résultats</a:t>
            </a:r>
            <a:endParaRPr lang="en-US" sz="1160" dirty="0"/>
          </a:p>
        </p:txBody>
      </p:sp>
      <p:sp>
        <p:nvSpPr>
          <p:cNvPr id="10" name="Shape 8"/>
          <p:cNvSpPr/>
          <p:nvPr/>
        </p:nvSpPr>
        <p:spPr>
          <a:xfrm>
            <a:off x="777240" y="3300984"/>
            <a:ext cx="5166360" cy="676656"/>
          </a:xfrm>
          <a:prstGeom prst="roundRect">
            <a:avLst>
              <a:gd name="adj" fmla="val 5405"/>
            </a:avLst>
          </a:prstGeom>
          <a:solidFill>
            <a:srgbClr val="FFFFFF"/>
          </a:solidFill>
          <a:ln w="12700">
            <a:solidFill>
              <a:srgbClr val="DDDCE6"/>
            </a:solidFill>
            <a:prstDash val="solid"/>
          </a:ln>
        </p:spPr>
      </p:sp>
      <p:sp>
        <p:nvSpPr>
          <p:cNvPr id="11" name="Text 9"/>
          <p:cNvSpPr/>
          <p:nvPr/>
        </p:nvSpPr>
        <p:spPr>
          <a:xfrm>
            <a:off x="941832" y="3465576"/>
            <a:ext cx="292608" cy="201168"/>
          </a:xfrm>
          <a:prstGeom prst="rect">
            <a:avLst/>
          </a:prstGeom>
          <a:noFill/>
          <a:ln/>
        </p:spPr>
        <p:txBody>
          <a:bodyPr wrap="square" lIns="0" tIns="0" rIns="0" bIns="0" rtlCol="0" anchor="ctr">
            <a:normAutofit/>
          </a:bodyPr>
          <a:lstStyle/>
          <a:p>
            <a:pPr algn="ctr" indent="0" marL="0">
              <a:buNone/>
            </a:pPr>
            <a:r>
              <a:rPr lang="en-US" sz="1300" b="1" dirty="0">
                <a:solidFill>
                  <a:srgbClr val="7432A8"/>
                </a:solidFill>
                <a:latin typeface="Aptos" pitchFamily="34" charset="0"/>
                <a:ea typeface="Aptos" pitchFamily="34" charset="-122"/>
                <a:cs typeface="Aptos" pitchFamily="34" charset="-120"/>
              </a:rPr>
              <a:t>3</a:t>
            </a:r>
            <a:endParaRPr lang="en-US" sz="1300" dirty="0"/>
          </a:p>
        </p:txBody>
      </p:sp>
      <p:sp>
        <p:nvSpPr>
          <p:cNvPr id="12" name="Text 10"/>
          <p:cNvSpPr/>
          <p:nvPr/>
        </p:nvSpPr>
        <p:spPr>
          <a:xfrm>
            <a:off x="1344168" y="3410712"/>
            <a:ext cx="4343400" cy="365760"/>
          </a:xfrm>
          <a:prstGeom prst="rect">
            <a:avLst/>
          </a:prstGeom>
          <a:noFill/>
          <a:ln/>
        </p:spPr>
        <p:txBody>
          <a:bodyPr wrap="square" lIns="0" tIns="0" rIns="0" bIns="0" rtlCol="0" anchor="ctr">
            <a:normAutofit/>
          </a:bodyPr>
          <a:lstStyle/>
          <a:p>
            <a:pPr algn="l" indent="0" marL="0">
              <a:buNone/>
            </a:pPr>
            <a:r>
              <a:rPr lang="en-US" sz="1160" dirty="0">
                <a:solidFill>
                  <a:srgbClr val="241337"/>
                </a:solidFill>
                <a:latin typeface="Aptos" pitchFamily="34" charset="0"/>
                <a:ea typeface="Aptos" pitchFamily="34" charset="-122"/>
                <a:cs typeface="Aptos" pitchFamily="34" charset="-120"/>
              </a:rPr>
              <a:t>Créer une Request vers un lien, y compris relatif</a:t>
            </a:r>
            <a:endParaRPr lang="en-US" sz="1160" dirty="0"/>
          </a:p>
        </p:txBody>
      </p:sp>
      <p:sp>
        <p:nvSpPr>
          <p:cNvPr id="13" name="Shape 11"/>
          <p:cNvSpPr/>
          <p:nvPr/>
        </p:nvSpPr>
        <p:spPr>
          <a:xfrm>
            <a:off x="777240" y="4197096"/>
            <a:ext cx="5166360" cy="676656"/>
          </a:xfrm>
          <a:prstGeom prst="roundRect">
            <a:avLst>
              <a:gd name="adj" fmla="val 5405"/>
            </a:avLst>
          </a:prstGeom>
          <a:solidFill>
            <a:srgbClr val="F2EEF5"/>
          </a:solidFill>
          <a:ln w="12700">
            <a:solidFill>
              <a:srgbClr val="DDDCE6"/>
            </a:solidFill>
            <a:prstDash val="solid"/>
          </a:ln>
        </p:spPr>
      </p:sp>
      <p:sp>
        <p:nvSpPr>
          <p:cNvPr id="14" name="Text 12"/>
          <p:cNvSpPr/>
          <p:nvPr/>
        </p:nvSpPr>
        <p:spPr>
          <a:xfrm>
            <a:off x="941832" y="4361688"/>
            <a:ext cx="292608" cy="201168"/>
          </a:xfrm>
          <a:prstGeom prst="rect">
            <a:avLst/>
          </a:prstGeom>
          <a:noFill/>
          <a:ln/>
        </p:spPr>
        <p:txBody>
          <a:bodyPr wrap="square" lIns="0" tIns="0" rIns="0" bIns="0" rtlCol="0" anchor="ctr">
            <a:normAutofit/>
          </a:bodyPr>
          <a:lstStyle/>
          <a:p>
            <a:pPr algn="ctr" indent="0" marL="0">
              <a:buNone/>
            </a:pPr>
            <a:r>
              <a:rPr lang="en-US" sz="1300" b="1" dirty="0">
                <a:solidFill>
                  <a:srgbClr val="7432A8"/>
                </a:solidFill>
                <a:latin typeface="Aptos" pitchFamily="34" charset="0"/>
                <a:ea typeface="Aptos" pitchFamily="34" charset="-122"/>
                <a:cs typeface="Aptos" pitchFamily="34" charset="-120"/>
              </a:rPr>
              <a:t>4</a:t>
            </a:r>
            <a:endParaRPr lang="en-US" sz="1300" dirty="0"/>
          </a:p>
        </p:txBody>
      </p:sp>
      <p:sp>
        <p:nvSpPr>
          <p:cNvPr id="15" name="Text 13"/>
          <p:cNvSpPr/>
          <p:nvPr/>
        </p:nvSpPr>
        <p:spPr>
          <a:xfrm>
            <a:off x="1344168" y="4306824"/>
            <a:ext cx="4343400" cy="365760"/>
          </a:xfrm>
          <a:prstGeom prst="rect">
            <a:avLst/>
          </a:prstGeom>
          <a:noFill/>
          <a:ln/>
        </p:spPr>
        <p:txBody>
          <a:bodyPr wrap="square" lIns="0" tIns="0" rIns="0" bIns="0" rtlCol="0" anchor="ctr">
            <a:normAutofit/>
          </a:bodyPr>
          <a:lstStyle/>
          <a:p>
            <a:pPr algn="l" indent="0" marL="0">
              <a:buNone/>
            </a:pPr>
            <a:r>
              <a:rPr lang="en-US" sz="1160" dirty="0">
                <a:solidFill>
                  <a:srgbClr val="241337"/>
                </a:solidFill>
                <a:latin typeface="Aptos" pitchFamily="34" charset="0"/>
                <a:ea typeface="Aptos" pitchFamily="34" charset="-122"/>
                <a:cs typeface="Aptos" pitchFamily="34" charset="-120"/>
              </a:rPr>
              <a:t>Pipeline</a:t>
            </a:r>
            <a:endParaRPr lang="en-US" sz="1160" dirty="0"/>
          </a:p>
        </p:txBody>
      </p:sp>
      <p:sp>
        <p:nvSpPr>
          <p:cNvPr id="16" name="Shape 14"/>
          <p:cNvSpPr/>
          <p:nvPr/>
        </p:nvSpPr>
        <p:spPr>
          <a:xfrm>
            <a:off x="777240" y="5093208"/>
            <a:ext cx="5166360" cy="676656"/>
          </a:xfrm>
          <a:prstGeom prst="roundRect">
            <a:avLst>
              <a:gd name="adj" fmla="val 5405"/>
            </a:avLst>
          </a:prstGeom>
          <a:solidFill>
            <a:srgbClr val="FFFFFF"/>
          </a:solidFill>
          <a:ln w="12700">
            <a:solidFill>
              <a:srgbClr val="DDDCE6"/>
            </a:solidFill>
            <a:prstDash val="solid"/>
          </a:ln>
        </p:spPr>
      </p:sp>
      <p:sp>
        <p:nvSpPr>
          <p:cNvPr id="17" name="Text 15"/>
          <p:cNvSpPr/>
          <p:nvPr/>
        </p:nvSpPr>
        <p:spPr>
          <a:xfrm>
            <a:off x="941832" y="5257800"/>
            <a:ext cx="292608" cy="201168"/>
          </a:xfrm>
          <a:prstGeom prst="rect">
            <a:avLst/>
          </a:prstGeom>
          <a:noFill/>
          <a:ln/>
        </p:spPr>
        <p:txBody>
          <a:bodyPr wrap="square" lIns="0" tIns="0" rIns="0" bIns="0" rtlCol="0" anchor="ctr">
            <a:normAutofit/>
          </a:bodyPr>
          <a:lstStyle/>
          <a:p>
            <a:pPr algn="ctr" indent="0" marL="0">
              <a:buNone/>
            </a:pPr>
            <a:r>
              <a:rPr lang="en-US" sz="1300" b="1" dirty="0">
                <a:solidFill>
                  <a:srgbClr val="7432A8"/>
                </a:solidFill>
                <a:latin typeface="Aptos" pitchFamily="34" charset="0"/>
                <a:ea typeface="Aptos" pitchFamily="34" charset="-122"/>
                <a:cs typeface="Aptos" pitchFamily="34" charset="-120"/>
              </a:rPr>
              <a:t>5</a:t>
            </a:r>
            <a:endParaRPr lang="en-US" sz="1300" dirty="0"/>
          </a:p>
        </p:txBody>
      </p:sp>
      <p:sp>
        <p:nvSpPr>
          <p:cNvPr id="18" name="Text 16"/>
          <p:cNvSpPr/>
          <p:nvPr/>
        </p:nvSpPr>
        <p:spPr>
          <a:xfrm>
            <a:off x="1344168" y="5202936"/>
            <a:ext cx="4343400" cy="365760"/>
          </a:xfrm>
          <a:prstGeom prst="rect">
            <a:avLst/>
          </a:prstGeom>
          <a:noFill/>
          <a:ln/>
        </p:spPr>
        <p:txBody>
          <a:bodyPr wrap="square" lIns="0" tIns="0" rIns="0" bIns="0" rtlCol="0" anchor="ctr">
            <a:normAutofit/>
          </a:bodyPr>
          <a:lstStyle/>
          <a:p>
            <a:pPr algn="l" indent="0" marL="0">
              <a:buNone/>
            </a:pPr>
            <a:r>
              <a:rPr lang="en-US" sz="1160" dirty="0">
                <a:solidFill>
                  <a:srgbClr val="241337"/>
                </a:solidFill>
                <a:latin typeface="Aptos" pitchFamily="34" charset="0"/>
                <a:ea typeface="Aptos" pitchFamily="34" charset="-122"/>
                <a:cs typeface="Aptos" pitchFamily="34" charset="-120"/>
              </a:rPr>
              <a:t>scrapy crawl … -O fichier.csv</a:t>
            </a:r>
            <a:endParaRPr lang="en-US" sz="1160" dirty="0"/>
          </a:p>
        </p:txBody>
      </p:sp>
      <p:sp>
        <p:nvSpPr>
          <p:cNvPr id="19" name="Shape 17"/>
          <p:cNvSpPr/>
          <p:nvPr/>
        </p:nvSpPr>
        <p:spPr>
          <a:xfrm>
            <a:off x="6446520" y="1508760"/>
            <a:ext cx="5166360" cy="676656"/>
          </a:xfrm>
          <a:prstGeom prst="roundRect">
            <a:avLst>
              <a:gd name="adj" fmla="val 5405"/>
            </a:avLst>
          </a:prstGeom>
          <a:solidFill>
            <a:srgbClr val="F2EEF5"/>
          </a:solidFill>
          <a:ln w="12700">
            <a:solidFill>
              <a:srgbClr val="DDDCE6"/>
            </a:solidFill>
            <a:prstDash val="solid"/>
          </a:ln>
        </p:spPr>
      </p:sp>
      <p:sp>
        <p:nvSpPr>
          <p:cNvPr id="20" name="Text 18"/>
          <p:cNvSpPr/>
          <p:nvPr/>
        </p:nvSpPr>
        <p:spPr>
          <a:xfrm>
            <a:off x="6611112" y="1673352"/>
            <a:ext cx="292608" cy="201168"/>
          </a:xfrm>
          <a:prstGeom prst="rect">
            <a:avLst/>
          </a:prstGeom>
          <a:noFill/>
          <a:ln/>
        </p:spPr>
        <p:txBody>
          <a:bodyPr wrap="square" lIns="0" tIns="0" rIns="0" bIns="0" rtlCol="0" anchor="ctr">
            <a:normAutofit/>
          </a:bodyPr>
          <a:lstStyle/>
          <a:p>
            <a:pPr algn="ctr" indent="0" marL="0">
              <a:buNone/>
            </a:pPr>
            <a:r>
              <a:rPr lang="en-US" sz="1300" b="1" dirty="0">
                <a:solidFill>
                  <a:srgbClr val="7432A8"/>
                </a:solidFill>
                <a:latin typeface="Aptos" pitchFamily="34" charset="0"/>
                <a:ea typeface="Aptos" pitchFamily="34" charset="-122"/>
                <a:cs typeface="Aptos" pitchFamily="34" charset="-120"/>
              </a:rPr>
              <a:t>6</a:t>
            </a:r>
            <a:endParaRPr lang="en-US" sz="1300" dirty="0"/>
          </a:p>
        </p:txBody>
      </p:sp>
      <p:sp>
        <p:nvSpPr>
          <p:cNvPr id="21" name="Text 19"/>
          <p:cNvSpPr/>
          <p:nvPr/>
        </p:nvSpPr>
        <p:spPr>
          <a:xfrm>
            <a:off x="7013448" y="1618488"/>
            <a:ext cx="4343400" cy="365760"/>
          </a:xfrm>
          <a:prstGeom prst="rect">
            <a:avLst/>
          </a:prstGeom>
          <a:noFill/>
          <a:ln/>
        </p:spPr>
        <p:txBody>
          <a:bodyPr wrap="square" lIns="0" tIns="0" rIns="0" bIns="0" rtlCol="0" anchor="ctr">
            <a:normAutofit/>
          </a:bodyPr>
          <a:lstStyle/>
          <a:p>
            <a:pPr algn="l" indent="0" marL="0">
              <a:buNone/>
            </a:pPr>
            <a:r>
              <a:rPr lang="en-US" sz="1160" dirty="0">
                <a:solidFill>
                  <a:srgbClr val="241337"/>
                </a:solidFill>
                <a:latin typeface="Aptos" pitchFamily="34" charset="0"/>
                <a:ea typeface="Aptos" pitchFamily="34" charset="-122"/>
                <a:cs typeface="Aptos" pitchFamily="34" charset="-120"/>
              </a:rPr>
              <a:t>Éviter doubles enregistrements / incohérences</a:t>
            </a:r>
            <a:endParaRPr lang="en-US" sz="1160" dirty="0"/>
          </a:p>
        </p:txBody>
      </p:sp>
      <p:sp>
        <p:nvSpPr>
          <p:cNvPr id="22" name="Shape 20"/>
          <p:cNvSpPr/>
          <p:nvPr/>
        </p:nvSpPr>
        <p:spPr>
          <a:xfrm>
            <a:off x="6446520" y="2404872"/>
            <a:ext cx="5166360" cy="676656"/>
          </a:xfrm>
          <a:prstGeom prst="roundRect">
            <a:avLst>
              <a:gd name="adj" fmla="val 5405"/>
            </a:avLst>
          </a:prstGeom>
          <a:solidFill>
            <a:srgbClr val="FFFFFF"/>
          </a:solidFill>
          <a:ln w="12700">
            <a:solidFill>
              <a:srgbClr val="DDDCE6"/>
            </a:solidFill>
            <a:prstDash val="solid"/>
          </a:ln>
        </p:spPr>
      </p:sp>
      <p:sp>
        <p:nvSpPr>
          <p:cNvPr id="23" name="Text 21"/>
          <p:cNvSpPr/>
          <p:nvPr/>
        </p:nvSpPr>
        <p:spPr>
          <a:xfrm>
            <a:off x="6611112" y="2569464"/>
            <a:ext cx="292608" cy="201168"/>
          </a:xfrm>
          <a:prstGeom prst="rect">
            <a:avLst/>
          </a:prstGeom>
          <a:noFill/>
          <a:ln/>
        </p:spPr>
        <p:txBody>
          <a:bodyPr wrap="square" lIns="0" tIns="0" rIns="0" bIns="0" rtlCol="0" anchor="ctr">
            <a:normAutofit/>
          </a:bodyPr>
          <a:lstStyle/>
          <a:p>
            <a:pPr algn="ctr" indent="0" marL="0">
              <a:buNone/>
            </a:pPr>
            <a:r>
              <a:rPr lang="en-US" sz="1300" b="1" dirty="0">
                <a:solidFill>
                  <a:srgbClr val="7432A8"/>
                </a:solidFill>
                <a:latin typeface="Aptos" pitchFamily="34" charset="0"/>
                <a:ea typeface="Aptos" pitchFamily="34" charset="-122"/>
                <a:cs typeface="Aptos" pitchFamily="34" charset="-120"/>
              </a:rPr>
              <a:t>7</a:t>
            </a:r>
            <a:endParaRPr lang="en-US" sz="1300" dirty="0"/>
          </a:p>
        </p:txBody>
      </p:sp>
      <p:sp>
        <p:nvSpPr>
          <p:cNvPr id="24" name="Text 22"/>
          <p:cNvSpPr/>
          <p:nvPr/>
        </p:nvSpPr>
        <p:spPr>
          <a:xfrm>
            <a:off x="7013448" y="2514600"/>
            <a:ext cx="4343400" cy="365760"/>
          </a:xfrm>
          <a:prstGeom prst="rect">
            <a:avLst/>
          </a:prstGeom>
          <a:noFill/>
          <a:ln/>
        </p:spPr>
        <p:txBody>
          <a:bodyPr wrap="square" lIns="0" tIns="0" rIns="0" bIns="0" rtlCol="0" anchor="ctr">
            <a:normAutofit/>
          </a:bodyPr>
          <a:lstStyle/>
          <a:p>
            <a:pPr algn="l" indent="0" marL="0">
              <a:buNone/>
            </a:pPr>
            <a:r>
              <a:rPr lang="en-US" sz="1160" dirty="0">
                <a:solidFill>
                  <a:srgbClr val="241337"/>
                </a:solidFill>
                <a:latin typeface="Aptos" pitchFamily="34" charset="0"/>
                <a:ea typeface="Aptos" pitchFamily="34" charset="-122"/>
                <a:cs typeface="Aptos" pitchFamily="34" charset="-120"/>
              </a:rPr>
              <a:t>Non : contexte, RGPD, licences, CGU, droits…</a:t>
            </a:r>
            <a:endParaRPr lang="en-US" sz="1160" dirty="0"/>
          </a:p>
        </p:txBody>
      </p:sp>
      <p:sp>
        <p:nvSpPr>
          <p:cNvPr id="25" name="Shape 23"/>
          <p:cNvSpPr/>
          <p:nvPr/>
        </p:nvSpPr>
        <p:spPr>
          <a:xfrm>
            <a:off x="6446520" y="3300984"/>
            <a:ext cx="5166360" cy="676656"/>
          </a:xfrm>
          <a:prstGeom prst="roundRect">
            <a:avLst>
              <a:gd name="adj" fmla="val 5405"/>
            </a:avLst>
          </a:prstGeom>
          <a:solidFill>
            <a:srgbClr val="F2EEF5"/>
          </a:solidFill>
          <a:ln w="12700">
            <a:solidFill>
              <a:srgbClr val="DDDCE6"/>
            </a:solidFill>
            <a:prstDash val="solid"/>
          </a:ln>
        </p:spPr>
      </p:sp>
      <p:sp>
        <p:nvSpPr>
          <p:cNvPr id="26" name="Text 24"/>
          <p:cNvSpPr/>
          <p:nvPr/>
        </p:nvSpPr>
        <p:spPr>
          <a:xfrm>
            <a:off x="6611112" y="3465576"/>
            <a:ext cx="292608" cy="201168"/>
          </a:xfrm>
          <a:prstGeom prst="rect">
            <a:avLst/>
          </a:prstGeom>
          <a:noFill/>
          <a:ln/>
        </p:spPr>
        <p:txBody>
          <a:bodyPr wrap="square" lIns="0" tIns="0" rIns="0" bIns="0" rtlCol="0" anchor="ctr">
            <a:normAutofit/>
          </a:bodyPr>
          <a:lstStyle/>
          <a:p>
            <a:pPr algn="ctr" indent="0" marL="0">
              <a:buNone/>
            </a:pPr>
            <a:r>
              <a:rPr lang="en-US" sz="1300" b="1" dirty="0">
                <a:solidFill>
                  <a:srgbClr val="7432A8"/>
                </a:solidFill>
                <a:latin typeface="Aptos" pitchFamily="34" charset="0"/>
                <a:ea typeface="Aptos" pitchFamily="34" charset="-122"/>
                <a:cs typeface="Aptos" pitchFamily="34" charset="-120"/>
              </a:rPr>
              <a:t>8</a:t>
            </a:r>
            <a:endParaRPr lang="en-US" sz="1300" dirty="0"/>
          </a:p>
        </p:txBody>
      </p:sp>
      <p:sp>
        <p:nvSpPr>
          <p:cNvPr id="27" name="Text 25"/>
          <p:cNvSpPr/>
          <p:nvPr/>
        </p:nvSpPr>
        <p:spPr>
          <a:xfrm>
            <a:off x="7013448" y="3410712"/>
            <a:ext cx="4343400" cy="365760"/>
          </a:xfrm>
          <a:prstGeom prst="rect">
            <a:avLst/>
          </a:prstGeom>
          <a:noFill/>
          <a:ln/>
        </p:spPr>
        <p:txBody>
          <a:bodyPr wrap="square" lIns="0" tIns="0" rIns="0" bIns="0" rtlCol="0" anchor="ctr">
            <a:normAutofit/>
          </a:bodyPr>
          <a:lstStyle/>
          <a:p>
            <a:pPr algn="l" indent="0" marL="0">
              <a:buNone/>
            </a:pPr>
            <a:r>
              <a:rPr lang="en-US" sz="1160" dirty="0">
                <a:solidFill>
                  <a:srgbClr val="241337"/>
                </a:solidFill>
                <a:latin typeface="Aptos" pitchFamily="34" charset="0"/>
                <a:ea typeface="Aptos" pitchFamily="34" charset="-122"/>
                <a:cs typeface="Aptos" pitchFamily="34" charset="-120"/>
              </a:rPr>
              <a:t>Finalité, minimisation, licéité, transparence, sécurité…</a:t>
            </a:r>
            <a:endParaRPr lang="en-US" sz="1160" dirty="0"/>
          </a:p>
        </p:txBody>
      </p:sp>
      <p:sp>
        <p:nvSpPr>
          <p:cNvPr id="28" name="Shape 26"/>
          <p:cNvSpPr/>
          <p:nvPr/>
        </p:nvSpPr>
        <p:spPr>
          <a:xfrm>
            <a:off x="6446520" y="4197096"/>
            <a:ext cx="5166360" cy="676656"/>
          </a:xfrm>
          <a:prstGeom prst="roundRect">
            <a:avLst>
              <a:gd name="adj" fmla="val 5405"/>
            </a:avLst>
          </a:prstGeom>
          <a:solidFill>
            <a:srgbClr val="FFFFFF"/>
          </a:solidFill>
          <a:ln w="12700">
            <a:solidFill>
              <a:srgbClr val="DDDCE6"/>
            </a:solidFill>
            <a:prstDash val="solid"/>
          </a:ln>
        </p:spPr>
      </p:sp>
      <p:sp>
        <p:nvSpPr>
          <p:cNvPr id="29" name="Text 27"/>
          <p:cNvSpPr/>
          <p:nvPr/>
        </p:nvSpPr>
        <p:spPr>
          <a:xfrm>
            <a:off x="6611112" y="4361688"/>
            <a:ext cx="292608" cy="201168"/>
          </a:xfrm>
          <a:prstGeom prst="rect">
            <a:avLst/>
          </a:prstGeom>
          <a:noFill/>
          <a:ln/>
        </p:spPr>
        <p:txBody>
          <a:bodyPr wrap="square" lIns="0" tIns="0" rIns="0" bIns="0" rtlCol="0" anchor="ctr">
            <a:normAutofit/>
          </a:bodyPr>
          <a:lstStyle/>
          <a:p>
            <a:pPr algn="ctr" indent="0" marL="0">
              <a:buNone/>
            </a:pPr>
            <a:r>
              <a:rPr lang="en-US" sz="1300" b="1" dirty="0">
                <a:solidFill>
                  <a:srgbClr val="7432A8"/>
                </a:solidFill>
                <a:latin typeface="Aptos" pitchFamily="34" charset="0"/>
                <a:ea typeface="Aptos" pitchFamily="34" charset="-122"/>
                <a:cs typeface="Aptos" pitchFamily="34" charset="-120"/>
              </a:rPr>
              <a:t>9</a:t>
            </a:r>
            <a:endParaRPr lang="en-US" sz="1300" dirty="0"/>
          </a:p>
        </p:txBody>
      </p:sp>
      <p:sp>
        <p:nvSpPr>
          <p:cNvPr id="30" name="Text 28"/>
          <p:cNvSpPr/>
          <p:nvPr/>
        </p:nvSpPr>
        <p:spPr>
          <a:xfrm>
            <a:off x="7013448" y="4306824"/>
            <a:ext cx="4343400" cy="365760"/>
          </a:xfrm>
          <a:prstGeom prst="rect">
            <a:avLst/>
          </a:prstGeom>
          <a:noFill/>
          <a:ln/>
        </p:spPr>
        <p:txBody>
          <a:bodyPr wrap="square" lIns="0" tIns="0" rIns="0" bIns="0" rtlCol="0" anchor="ctr">
            <a:normAutofit/>
          </a:bodyPr>
          <a:lstStyle/>
          <a:p>
            <a:pPr algn="l" indent="0" marL="0">
              <a:buNone/>
            </a:pPr>
            <a:r>
              <a:rPr lang="en-US" sz="1160" dirty="0">
                <a:solidFill>
                  <a:srgbClr val="241337"/>
                </a:solidFill>
                <a:latin typeface="Aptos" pitchFamily="34" charset="0"/>
                <a:ea typeface="Aptos" pitchFamily="34" charset="-122"/>
                <a:cs typeface="Aptos" pitchFamily="34" charset="-120"/>
              </a:rPr>
              <a:t>Trop de requêtes / limitation de débit</a:t>
            </a:r>
            <a:endParaRPr lang="en-US" sz="1160" dirty="0"/>
          </a:p>
        </p:txBody>
      </p:sp>
      <p:sp>
        <p:nvSpPr>
          <p:cNvPr id="31" name="Shape 29"/>
          <p:cNvSpPr/>
          <p:nvPr/>
        </p:nvSpPr>
        <p:spPr>
          <a:xfrm>
            <a:off x="6446520" y="5093208"/>
            <a:ext cx="5166360" cy="676656"/>
          </a:xfrm>
          <a:prstGeom prst="roundRect">
            <a:avLst>
              <a:gd name="adj" fmla="val 5405"/>
            </a:avLst>
          </a:prstGeom>
          <a:solidFill>
            <a:srgbClr val="F2EEF5"/>
          </a:solidFill>
          <a:ln w="12700">
            <a:solidFill>
              <a:srgbClr val="DDDCE6"/>
            </a:solidFill>
            <a:prstDash val="solid"/>
          </a:ln>
        </p:spPr>
      </p:sp>
      <p:sp>
        <p:nvSpPr>
          <p:cNvPr id="32" name="Text 30"/>
          <p:cNvSpPr/>
          <p:nvPr/>
        </p:nvSpPr>
        <p:spPr>
          <a:xfrm>
            <a:off x="6611112" y="5257800"/>
            <a:ext cx="292608" cy="201168"/>
          </a:xfrm>
          <a:prstGeom prst="rect">
            <a:avLst/>
          </a:prstGeom>
          <a:noFill/>
          <a:ln/>
        </p:spPr>
        <p:txBody>
          <a:bodyPr wrap="square" lIns="0" tIns="0" rIns="0" bIns="0" rtlCol="0" anchor="ctr">
            <a:normAutofit/>
          </a:bodyPr>
          <a:lstStyle/>
          <a:p>
            <a:pPr algn="ctr" indent="0" marL="0">
              <a:buNone/>
            </a:pPr>
            <a:r>
              <a:rPr lang="en-US" sz="1300" b="1" dirty="0">
                <a:solidFill>
                  <a:srgbClr val="7432A8"/>
                </a:solidFill>
                <a:latin typeface="Aptos" pitchFamily="34" charset="0"/>
                <a:ea typeface="Aptos" pitchFamily="34" charset="-122"/>
                <a:cs typeface="Aptos" pitchFamily="34" charset="-120"/>
              </a:rPr>
              <a:t>10</a:t>
            </a:r>
            <a:endParaRPr lang="en-US" sz="1300" dirty="0"/>
          </a:p>
        </p:txBody>
      </p:sp>
      <p:sp>
        <p:nvSpPr>
          <p:cNvPr id="33" name="Text 31"/>
          <p:cNvSpPr/>
          <p:nvPr/>
        </p:nvSpPr>
        <p:spPr>
          <a:xfrm>
            <a:off x="7013448" y="5202936"/>
            <a:ext cx="4343400" cy="365760"/>
          </a:xfrm>
          <a:prstGeom prst="rect">
            <a:avLst/>
          </a:prstGeom>
          <a:noFill/>
          <a:ln/>
        </p:spPr>
        <p:txBody>
          <a:bodyPr wrap="square" lIns="0" tIns="0" rIns="0" bIns="0" rtlCol="0" anchor="ctr">
            <a:normAutofit/>
          </a:bodyPr>
          <a:lstStyle/>
          <a:p>
            <a:pPr algn="l" indent="0" marL="0">
              <a:buNone/>
            </a:pPr>
            <a:r>
              <a:rPr lang="en-US" sz="1160" dirty="0">
                <a:solidFill>
                  <a:srgbClr val="241337"/>
                </a:solidFill>
                <a:latin typeface="Aptos" pitchFamily="34" charset="0"/>
                <a:ea typeface="Aptos" pitchFamily="34" charset="-122"/>
                <a:cs typeface="Aptos" pitchFamily="34" charset="-120"/>
              </a:rPr>
              <a:t>Chercher l’accès officiel et lire les règles avant le HTML</a:t>
            </a:r>
            <a:endParaRPr lang="en-US" sz="1160" dirty="0"/>
          </a:p>
        </p:txBody>
      </p:sp>
      <p:sp>
        <p:nvSpPr>
          <p:cNvPr id="25" name="Slide Number Placeholder 0"/>
          <p:cNvSpPr>
            <a:spLocks noGrp="1"/>
          </p:cNvSpPr>
          <p:nvPr>
            <p:ph type="sldNum" sz="quarter" idx="4294967295"/>
          </p:nvPr>
        </p:nvSpPr>
        <p:spPr>
          <a:xfrm>
            <a:off x="11750040" y="274320"/>
            <a:ext cx="228600" cy="164592"/>
          </a:xfrm>
          <a:prstGeom prst="rect">
            <a:avLst/>
          </a:prstGeom>
          <a:extLst>
            <a:ext uri="{C572A759-6A51-4108-AA02-DFA0A04FC94B}">
              <ma14:wrappingTextBoxFlag xmlns:ma14="http://schemas.microsoft.com/office/mac/drawingml/2011/main" val="0"/>
            </a:ext>
          </a:extLst>
        </p:spPr>
        <p:txBody>
          <a:bodyPr/>
          <a:lstStyle>
            <a:lvl1pPr>
              <a:defRPr sz="800">
                <a:solidFill>
                  <a:srgbClr val="858697"/>
                </a:solidFill>
                <a:latin typeface="Aptos"/>
                <a:ea typeface="Aptos"/>
                <a:cs typeface="Aptos"/>
              </a:defRPr>
            </a:lvl1pPr>
          </a:lstStyle>
          <a:p>
            <a:pPr algn="r"/>
            <a:fld id="{F7021451-1387-4CA6-816F-3879F97B5CBC}" type="slidenum">
              <a:rPr b="0"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566928" y="438912"/>
            <a:ext cx="5029200" cy="228600"/>
          </a:xfrm>
          <a:prstGeom prst="rect">
            <a:avLst/>
          </a:prstGeom>
          <a:noFill/>
          <a:ln/>
        </p:spPr>
        <p:txBody>
          <a:bodyPr wrap="square" lIns="0" tIns="0" rIns="0" bIns="0" rtlCol="0" anchor="ctr">
            <a:normAutofit/>
          </a:bodyPr>
          <a:lstStyle/>
          <a:p>
            <a:pPr algn="l" indent="0" marL="0">
              <a:buNone/>
            </a:pPr>
            <a:r>
              <a:rPr lang="en-US" sz="1050" b="1" spc="150" kern="0" dirty="0">
                <a:solidFill>
                  <a:srgbClr val="7432A8"/>
                </a:solidFill>
                <a:latin typeface="Aptos" pitchFamily="34" charset="0"/>
                <a:ea typeface="Aptos" pitchFamily="34" charset="-122"/>
                <a:cs typeface="Aptos" pitchFamily="34" charset="-120"/>
              </a:rPr>
              <a:t>SYNTHÈSE</a:t>
            </a:r>
            <a:endParaRPr lang="en-US" sz="1050" dirty="0"/>
          </a:p>
        </p:txBody>
      </p:sp>
      <p:sp>
        <p:nvSpPr>
          <p:cNvPr id="3" name="Text 1"/>
          <p:cNvSpPr/>
          <p:nvPr/>
        </p:nvSpPr>
        <p:spPr>
          <a:xfrm>
            <a:off x="566928" y="768096"/>
            <a:ext cx="10972800" cy="566928"/>
          </a:xfrm>
          <a:prstGeom prst="rect">
            <a:avLst/>
          </a:prstGeom>
          <a:noFill/>
          <a:ln/>
        </p:spPr>
        <p:txBody>
          <a:bodyPr wrap="square" lIns="0" tIns="0" rIns="0" bIns="0" rtlCol="0" anchor="t">
            <a:normAutofit/>
          </a:bodyPr>
          <a:lstStyle/>
          <a:p>
            <a:pPr algn="l" indent="0" marL="0">
              <a:buNone/>
            </a:pPr>
            <a:r>
              <a:rPr lang="en-US" sz="2800" b="1" dirty="0">
                <a:solidFill>
                  <a:srgbClr val="241337"/>
                </a:solidFill>
                <a:latin typeface="Aptos" pitchFamily="34" charset="0"/>
                <a:ea typeface="Aptos" pitchFamily="34" charset="-122"/>
                <a:cs typeface="Aptos" pitchFamily="34" charset="-120"/>
              </a:rPr>
              <a:t>Ce qu’il faut retenir des deux jours</a:t>
            </a:r>
            <a:endParaRPr lang="en-US" sz="2800" dirty="0"/>
          </a:p>
        </p:txBody>
      </p:sp>
      <p:sp>
        <p:nvSpPr>
          <p:cNvPr id="4" name="Shape 2"/>
          <p:cNvSpPr/>
          <p:nvPr/>
        </p:nvSpPr>
        <p:spPr>
          <a:xfrm>
            <a:off x="411480" y="2148840"/>
            <a:ext cx="1554480" cy="1051560"/>
          </a:xfrm>
          <a:prstGeom prst="roundRect">
            <a:avLst>
              <a:gd name="adj" fmla="val 4348"/>
            </a:avLst>
          </a:prstGeom>
          <a:solidFill>
            <a:srgbClr val="FFFFFF"/>
          </a:solidFill>
          <a:ln w="16510">
            <a:solidFill>
              <a:srgbClr val="DB8129"/>
            </a:solidFill>
            <a:prstDash val="solid"/>
          </a:ln>
        </p:spPr>
      </p:sp>
      <p:sp>
        <p:nvSpPr>
          <p:cNvPr id="5" name="Text 3"/>
          <p:cNvSpPr/>
          <p:nvPr/>
        </p:nvSpPr>
        <p:spPr>
          <a:xfrm>
            <a:off x="502920" y="2359152"/>
            <a:ext cx="1371600" cy="182880"/>
          </a:xfrm>
          <a:prstGeom prst="rect">
            <a:avLst/>
          </a:prstGeom>
          <a:noFill/>
          <a:ln/>
        </p:spPr>
        <p:txBody>
          <a:bodyPr wrap="square" lIns="0" tIns="0" rIns="0" bIns="0" rtlCol="0" anchor="ctr">
            <a:normAutofit/>
          </a:bodyPr>
          <a:lstStyle/>
          <a:p>
            <a:pPr algn="ctr" indent="0" marL="0">
              <a:buNone/>
            </a:pPr>
            <a:r>
              <a:rPr lang="en-US" sz="1200" b="1" dirty="0">
                <a:solidFill>
                  <a:srgbClr val="DB8129"/>
                </a:solidFill>
                <a:latin typeface="Aptos" pitchFamily="34" charset="0"/>
                <a:ea typeface="Aptos" pitchFamily="34" charset="-122"/>
                <a:cs typeface="Aptos" pitchFamily="34" charset="-120"/>
              </a:rPr>
              <a:t>SOURCE</a:t>
            </a:r>
            <a:endParaRPr lang="en-US" sz="1200" dirty="0"/>
          </a:p>
        </p:txBody>
      </p:sp>
      <p:sp>
        <p:nvSpPr>
          <p:cNvPr id="6" name="Text 4"/>
          <p:cNvSpPr/>
          <p:nvPr/>
        </p:nvSpPr>
        <p:spPr>
          <a:xfrm>
            <a:off x="502920" y="2679192"/>
            <a:ext cx="1371600" cy="201168"/>
          </a:xfrm>
          <a:prstGeom prst="rect">
            <a:avLst/>
          </a:prstGeom>
          <a:noFill/>
          <a:ln/>
        </p:spPr>
        <p:txBody>
          <a:bodyPr wrap="square" lIns="0" tIns="0" rIns="0" bIns="0" rtlCol="0" anchor="ctr">
            <a:normAutofit/>
          </a:bodyPr>
          <a:lstStyle/>
          <a:p>
            <a:pPr algn="ctr" indent="0" marL="0">
              <a:buNone/>
            </a:pPr>
            <a:r>
              <a:rPr lang="en-US" sz="950" dirty="0">
                <a:solidFill>
                  <a:srgbClr val="6F7082"/>
                </a:solidFill>
                <a:latin typeface="Aptos" pitchFamily="34" charset="0"/>
                <a:ea typeface="Aptos" pitchFamily="34" charset="-122"/>
                <a:cs typeface="Aptos" pitchFamily="34" charset="-120"/>
              </a:rPr>
              <a:t>API / HTML / JSON</a:t>
            </a:r>
            <a:endParaRPr lang="en-US" sz="950" dirty="0"/>
          </a:p>
        </p:txBody>
      </p:sp>
      <p:sp>
        <p:nvSpPr>
          <p:cNvPr id="7" name="Text 5"/>
          <p:cNvSpPr/>
          <p:nvPr/>
        </p:nvSpPr>
        <p:spPr>
          <a:xfrm>
            <a:off x="1984248" y="2505456"/>
            <a:ext cx="292608" cy="228600"/>
          </a:xfrm>
          <a:prstGeom prst="rect">
            <a:avLst/>
          </a:prstGeom>
          <a:noFill/>
          <a:ln/>
        </p:spPr>
        <p:txBody>
          <a:bodyPr wrap="square" lIns="0" tIns="0" rIns="0" bIns="0" rtlCol="0" anchor="ctr">
            <a:normAutofit/>
          </a:bodyPr>
          <a:lstStyle/>
          <a:p>
            <a:pPr algn="ctr" indent="0" marL="0">
              <a:buNone/>
            </a:pPr>
            <a:r>
              <a:rPr lang="en-US" sz="1800" b="1" dirty="0">
                <a:solidFill>
                  <a:srgbClr val="AAA5B4"/>
                </a:solidFill>
                <a:latin typeface="Aptos" pitchFamily="34" charset="0"/>
                <a:ea typeface="Aptos" pitchFamily="34" charset="-122"/>
                <a:cs typeface="Aptos" pitchFamily="34" charset="-120"/>
              </a:rPr>
              <a:t>→</a:t>
            </a:r>
            <a:endParaRPr lang="en-US" sz="1800" dirty="0"/>
          </a:p>
        </p:txBody>
      </p:sp>
      <p:sp>
        <p:nvSpPr>
          <p:cNvPr id="8" name="Shape 6"/>
          <p:cNvSpPr/>
          <p:nvPr/>
        </p:nvSpPr>
        <p:spPr>
          <a:xfrm>
            <a:off x="2359152" y="2148840"/>
            <a:ext cx="1554480" cy="1051560"/>
          </a:xfrm>
          <a:prstGeom prst="roundRect">
            <a:avLst>
              <a:gd name="adj" fmla="val 4348"/>
            </a:avLst>
          </a:prstGeom>
          <a:solidFill>
            <a:srgbClr val="FFFFFF"/>
          </a:solidFill>
          <a:ln w="16510">
            <a:solidFill>
              <a:srgbClr val="4F7FC4"/>
            </a:solidFill>
            <a:prstDash val="solid"/>
          </a:ln>
        </p:spPr>
      </p:sp>
      <p:sp>
        <p:nvSpPr>
          <p:cNvPr id="9" name="Text 7"/>
          <p:cNvSpPr/>
          <p:nvPr/>
        </p:nvSpPr>
        <p:spPr>
          <a:xfrm>
            <a:off x="2450592" y="2359152"/>
            <a:ext cx="1371600" cy="182880"/>
          </a:xfrm>
          <a:prstGeom prst="rect">
            <a:avLst/>
          </a:prstGeom>
          <a:noFill/>
          <a:ln/>
        </p:spPr>
        <p:txBody>
          <a:bodyPr wrap="square" lIns="0" tIns="0" rIns="0" bIns="0" rtlCol="0" anchor="ctr">
            <a:normAutofit/>
          </a:bodyPr>
          <a:lstStyle/>
          <a:p>
            <a:pPr algn="ctr" indent="0" marL="0">
              <a:buNone/>
            </a:pPr>
            <a:r>
              <a:rPr lang="en-US" sz="1200" b="1" dirty="0">
                <a:solidFill>
                  <a:srgbClr val="4F7FC4"/>
                </a:solidFill>
                <a:latin typeface="Aptos" pitchFamily="34" charset="0"/>
                <a:ea typeface="Aptos" pitchFamily="34" charset="-122"/>
                <a:cs typeface="Aptos" pitchFamily="34" charset="-120"/>
              </a:rPr>
              <a:t>CRAWL</a:t>
            </a:r>
            <a:endParaRPr lang="en-US" sz="1200" dirty="0"/>
          </a:p>
        </p:txBody>
      </p:sp>
      <p:sp>
        <p:nvSpPr>
          <p:cNvPr id="10" name="Text 8"/>
          <p:cNvSpPr/>
          <p:nvPr/>
        </p:nvSpPr>
        <p:spPr>
          <a:xfrm>
            <a:off x="2450592" y="2679192"/>
            <a:ext cx="1371600" cy="201168"/>
          </a:xfrm>
          <a:prstGeom prst="rect">
            <a:avLst/>
          </a:prstGeom>
          <a:noFill/>
          <a:ln/>
        </p:spPr>
        <p:txBody>
          <a:bodyPr wrap="square" lIns="0" tIns="0" rIns="0" bIns="0" rtlCol="0" anchor="ctr">
            <a:normAutofit/>
          </a:bodyPr>
          <a:lstStyle/>
          <a:p>
            <a:pPr algn="ctr" indent="0" marL="0">
              <a:buNone/>
            </a:pPr>
            <a:r>
              <a:rPr lang="en-US" sz="950" dirty="0">
                <a:solidFill>
                  <a:srgbClr val="6F7082"/>
                </a:solidFill>
                <a:latin typeface="Aptos" pitchFamily="34" charset="0"/>
                <a:ea typeface="Aptos" pitchFamily="34" charset="-122"/>
                <a:cs typeface="Aptos" pitchFamily="34" charset="-120"/>
              </a:rPr>
              <a:t>Scrapy</a:t>
            </a:r>
            <a:endParaRPr lang="en-US" sz="950" dirty="0"/>
          </a:p>
        </p:txBody>
      </p:sp>
      <p:sp>
        <p:nvSpPr>
          <p:cNvPr id="11" name="Text 9"/>
          <p:cNvSpPr/>
          <p:nvPr/>
        </p:nvSpPr>
        <p:spPr>
          <a:xfrm>
            <a:off x="3931920" y="2505456"/>
            <a:ext cx="292608" cy="228600"/>
          </a:xfrm>
          <a:prstGeom prst="rect">
            <a:avLst/>
          </a:prstGeom>
          <a:noFill/>
          <a:ln/>
        </p:spPr>
        <p:txBody>
          <a:bodyPr wrap="square" lIns="0" tIns="0" rIns="0" bIns="0" rtlCol="0" anchor="ctr">
            <a:normAutofit/>
          </a:bodyPr>
          <a:lstStyle/>
          <a:p>
            <a:pPr algn="ctr" indent="0" marL="0">
              <a:buNone/>
            </a:pPr>
            <a:r>
              <a:rPr lang="en-US" sz="1800" b="1" dirty="0">
                <a:solidFill>
                  <a:srgbClr val="AAA5B4"/>
                </a:solidFill>
                <a:latin typeface="Aptos" pitchFamily="34" charset="0"/>
                <a:ea typeface="Aptos" pitchFamily="34" charset="-122"/>
                <a:cs typeface="Aptos" pitchFamily="34" charset="-120"/>
              </a:rPr>
              <a:t>→</a:t>
            </a:r>
            <a:endParaRPr lang="en-US" sz="1800" dirty="0"/>
          </a:p>
        </p:txBody>
      </p:sp>
      <p:sp>
        <p:nvSpPr>
          <p:cNvPr id="12" name="Shape 10"/>
          <p:cNvSpPr/>
          <p:nvPr/>
        </p:nvSpPr>
        <p:spPr>
          <a:xfrm>
            <a:off x="4306824" y="2148840"/>
            <a:ext cx="1554480" cy="1051560"/>
          </a:xfrm>
          <a:prstGeom prst="roundRect">
            <a:avLst>
              <a:gd name="adj" fmla="val 4348"/>
            </a:avLst>
          </a:prstGeom>
          <a:solidFill>
            <a:srgbClr val="FFFFFF"/>
          </a:solidFill>
          <a:ln w="16510">
            <a:solidFill>
              <a:srgbClr val="7432A8"/>
            </a:solidFill>
            <a:prstDash val="solid"/>
          </a:ln>
        </p:spPr>
      </p:sp>
      <p:sp>
        <p:nvSpPr>
          <p:cNvPr id="13" name="Text 11"/>
          <p:cNvSpPr/>
          <p:nvPr/>
        </p:nvSpPr>
        <p:spPr>
          <a:xfrm>
            <a:off x="4398264" y="2359152"/>
            <a:ext cx="1371600" cy="182880"/>
          </a:xfrm>
          <a:prstGeom prst="rect">
            <a:avLst/>
          </a:prstGeom>
          <a:noFill/>
          <a:ln/>
        </p:spPr>
        <p:txBody>
          <a:bodyPr wrap="square" lIns="0" tIns="0" rIns="0" bIns="0" rtlCol="0" anchor="ctr">
            <a:normAutofit/>
          </a:bodyPr>
          <a:lstStyle/>
          <a:p>
            <a:pPr algn="ctr" indent="0" marL="0">
              <a:buNone/>
            </a:pPr>
            <a:r>
              <a:rPr lang="en-US" sz="1200" b="1" dirty="0">
                <a:solidFill>
                  <a:srgbClr val="7432A8"/>
                </a:solidFill>
                <a:latin typeface="Aptos" pitchFamily="34" charset="0"/>
                <a:ea typeface="Aptos" pitchFamily="34" charset="-122"/>
                <a:cs typeface="Aptos" pitchFamily="34" charset="-120"/>
              </a:rPr>
              <a:t>EXTRACT</a:t>
            </a:r>
            <a:endParaRPr lang="en-US" sz="1200" dirty="0"/>
          </a:p>
        </p:txBody>
      </p:sp>
      <p:sp>
        <p:nvSpPr>
          <p:cNvPr id="14" name="Text 12"/>
          <p:cNvSpPr/>
          <p:nvPr/>
        </p:nvSpPr>
        <p:spPr>
          <a:xfrm>
            <a:off x="4398264" y="2679192"/>
            <a:ext cx="1371600" cy="201168"/>
          </a:xfrm>
          <a:prstGeom prst="rect">
            <a:avLst/>
          </a:prstGeom>
          <a:noFill/>
          <a:ln/>
        </p:spPr>
        <p:txBody>
          <a:bodyPr wrap="square" lIns="0" tIns="0" rIns="0" bIns="0" rtlCol="0" anchor="ctr">
            <a:normAutofit/>
          </a:bodyPr>
          <a:lstStyle/>
          <a:p>
            <a:pPr algn="ctr" indent="0" marL="0">
              <a:buNone/>
            </a:pPr>
            <a:r>
              <a:rPr lang="en-US" sz="950" dirty="0">
                <a:solidFill>
                  <a:srgbClr val="6F7082"/>
                </a:solidFill>
                <a:latin typeface="Aptos" pitchFamily="34" charset="0"/>
                <a:ea typeface="Aptos" pitchFamily="34" charset="-122"/>
                <a:cs typeface="Aptos" pitchFamily="34" charset="-120"/>
              </a:rPr>
              <a:t>CSS / XPath</a:t>
            </a:r>
            <a:endParaRPr lang="en-US" sz="950" dirty="0"/>
          </a:p>
        </p:txBody>
      </p:sp>
      <p:sp>
        <p:nvSpPr>
          <p:cNvPr id="15" name="Text 13"/>
          <p:cNvSpPr/>
          <p:nvPr/>
        </p:nvSpPr>
        <p:spPr>
          <a:xfrm>
            <a:off x="5879592" y="2505456"/>
            <a:ext cx="292608" cy="228600"/>
          </a:xfrm>
          <a:prstGeom prst="rect">
            <a:avLst/>
          </a:prstGeom>
          <a:noFill/>
          <a:ln/>
        </p:spPr>
        <p:txBody>
          <a:bodyPr wrap="square" lIns="0" tIns="0" rIns="0" bIns="0" rtlCol="0" anchor="ctr">
            <a:normAutofit/>
          </a:bodyPr>
          <a:lstStyle/>
          <a:p>
            <a:pPr algn="ctr" indent="0" marL="0">
              <a:buNone/>
            </a:pPr>
            <a:r>
              <a:rPr lang="en-US" sz="1800" b="1" dirty="0">
                <a:solidFill>
                  <a:srgbClr val="AAA5B4"/>
                </a:solidFill>
                <a:latin typeface="Aptos" pitchFamily="34" charset="0"/>
                <a:ea typeface="Aptos" pitchFamily="34" charset="-122"/>
                <a:cs typeface="Aptos" pitchFamily="34" charset="-120"/>
              </a:rPr>
              <a:t>→</a:t>
            </a:r>
            <a:endParaRPr lang="en-US" sz="1800" dirty="0"/>
          </a:p>
        </p:txBody>
      </p:sp>
      <p:sp>
        <p:nvSpPr>
          <p:cNvPr id="16" name="Shape 14"/>
          <p:cNvSpPr/>
          <p:nvPr/>
        </p:nvSpPr>
        <p:spPr>
          <a:xfrm>
            <a:off x="6254496" y="2148840"/>
            <a:ext cx="1554480" cy="1051560"/>
          </a:xfrm>
          <a:prstGeom prst="roundRect">
            <a:avLst>
              <a:gd name="adj" fmla="val 4348"/>
            </a:avLst>
          </a:prstGeom>
          <a:solidFill>
            <a:srgbClr val="FFFFFF"/>
          </a:solidFill>
          <a:ln w="16510">
            <a:solidFill>
              <a:srgbClr val="2E899E"/>
            </a:solidFill>
            <a:prstDash val="solid"/>
          </a:ln>
        </p:spPr>
      </p:sp>
      <p:sp>
        <p:nvSpPr>
          <p:cNvPr id="17" name="Text 15"/>
          <p:cNvSpPr/>
          <p:nvPr/>
        </p:nvSpPr>
        <p:spPr>
          <a:xfrm>
            <a:off x="6345936" y="2359152"/>
            <a:ext cx="1371600" cy="182880"/>
          </a:xfrm>
          <a:prstGeom prst="rect">
            <a:avLst/>
          </a:prstGeom>
          <a:noFill/>
          <a:ln/>
        </p:spPr>
        <p:txBody>
          <a:bodyPr wrap="square" lIns="0" tIns="0" rIns="0" bIns="0" rtlCol="0" anchor="ctr">
            <a:normAutofit/>
          </a:bodyPr>
          <a:lstStyle/>
          <a:p>
            <a:pPr algn="ctr" indent="0" marL="0">
              <a:buNone/>
            </a:pPr>
            <a:r>
              <a:rPr lang="en-US" sz="1200" b="1" dirty="0">
                <a:solidFill>
                  <a:srgbClr val="2E899E"/>
                </a:solidFill>
                <a:latin typeface="Aptos" pitchFamily="34" charset="0"/>
                <a:ea typeface="Aptos" pitchFamily="34" charset="-122"/>
                <a:cs typeface="Aptos" pitchFamily="34" charset="-120"/>
              </a:rPr>
              <a:t>CLEAN</a:t>
            </a:r>
            <a:endParaRPr lang="en-US" sz="1200" dirty="0"/>
          </a:p>
        </p:txBody>
      </p:sp>
      <p:sp>
        <p:nvSpPr>
          <p:cNvPr id="18" name="Text 16"/>
          <p:cNvSpPr/>
          <p:nvPr/>
        </p:nvSpPr>
        <p:spPr>
          <a:xfrm>
            <a:off x="6345936" y="2679192"/>
            <a:ext cx="1371600" cy="201168"/>
          </a:xfrm>
          <a:prstGeom prst="rect">
            <a:avLst/>
          </a:prstGeom>
          <a:noFill/>
          <a:ln/>
        </p:spPr>
        <p:txBody>
          <a:bodyPr wrap="square" lIns="0" tIns="0" rIns="0" bIns="0" rtlCol="0" anchor="ctr">
            <a:normAutofit/>
          </a:bodyPr>
          <a:lstStyle/>
          <a:p>
            <a:pPr algn="ctr" indent="0" marL="0">
              <a:buNone/>
            </a:pPr>
            <a:r>
              <a:rPr lang="en-US" sz="950" dirty="0">
                <a:solidFill>
                  <a:srgbClr val="6F7082"/>
                </a:solidFill>
                <a:latin typeface="Aptos" pitchFamily="34" charset="0"/>
                <a:ea typeface="Aptos" pitchFamily="34" charset="-122"/>
                <a:cs typeface="Aptos" pitchFamily="34" charset="-120"/>
              </a:rPr>
              <a:t>Pipeline</a:t>
            </a:r>
            <a:endParaRPr lang="en-US" sz="950" dirty="0"/>
          </a:p>
        </p:txBody>
      </p:sp>
      <p:sp>
        <p:nvSpPr>
          <p:cNvPr id="19" name="Text 17"/>
          <p:cNvSpPr/>
          <p:nvPr/>
        </p:nvSpPr>
        <p:spPr>
          <a:xfrm>
            <a:off x="7827264" y="2505456"/>
            <a:ext cx="292608" cy="228600"/>
          </a:xfrm>
          <a:prstGeom prst="rect">
            <a:avLst/>
          </a:prstGeom>
          <a:noFill/>
          <a:ln/>
        </p:spPr>
        <p:txBody>
          <a:bodyPr wrap="square" lIns="0" tIns="0" rIns="0" bIns="0" rtlCol="0" anchor="ctr">
            <a:normAutofit/>
          </a:bodyPr>
          <a:lstStyle/>
          <a:p>
            <a:pPr algn="ctr" indent="0" marL="0">
              <a:buNone/>
            </a:pPr>
            <a:r>
              <a:rPr lang="en-US" sz="1800" b="1" dirty="0">
                <a:solidFill>
                  <a:srgbClr val="AAA5B4"/>
                </a:solidFill>
                <a:latin typeface="Aptos" pitchFamily="34" charset="0"/>
                <a:ea typeface="Aptos" pitchFamily="34" charset="-122"/>
                <a:cs typeface="Aptos" pitchFamily="34" charset="-120"/>
              </a:rPr>
              <a:t>→</a:t>
            </a:r>
            <a:endParaRPr lang="en-US" sz="1800" dirty="0"/>
          </a:p>
        </p:txBody>
      </p:sp>
      <p:sp>
        <p:nvSpPr>
          <p:cNvPr id="20" name="Shape 18"/>
          <p:cNvSpPr/>
          <p:nvPr/>
        </p:nvSpPr>
        <p:spPr>
          <a:xfrm>
            <a:off x="8202168" y="2148840"/>
            <a:ext cx="1554480" cy="1051560"/>
          </a:xfrm>
          <a:prstGeom prst="roundRect">
            <a:avLst>
              <a:gd name="adj" fmla="val 4348"/>
            </a:avLst>
          </a:prstGeom>
          <a:solidFill>
            <a:srgbClr val="FFFFFF"/>
          </a:solidFill>
          <a:ln w="16510">
            <a:solidFill>
              <a:srgbClr val="4EA27B"/>
            </a:solidFill>
            <a:prstDash val="solid"/>
          </a:ln>
        </p:spPr>
      </p:sp>
      <p:sp>
        <p:nvSpPr>
          <p:cNvPr id="21" name="Text 19"/>
          <p:cNvSpPr/>
          <p:nvPr/>
        </p:nvSpPr>
        <p:spPr>
          <a:xfrm>
            <a:off x="8293608" y="2359152"/>
            <a:ext cx="1371600" cy="182880"/>
          </a:xfrm>
          <a:prstGeom prst="rect">
            <a:avLst/>
          </a:prstGeom>
          <a:noFill/>
          <a:ln/>
        </p:spPr>
        <p:txBody>
          <a:bodyPr wrap="square" lIns="0" tIns="0" rIns="0" bIns="0" rtlCol="0" anchor="ctr">
            <a:normAutofit/>
          </a:bodyPr>
          <a:lstStyle/>
          <a:p>
            <a:pPr algn="ctr" indent="0" marL="0">
              <a:buNone/>
            </a:pPr>
            <a:r>
              <a:rPr lang="en-US" sz="1200" b="1" dirty="0">
                <a:solidFill>
                  <a:srgbClr val="4EA27B"/>
                </a:solidFill>
                <a:latin typeface="Aptos" pitchFamily="34" charset="0"/>
                <a:ea typeface="Aptos" pitchFamily="34" charset="-122"/>
                <a:cs typeface="Aptos" pitchFamily="34" charset="-120"/>
              </a:rPr>
              <a:t>STORE</a:t>
            </a:r>
            <a:endParaRPr lang="en-US" sz="1200" dirty="0"/>
          </a:p>
        </p:txBody>
      </p:sp>
      <p:sp>
        <p:nvSpPr>
          <p:cNvPr id="22" name="Text 20"/>
          <p:cNvSpPr/>
          <p:nvPr/>
        </p:nvSpPr>
        <p:spPr>
          <a:xfrm>
            <a:off x="8293608" y="2679192"/>
            <a:ext cx="1371600" cy="201168"/>
          </a:xfrm>
          <a:prstGeom prst="rect">
            <a:avLst/>
          </a:prstGeom>
          <a:noFill/>
          <a:ln/>
        </p:spPr>
        <p:txBody>
          <a:bodyPr wrap="square" lIns="0" tIns="0" rIns="0" bIns="0" rtlCol="0" anchor="ctr">
            <a:normAutofit/>
          </a:bodyPr>
          <a:lstStyle/>
          <a:p>
            <a:pPr algn="ctr" indent="0" marL="0">
              <a:buNone/>
            </a:pPr>
            <a:r>
              <a:rPr lang="en-US" sz="950" dirty="0">
                <a:solidFill>
                  <a:srgbClr val="6F7082"/>
                </a:solidFill>
                <a:latin typeface="Aptos" pitchFamily="34" charset="0"/>
                <a:ea typeface="Aptos" pitchFamily="34" charset="-122"/>
                <a:cs typeface="Aptos" pitchFamily="34" charset="-120"/>
              </a:rPr>
              <a:t>JSON / CSV / DB</a:t>
            </a:r>
            <a:endParaRPr lang="en-US" sz="950" dirty="0"/>
          </a:p>
        </p:txBody>
      </p:sp>
      <p:sp>
        <p:nvSpPr>
          <p:cNvPr id="23" name="Text 21"/>
          <p:cNvSpPr/>
          <p:nvPr/>
        </p:nvSpPr>
        <p:spPr>
          <a:xfrm>
            <a:off x="9774936" y="2505456"/>
            <a:ext cx="292608" cy="228600"/>
          </a:xfrm>
          <a:prstGeom prst="rect">
            <a:avLst/>
          </a:prstGeom>
          <a:noFill/>
          <a:ln/>
        </p:spPr>
        <p:txBody>
          <a:bodyPr wrap="square" lIns="0" tIns="0" rIns="0" bIns="0" rtlCol="0" anchor="ctr">
            <a:normAutofit/>
          </a:bodyPr>
          <a:lstStyle/>
          <a:p>
            <a:pPr algn="ctr" indent="0" marL="0">
              <a:buNone/>
            </a:pPr>
            <a:r>
              <a:rPr lang="en-US" sz="1800" b="1" dirty="0">
                <a:solidFill>
                  <a:srgbClr val="AAA5B4"/>
                </a:solidFill>
                <a:latin typeface="Aptos" pitchFamily="34" charset="0"/>
                <a:ea typeface="Aptos" pitchFamily="34" charset="-122"/>
                <a:cs typeface="Aptos" pitchFamily="34" charset="-120"/>
              </a:rPr>
              <a:t>→</a:t>
            </a:r>
            <a:endParaRPr lang="en-US" sz="1800" dirty="0"/>
          </a:p>
        </p:txBody>
      </p:sp>
      <p:sp>
        <p:nvSpPr>
          <p:cNvPr id="24" name="Shape 22"/>
          <p:cNvSpPr/>
          <p:nvPr/>
        </p:nvSpPr>
        <p:spPr>
          <a:xfrm>
            <a:off x="10149840" y="2148840"/>
            <a:ext cx="1554480" cy="1051560"/>
          </a:xfrm>
          <a:prstGeom prst="roundRect">
            <a:avLst>
              <a:gd name="adj" fmla="val 4348"/>
            </a:avLst>
          </a:prstGeom>
          <a:solidFill>
            <a:srgbClr val="FFFFFF"/>
          </a:solidFill>
          <a:ln w="16510">
            <a:solidFill>
              <a:srgbClr val="D55E5A"/>
            </a:solidFill>
            <a:prstDash val="solid"/>
          </a:ln>
        </p:spPr>
      </p:sp>
      <p:sp>
        <p:nvSpPr>
          <p:cNvPr id="25" name="Text 23"/>
          <p:cNvSpPr/>
          <p:nvPr/>
        </p:nvSpPr>
        <p:spPr>
          <a:xfrm>
            <a:off x="10241280" y="2359152"/>
            <a:ext cx="1371600" cy="182880"/>
          </a:xfrm>
          <a:prstGeom prst="rect">
            <a:avLst/>
          </a:prstGeom>
          <a:noFill/>
          <a:ln/>
        </p:spPr>
        <p:txBody>
          <a:bodyPr wrap="square" lIns="0" tIns="0" rIns="0" bIns="0" rtlCol="0" anchor="ctr">
            <a:normAutofit/>
          </a:bodyPr>
          <a:lstStyle/>
          <a:p>
            <a:pPr algn="ctr" indent="0" marL="0">
              <a:buNone/>
            </a:pPr>
            <a:r>
              <a:rPr lang="en-US" sz="1200" b="1" dirty="0">
                <a:solidFill>
                  <a:srgbClr val="D55E5A"/>
                </a:solidFill>
                <a:latin typeface="Aptos" pitchFamily="34" charset="0"/>
                <a:ea typeface="Aptos" pitchFamily="34" charset="-122"/>
                <a:cs typeface="Aptos" pitchFamily="34" charset="-120"/>
              </a:rPr>
              <a:t>GOVERN</a:t>
            </a:r>
            <a:endParaRPr lang="en-US" sz="1200" dirty="0"/>
          </a:p>
        </p:txBody>
      </p:sp>
      <p:sp>
        <p:nvSpPr>
          <p:cNvPr id="26" name="Text 24"/>
          <p:cNvSpPr/>
          <p:nvPr/>
        </p:nvSpPr>
        <p:spPr>
          <a:xfrm>
            <a:off x="10241280" y="2679192"/>
            <a:ext cx="1371600" cy="201168"/>
          </a:xfrm>
          <a:prstGeom prst="rect">
            <a:avLst/>
          </a:prstGeom>
          <a:noFill/>
          <a:ln/>
        </p:spPr>
        <p:txBody>
          <a:bodyPr wrap="square" lIns="0" tIns="0" rIns="0" bIns="0" rtlCol="0" anchor="ctr">
            <a:normAutofit/>
          </a:bodyPr>
          <a:lstStyle/>
          <a:p>
            <a:pPr algn="ctr" indent="0" marL="0">
              <a:buNone/>
            </a:pPr>
            <a:r>
              <a:rPr lang="en-US" sz="950" dirty="0">
                <a:solidFill>
                  <a:srgbClr val="6F7082"/>
                </a:solidFill>
                <a:latin typeface="Aptos" pitchFamily="34" charset="0"/>
                <a:ea typeface="Aptos" pitchFamily="34" charset="-122"/>
                <a:cs typeface="Aptos" pitchFamily="34" charset="-120"/>
              </a:rPr>
              <a:t>RGPD / règles</a:t>
            </a:r>
            <a:endParaRPr lang="en-US" sz="950" dirty="0"/>
          </a:p>
        </p:txBody>
      </p:sp>
      <p:sp>
        <p:nvSpPr>
          <p:cNvPr id="27" name="Shape 25"/>
          <p:cNvSpPr/>
          <p:nvPr/>
        </p:nvSpPr>
        <p:spPr>
          <a:xfrm>
            <a:off x="914400" y="4069080"/>
            <a:ext cx="3108960" cy="1051560"/>
          </a:xfrm>
          <a:prstGeom prst="roundRect">
            <a:avLst>
              <a:gd name="adj" fmla="val 5217"/>
            </a:avLst>
          </a:prstGeom>
          <a:solidFill>
            <a:srgbClr val="FFFFFF"/>
          </a:solidFill>
          <a:ln w="12700">
            <a:solidFill>
              <a:srgbClr val="DDDCE6"/>
            </a:solidFill>
            <a:prstDash val="solid"/>
          </a:ln>
          <a:effectLst>
            <a:outerShdw sx="100000" sy="100000" kx="0" ky="0" algn="bl" rotWithShape="0" blurRad="19050" dist="50800" dir="2700000">
              <a:srgbClr val="D6D3DF">
                <a:alpha val="18000"/>
              </a:srgbClr>
            </a:outerShdw>
          </a:effectLst>
        </p:spPr>
      </p:sp>
      <p:sp>
        <p:nvSpPr>
          <p:cNvPr id="28" name="Shape 26"/>
          <p:cNvSpPr/>
          <p:nvPr/>
        </p:nvSpPr>
        <p:spPr>
          <a:xfrm>
            <a:off x="914400" y="4069080"/>
            <a:ext cx="73152" cy="1051560"/>
          </a:xfrm>
          <a:prstGeom prst="rect">
            <a:avLst/>
          </a:prstGeom>
          <a:solidFill>
            <a:srgbClr val="4F7FC4"/>
          </a:solidFill>
          <a:ln w="12700">
            <a:solidFill>
              <a:srgbClr val="4F7FC4"/>
            </a:solidFill>
            <a:prstDash val="solid"/>
          </a:ln>
        </p:spPr>
      </p:sp>
      <p:sp>
        <p:nvSpPr>
          <p:cNvPr id="29" name="Text 27"/>
          <p:cNvSpPr/>
          <p:nvPr/>
        </p:nvSpPr>
        <p:spPr>
          <a:xfrm>
            <a:off x="1234440" y="4288536"/>
            <a:ext cx="2606040" cy="347472"/>
          </a:xfrm>
          <a:prstGeom prst="rect">
            <a:avLst/>
          </a:prstGeom>
          <a:noFill/>
          <a:ln/>
        </p:spPr>
        <p:txBody>
          <a:bodyPr wrap="square" lIns="0" tIns="0" rIns="0" bIns="0" rtlCol="0" anchor="t">
            <a:normAutofit/>
          </a:bodyPr>
          <a:lstStyle/>
          <a:p>
            <a:pPr algn="l" indent="0" marL="0">
              <a:buNone/>
            </a:pPr>
            <a:r>
              <a:rPr lang="en-US" sz="1630" b="1" dirty="0">
                <a:solidFill>
                  <a:srgbClr val="241337"/>
                </a:solidFill>
                <a:latin typeface="Aptos" pitchFamily="34" charset="0"/>
                <a:ea typeface="Aptos" pitchFamily="34" charset="-122"/>
                <a:cs typeface="Aptos" pitchFamily="34" charset="-120"/>
              </a:rPr>
              <a:t>Technique</a:t>
            </a:r>
            <a:endParaRPr lang="en-US" sz="1630" dirty="0"/>
          </a:p>
        </p:txBody>
      </p:sp>
      <p:sp>
        <p:nvSpPr>
          <p:cNvPr id="30" name="Text 28"/>
          <p:cNvSpPr/>
          <p:nvPr/>
        </p:nvSpPr>
        <p:spPr>
          <a:xfrm>
            <a:off x="1207008" y="4764024"/>
            <a:ext cx="2606040" cy="182880"/>
          </a:xfrm>
          <a:prstGeom prst="rect">
            <a:avLst/>
          </a:prstGeom>
          <a:noFill/>
          <a:ln/>
        </p:spPr>
        <p:txBody>
          <a:bodyPr wrap="square" lIns="0" tIns="0" rIns="0" bIns="0" rtlCol="0" anchor="t">
            <a:normAutofit/>
          </a:bodyPr>
          <a:lstStyle/>
          <a:p>
            <a:pPr algn="l" indent="0" marL="0">
              <a:buNone/>
            </a:pPr>
            <a:r>
              <a:rPr lang="en-US" sz="1230" dirty="0">
                <a:solidFill>
                  <a:srgbClr val="6F7082"/>
                </a:solidFill>
                <a:latin typeface="Aptos" pitchFamily="34" charset="0"/>
                <a:ea typeface="Aptos" pitchFamily="34" charset="-122"/>
                <a:cs typeface="Aptos" pitchFamily="34" charset="-120"/>
              </a:rPr>
              <a:t>Savoir trouver et acquérir la donnée.</a:t>
            </a:r>
            <a:endParaRPr lang="en-US" sz="1230" dirty="0"/>
          </a:p>
        </p:txBody>
      </p:sp>
      <p:sp>
        <p:nvSpPr>
          <p:cNvPr id="31" name="Shape 29"/>
          <p:cNvSpPr/>
          <p:nvPr/>
        </p:nvSpPr>
        <p:spPr>
          <a:xfrm>
            <a:off x="4526280" y="4069080"/>
            <a:ext cx="3108960" cy="1051560"/>
          </a:xfrm>
          <a:prstGeom prst="roundRect">
            <a:avLst>
              <a:gd name="adj" fmla="val 5217"/>
            </a:avLst>
          </a:prstGeom>
          <a:solidFill>
            <a:srgbClr val="FFFFFF"/>
          </a:solidFill>
          <a:ln w="12700">
            <a:solidFill>
              <a:srgbClr val="DDDCE6"/>
            </a:solidFill>
            <a:prstDash val="solid"/>
          </a:ln>
          <a:effectLst>
            <a:outerShdw sx="100000" sy="100000" kx="0" ky="0" algn="bl" rotWithShape="0" blurRad="19050" dist="50800" dir="2700000">
              <a:srgbClr val="D6D3DF">
                <a:alpha val="18000"/>
              </a:srgbClr>
            </a:outerShdw>
          </a:effectLst>
        </p:spPr>
      </p:sp>
      <p:sp>
        <p:nvSpPr>
          <p:cNvPr id="32" name="Shape 30"/>
          <p:cNvSpPr/>
          <p:nvPr/>
        </p:nvSpPr>
        <p:spPr>
          <a:xfrm>
            <a:off x="4526280" y="4069080"/>
            <a:ext cx="73152" cy="1051560"/>
          </a:xfrm>
          <a:prstGeom prst="rect">
            <a:avLst/>
          </a:prstGeom>
          <a:solidFill>
            <a:srgbClr val="4EA27B"/>
          </a:solidFill>
          <a:ln w="12700">
            <a:solidFill>
              <a:srgbClr val="4EA27B"/>
            </a:solidFill>
            <a:prstDash val="solid"/>
          </a:ln>
        </p:spPr>
      </p:sp>
      <p:sp>
        <p:nvSpPr>
          <p:cNvPr id="33" name="Text 31"/>
          <p:cNvSpPr/>
          <p:nvPr/>
        </p:nvSpPr>
        <p:spPr>
          <a:xfrm>
            <a:off x="4846320" y="4288536"/>
            <a:ext cx="2606040" cy="347472"/>
          </a:xfrm>
          <a:prstGeom prst="rect">
            <a:avLst/>
          </a:prstGeom>
          <a:noFill/>
          <a:ln/>
        </p:spPr>
        <p:txBody>
          <a:bodyPr wrap="square" lIns="0" tIns="0" rIns="0" bIns="0" rtlCol="0" anchor="t">
            <a:normAutofit/>
          </a:bodyPr>
          <a:lstStyle/>
          <a:p>
            <a:pPr algn="l" indent="0" marL="0">
              <a:buNone/>
            </a:pPr>
            <a:r>
              <a:rPr lang="en-US" sz="1630" b="1" dirty="0">
                <a:solidFill>
                  <a:srgbClr val="241337"/>
                </a:solidFill>
                <a:latin typeface="Aptos" pitchFamily="34" charset="0"/>
                <a:ea typeface="Aptos" pitchFamily="34" charset="-122"/>
                <a:cs typeface="Aptos" pitchFamily="34" charset="-120"/>
              </a:rPr>
              <a:t>Data</a:t>
            </a:r>
            <a:endParaRPr lang="en-US" sz="1630" dirty="0"/>
          </a:p>
        </p:txBody>
      </p:sp>
      <p:sp>
        <p:nvSpPr>
          <p:cNvPr id="34" name="Text 32"/>
          <p:cNvSpPr/>
          <p:nvPr/>
        </p:nvSpPr>
        <p:spPr>
          <a:xfrm>
            <a:off x="4818888" y="4764024"/>
            <a:ext cx="2606040" cy="182880"/>
          </a:xfrm>
          <a:prstGeom prst="rect">
            <a:avLst/>
          </a:prstGeom>
          <a:noFill/>
          <a:ln/>
        </p:spPr>
        <p:txBody>
          <a:bodyPr wrap="square" lIns="0" tIns="0" rIns="0" bIns="0" rtlCol="0" anchor="t">
            <a:normAutofit/>
          </a:bodyPr>
          <a:lstStyle/>
          <a:p>
            <a:pPr algn="l" indent="0" marL="0">
              <a:buNone/>
            </a:pPr>
            <a:r>
              <a:rPr lang="en-US" sz="1230" dirty="0">
                <a:solidFill>
                  <a:srgbClr val="6F7082"/>
                </a:solidFill>
                <a:latin typeface="Aptos" pitchFamily="34" charset="0"/>
                <a:ea typeface="Aptos" pitchFamily="34" charset="-122"/>
                <a:cs typeface="Aptos" pitchFamily="34" charset="-120"/>
              </a:rPr>
              <a:t>La rendre propre, traçable et exploitable.</a:t>
            </a:r>
            <a:endParaRPr lang="en-US" sz="1230" dirty="0"/>
          </a:p>
        </p:txBody>
      </p:sp>
      <p:sp>
        <p:nvSpPr>
          <p:cNvPr id="35" name="Shape 33"/>
          <p:cNvSpPr/>
          <p:nvPr/>
        </p:nvSpPr>
        <p:spPr>
          <a:xfrm>
            <a:off x="8138160" y="4069080"/>
            <a:ext cx="3108960" cy="1051560"/>
          </a:xfrm>
          <a:prstGeom prst="roundRect">
            <a:avLst>
              <a:gd name="adj" fmla="val 5217"/>
            </a:avLst>
          </a:prstGeom>
          <a:solidFill>
            <a:srgbClr val="FFFFFF"/>
          </a:solidFill>
          <a:ln w="12700">
            <a:solidFill>
              <a:srgbClr val="DDDCE6"/>
            </a:solidFill>
            <a:prstDash val="solid"/>
          </a:ln>
          <a:effectLst>
            <a:outerShdw sx="100000" sy="100000" kx="0" ky="0" algn="bl" rotWithShape="0" blurRad="19050" dist="50800" dir="2700000">
              <a:srgbClr val="D6D3DF">
                <a:alpha val="18000"/>
              </a:srgbClr>
            </a:outerShdw>
          </a:effectLst>
        </p:spPr>
      </p:sp>
      <p:sp>
        <p:nvSpPr>
          <p:cNvPr id="36" name="Shape 34"/>
          <p:cNvSpPr/>
          <p:nvPr/>
        </p:nvSpPr>
        <p:spPr>
          <a:xfrm>
            <a:off x="8138160" y="4069080"/>
            <a:ext cx="73152" cy="1051560"/>
          </a:xfrm>
          <a:prstGeom prst="rect">
            <a:avLst/>
          </a:prstGeom>
          <a:solidFill>
            <a:srgbClr val="DB8129"/>
          </a:solidFill>
          <a:ln w="12700">
            <a:solidFill>
              <a:srgbClr val="DB8129"/>
            </a:solidFill>
            <a:prstDash val="solid"/>
          </a:ln>
        </p:spPr>
      </p:sp>
      <p:sp>
        <p:nvSpPr>
          <p:cNvPr id="37" name="Text 35"/>
          <p:cNvSpPr/>
          <p:nvPr/>
        </p:nvSpPr>
        <p:spPr>
          <a:xfrm>
            <a:off x="8458200" y="4288536"/>
            <a:ext cx="2606040" cy="347472"/>
          </a:xfrm>
          <a:prstGeom prst="rect">
            <a:avLst/>
          </a:prstGeom>
          <a:noFill/>
          <a:ln/>
        </p:spPr>
        <p:txBody>
          <a:bodyPr wrap="square" lIns="0" tIns="0" rIns="0" bIns="0" rtlCol="0" anchor="t">
            <a:normAutofit/>
          </a:bodyPr>
          <a:lstStyle/>
          <a:p>
            <a:pPr algn="l" indent="0" marL="0">
              <a:buNone/>
            </a:pPr>
            <a:r>
              <a:rPr lang="en-US" sz="1630" b="1" dirty="0">
                <a:solidFill>
                  <a:srgbClr val="241337"/>
                </a:solidFill>
                <a:latin typeface="Aptos" pitchFamily="34" charset="0"/>
                <a:ea typeface="Aptos" pitchFamily="34" charset="-122"/>
                <a:cs typeface="Aptos" pitchFamily="34" charset="-120"/>
              </a:rPr>
              <a:t>Responsabilité</a:t>
            </a:r>
            <a:endParaRPr lang="en-US" sz="1630" dirty="0"/>
          </a:p>
        </p:txBody>
      </p:sp>
      <p:sp>
        <p:nvSpPr>
          <p:cNvPr id="38" name="Text 36"/>
          <p:cNvSpPr/>
          <p:nvPr/>
        </p:nvSpPr>
        <p:spPr>
          <a:xfrm>
            <a:off x="8430768" y="4764024"/>
            <a:ext cx="2606040" cy="182880"/>
          </a:xfrm>
          <a:prstGeom prst="rect">
            <a:avLst/>
          </a:prstGeom>
          <a:noFill/>
          <a:ln/>
        </p:spPr>
        <p:txBody>
          <a:bodyPr wrap="square" lIns="0" tIns="0" rIns="0" bIns="0" rtlCol="0" anchor="t">
            <a:normAutofit/>
          </a:bodyPr>
          <a:lstStyle/>
          <a:p>
            <a:pPr algn="l" indent="0" marL="0">
              <a:buNone/>
            </a:pPr>
            <a:r>
              <a:rPr lang="en-US" sz="1230" dirty="0">
                <a:solidFill>
                  <a:srgbClr val="6F7082"/>
                </a:solidFill>
                <a:latin typeface="Aptos" pitchFamily="34" charset="0"/>
                <a:ea typeface="Aptos" pitchFamily="34" charset="-122"/>
                <a:cs typeface="Aptos" pitchFamily="34" charset="-120"/>
              </a:rPr>
              <a:t>Pouvoir expliquer pourquoi et comment on la collecte.</a:t>
            </a:r>
            <a:endParaRPr lang="en-US" sz="1230" dirty="0"/>
          </a:p>
        </p:txBody>
      </p:sp>
      <p:sp>
        <p:nvSpPr>
          <p:cNvPr id="25" name="Slide Number Placeholder 0"/>
          <p:cNvSpPr>
            <a:spLocks noGrp="1"/>
          </p:cNvSpPr>
          <p:nvPr>
            <p:ph type="sldNum" sz="quarter" idx="4294967295"/>
          </p:nvPr>
        </p:nvSpPr>
        <p:spPr>
          <a:xfrm>
            <a:off x="11750040" y="274320"/>
            <a:ext cx="228600" cy="164592"/>
          </a:xfrm>
          <a:prstGeom prst="rect">
            <a:avLst/>
          </a:prstGeom>
          <a:extLst>
            <a:ext uri="{C572A759-6A51-4108-AA02-DFA0A04FC94B}">
              <ma14:wrappingTextBoxFlag xmlns:ma14="http://schemas.microsoft.com/office/mac/drawingml/2011/main" val="0"/>
            </a:ext>
          </a:extLst>
        </p:spPr>
        <p:txBody>
          <a:bodyPr/>
          <a:lstStyle>
            <a:lvl1pPr>
              <a:defRPr sz="800">
                <a:solidFill>
                  <a:srgbClr val="858697"/>
                </a:solidFill>
                <a:latin typeface="Aptos"/>
                <a:ea typeface="Aptos"/>
                <a:cs typeface="Aptos"/>
              </a:defRPr>
            </a:lvl1pPr>
          </a:lstStyle>
          <a:p>
            <a:pPr algn="r"/>
            <a:fld id="{F7021451-1387-4CA6-816F-3879F97B5CBC}" type="slidenum">
              <a:rPr b="0"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566928" y="438912"/>
            <a:ext cx="5029200" cy="228600"/>
          </a:xfrm>
          <a:prstGeom prst="rect">
            <a:avLst/>
          </a:prstGeom>
          <a:noFill/>
          <a:ln/>
        </p:spPr>
        <p:txBody>
          <a:bodyPr wrap="square" lIns="0" tIns="0" rIns="0" bIns="0" rtlCol="0" anchor="ctr">
            <a:normAutofit/>
          </a:bodyPr>
          <a:lstStyle/>
          <a:p>
            <a:pPr algn="l" indent="0" marL="0">
              <a:buNone/>
            </a:pPr>
            <a:r>
              <a:rPr lang="en-US" sz="1050" b="1" spc="150" kern="0" dirty="0">
                <a:solidFill>
                  <a:srgbClr val="7432A8"/>
                </a:solidFill>
                <a:latin typeface="Aptos" pitchFamily="34" charset="0"/>
                <a:ea typeface="Aptos" pitchFamily="34" charset="-122"/>
                <a:cs typeface="Aptos" pitchFamily="34" charset="-120"/>
              </a:rPr>
              <a:t>RÉFÉRENCES</a:t>
            </a:r>
            <a:endParaRPr lang="en-US" sz="1050" dirty="0"/>
          </a:p>
        </p:txBody>
      </p:sp>
      <p:sp>
        <p:nvSpPr>
          <p:cNvPr id="3" name="Text 1"/>
          <p:cNvSpPr/>
          <p:nvPr/>
        </p:nvSpPr>
        <p:spPr>
          <a:xfrm>
            <a:off x="566928" y="768096"/>
            <a:ext cx="10972800" cy="566928"/>
          </a:xfrm>
          <a:prstGeom prst="rect">
            <a:avLst/>
          </a:prstGeom>
          <a:noFill/>
          <a:ln/>
        </p:spPr>
        <p:txBody>
          <a:bodyPr wrap="square" lIns="0" tIns="0" rIns="0" bIns="0" rtlCol="0" anchor="t">
            <a:normAutofit/>
          </a:bodyPr>
          <a:lstStyle/>
          <a:p>
            <a:pPr algn="l" indent="0" marL="0">
              <a:buNone/>
            </a:pPr>
            <a:r>
              <a:rPr lang="en-US" sz="2800" b="1" dirty="0">
                <a:solidFill>
                  <a:srgbClr val="241337"/>
                </a:solidFill>
                <a:latin typeface="Aptos" pitchFamily="34" charset="0"/>
                <a:ea typeface="Aptos" pitchFamily="34" charset="-122"/>
                <a:cs typeface="Aptos" pitchFamily="34" charset="-120"/>
              </a:rPr>
              <a:t>Sources officielles pour aller plus loin</a:t>
            </a:r>
            <a:endParaRPr lang="en-US" sz="2800" dirty="0"/>
          </a:p>
        </p:txBody>
      </p:sp>
      <p:sp>
        <p:nvSpPr>
          <p:cNvPr id="4" name="Shape 2"/>
          <p:cNvSpPr/>
          <p:nvPr/>
        </p:nvSpPr>
        <p:spPr>
          <a:xfrm>
            <a:off x="731520" y="1417320"/>
            <a:ext cx="10744200" cy="603504"/>
          </a:xfrm>
          <a:prstGeom prst="roundRect">
            <a:avLst>
              <a:gd name="adj" fmla="val 6061"/>
            </a:avLst>
          </a:prstGeom>
          <a:solidFill>
            <a:srgbClr val="FFFFFF"/>
          </a:solidFill>
          <a:ln w="12700">
            <a:solidFill>
              <a:srgbClr val="DDDCE6"/>
            </a:solidFill>
            <a:prstDash val="solid"/>
          </a:ln>
        </p:spPr>
      </p:sp>
      <p:sp>
        <p:nvSpPr>
          <p:cNvPr id="5" name="Text 3"/>
          <p:cNvSpPr/>
          <p:nvPr/>
        </p:nvSpPr>
        <p:spPr>
          <a:xfrm>
            <a:off x="941832" y="1517904"/>
            <a:ext cx="4389120" cy="182880"/>
          </a:xfrm>
          <a:prstGeom prst="rect">
            <a:avLst/>
          </a:prstGeom>
          <a:noFill/>
          <a:ln/>
        </p:spPr>
        <p:txBody>
          <a:bodyPr wrap="square" lIns="0" tIns="0" rIns="0" bIns="0" rtlCol="0" anchor="ctr">
            <a:normAutofit/>
          </a:bodyPr>
          <a:lstStyle/>
          <a:p>
            <a:pPr algn="l" indent="0" marL="0">
              <a:buNone/>
            </a:pPr>
            <a:r>
              <a:rPr lang="en-US" sz="1120" b="1" dirty="0">
                <a:solidFill>
                  <a:srgbClr val="241337"/>
                </a:solidFill>
                <a:latin typeface="Aptos" pitchFamily="34" charset="0"/>
                <a:ea typeface="Aptos" pitchFamily="34" charset="-122"/>
                <a:cs typeface="Aptos" pitchFamily="34" charset="-120"/>
              </a:rPr>
              <a:t>Scrapy 2.19 — Documentation officielle</a:t>
            </a:r>
            <a:endParaRPr lang="en-US" sz="1120" dirty="0"/>
          </a:p>
        </p:txBody>
      </p:sp>
      <p:sp>
        <p:nvSpPr>
          <p:cNvPr id="6" name="Text 4"/>
          <p:cNvSpPr/>
          <p:nvPr/>
        </p:nvSpPr>
        <p:spPr>
          <a:xfrm>
            <a:off x="5349240" y="1517904"/>
            <a:ext cx="2880360" cy="182880"/>
          </a:xfrm>
          <a:prstGeom prst="rect">
            <a:avLst/>
          </a:prstGeom>
          <a:noFill/>
          <a:ln/>
        </p:spPr>
        <p:txBody>
          <a:bodyPr wrap="square" lIns="0" tIns="0" rIns="0" bIns="0" rtlCol="0" anchor="ctr">
            <a:normAutofit/>
          </a:bodyPr>
          <a:lstStyle/>
          <a:p>
            <a:pPr algn="l" indent="0" marL="0">
              <a:buNone/>
            </a:pPr>
            <a:r>
              <a:rPr lang="en-US" sz="980" dirty="0">
                <a:solidFill>
                  <a:srgbClr val="7432A8"/>
                </a:solidFill>
                <a:latin typeface="Aptos" pitchFamily="34" charset="0"/>
                <a:ea typeface="Aptos" pitchFamily="34" charset="-122"/>
                <a:cs typeface="Aptos" pitchFamily="34" charset="-120"/>
              </a:rPr>
              <a:t>docs.scrapy.org/en/latest/</a:t>
            </a:r>
            <a:endParaRPr lang="en-US" sz="980" dirty="0"/>
          </a:p>
        </p:txBody>
      </p:sp>
      <p:sp>
        <p:nvSpPr>
          <p:cNvPr id="7" name="Text 5"/>
          <p:cNvSpPr/>
          <p:nvPr/>
        </p:nvSpPr>
        <p:spPr>
          <a:xfrm>
            <a:off x="8302752" y="1490472"/>
            <a:ext cx="2880360" cy="292608"/>
          </a:xfrm>
          <a:prstGeom prst="rect">
            <a:avLst/>
          </a:prstGeom>
          <a:noFill/>
          <a:ln/>
        </p:spPr>
        <p:txBody>
          <a:bodyPr wrap="square" lIns="0" tIns="0" rIns="0" bIns="0" rtlCol="0" anchor="ctr">
            <a:normAutofit/>
          </a:bodyPr>
          <a:lstStyle/>
          <a:p>
            <a:pPr algn="l" indent="0" marL="0">
              <a:buNone/>
            </a:pPr>
            <a:r>
              <a:rPr lang="en-US" sz="930" dirty="0">
                <a:solidFill>
                  <a:srgbClr val="6F7082"/>
                </a:solidFill>
                <a:latin typeface="Aptos" pitchFamily="34" charset="0"/>
                <a:ea typeface="Aptos" pitchFamily="34" charset="-122"/>
                <a:cs typeface="Aptos" pitchFamily="34" charset="-120"/>
              </a:rPr>
              <a:t>Architecture, Spiders, Selectors, Item Pipelines, Feed exports, Settings.</a:t>
            </a:r>
            <a:endParaRPr lang="en-US" sz="930" dirty="0"/>
          </a:p>
        </p:txBody>
      </p:sp>
      <p:sp>
        <p:nvSpPr>
          <p:cNvPr id="8" name="Shape 6"/>
          <p:cNvSpPr/>
          <p:nvPr/>
        </p:nvSpPr>
        <p:spPr>
          <a:xfrm>
            <a:off x="731520" y="2167128"/>
            <a:ext cx="10744200" cy="603504"/>
          </a:xfrm>
          <a:prstGeom prst="roundRect">
            <a:avLst>
              <a:gd name="adj" fmla="val 6061"/>
            </a:avLst>
          </a:prstGeom>
          <a:solidFill>
            <a:srgbClr val="F2EEF5"/>
          </a:solidFill>
          <a:ln w="12700">
            <a:solidFill>
              <a:srgbClr val="DDDCE6"/>
            </a:solidFill>
            <a:prstDash val="solid"/>
          </a:ln>
        </p:spPr>
      </p:sp>
      <p:sp>
        <p:nvSpPr>
          <p:cNvPr id="9" name="Text 7"/>
          <p:cNvSpPr/>
          <p:nvPr/>
        </p:nvSpPr>
        <p:spPr>
          <a:xfrm>
            <a:off x="941832" y="2267712"/>
            <a:ext cx="4389120" cy="182880"/>
          </a:xfrm>
          <a:prstGeom prst="rect">
            <a:avLst/>
          </a:prstGeom>
          <a:noFill/>
          <a:ln/>
        </p:spPr>
        <p:txBody>
          <a:bodyPr wrap="square" lIns="0" tIns="0" rIns="0" bIns="0" rtlCol="0" anchor="ctr">
            <a:normAutofit/>
          </a:bodyPr>
          <a:lstStyle/>
          <a:p>
            <a:pPr algn="l" indent="0" marL="0">
              <a:buNone/>
            </a:pPr>
            <a:r>
              <a:rPr lang="en-US" sz="1120" b="1" dirty="0">
                <a:solidFill>
                  <a:srgbClr val="241337"/>
                </a:solidFill>
                <a:latin typeface="Aptos" pitchFamily="34" charset="0"/>
                <a:ea typeface="Aptos" pitchFamily="34" charset="-122"/>
                <a:cs typeface="Aptos" pitchFamily="34" charset="-120"/>
              </a:rPr>
              <a:t>CNIL — Recommandations pour les réutilisateurs de données publiées sur Internet</a:t>
            </a:r>
            <a:endParaRPr lang="en-US" sz="1120" dirty="0"/>
          </a:p>
        </p:txBody>
      </p:sp>
      <p:sp>
        <p:nvSpPr>
          <p:cNvPr id="10" name="Text 8"/>
          <p:cNvSpPr/>
          <p:nvPr/>
        </p:nvSpPr>
        <p:spPr>
          <a:xfrm>
            <a:off x="5349240" y="2267712"/>
            <a:ext cx="2880360" cy="182880"/>
          </a:xfrm>
          <a:prstGeom prst="rect">
            <a:avLst/>
          </a:prstGeom>
          <a:noFill/>
          <a:ln/>
        </p:spPr>
        <p:txBody>
          <a:bodyPr wrap="square" lIns="0" tIns="0" rIns="0" bIns="0" rtlCol="0" anchor="ctr">
            <a:normAutofit/>
          </a:bodyPr>
          <a:lstStyle/>
          <a:p>
            <a:pPr algn="l" indent="0" marL="0">
              <a:buNone/>
            </a:pPr>
            <a:r>
              <a:rPr lang="en-US" sz="980" dirty="0">
                <a:solidFill>
                  <a:srgbClr val="7432A8"/>
                </a:solidFill>
                <a:latin typeface="Aptos" pitchFamily="34" charset="0"/>
                <a:ea typeface="Aptos" pitchFamily="34" charset="-122"/>
                <a:cs typeface="Aptos" pitchFamily="34" charset="-120"/>
              </a:rPr>
              <a:t>cnil.fr/fr/recommandations-reutilisateurs-donnees-internet</a:t>
            </a:r>
            <a:endParaRPr lang="en-US" sz="980" dirty="0"/>
          </a:p>
        </p:txBody>
      </p:sp>
      <p:sp>
        <p:nvSpPr>
          <p:cNvPr id="11" name="Text 9"/>
          <p:cNvSpPr/>
          <p:nvPr/>
        </p:nvSpPr>
        <p:spPr>
          <a:xfrm>
            <a:off x="8302752" y="2240280"/>
            <a:ext cx="2880360" cy="292608"/>
          </a:xfrm>
          <a:prstGeom prst="rect">
            <a:avLst/>
          </a:prstGeom>
          <a:noFill/>
          <a:ln/>
        </p:spPr>
        <p:txBody>
          <a:bodyPr wrap="square" lIns="0" tIns="0" rIns="0" bIns="0" rtlCol="0" anchor="ctr">
            <a:normAutofit/>
          </a:bodyPr>
          <a:lstStyle/>
          <a:p>
            <a:pPr algn="l" indent="0" marL="0">
              <a:buNone/>
            </a:pPr>
            <a:r>
              <a:rPr lang="en-US" sz="930" dirty="0">
                <a:solidFill>
                  <a:srgbClr val="6F7082"/>
                </a:solidFill>
                <a:latin typeface="Aptos" pitchFamily="34" charset="0"/>
                <a:ea typeface="Aptos" pitchFamily="34" charset="-122"/>
                <a:cs typeface="Aptos" pitchFamily="34" charset="-120"/>
              </a:rPr>
              <a:t>Cadre de réutilisation de données publiquement accessibles.</a:t>
            </a:r>
            <a:endParaRPr lang="en-US" sz="930" dirty="0"/>
          </a:p>
        </p:txBody>
      </p:sp>
      <p:sp>
        <p:nvSpPr>
          <p:cNvPr id="12" name="Shape 10"/>
          <p:cNvSpPr/>
          <p:nvPr/>
        </p:nvSpPr>
        <p:spPr>
          <a:xfrm>
            <a:off x="731520" y="2916936"/>
            <a:ext cx="10744200" cy="603504"/>
          </a:xfrm>
          <a:prstGeom prst="roundRect">
            <a:avLst>
              <a:gd name="adj" fmla="val 6061"/>
            </a:avLst>
          </a:prstGeom>
          <a:solidFill>
            <a:srgbClr val="FFFFFF"/>
          </a:solidFill>
          <a:ln w="12700">
            <a:solidFill>
              <a:srgbClr val="DDDCE6"/>
            </a:solidFill>
            <a:prstDash val="solid"/>
          </a:ln>
        </p:spPr>
      </p:sp>
      <p:sp>
        <p:nvSpPr>
          <p:cNvPr id="13" name="Text 11"/>
          <p:cNvSpPr/>
          <p:nvPr/>
        </p:nvSpPr>
        <p:spPr>
          <a:xfrm>
            <a:off x="941832" y="3017520"/>
            <a:ext cx="4389120" cy="182880"/>
          </a:xfrm>
          <a:prstGeom prst="rect">
            <a:avLst/>
          </a:prstGeom>
          <a:noFill/>
          <a:ln/>
        </p:spPr>
        <p:txBody>
          <a:bodyPr wrap="square" lIns="0" tIns="0" rIns="0" bIns="0" rtlCol="0" anchor="ctr">
            <a:normAutofit/>
          </a:bodyPr>
          <a:lstStyle/>
          <a:p>
            <a:pPr algn="l" indent="0" marL="0">
              <a:buNone/>
            </a:pPr>
            <a:r>
              <a:rPr lang="en-US" sz="1120" b="1" dirty="0">
                <a:solidFill>
                  <a:srgbClr val="241337"/>
                </a:solidFill>
                <a:latin typeface="Aptos" pitchFamily="34" charset="0"/>
                <a:ea typeface="Aptos" pitchFamily="34" charset="-122"/>
                <a:cs typeface="Aptos" pitchFamily="34" charset="-120"/>
              </a:rPr>
              <a:t>CNIL — Intérêt légitime &amp; collecte par moissonnage</a:t>
            </a:r>
            <a:endParaRPr lang="en-US" sz="1120" dirty="0"/>
          </a:p>
        </p:txBody>
      </p:sp>
      <p:sp>
        <p:nvSpPr>
          <p:cNvPr id="14" name="Text 12"/>
          <p:cNvSpPr/>
          <p:nvPr/>
        </p:nvSpPr>
        <p:spPr>
          <a:xfrm>
            <a:off x="5349240" y="3017520"/>
            <a:ext cx="2880360" cy="182880"/>
          </a:xfrm>
          <a:prstGeom prst="rect">
            <a:avLst/>
          </a:prstGeom>
          <a:noFill/>
          <a:ln/>
        </p:spPr>
        <p:txBody>
          <a:bodyPr wrap="square" lIns="0" tIns="0" rIns="0" bIns="0" rtlCol="0" anchor="ctr">
            <a:normAutofit/>
          </a:bodyPr>
          <a:lstStyle/>
          <a:p>
            <a:pPr algn="l" indent="0" marL="0">
              <a:buNone/>
            </a:pPr>
            <a:r>
              <a:rPr lang="en-US" sz="980" dirty="0">
                <a:solidFill>
                  <a:srgbClr val="7432A8"/>
                </a:solidFill>
                <a:latin typeface="Aptos" pitchFamily="34" charset="0"/>
                <a:ea typeface="Aptos" pitchFamily="34" charset="-122"/>
                <a:cs typeface="Aptos" pitchFamily="34" charset="-120"/>
              </a:rPr>
              <a:t>cnil.fr/fr/focus-interet-legitime-collecte-par-moissonnage</a:t>
            </a:r>
            <a:endParaRPr lang="en-US" sz="980" dirty="0"/>
          </a:p>
        </p:txBody>
      </p:sp>
      <p:sp>
        <p:nvSpPr>
          <p:cNvPr id="15" name="Text 13"/>
          <p:cNvSpPr/>
          <p:nvPr/>
        </p:nvSpPr>
        <p:spPr>
          <a:xfrm>
            <a:off x="8302752" y="2990088"/>
            <a:ext cx="2880360" cy="292608"/>
          </a:xfrm>
          <a:prstGeom prst="rect">
            <a:avLst/>
          </a:prstGeom>
          <a:noFill/>
          <a:ln/>
        </p:spPr>
        <p:txBody>
          <a:bodyPr wrap="square" lIns="0" tIns="0" rIns="0" bIns="0" rtlCol="0" anchor="ctr">
            <a:normAutofit/>
          </a:bodyPr>
          <a:lstStyle/>
          <a:p>
            <a:pPr algn="l" indent="0" marL="0">
              <a:buNone/>
            </a:pPr>
            <a:r>
              <a:rPr lang="en-US" sz="930" dirty="0">
                <a:solidFill>
                  <a:srgbClr val="6F7082"/>
                </a:solidFill>
                <a:latin typeface="Aptos" pitchFamily="34" charset="0"/>
                <a:ea typeface="Aptos" pitchFamily="34" charset="-122"/>
                <a:cs typeface="Aptos" pitchFamily="34" charset="-120"/>
              </a:rPr>
              <a:t>Mesures et analyse spécifiques au web scraping de données personnelles.</a:t>
            </a:r>
            <a:endParaRPr lang="en-US" sz="930" dirty="0"/>
          </a:p>
        </p:txBody>
      </p:sp>
      <p:sp>
        <p:nvSpPr>
          <p:cNvPr id="16" name="Shape 14"/>
          <p:cNvSpPr/>
          <p:nvPr/>
        </p:nvSpPr>
        <p:spPr>
          <a:xfrm>
            <a:off x="731520" y="3666744"/>
            <a:ext cx="10744200" cy="603504"/>
          </a:xfrm>
          <a:prstGeom prst="roundRect">
            <a:avLst>
              <a:gd name="adj" fmla="val 6061"/>
            </a:avLst>
          </a:prstGeom>
          <a:solidFill>
            <a:srgbClr val="F2EEF5"/>
          </a:solidFill>
          <a:ln w="12700">
            <a:solidFill>
              <a:srgbClr val="DDDCE6"/>
            </a:solidFill>
            <a:prstDash val="solid"/>
          </a:ln>
        </p:spPr>
      </p:sp>
      <p:sp>
        <p:nvSpPr>
          <p:cNvPr id="17" name="Text 15"/>
          <p:cNvSpPr/>
          <p:nvPr/>
        </p:nvSpPr>
        <p:spPr>
          <a:xfrm>
            <a:off x="941832" y="3767328"/>
            <a:ext cx="4389120" cy="182880"/>
          </a:xfrm>
          <a:prstGeom prst="rect">
            <a:avLst/>
          </a:prstGeom>
          <a:noFill/>
          <a:ln/>
        </p:spPr>
        <p:txBody>
          <a:bodyPr wrap="square" lIns="0" tIns="0" rIns="0" bIns="0" rtlCol="0" anchor="ctr">
            <a:normAutofit/>
          </a:bodyPr>
          <a:lstStyle/>
          <a:p>
            <a:pPr algn="l" indent="0" marL="0">
              <a:buNone/>
            </a:pPr>
            <a:r>
              <a:rPr lang="en-US" sz="1120" b="1" dirty="0">
                <a:solidFill>
                  <a:srgbClr val="241337"/>
                </a:solidFill>
                <a:latin typeface="Aptos" pitchFamily="34" charset="0"/>
                <a:ea typeface="Aptos" pitchFamily="34" charset="-122"/>
                <a:cs typeface="Aptos" pitchFamily="34" charset="-120"/>
              </a:rPr>
              <a:t>EUR-Lex — Règlement (UE) 2016/679 (RGPD)</a:t>
            </a:r>
            <a:endParaRPr lang="en-US" sz="1120" dirty="0"/>
          </a:p>
        </p:txBody>
      </p:sp>
      <p:sp>
        <p:nvSpPr>
          <p:cNvPr id="18" name="Text 16"/>
          <p:cNvSpPr/>
          <p:nvPr/>
        </p:nvSpPr>
        <p:spPr>
          <a:xfrm>
            <a:off x="5349240" y="3767328"/>
            <a:ext cx="2880360" cy="182880"/>
          </a:xfrm>
          <a:prstGeom prst="rect">
            <a:avLst/>
          </a:prstGeom>
          <a:noFill/>
          <a:ln/>
        </p:spPr>
        <p:txBody>
          <a:bodyPr wrap="square" lIns="0" tIns="0" rIns="0" bIns="0" rtlCol="0" anchor="ctr">
            <a:normAutofit/>
          </a:bodyPr>
          <a:lstStyle/>
          <a:p>
            <a:pPr algn="l" indent="0" marL="0">
              <a:buNone/>
            </a:pPr>
            <a:r>
              <a:rPr lang="en-US" sz="980" dirty="0">
                <a:solidFill>
                  <a:srgbClr val="7432A8"/>
                </a:solidFill>
                <a:latin typeface="Aptos" pitchFamily="34" charset="0"/>
                <a:ea typeface="Aptos" pitchFamily="34" charset="-122"/>
                <a:cs typeface="Aptos" pitchFamily="34" charset="-120"/>
              </a:rPr>
              <a:t>eur-lex.europa.eu/eli/reg/2016/679/oj?locale=fr</a:t>
            </a:r>
            <a:endParaRPr lang="en-US" sz="980" dirty="0"/>
          </a:p>
        </p:txBody>
      </p:sp>
      <p:sp>
        <p:nvSpPr>
          <p:cNvPr id="19" name="Text 17"/>
          <p:cNvSpPr/>
          <p:nvPr/>
        </p:nvSpPr>
        <p:spPr>
          <a:xfrm>
            <a:off x="8302752" y="3739896"/>
            <a:ext cx="2880360" cy="292608"/>
          </a:xfrm>
          <a:prstGeom prst="rect">
            <a:avLst/>
          </a:prstGeom>
          <a:noFill/>
          <a:ln/>
        </p:spPr>
        <p:txBody>
          <a:bodyPr wrap="square" lIns="0" tIns="0" rIns="0" bIns="0" rtlCol="0" anchor="ctr">
            <a:normAutofit/>
          </a:bodyPr>
          <a:lstStyle/>
          <a:p>
            <a:pPr algn="l" indent="0" marL="0">
              <a:buNone/>
            </a:pPr>
            <a:r>
              <a:rPr lang="en-US" sz="930" dirty="0">
                <a:solidFill>
                  <a:srgbClr val="6F7082"/>
                </a:solidFill>
                <a:latin typeface="Aptos" pitchFamily="34" charset="0"/>
                <a:ea typeface="Aptos" pitchFamily="34" charset="-122"/>
                <a:cs typeface="Aptos" pitchFamily="34" charset="-120"/>
              </a:rPr>
              <a:t>Principes et bases juridiques du traitement des données personnelles.</a:t>
            </a:r>
            <a:endParaRPr lang="en-US" sz="930" dirty="0"/>
          </a:p>
        </p:txBody>
      </p:sp>
      <p:sp>
        <p:nvSpPr>
          <p:cNvPr id="20" name="Shape 18"/>
          <p:cNvSpPr/>
          <p:nvPr/>
        </p:nvSpPr>
        <p:spPr>
          <a:xfrm>
            <a:off x="731520" y="4416552"/>
            <a:ext cx="10744200" cy="603504"/>
          </a:xfrm>
          <a:prstGeom prst="roundRect">
            <a:avLst>
              <a:gd name="adj" fmla="val 6061"/>
            </a:avLst>
          </a:prstGeom>
          <a:solidFill>
            <a:srgbClr val="FFFFFF"/>
          </a:solidFill>
          <a:ln w="12700">
            <a:solidFill>
              <a:srgbClr val="DDDCE6"/>
            </a:solidFill>
            <a:prstDash val="solid"/>
          </a:ln>
        </p:spPr>
      </p:sp>
      <p:sp>
        <p:nvSpPr>
          <p:cNvPr id="21" name="Text 19"/>
          <p:cNvSpPr/>
          <p:nvPr/>
        </p:nvSpPr>
        <p:spPr>
          <a:xfrm>
            <a:off x="941832" y="4517136"/>
            <a:ext cx="4389120" cy="182880"/>
          </a:xfrm>
          <a:prstGeom prst="rect">
            <a:avLst/>
          </a:prstGeom>
          <a:noFill/>
          <a:ln/>
        </p:spPr>
        <p:txBody>
          <a:bodyPr wrap="square" lIns="0" tIns="0" rIns="0" bIns="0" rtlCol="0" anchor="ctr">
            <a:normAutofit/>
          </a:bodyPr>
          <a:lstStyle/>
          <a:p>
            <a:pPr algn="l" indent="0" marL="0">
              <a:buNone/>
            </a:pPr>
            <a:r>
              <a:rPr lang="en-US" sz="1120" b="1" dirty="0">
                <a:solidFill>
                  <a:srgbClr val="241337"/>
                </a:solidFill>
                <a:latin typeface="Aptos" pitchFamily="34" charset="0"/>
                <a:ea typeface="Aptos" pitchFamily="34" charset="-122"/>
                <a:cs typeface="Aptos" pitchFamily="34" charset="-120"/>
              </a:rPr>
              <a:t>EUR-Lex — Directive 96/9/CE</a:t>
            </a:r>
            <a:endParaRPr lang="en-US" sz="1120" dirty="0"/>
          </a:p>
        </p:txBody>
      </p:sp>
      <p:sp>
        <p:nvSpPr>
          <p:cNvPr id="22" name="Text 20"/>
          <p:cNvSpPr/>
          <p:nvPr/>
        </p:nvSpPr>
        <p:spPr>
          <a:xfrm>
            <a:off x="5349240" y="4517136"/>
            <a:ext cx="2880360" cy="182880"/>
          </a:xfrm>
          <a:prstGeom prst="rect">
            <a:avLst/>
          </a:prstGeom>
          <a:noFill/>
          <a:ln/>
        </p:spPr>
        <p:txBody>
          <a:bodyPr wrap="square" lIns="0" tIns="0" rIns="0" bIns="0" rtlCol="0" anchor="ctr">
            <a:normAutofit/>
          </a:bodyPr>
          <a:lstStyle/>
          <a:p>
            <a:pPr algn="l" indent="0" marL="0">
              <a:buNone/>
            </a:pPr>
            <a:r>
              <a:rPr lang="en-US" sz="980" dirty="0">
                <a:solidFill>
                  <a:srgbClr val="7432A8"/>
                </a:solidFill>
                <a:latin typeface="Aptos" pitchFamily="34" charset="0"/>
                <a:ea typeface="Aptos" pitchFamily="34" charset="-122"/>
                <a:cs typeface="Aptos" pitchFamily="34" charset="-120"/>
              </a:rPr>
              <a:t>eur-lex.europa.eu/eli/dir/1996/9/oj/fra</a:t>
            </a:r>
            <a:endParaRPr lang="en-US" sz="980" dirty="0"/>
          </a:p>
        </p:txBody>
      </p:sp>
      <p:sp>
        <p:nvSpPr>
          <p:cNvPr id="23" name="Text 21"/>
          <p:cNvSpPr/>
          <p:nvPr/>
        </p:nvSpPr>
        <p:spPr>
          <a:xfrm>
            <a:off x="8302752" y="4489704"/>
            <a:ext cx="2880360" cy="292608"/>
          </a:xfrm>
          <a:prstGeom prst="rect">
            <a:avLst/>
          </a:prstGeom>
          <a:noFill/>
          <a:ln/>
        </p:spPr>
        <p:txBody>
          <a:bodyPr wrap="square" lIns="0" tIns="0" rIns="0" bIns="0" rtlCol="0" anchor="ctr">
            <a:normAutofit/>
          </a:bodyPr>
          <a:lstStyle/>
          <a:p>
            <a:pPr algn="l" indent="0" marL="0">
              <a:buNone/>
            </a:pPr>
            <a:r>
              <a:rPr lang="en-US" sz="930" dirty="0">
                <a:solidFill>
                  <a:srgbClr val="6F7082"/>
                </a:solidFill>
                <a:latin typeface="Aptos" pitchFamily="34" charset="0"/>
                <a:ea typeface="Aptos" pitchFamily="34" charset="-122"/>
                <a:cs typeface="Aptos" pitchFamily="34" charset="-120"/>
              </a:rPr>
              <a:t>Protection juridique des bases de données.</a:t>
            </a:r>
            <a:endParaRPr lang="en-US" sz="930" dirty="0"/>
          </a:p>
        </p:txBody>
      </p:sp>
      <p:sp>
        <p:nvSpPr>
          <p:cNvPr id="24" name="Shape 22"/>
          <p:cNvSpPr/>
          <p:nvPr/>
        </p:nvSpPr>
        <p:spPr>
          <a:xfrm>
            <a:off x="731520" y="5166360"/>
            <a:ext cx="10744200" cy="603504"/>
          </a:xfrm>
          <a:prstGeom prst="roundRect">
            <a:avLst>
              <a:gd name="adj" fmla="val 6061"/>
            </a:avLst>
          </a:prstGeom>
          <a:solidFill>
            <a:srgbClr val="F2EEF5"/>
          </a:solidFill>
          <a:ln w="12700">
            <a:solidFill>
              <a:srgbClr val="DDDCE6"/>
            </a:solidFill>
            <a:prstDash val="solid"/>
          </a:ln>
        </p:spPr>
      </p:sp>
      <p:sp>
        <p:nvSpPr>
          <p:cNvPr id="25" name="Text 23"/>
          <p:cNvSpPr/>
          <p:nvPr/>
        </p:nvSpPr>
        <p:spPr>
          <a:xfrm>
            <a:off x="941832" y="5266944"/>
            <a:ext cx="4389120" cy="182880"/>
          </a:xfrm>
          <a:prstGeom prst="rect">
            <a:avLst/>
          </a:prstGeom>
          <a:noFill/>
          <a:ln/>
        </p:spPr>
        <p:txBody>
          <a:bodyPr wrap="square" lIns="0" tIns="0" rIns="0" bIns="0" rtlCol="0" anchor="ctr">
            <a:normAutofit/>
          </a:bodyPr>
          <a:lstStyle/>
          <a:p>
            <a:pPr algn="l" indent="0" marL="0">
              <a:buNone/>
            </a:pPr>
            <a:r>
              <a:rPr lang="en-US" sz="1120" b="1" dirty="0">
                <a:solidFill>
                  <a:srgbClr val="241337"/>
                </a:solidFill>
                <a:latin typeface="Aptos" pitchFamily="34" charset="0"/>
                <a:ea typeface="Aptos" pitchFamily="34" charset="-122"/>
                <a:cs typeface="Aptos" pitchFamily="34" charset="-120"/>
              </a:rPr>
              <a:t>Scraping Sandbox — Books to Scrape</a:t>
            </a:r>
            <a:endParaRPr lang="en-US" sz="1120" dirty="0"/>
          </a:p>
        </p:txBody>
      </p:sp>
      <p:sp>
        <p:nvSpPr>
          <p:cNvPr id="26" name="Text 24"/>
          <p:cNvSpPr/>
          <p:nvPr/>
        </p:nvSpPr>
        <p:spPr>
          <a:xfrm>
            <a:off x="5349240" y="5266944"/>
            <a:ext cx="2880360" cy="182880"/>
          </a:xfrm>
          <a:prstGeom prst="rect">
            <a:avLst/>
          </a:prstGeom>
          <a:noFill/>
          <a:ln/>
        </p:spPr>
        <p:txBody>
          <a:bodyPr wrap="square" lIns="0" tIns="0" rIns="0" bIns="0" rtlCol="0" anchor="ctr">
            <a:normAutofit/>
          </a:bodyPr>
          <a:lstStyle/>
          <a:p>
            <a:pPr algn="l" indent="0" marL="0">
              <a:buNone/>
            </a:pPr>
            <a:r>
              <a:rPr lang="en-US" sz="980" dirty="0">
                <a:solidFill>
                  <a:srgbClr val="7432A8"/>
                </a:solidFill>
                <a:latin typeface="Aptos" pitchFamily="34" charset="0"/>
                <a:ea typeface="Aptos" pitchFamily="34" charset="-122"/>
                <a:cs typeface="Aptos" pitchFamily="34" charset="-120"/>
              </a:rPr>
              <a:t>books.toscrape.com</a:t>
            </a:r>
            <a:endParaRPr lang="en-US" sz="980" dirty="0"/>
          </a:p>
        </p:txBody>
      </p:sp>
      <p:sp>
        <p:nvSpPr>
          <p:cNvPr id="27" name="Text 25"/>
          <p:cNvSpPr/>
          <p:nvPr/>
        </p:nvSpPr>
        <p:spPr>
          <a:xfrm>
            <a:off x="8302752" y="5239512"/>
            <a:ext cx="2880360" cy="292608"/>
          </a:xfrm>
          <a:prstGeom prst="rect">
            <a:avLst/>
          </a:prstGeom>
          <a:noFill/>
          <a:ln/>
        </p:spPr>
        <p:txBody>
          <a:bodyPr wrap="square" lIns="0" tIns="0" rIns="0" bIns="0" rtlCol="0" anchor="ctr">
            <a:normAutofit/>
          </a:bodyPr>
          <a:lstStyle/>
          <a:p>
            <a:pPr algn="l" indent="0" marL="0">
              <a:buNone/>
            </a:pPr>
            <a:r>
              <a:rPr lang="en-US" sz="930" dirty="0">
                <a:solidFill>
                  <a:srgbClr val="6F7082"/>
                </a:solidFill>
                <a:latin typeface="Aptos" pitchFamily="34" charset="0"/>
                <a:ea typeface="Aptos" pitchFamily="34" charset="-122"/>
                <a:cs typeface="Aptos" pitchFamily="34" charset="-120"/>
              </a:rPr>
              <a:t>Site de démonstration conçu pour apprendre le scraping.</a:t>
            </a:r>
            <a:endParaRPr lang="en-US" sz="930" dirty="0"/>
          </a:p>
        </p:txBody>
      </p:sp>
      <p:sp>
        <p:nvSpPr>
          <p:cNvPr id="28" name="Text 26"/>
          <p:cNvSpPr/>
          <p:nvPr/>
        </p:nvSpPr>
        <p:spPr>
          <a:xfrm>
            <a:off x="914400" y="6053328"/>
            <a:ext cx="10332720" cy="237744"/>
          </a:xfrm>
          <a:prstGeom prst="rect">
            <a:avLst/>
          </a:prstGeom>
          <a:noFill/>
          <a:ln/>
        </p:spPr>
        <p:txBody>
          <a:bodyPr wrap="square" lIns="0" tIns="0" rIns="0" bIns="0" rtlCol="0" anchor="ctr">
            <a:normAutofit/>
          </a:bodyPr>
          <a:lstStyle/>
          <a:p>
            <a:pPr algn="ctr" indent="0" marL="0">
              <a:buNone/>
            </a:pPr>
            <a:r>
              <a:rPr lang="en-US" sz="1050" dirty="0">
                <a:solidFill>
                  <a:srgbClr val="6F7082"/>
                </a:solidFill>
                <a:latin typeface="Aptos" pitchFamily="34" charset="0"/>
                <a:ea typeface="Aptos" pitchFamily="34" charset="-122"/>
                <a:cs typeface="Aptos" pitchFamily="34" charset="-120"/>
              </a:rPr>
              <a:t>Références consultées en septembre 2026 · Vérifier les versions et politiques avant une utilisation réelle.</a:t>
            </a:r>
            <a:endParaRPr lang="en-US" sz="1050" dirty="0"/>
          </a:p>
        </p:txBody>
      </p:sp>
      <p:sp>
        <p:nvSpPr>
          <p:cNvPr id="25" name="Slide Number Placeholder 0"/>
          <p:cNvSpPr>
            <a:spLocks noGrp="1"/>
          </p:cNvSpPr>
          <p:nvPr>
            <p:ph type="sldNum" sz="quarter" idx="4294967295"/>
          </p:nvPr>
        </p:nvSpPr>
        <p:spPr>
          <a:xfrm>
            <a:off x="11750040" y="274320"/>
            <a:ext cx="228600" cy="164592"/>
          </a:xfrm>
          <a:prstGeom prst="rect">
            <a:avLst/>
          </a:prstGeom>
          <a:extLst>
            <a:ext uri="{C572A759-6A51-4108-AA02-DFA0A04FC94B}">
              <ma14:wrappingTextBoxFlag xmlns:ma14="http://schemas.microsoft.com/office/mac/drawingml/2011/main" val="0"/>
            </a:ext>
          </a:extLst>
        </p:spPr>
        <p:txBody>
          <a:bodyPr/>
          <a:lstStyle>
            <a:lvl1pPr>
              <a:defRPr sz="800">
                <a:solidFill>
                  <a:srgbClr val="858697"/>
                </a:solidFill>
                <a:latin typeface="Aptos"/>
                <a:ea typeface="Aptos"/>
                <a:cs typeface="Aptos"/>
              </a:defRPr>
            </a:lvl1pPr>
          </a:lstStyle>
          <a:p>
            <a:pPr algn="r"/>
            <a:fld id="{F7021451-1387-4CA6-816F-3879F97B5CBC}" type="slidenum">
              <a:rPr b="0"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241337"/>
        </a:solidFill>
      </p:bgPr>
    </p:bg>
    <p:spTree>
      <p:nvGrpSpPr>
        <p:cNvPr id="1" name=""/>
        <p:cNvGrpSpPr/>
        <p:nvPr/>
      </p:nvGrpSpPr>
      <p:grpSpPr>
        <a:xfrm>
          <a:off x="0" y="0"/>
          <a:ext cx="0" cy="0"/>
          <a:chOff x="0" y="0"/>
          <a:chExt cx="0" cy="0"/>
        </a:xfrm>
      </p:grpSpPr>
      <p:sp>
        <p:nvSpPr>
          <p:cNvPr id="2" name="Shape 0"/>
          <p:cNvSpPr/>
          <p:nvPr/>
        </p:nvSpPr>
        <p:spPr>
          <a:xfrm>
            <a:off x="0" y="0"/>
            <a:ext cx="201168" cy="6858000"/>
          </a:xfrm>
          <a:prstGeom prst="rect">
            <a:avLst/>
          </a:prstGeom>
          <a:solidFill>
            <a:srgbClr val="7432A8"/>
          </a:solidFill>
          <a:ln w="12700">
            <a:solidFill>
              <a:srgbClr val="7432A8"/>
            </a:solidFill>
            <a:prstDash val="solid"/>
          </a:ln>
        </p:spPr>
      </p:sp>
      <p:sp>
        <p:nvSpPr>
          <p:cNvPr id="3" name="Text 1"/>
          <p:cNvSpPr/>
          <p:nvPr/>
        </p:nvSpPr>
        <p:spPr>
          <a:xfrm>
            <a:off x="841248" y="1051560"/>
            <a:ext cx="3840480" cy="274320"/>
          </a:xfrm>
          <a:prstGeom prst="rect">
            <a:avLst/>
          </a:prstGeom>
          <a:noFill/>
          <a:ln/>
        </p:spPr>
        <p:txBody>
          <a:bodyPr wrap="square" lIns="0" tIns="0" rIns="0" bIns="0" rtlCol="0" anchor="ctr">
            <a:normAutofit/>
          </a:bodyPr>
          <a:lstStyle/>
          <a:p>
            <a:pPr algn="l" indent="0" marL="0">
              <a:buNone/>
            </a:pPr>
            <a:r>
              <a:rPr lang="en-US" sz="1200" b="1" spc="160" kern="0" dirty="0">
                <a:solidFill>
                  <a:srgbClr val="8B49BA"/>
                </a:solidFill>
                <a:latin typeface="Aptos" pitchFamily="34" charset="0"/>
                <a:ea typeface="Aptos" pitchFamily="34" charset="-122"/>
                <a:cs typeface="Aptos" pitchFamily="34" charset="-120"/>
              </a:rPr>
              <a:t>FIN DU MODULE</a:t>
            </a:r>
            <a:endParaRPr lang="en-US" sz="1200" dirty="0"/>
          </a:p>
        </p:txBody>
      </p:sp>
      <p:sp>
        <p:nvSpPr>
          <p:cNvPr id="4" name="Text 2"/>
          <p:cNvSpPr/>
          <p:nvPr/>
        </p:nvSpPr>
        <p:spPr>
          <a:xfrm>
            <a:off x="841248" y="1572768"/>
            <a:ext cx="6949440" cy="1143000"/>
          </a:xfrm>
          <a:prstGeom prst="rect">
            <a:avLst/>
          </a:prstGeom>
          <a:noFill/>
          <a:ln/>
        </p:spPr>
        <p:txBody>
          <a:bodyPr wrap="square" lIns="0" tIns="0" rIns="0" bIns="0" rtlCol="0" anchor="t">
            <a:normAutofit/>
          </a:bodyPr>
          <a:lstStyle/>
          <a:p>
            <a:pPr algn="l" indent="0" marL="0">
              <a:buNone/>
            </a:pPr>
            <a:r>
              <a:rPr lang="en-US" sz="3100" b="1" dirty="0">
                <a:solidFill>
                  <a:srgbClr val="FFFFFF"/>
                </a:solidFill>
                <a:latin typeface="Aptos" pitchFamily="34" charset="0"/>
                <a:ea typeface="Aptos" pitchFamily="34" charset="-122"/>
                <a:cs typeface="Aptos" pitchFamily="34" charset="-120"/>
              </a:rPr>
              <a:t>Du Web brut</a:t>
            </a:r>
            <a:endParaRPr lang="en-US" sz="3100" dirty="0"/>
          </a:p>
          <a:p>
            <a:pPr algn="l" indent="0" marL="0">
              <a:buNone/>
            </a:pPr>
            <a:r>
              <a:rPr lang="en-US" sz="3100" b="1" dirty="0">
                <a:solidFill>
                  <a:srgbClr val="FFFFFF"/>
                </a:solidFill>
                <a:latin typeface="Aptos" pitchFamily="34" charset="0"/>
                <a:ea typeface="Aptos" pitchFamily="34" charset="-122"/>
                <a:cs typeface="Aptos" pitchFamily="34" charset="-120"/>
              </a:rPr>
              <a:t>à une donnée exploitable.</a:t>
            </a:r>
            <a:endParaRPr lang="en-US" sz="3100" dirty="0"/>
          </a:p>
        </p:txBody>
      </p:sp>
      <p:sp>
        <p:nvSpPr>
          <p:cNvPr id="5" name="Text 3"/>
          <p:cNvSpPr/>
          <p:nvPr/>
        </p:nvSpPr>
        <p:spPr>
          <a:xfrm>
            <a:off x="841248" y="3063240"/>
            <a:ext cx="6766560" cy="365760"/>
          </a:xfrm>
          <a:prstGeom prst="rect">
            <a:avLst/>
          </a:prstGeom>
          <a:noFill/>
          <a:ln/>
        </p:spPr>
        <p:txBody>
          <a:bodyPr wrap="square" lIns="0" tIns="0" rIns="0" bIns="0" rtlCol="0" anchor="ctr">
            <a:normAutofit/>
          </a:bodyPr>
          <a:lstStyle/>
          <a:p>
            <a:pPr algn="l" indent="0" marL="0">
              <a:buNone/>
            </a:pPr>
            <a:r>
              <a:rPr lang="en-US" sz="2000" dirty="0">
                <a:solidFill>
                  <a:srgbClr val="DCCFE5"/>
                </a:solidFill>
                <a:latin typeface="Aptos" pitchFamily="34" charset="0"/>
                <a:ea typeface="Aptos" pitchFamily="34" charset="-122"/>
                <a:cs typeface="Aptos" pitchFamily="34" charset="-120"/>
              </a:rPr>
              <a:t>Technique + qualité + responsabilité.</a:t>
            </a:r>
            <a:endParaRPr lang="en-US" sz="2000" dirty="0"/>
          </a:p>
        </p:txBody>
      </p:sp>
      <p:sp>
        <p:nvSpPr>
          <p:cNvPr id="6" name="Shape 4"/>
          <p:cNvSpPr/>
          <p:nvPr/>
        </p:nvSpPr>
        <p:spPr>
          <a:xfrm>
            <a:off x="8046720" y="1417320"/>
            <a:ext cx="2971800" cy="3200400"/>
          </a:xfrm>
          <a:prstGeom prst="roundRect">
            <a:avLst>
              <a:gd name="adj" fmla="val 2462"/>
            </a:avLst>
          </a:prstGeom>
          <a:solidFill>
            <a:srgbClr val="F5F1F8"/>
          </a:solidFill>
          <a:ln w="12700">
            <a:solidFill>
              <a:srgbClr val="B99BCC"/>
            </a:solidFill>
            <a:prstDash val="solid"/>
          </a:ln>
        </p:spPr>
      </p:sp>
      <p:sp>
        <p:nvSpPr>
          <p:cNvPr id="7" name="Text 5"/>
          <p:cNvSpPr/>
          <p:nvPr/>
        </p:nvSpPr>
        <p:spPr>
          <a:xfrm>
            <a:off x="8394192" y="1847088"/>
            <a:ext cx="292608" cy="201168"/>
          </a:xfrm>
          <a:prstGeom prst="rect">
            <a:avLst/>
          </a:prstGeom>
          <a:noFill/>
          <a:ln/>
        </p:spPr>
        <p:txBody>
          <a:bodyPr wrap="square" lIns="0" tIns="0" rIns="0" bIns="0" rtlCol="0" anchor="ctr">
            <a:normAutofit/>
          </a:bodyPr>
          <a:lstStyle/>
          <a:p>
            <a:pPr algn="ctr" indent="0" marL="0">
              <a:buNone/>
            </a:pPr>
            <a:r>
              <a:rPr lang="en-US" sz="1300" b="1" dirty="0">
                <a:solidFill>
                  <a:srgbClr val="4F7FC4"/>
                </a:solidFill>
                <a:latin typeface="Aptos" pitchFamily="34" charset="0"/>
                <a:ea typeface="Aptos" pitchFamily="34" charset="-122"/>
                <a:cs typeface="Aptos" pitchFamily="34" charset="-120"/>
              </a:rPr>
              <a:t>1</a:t>
            </a:r>
            <a:endParaRPr lang="en-US" sz="1300" dirty="0"/>
          </a:p>
        </p:txBody>
      </p:sp>
      <p:sp>
        <p:nvSpPr>
          <p:cNvPr id="8" name="Text 6"/>
          <p:cNvSpPr/>
          <p:nvPr/>
        </p:nvSpPr>
        <p:spPr>
          <a:xfrm>
            <a:off x="8823960" y="1819656"/>
            <a:ext cx="1783080" cy="256032"/>
          </a:xfrm>
          <a:prstGeom prst="rect">
            <a:avLst/>
          </a:prstGeom>
          <a:noFill/>
          <a:ln/>
        </p:spPr>
        <p:txBody>
          <a:bodyPr wrap="square" lIns="0" tIns="0" rIns="0" bIns="0" rtlCol="0" anchor="ctr">
            <a:normAutofit/>
          </a:bodyPr>
          <a:lstStyle/>
          <a:p>
            <a:pPr algn="l" indent="0" marL="0">
              <a:buNone/>
            </a:pPr>
            <a:r>
              <a:rPr lang="en-US" sz="1250" b="1" dirty="0">
                <a:solidFill>
                  <a:srgbClr val="241337"/>
                </a:solidFill>
                <a:latin typeface="Aptos" pitchFamily="34" charset="0"/>
                <a:ea typeface="Aptos" pitchFamily="34" charset="-122"/>
                <a:cs typeface="Aptos" pitchFamily="34" charset="-120"/>
              </a:rPr>
              <a:t>Comprendre la source</a:t>
            </a:r>
            <a:endParaRPr lang="en-US" sz="1250" dirty="0"/>
          </a:p>
        </p:txBody>
      </p:sp>
      <p:sp>
        <p:nvSpPr>
          <p:cNvPr id="9" name="Text 7"/>
          <p:cNvSpPr/>
          <p:nvPr/>
        </p:nvSpPr>
        <p:spPr>
          <a:xfrm>
            <a:off x="8394192" y="2441448"/>
            <a:ext cx="292608" cy="201168"/>
          </a:xfrm>
          <a:prstGeom prst="rect">
            <a:avLst/>
          </a:prstGeom>
          <a:noFill/>
          <a:ln/>
        </p:spPr>
        <p:txBody>
          <a:bodyPr wrap="square" lIns="0" tIns="0" rIns="0" bIns="0" rtlCol="0" anchor="ctr">
            <a:normAutofit/>
          </a:bodyPr>
          <a:lstStyle/>
          <a:p>
            <a:pPr algn="ctr" indent="0" marL="0">
              <a:buNone/>
            </a:pPr>
            <a:r>
              <a:rPr lang="en-US" sz="1300" b="1" dirty="0">
                <a:solidFill>
                  <a:srgbClr val="7432A8"/>
                </a:solidFill>
                <a:latin typeface="Aptos" pitchFamily="34" charset="0"/>
                <a:ea typeface="Aptos" pitchFamily="34" charset="-122"/>
                <a:cs typeface="Aptos" pitchFamily="34" charset="-120"/>
              </a:rPr>
              <a:t>2</a:t>
            </a:r>
            <a:endParaRPr lang="en-US" sz="1300" dirty="0"/>
          </a:p>
        </p:txBody>
      </p:sp>
      <p:sp>
        <p:nvSpPr>
          <p:cNvPr id="10" name="Text 8"/>
          <p:cNvSpPr/>
          <p:nvPr/>
        </p:nvSpPr>
        <p:spPr>
          <a:xfrm>
            <a:off x="8823960" y="2414016"/>
            <a:ext cx="1783080" cy="256032"/>
          </a:xfrm>
          <a:prstGeom prst="rect">
            <a:avLst/>
          </a:prstGeom>
          <a:noFill/>
          <a:ln/>
        </p:spPr>
        <p:txBody>
          <a:bodyPr wrap="square" lIns="0" tIns="0" rIns="0" bIns="0" rtlCol="0" anchor="ctr">
            <a:normAutofit/>
          </a:bodyPr>
          <a:lstStyle/>
          <a:p>
            <a:pPr algn="l" indent="0" marL="0">
              <a:buNone/>
            </a:pPr>
            <a:r>
              <a:rPr lang="en-US" sz="1250" b="1" dirty="0">
                <a:solidFill>
                  <a:srgbClr val="241337"/>
                </a:solidFill>
                <a:latin typeface="Aptos" pitchFamily="34" charset="0"/>
                <a:ea typeface="Aptos" pitchFamily="34" charset="-122"/>
                <a:cs typeface="Aptos" pitchFamily="34" charset="-120"/>
              </a:rPr>
              <a:t>Construire le crawl</a:t>
            </a:r>
            <a:endParaRPr lang="en-US" sz="1250" dirty="0"/>
          </a:p>
        </p:txBody>
      </p:sp>
      <p:sp>
        <p:nvSpPr>
          <p:cNvPr id="11" name="Text 9"/>
          <p:cNvSpPr/>
          <p:nvPr/>
        </p:nvSpPr>
        <p:spPr>
          <a:xfrm>
            <a:off x="8394192" y="3035808"/>
            <a:ext cx="292608" cy="201168"/>
          </a:xfrm>
          <a:prstGeom prst="rect">
            <a:avLst/>
          </a:prstGeom>
          <a:noFill/>
          <a:ln/>
        </p:spPr>
        <p:txBody>
          <a:bodyPr wrap="square" lIns="0" tIns="0" rIns="0" bIns="0" rtlCol="0" anchor="ctr">
            <a:normAutofit/>
          </a:bodyPr>
          <a:lstStyle/>
          <a:p>
            <a:pPr algn="ctr" indent="0" marL="0">
              <a:buNone/>
            </a:pPr>
            <a:r>
              <a:rPr lang="en-US" sz="1300" b="1" dirty="0">
                <a:solidFill>
                  <a:srgbClr val="4EA27B"/>
                </a:solidFill>
                <a:latin typeface="Aptos" pitchFamily="34" charset="0"/>
                <a:ea typeface="Aptos" pitchFamily="34" charset="-122"/>
                <a:cs typeface="Aptos" pitchFamily="34" charset="-120"/>
              </a:rPr>
              <a:t>3</a:t>
            </a:r>
            <a:endParaRPr lang="en-US" sz="1300" dirty="0"/>
          </a:p>
        </p:txBody>
      </p:sp>
      <p:sp>
        <p:nvSpPr>
          <p:cNvPr id="12" name="Text 10"/>
          <p:cNvSpPr/>
          <p:nvPr/>
        </p:nvSpPr>
        <p:spPr>
          <a:xfrm>
            <a:off x="8823960" y="3008376"/>
            <a:ext cx="1783080" cy="256032"/>
          </a:xfrm>
          <a:prstGeom prst="rect">
            <a:avLst/>
          </a:prstGeom>
          <a:noFill/>
          <a:ln/>
        </p:spPr>
        <p:txBody>
          <a:bodyPr wrap="square" lIns="0" tIns="0" rIns="0" bIns="0" rtlCol="0" anchor="ctr">
            <a:normAutofit/>
          </a:bodyPr>
          <a:lstStyle/>
          <a:p>
            <a:pPr algn="l" indent="0" marL="0">
              <a:buNone/>
            </a:pPr>
            <a:r>
              <a:rPr lang="en-US" sz="1250" b="1" dirty="0">
                <a:solidFill>
                  <a:srgbClr val="241337"/>
                </a:solidFill>
                <a:latin typeface="Aptos" pitchFamily="34" charset="0"/>
                <a:ea typeface="Aptos" pitchFamily="34" charset="-122"/>
                <a:cs typeface="Aptos" pitchFamily="34" charset="-120"/>
              </a:rPr>
              <a:t>Valider la donnée</a:t>
            </a:r>
            <a:endParaRPr lang="en-US" sz="1250" dirty="0"/>
          </a:p>
        </p:txBody>
      </p:sp>
      <p:sp>
        <p:nvSpPr>
          <p:cNvPr id="13" name="Text 11"/>
          <p:cNvSpPr/>
          <p:nvPr/>
        </p:nvSpPr>
        <p:spPr>
          <a:xfrm>
            <a:off x="8394192" y="3630168"/>
            <a:ext cx="292608" cy="201168"/>
          </a:xfrm>
          <a:prstGeom prst="rect">
            <a:avLst/>
          </a:prstGeom>
          <a:noFill/>
          <a:ln/>
        </p:spPr>
        <p:txBody>
          <a:bodyPr wrap="square" lIns="0" tIns="0" rIns="0" bIns="0" rtlCol="0" anchor="ctr">
            <a:normAutofit/>
          </a:bodyPr>
          <a:lstStyle/>
          <a:p>
            <a:pPr algn="ctr" indent="0" marL="0">
              <a:buNone/>
            </a:pPr>
            <a:r>
              <a:rPr lang="en-US" sz="1300" b="1" dirty="0">
                <a:solidFill>
                  <a:srgbClr val="DB8129"/>
                </a:solidFill>
                <a:latin typeface="Aptos" pitchFamily="34" charset="0"/>
                <a:ea typeface="Aptos" pitchFamily="34" charset="-122"/>
                <a:cs typeface="Aptos" pitchFamily="34" charset="-120"/>
              </a:rPr>
              <a:t>4</a:t>
            </a:r>
            <a:endParaRPr lang="en-US" sz="1300" dirty="0"/>
          </a:p>
        </p:txBody>
      </p:sp>
      <p:sp>
        <p:nvSpPr>
          <p:cNvPr id="14" name="Text 12"/>
          <p:cNvSpPr/>
          <p:nvPr/>
        </p:nvSpPr>
        <p:spPr>
          <a:xfrm>
            <a:off x="8823960" y="3602736"/>
            <a:ext cx="1783080" cy="256032"/>
          </a:xfrm>
          <a:prstGeom prst="rect">
            <a:avLst/>
          </a:prstGeom>
          <a:noFill/>
          <a:ln/>
        </p:spPr>
        <p:txBody>
          <a:bodyPr wrap="square" lIns="0" tIns="0" rIns="0" bIns="0" rtlCol="0" anchor="ctr">
            <a:normAutofit/>
          </a:bodyPr>
          <a:lstStyle/>
          <a:p>
            <a:pPr algn="l" indent="0" marL="0">
              <a:buNone/>
            </a:pPr>
            <a:r>
              <a:rPr lang="en-US" sz="1250" b="1" dirty="0">
                <a:solidFill>
                  <a:srgbClr val="241337"/>
                </a:solidFill>
                <a:latin typeface="Aptos" pitchFamily="34" charset="0"/>
                <a:ea typeface="Aptos" pitchFamily="34" charset="-122"/>
                <a:cs typeface="Aptos" pitchFamily="34" charset="-120"/>
              </a:rPr>
              <a:t>Justifier la collecte</a:t>
            </a:r>
            <a:endParaRPr lang="en-US" sz="1250" dirty="0"/>
          </a:p>
        </p:txBody>
      </p:sp>
      <p:sp>
        <p:nvSpPr>
          <p:cNvPr id="15" name="Text 13"/>
          <p:cNvSpPr/>
          <p:nvPr/>
        </p:nvSpPr>
        <p:spPr>
          <a:xfrm>
            <a:off x="841248" y="4983480"/>
            <a:ext cx="2926080" cy="256032"/>
          </a:xfrm>
          <a:prstGeom prst="rect">
            <a:avLst/>
          </a:prstGeom>
          <a:noFill/>
          <a:ln/>
        </p:spPr>
        <p:txBody>
          <a:bodyPr wrap="square" lIns="0" tIns="0" rIns="0" bIns="0" rtlCol="0" anchor="ctr">
            <a:normAutofit/>
          </a:bodyPr>
          <a:lstStyle/>
          <a:p>
            <a:pPr algn="l" indent="0" marL="0">
              <a:buNone/>
            </a:pPr>
            <a:r>
              <a:rPr lang="en-US" sz="1200" b="1" dirty="0">
                <a:solidFill>
                  <a:srgbClr val="C9BBD2"/>
                </a:solidFill>
                <a:latin typeface="Aptos" pitchFamily="34" charset="0"/>
                <a:ea typeface="Aptos" pitchFamily="34" charset="-122"/>
                <a:cs typeface="Aptos" pitchFamily="34" charset="-120"/>
              </a:rPr>
              <a:t>Mastère 1 · Data &amp; IA</a:t>
            </a:r>
            <a:endParaRPr lang="en-US" sz="1200" dirty="0"/>
          </a:p>
        </p:txBody>
      </p:sp>
      <p:sp>
        <p:nvSpPr>
          <p:cNvPr id="16" name="Text 14"/>
          <p:cNvSpPr/>
          <p:nvPr/>
        </p:nvSpPr>
        <p:spPr>
          <a:xfrm>
            <a:off x="841248" y="5349240"/>
            <a:ext cx="3840480" cy="228600"/>
          </a:xfrm>
          <a:prstGeom prst="rect">
            <a:avLst/>
          </a:prstGeom>
          <a:noFill/>
          <a:ln/>
        </p:spPr>
        <p:txBody>
          <a:bodyPr wrap="square" lIns="0" tIns="0" rIns="0" bIns="0" rtlCol="0" anchor="ctr">
            <a:normAutofit/>
          </a:bodyPr>
          <a:lstStyle/>
          <a:p>
            <a:pPr algn="l" indent="0" marL="0">
              <a:buNone/>
            </a:pPr>
            <a:r>
              <a:rPr lang="en-US" sz="1100" dirty="0">
                <a:solidFill>
                  <a:srgbClr val="AFA1B9"/>
                </a:solidFill>
                <a:latin typeface="Aptos" pitchFamily="34" charset="0"/>
                <a:ea typeface="Aptos" pitchFamily="34" charset="-122"/>
                <a:cs typeface="Aptos" pitchFamily="34" charset="-120"/>
              </a:rPr>
              <a:t>Web Scraping &amp; Web Mining · Jour 2</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49</Slides>
  <Notes>49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49</vt:i4>
      </vt:variant>
    </vt:vector>
  </HeadingPairs>
  <TitlesOfParts>
    <vt:vector size="5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vector>
  </TitlesOfParts>
  <Company>NEXA Digital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Web Scraping &amp; Web Mining — Jour 2</dc:title>
  <dc:subject>Web Scraping &amp; Web Mining — Jour 2</dc:subject>
  <dc:creator>OpenAI</dc:creator>
  <cp:lastModifiedBy>OpenAI</cp:lastModifiedBy>
  <cp:revision>1</cp:revision>
  <dcterms:created xsi:type="dcterms:W3CDTF">2026-09-21T00:41:55Z</dcterms:created>
  <dcterms:modified xsi:type="dcterms:W3CDTF">2026-09-21T00:41:55Z</dcterms:modified>
</cp:coreProperties>
</file>